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56"/>
  </p:notesMasterIdLst>
  <p:handoutMasterIdLst>
    <p:handoutMasterId r:id="rId57"/>
  </p:handoutMasterIdLst>
  <p:sldIdLst>
    <p:sldId id="256" r:id="rId5"/>
    <p:sldId id="394" r:id="rId6"/>
    <p:sldId id="320" r:id="rId7"/>
    <p:sldId id="321" r:id="rId8"/>
    <p:sldId id="299" r:id="rId9"/>
    <p:sldId id="300" r:id="rId10"/>
    <p:sldId id="301" r:id="rId11"/>
    <p:sldId id="372" r:id="rId12"/>
    <p:sldId id="293" r:id="rId13"/>
    <p:sldId id="364" r:id="rId14"/>
    <p:sldId id="303" r:id="rId15"/>
    <p:sldId id="365" r:id="rId16"/>
    <p:sldId id="397" r:id="rId17"/>
    <p:sldId id="282" r:id="rId18"/>
    <p:sldId id="294" r:id="rId19"/>
    <p:sldId id="295" r:id="rId20"/>
    <p:sldId id="287" r:id="rId21"/>
    <p:sldId id="371" r:id="rId22"/>
    <p:sldId id="400" r:id="rId23"/>
    <p:sldId id="401" r:id="rId24"/>
    <p:sldId id="298" r:id="rId25"/>
    <p:sldId id="291" r:id="rId26"/>
    <p:sldId id="414" r:id="rId27"/>
    <p:sldId id="403" r:id="rId28"/>
    <p:sldId id="285" r:id="rId29"/>
    <p:sldId id="374" r:id="rId30"/>
    <p:sldId id="312" r:id="rId31"/>
    <p:sldId id="376" r:id="rId32"/>
    <p:sldId id="406" r:id="rId33"/>
    <p:sldId id="344" r:id="rId34"/>
    <p:sldId id="345" r:id="rId35"/>
    <p:sldId id="346" r:id="rId36"/>
    <p:sldId id="348" r:id="rId37"/>
    <p:sldId id="407" r:id="rId38"/>
    <p:sldId id="408" r:id="rId39"/>
    <p:sldId id="382" r:id="rId40"/>
    <p:sldId id="409" r:id="rId41"/>
    <p:sldId id="410" r:id="rId42"/>
    <p:sldId id="269" r:id="rId43"/>
    <p:sldId id="270" r:id="rId44"/>
    <p:sldId id="271" r:id="rId45"/>
    <p:sldId id="272" r:id="rId46"/>
    <p:sldId id="273" r:id="rId47"/>
    <p:sldId id="363" r:id="rId48"/>
    <p:sldId id="390" r:id="rId49"/>
    <p:sldId id="352" r:id="rId50"/>
    <p:sldId id="281" r:id="rId51"/>
    <p:sldId id="311" r:id="rId52"/>
    <p:sldId id="411" r:id="rId53"/>
    <p:sldId id="369" r:id="rId54"/>
    <p:sldId id="413" r:id="rId55"/>
  </p:sldIdLst>
  <p:sldSz cx="12192000" cy="6858000"/>
  <p:notesSz cx="6858000" cy="9144000"/>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2827"/>
    <a:srgbClr val="DEBDD4"/>
    <a:srgbClr val="7E499D"/>
    <a:srgbClr val="BEAF9B"/>
    <a:srgbClr val="9D7D93"/>
    <a:srgbClr val="7E039D"/>
    <a:srgbClr val="4F2D7F"/>
    <a:srgbClr val="331C58"/>
    <a:srgbClr val="F0AB00"/>
    <a:srgbClr val="EEA42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513" autoAdjust="0"/>
    <p:restoredTop sz="94112"/>
  </p:normalViewPr>
  <p:slideViewPr>
    <p:cSldViewPr snapToGrid="0" snapToObjects="1">
      <p:cViewPr varScale="1">
        <p:scale>
          <a:sx n="74" d="100"/>
          <a:sy n="74" d="100"/>
        </p:scale>
        <p:origin x="360" y="480"/>
      </p:cViewPr>
      <p:guideLst>
        <p:guide orient="horz" pos="2160"/>
        <p:guide pos="3840"/>
      </p:guideLst>
    </p:cSldViewPr>
  </p:slideViewPr>
  <p:notesTextViewPr>
    <p:cViewPr>
      <p:scale>
        <a:sx n="100" d="100"/>
        <a:sy n="100" d="100"/>
      </p:scale>
      <p:origin x="0" y="0"/>
    </p:cViewPr>
  </p:notesTextViewPr>
  <p:notesViewPr>
    <p:cSldViewPr snapToGrid="0" snapToObjects="1">
      <p:cViewPr varScale="1">
        <p:scale>
          <a:sx n="70" d="100"/>
          <a:sy n="70" d="100"/>
        </p:scale>
        <p:origin x="2304"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tableStyles" Target="tableStyle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handoutMaster" Target="handoutMasters/handoutMaster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91CD98B-DB93-A444-B339-AFA43F1B7091}" type="datetimeFigureOut">
              <a:rPr lang="en-US" smtClean="0"/>
              <a:t>3/13/26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BAD0A96-F412-2847-B350-2F07A409CC28}"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F81B7E0-9D4F-354F-813F-0DA73ADCE65A}" type="datetimeFigureOut">
              <a:rPr lang="en-US" smtClean="0"/>
              <a:t>3/13/26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9EA9514-9494-884D-8088-2187CF26A723}"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609585" rtl="0" eaLnBrk="1" latinLnBrk="0" hangingPunct="1">
      <a:defRPr sz="1600" kern="1200">
        <a:solidFill>
          <a:schemeClr val="tx1"/>
        </a:solidFill>
        <a:latin typeface="+mn-lt"/>
        <a:ea typeface="+mn-ea"/>
        <a:cs typeface="+mn-cs"/>
      </a:defRPr>
    </a:lvl1pPr>
    <a:lvl2pPr marL="609585" algn="l" defTabSz="609585" rtl="0" eaLnBrk="1" latinLnBrk="0" hangingPunct="1">
      <a:defRPr sz="1600" kern="1200">
        <a:solidFill>
          <a:schemeClr val="tx1"/>
        </a:solidFill>
        <a:latin typeface="+mn-lt"/>
        <a:ea typeface="+mn-ea"/>
        <a:cs typeface="+mn-cs"/>
      </a:defRPr>
    </a:lvl2pPr>
    <a:lvl3pPr marL="1219170" algn="l" defTabSz="609585" rtl="0" eaLnBrk="1" latinLnBrk="0" hangingPunct="1">
      <a:defRPr sz="1600" kern="1200">
        <a:solidFill>
          <a:schemeClr val="tx1"/>
        </a:solidFill>
        <a:latin typeface="+mn-lt"/>
        <a:ea typeface="+mn-ea"/>
        <a:cs typeface="+mn-cs"/>
      </a:defRPr>
    </a:lvl3pPr>
    <a:lvl4pPr marL="1828754" algn="l" defTabSz="609585" rtl="0" eaLnBrk="1" latinLnBrk="0" hangingPunct="1">
      <a:defRPr sz="1600" kern="1200">
        <a:solidFill>
          <a:schemeClr val="tx1"/>
        </a:solidFill>
        <a:latin typeface="+mn-lt"/>
        <a:ea typeface="+mn-ea"/>
        <a:cs typeface="+mn-cs"/>
      </a:defRPr>
    </a:lvl4pPr>
    <a:lvl5pPr marL="2438339" algn="l" defTabSz="609585" rtl="0" eaLnBrk="1" latinLnBrk="0" hangingPunct="1">
      <a:defRPr sz="1600" kern="1200">
        <a:solidFill>
          <a:schemeClr val="tx1"/>
        </a:solidFill>
        <a:latin typeface="+mn-lt"/>
        <a:ea typeface="+mn-ea"/>
        <a:cs typeface="+mn-cs"/>
      </a:defRPr>
    </a:lvl5pPr>
    <a:lvl6pPr marL="3047924" algn="l" defTabSz="609585" rtl="0" eaLnBrk="1" latinLnBrk="0" hangingPunct="1">
      <a:defRPr sz="1600" kern="1200">
        <a:solidFill>
          <a:schemeClr val="tx1"/>
        </a:solidFill>
        <a:latin typeface="+mn-lt"/>
        <a:ea typeface="+mn-ea"/>
        <a:cs typeface="+mn-cs"/>
      </a:defRPr>
    </a:lvl6pPr>
    <a:lvl7pPr marL="3657509" algn="l" defTabSz="609585" rtl="0" eaLnBrk="1" latinLnBrk="0" hangingPunct="1">
      <a:defRPr sz="1600" kern="1200">
        <a:solidFill>
          <a:schemeClr val="tx1"/>
        </a:solidFill>
        <a:latin typeface="+mn-lt"/>
        <a:ea typeface="+mn-ea"/>
        <a:cs typeface="+mn-cs"/>
      </a:defRPr>
    </a:lvl7pPr>
    <a:lvl8pPr marL="4267093" algn="l" defTabSz="609585" rtl="0" eaLnBrk="1" latinLnBrk="0" hangingPunct="1">
      <a:defRPr sz="1600" kern="1200">
        <a:solidFill>
          <a:schemeClr val="tx1"/>
        </a:solidFill>
        <a:latin typeface="+mn-lt"/>
        <a:ea typeface="+mn-ea"/>
        <a:cs typeface="+mn-cs"/>
      </a:defRPr>
    </a:lvl8pPr>
    <a:lvl9pPr marL="4876678" algn="l" defTabSz="609585"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59EA9514-9494-884D-8088-2187CF26A723}" type="slidenum">
              <a:rPr lang="en-US" smtClean="0"/>
              <a:t>9</a:t>
            </a:fld>
            <a:endParaRPr lang="en-US"/>
          </a:p>
        </p:txBody>
      </p:sp>
    </p:spTree>
    <p:extLst>
      <p:ext uri="{BB962C8B-B14F-4D97-AF65-F5344CB8AC3E}">
        <p14:creationId xmlns:p14="http://schemas.microsoft.com/office/powerpoint/2010/main" val="31423941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9EA9514-9494-884D-8088-2187CF26A723}" type="slidenum">
              <a:rPr lang="en-US" smtClean="0"/>
              <a:t>10</a:t>
            </a:fld>
            <a:endParaRPr lang="en-US"/>
          </a:p>
        </p:txBody>
      </p:sp>
    </p:spTree>
    <p:extLst>
      <p:ext uri="{BB962C8B-B14F-4D97-AF65-F5344CB8AC3E}">
        <p14:creationId xmlns:p14="http://schemas.microsoft.com/office/powerpoint/2010/main" val="2856718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9EA9514-9494-884D-8088-2187CF26A723}" type="slidenum">
              <a:rPr lang="en-US" smtClean="0"/>
              <a:t>17</a:t>
            </a:fld>
            <a:endParaRPr lang="en-US"/>
          </a:p>
        </p:txBody>
      </p:sp>
    </p:spTree>
    <p:extLst>
      <p:ext uri="{BB962C8B-B14F-4D97-AF65-F5344CB8AC3E}">
        <p14:creationId xmlns:p14="http://schemas.microsoft.com/office/powerpoint/2010/main" val="11987811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9EA9514-9494-884D-8088-2187CF26A723}" type="slidenum">
              <a:rPr lang="en-US" smtClean="0"/>
              <a:t>26</a:t>
            </a:fld>
            <a:endParaRPr lang="en-US"/>
          </a:p>
        </p:txBody>
      </p:sp>
    </p:spTree>
    <p:extLst>
      <p:ext uri="{BB962C8B-B14F-4D97-AF65-F5344CB8AC3E}">
        <p14:creationId xmlns:p14="http://schemas.microsoft.com/office/powerpoint/2010/main" val="37899681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9EA9514-9494-884D-8088-2187CF26A723}" type="slidenum">
              <a:rPr lang="en-US" smtClean="0"/>
              <a:t>27</a:t>
            </a:fld>
            <a:endParaRPr lang="en-US"/>
          </a:p>
        </p:txBody>
      </p:sp>
    </p:spTree>
    <p:extLst>
      <p:ext uri="{BB962C8B-B14F-4D97-AF65-F5344CB8AC3E}">
        <p14:creationId xmlns:p14="http://schemas.microsoft.com/office/powerpoint/2010/main" val="19438652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9EA9514-9494-884D-8088-2187CF26A723}" type="slidenum">
              <a:rPr lang="en-US" smtClean="0"/>
              <a:t>29</a:t>
            </a:fld>
            <a:endParaRPr lang="en-US"/>
          </a:p>
        </p:txBody>
      </p:sp>
    </p:spTree>
    <p:extLst>
      <p:ext uri="{BB962C8B-B14F-4D97-AF65-F5344CB8AC3E}">
        <p14:creationId xmlns:p14="http://schemas.microsoft.com/office/powerpoint/2010/main" val="42126463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59EA9514-9494-884D-8088-2187CF26A723}" type="slidenum">
              <a:rPr lang="en-US" smtClean="0"/>
              <a:t>40</a:t>
            </a:fld>
            <a:endParaRPr lang="en-US"/>
          </a:p>
        </p:txBody>
      </p:sp>
    </p:spTree>
    <p:extLst>
      <p:ext uri="{BB962C8B-B14F-4D97-AF65-F5344CB8AC3E}">
        <p14:creationId xmlns:p14="http://schemas.microsoft.com/office/powerpoint/2010/main" val="211226460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a:xfrm>
            <a:off x="-33867" y="-33867"/>
            <a:ext cx="12310533" cy="6934307"/>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pic>
        <p:nvPicPr>
          <p:cNvPr id="8" name="Picture 7" descr="Artboard 1.png"/>
          <p:cNvPicPr>
            <a:picLocks noChangeAspect="1"/>
          </p:cNvPicPr>
          <p:nvPr userDrawn="1"/>
        </p:nvPicPr>
        <p:blipFill>
          <a:blip r:embed="rId2"/>
          <a:stretch>
            <a:fillRect/>
          </a:stretch>
        </p:blipFill>
        <p:spPr>
          <a:xfrm>
            <a:off x="-33867" y="-33864"/>
            <a:ext cx="12310533" cy="6934304"/>
          </a:xfrm>
          <a:prstGeom prst="rect">
            <a:avLst/>
          </a:prstGeom>
        </p:spPr>
      </p:pic>
      <p:pic>
        <p:nvPicPr>
          <p:cNvPr id="9" name="Picture 8" descr="Artboard 5.png"/>
          <p:cNvPicPr>
            <a:picLocks noChangeAspect="1"/>
          </p:cNvPicPr>
          <p:nvPr userDrawn="1"/>
        </p:nvPicPr>
        <p:blipFill>
          <a:blip r:embed="rId3"/>
          <a:stretch>
            <a:fillRect/>
          </a:stretch>
        </p:blipFill>
        <p:spPr>
          <a:xfrm>
            <a:off x="10559181" y="182879"/>
            <a:ext cx="1497371" cy="1082887"/>
          </a:xfrm>
          <a:prstGeom prst="rect">
            <a:avLst/>
          </a:prstGeom>
        </p:spPr>
      </p:pic>
      <p:sp>
        <p:nvSpPr>
          <p:cNvPr id="6" name="Title 1"/>
          <p:cNvSpPr>
            <a:spLocks noGrp="1"/>
          </p:cNvSpPr>
          <p:nvPr>
            <p:ph type="title"/>
          </p:nvPr>
        </p:nvSpPr>
        <p:spPr>
          <a:xfrm>
            <a:off x="1285192" y="1512276"/>
            <a:ext cx="8954021" cy="2442072"/>
          </a:xfrm>
        </p:spPr>
        <p:txBody>
          <a:bodyPr anchor="ctr">
            <a:normAutofit/>
          </a:bodyPr>
          <a:lstStyle>
            <a:lvl1pPr algn="l">
              <a:defRPr sz="5067" b="1" cap="all">
                <a:solidFill>
                  <a:srgbClr val="F0AB00"/>
                </a:solidFill>
                <a:latin typeface="+mj-lt"/>
              </a:defRPr>
            </a:lvl1pPr>
          </a:lstStyle>
          <a:p>
            <a:r>
              <a:rPr lang="en-US" dirty="0"/>
              <a:t>Click to edit Master title style</a:t>
            </a:r>
          </a:p>
        </p:txBody>
      </p:sp>
      <p:pic>
        <p:nvPicPr>
          <p:cNvPr id="15" name="Picture 14"/>
          <p:cNvPicPr>
            <a:picLocks noChangeAspect="1"/>
          </p:cNvPicPr>
          <p:nvPr userDrawn="1"/>
        </p:nvPicPr>
        <p:blipFill>
          <a:blip r:embed="rId4" cstate="hqprint">
            <a:extLst>
              <a:ext uri="{28A0092B-C50C-407E-A947-70E740481C1C}">
                <a14:useLocalDpi xmlns:a14="http://schemas.microsoft.com/office/drawing/2010/main"/>
              </a:ext>
            </a:extLst>
          </a:blip>
          <a:stretch>
            <a:fillRect/>
          </a:stretch>
        </p:blipFill>
        <p:spPr>
          <a:xfrm>
            <a:off x="10617464" y="5130800"/>
            <a:ext cx="1431729" cy="1524000"/>
          </a:xfrm>
          <a:prstGeom prst="rect">
            <a:avLst/>
          </a:prstGeom>
        </p:spPr>
      </p:pic>
      <p:sp>
        <p:nvSpPr>
          <p:cNvPr id="5" name="Text Placeholder 4"/>
          <p:cNvSpPr>
            <a:spLocks noGrp="1"/>
          </p:cNvSpPr>
          <p:nvPr>
            <p:ph type="body" sz="quarter" idx="10" hasCustomPrompt="1"/>
          </p:nvPr>
        </p:nvSpPr>
        <p:spPr>
          <a:xfrm>
            <a:off x="1284817" y="4236680"/>
            <a:ext cx="8954396" cy="836083"/>
          </a:xfrm>
          <a:prstGeom prst="rect">
            <a:avLst/>
          </a:prstGeom>
        </p:spPr>
        <p:txBody>
          <a:bodyPr/>
          <a:lstStyle>
            <a:lvl1pPr marL="0" indent="0">
              <a:buNone/>
              <a:defRPr sz="2667">
                <a:solidFill>
                  <a:schemeClr val="bg1"/>
                </a:solidFill>
              </a:defRPr>
            </a:lvl1pPr>
          </a:lstStyle>
          <a:p>
            <a:pPr lvl="0"/>
            <a:r>
              <a:rPr lang="en-US" dirty="0"/>
              <a:t>Click to edit master text styles</a:t>
            </a:r>
            <a:endParaRPr lang="en-GB"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6" name="Picture 5" descr="Artboard 2.png"/>
          <p:cNvPicPr>
            <a:picLocks noChangeAspect="1"/>
          </p:cNvPicPr>
          <p:nvPr userDrawn="1"/>
        </p:nvPicPr>
        <p:blipFill>
          <a:blip r:embed="rId2"/>
          <a:stretch>
            <a:fillRect/>
          </a:stretch>
        </p:blipFill>
        <p:spPr>
          <a:xfrm>
            <a:off x="8467" y="0"/>
            <a:ext cx="12183533" cy="6858000"/>
          </a:xfrm>
          <a:prstGeom prst="rect">
            <a:avLst/>
          </a:prstGeom>
        </p:spPr>
      </p:pic>
      <p:pic>
        <p:nvPicPr>
          <p:cNvPr id="7" name="Picture 6" descr="Artboard 7.png"/>
          <p:cNvPicPr>
            <a:picLocks noChangeAspect="1"/>
          </p:cNvPicPr>
          <p:nvPr userDrawn="1"/>
        </p:nvPicPr>
        <p:blipFill rotWithShape="1">
          <a:blip r:embed="rId3" cstate="hqprint">
            <a:extLst>
              <a:ext uri="{28A0092B-C50C-407E-A947-70E740481C1C}">
                <a14:useLocalDpi xmlns:a14="http://schemas.microsoft.com/office/drawing/2010/main"/>
              </a:ext>
            </a:extLst>
          </a:blip>
          <a:srcRect/>
          <a:stretch/>
        </p:blipFill>
        <p:spPr>
          <a:xfrm>
            <a:off x="-22579" y="-1"/>
            <a:ext cx="12214579" cy="6858001"/>
          </a:xfrm>
          <a:prstGeom prst="rect">
            <a:avLst/>
          </a:prstGeom>
          <a:solidFill>
            <a:schemeClr val="bg1">
              <a:lumMod val="85000"/>
              <a:alpha val="73000"/>
            </a:schemeClr>
          </a:solidFill>
        </p:spPr>
      </p:pic>
      <p:sp>
        <p:nvSpPr>
          <p:cNvPr id="14" name="Title 1"/>
          <p:cNvSpPr>
            <a:spLocks noGrp="1"/>
          </p:cNvSpPr>
          <p:nvPr>
            <p:ph type="title"/>
          </p:nvPr>
        </p:nvSpPr>
        <p:spPr>
          <a:xfrm>
            <a:off x="620184" y="1407836"/>
            <a:ext cx="4917016" cy="2465664"/>
          </a:xfrm>
        </p:spPr>
        <p:txBody>
          <a:bodyPr anchor="t">
            <a:normAutofit/>
          </a:bodyPr>
          <a:lstStyle>
            <a:lvl1pPr algn="l">
              <a:defRPr sz="5067" b="1" cap="all">
                <a:latin typeface="+mj-lt"/>
              </a:defRPr>
            </a:lvl1pPr>
          </a:lstStyle>
          <a:p>
            <a:r>
              <a:rPr lang="en-US" dirty="0"/>
              <a:t>Click to edit Master title style</a:t>
            </a:r>
          </a:p>
        </p:txBody>
      </p:sp>
      <p:sp>
        <p:nvSpPr>
          <p:cNvPr id="15" name="Text Placeholder 2"/>
          <p:cNvSpPr>
            <a:spLocks noGrp="1"/>
          </p:cNvSpPr>
          <p:nvPr>
            <p:ph type="body" idx="1"/>
          </p:nvPr>
        </p:nvSpPr>
        <p:spPr>
          <a:xfrm>
            <a:off x="620184" y="4111725"/>
            <a:ext cx="4917016" cy="1500716"/>
          </a:xfrm>
          <a:prstGeom prst="rect">
            <a:avLst/>
          </a:prstGeom>
        </p:spPr>
        <p:txBody>
          <a:bodyPr anchor="t"/>
          <a:lstStyle>
            <a:lvl1pPr marL="0" indent="0">
              <a:buNone/>
              <a:defRPr sz="2667">
                <a:solidFill>
                  <a:schemeClr val="tx1">
                    <a:tint val="75000"/>
                  </a:schemeClr>
                </a:solidFill>
                <a:latin typeface="+mj-lt"/>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dirty="0"/>
              <a:t>Click to edit Master text styles</a:t>
            </a:r>
          </a:p>
        </p:txBody>
      </p:sp>
      <p:pic>
        <p:nvPicPr>
          <p:cNvPr id="4" name="Picture 3"/>
          <p:cNvPicPr>
            <a:picLocks noChangeAspect="1"/>
          </p:cNvPicPr>
          <p:nvPr userDrawn="1"/>
        </p:nvPicPr>
        <p:blipFill>
          <a:blip r:embed="rId4" cstate="hqprint">
            <a:extLst>
              <a:ext uri="{28A0092B-C50C-407E-A947-70E740481C1C}">
                <a14:useLocalDpi xmlns:a14="http://schemas.microsoft.com/office/drawing/2010/main"/>
              </a:ext>
            </a:extLst>
          </a:blip>
          <a:stretch>
            <a:fillRect/>
          </a:stretch>
        </p:blipFill>
        <p:spPr>
          <a:xfrm>
            <a:off x="10766730" y="1"/>
            <a:ext cx="1425271" cy="1518833"/>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pic>
        <p:nvPicPr>
          <p:cNvPr id="5" name="Picture 4" descr="Artboard 3.png"/>
          <p:cNvPicPr>
            <a:picLocks noChangeAspect="1"/>
          </p:cNvPicPr>
          <p:nvPr userDrawn="1"/>
        </p:nvPicPr>
        <p:blipFill>
          <a:blip r:embed="rId2"/>
          <a:stretch>
            <a:fillRect/>
          </a:stretch>
        </p:blipFill>
        <p:spPr>
          <a:xfrm>
            <a:off x="0" y="0"/>
            <a:ext cx="12175067" cy="6858000"/>
          </a:xfrm>
          <a:prstGeom prst="rect">
            <a:avLst/>
          </a:prstGeom>
        </p:spPr>
      </p:pic>
      <p:sp>
        <p:nvSpPr>
          <p:cNvPr id="11" name="Title 1"/>
          <p:cNvSpPr>
            <a:spLocks noGrp="1"/>
          </p:cNvSpPr>
          <p:nvPr>
            <p:ph type="title"/>
          </p:nvPr>
        </p:nvSpPr>
        <p:spPr>
          <a:xfrm>
            <a:off x="609600" y="275167"/>
            <a:ext cx="10048125" cy="1143000"/>
          </a:xfrm>
        </p:spPr>
        <p:txBody>
          <a:bodyPr>
            <a:normAutofit/>
          </a:bodyPr>
          <a:lstStyle>
            <a:lvl1pPr>
              <a:defRPr sz="3733"/>
            </a:lvl1pPr>
          </a:lstStyle>
          <a:p>
            <a:r>
              <a:rPr lang="en-US" dirty="0"/>
              <a:t>Click to edit Master title style</a:t>
            </a:r>
          </a:p>
        </p:txBody>
      </p:sp>
      <p:pic>
        <p:nvPicPr>
          <p:cNvPr id="7" name="Picture 6"/>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10766730" y="1"/>
            <a:ext cx="1425271" cy="1518833"/>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Horizontal Text">
    <p:spTree>
      <p:nvGrpSpPr>
        <p:cNvPr id="1" name=""/>
        <p:cNvGrpSpPr/>
        <p:nvPr/>
      </p:nvGrpSpPr>
      <p:grpSpPr>
        <a:xfrm>
          <a:off x="0" y="0"/>
          <a:ext cx="0" cy="0"/>
          <a:chOff x="0" y="0"/>
          <a:chExt cx="0" cy="0"/>
        </a:xfrm>
      </p:grpSpPr>
      <p:pic>
        <p:nvPicPr>
          <p:cNvPr id="5" name="Picture 4" descr="Artboard 3.png"/>
          <p:cNvPicPr>
            <a:picLocks noChangeAspect="1"/>
          </p:cNvPicPr>
          <p:nvPr userDrawn="1"/>
        </p:nvPicPr>
        <p:blipFill>
          <a:blip r:embed="rId2"/>
          <a:stretch>
            <a:fillRect/>
          </a:stretch>
        </p:blipFill>
        <p:spPr>
          <a:xfrm>
            <a:off x="0" y="0"/>
            <a:ext cx="12175067" cy="6858000"/>
          </a:xfrm>
          <a:prstGeom prst="rect">
            <a:avLst/>
          </a:prstGeom>
        </p:spPr>
      </p:pic>
      <p:sp>
        <p:nvSpPr>
          <p:cNvPr id="11" name="Title 1"/>
          <p:cNvSpPr>
            <a:spLocks noGrp="1"/>
          </p:cNvSpPr>
          <p:nvPr>
            <p:ph type="title"/>
          </p:nvPr>
        </p:nvSpPr>
        <p:spPr>
          <a:xfrm>
            <a:off x="609600" y="275167"/>
            <a:ext cx="10048125" cy="1143000"/>
          </a:xfrm>
        </p:spPr>
        <p:txBody>
          <a:bodyPr/>
          <a:lstStyle>
            <a:lvl1pPr>
              <a:defRPr/>
            </a:lvl1pPr>
          </a:lstStyle>
          <a:p>
            <a:r>
              <a:rPr lang="en-US" dirty="0"/>
              <a:t>Click to edit Master title style</a:t>
            </a:r>
          </a:p>
        </p:txBody>
      </p:sp>
      <p:sp>
        <p:nvSpPr>
          <p:cNvPr id="8" name="Content Placeholder 7"/>
          <p:cNvSpPr>
            <a:spLocks noGrp="1"/>
          </p:cNvSpPr>
          <p:nvPr>
            <p:ph sz="quarter" idx="10"/>
          </p:nvPr>
        </p:nvSpPr>
        <p:spPr>
          <a:xfrm>
            <a:off x="609601" y="1682751"/>
            <a:ext cx="10047817" cy="4548716"/>
          </a:xfrm>
          <a:prstGeom prst="rect">
            <a:avLst/>
          </a:prstGeom>
        </p:spPr>
        <p:txBody>
          <a:bodyPr/>
          <a:lstStyle>
            <a:lvl1pPr marL="457189" indent="-457189">
              <a:buSzPct val="100000"/>
              <a:buFontTx/>
              <a:buBlip>
                <a:blip r:embed="rId3"/>
              </a:buBlip>
              <a:defRPr sz="2667">
                <a:solidFill>
                  <a:schemeClr val="tx2">
                    <a:lumMod val="50000"/>
                  </a:schemeClr>
                </a:solidFill>
              </a:defRPr>
            </a:lvl1pPr>
            <a:lvl2pPr>
              <a:defRPr sz="2400">
                <a:solidFill>
                  <a:schemeClr val="tx2">
                    <a:lumMod val="50000"/>
                  </a:schemeClr>
                </a:solidFill>
              </a:defRPr>
            </a:lvl2pPr>
            <a:lvl3pPr>
              <a:defRPr sz="2133">
                <a:solidFill>
                  <a:schemeClr val="tx2">
                    <a:lumMod val="50000"/>
                  </a:schemeClr>
                </a:solidFill>
              </a:defRPr>
            </a:lvl3pPr>
            <a:lvl4pPr>
              <a:defRPr sz="2133">
                <a:solidFill>
                  <a:schemeClr val="tx2">
                    <a:lumMod val="50000"/>
                  </a:schemeClr>
                </a:solidFill>
              </a:defRPr>
            </a:lvl4pPr>
            <a:lvl5pPr>
              <a:defRPr sz="2133">
                <a:solidFill>
                  <a:schemeClr val="tx2">
                    <a:lumMod val="50000"/>
                  </a:schemeClr>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7" name="Picture 6"/>
          <p:cNvPicPr>
            <a:picLocks noChangeAspect="1"/>
          </p:cNvPicPr>
          <p:nvPr userDrawn="1"/>
        </p:nvPicPr>
        <p:blipFill>
          <a:blip r:embed="rId4" cstate="hqprint">
            <a:extLst>
              <a:ext uri="{28A0092B-C50C-407E-A947-70E740481C1C}">
                <a14:useLocalDpi xmlns:a14="http://schemas.microsoft.com/office/drawing/2010/main"/>
              </a:ext>
            </a:extLst>
          </a:blip>
          <a:stretch>
            <a:fillRect/>
          </a:stretch>
        </p:blipFill>
        <p:spPr>
          <a:xfrm>
            <a:off x="10766730" y="1"/>
            <a:ext cx="1425271" cy="1518833"/>
          </a:xfrm>
          <a:prstGeom prst="rect">
            <a:avLst/>
          </a:prstGeom>
        </p:spPr>
      </p:pic>
    </p:spTree>
    <p:extLst>
      <p:ext uri="{BB962C8B-B14F-4D97-AF65-F5344CB8AC3E}">
        <p14:creationId xmlns:p14="http://schemas.microsoft.com/office/powerpoint/2010/main" val="16073108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pic>
        <p:nvPicPr>
          <p:cNvPr id="7" name="Picture 6" descr="Artboard 3.png"/>
          <p:cNvPicPr>
            <a:picLocks noChangeAspect="1"/>
          </p:cNvPicPr>
          <p:nvPr userDrawn="1"/>
        </p:nvPicPr>
        <p:blipFill>
          <a:blip r:embed="rId2"/>
          <a:stretch>
            <a:fillRect/>
          </a:stretch>
        </p:blipFill>
        <p:spPr>
          <a:xfrm>
            <a:off x="0" y="0"/>
            <a:ext cx="12175067" cy="6858000"/>
          </a:xfrm>
          <a:prstGeom prst="rect">
            <a:avLst/>
          </a:prstGeom>
        </p:spPr>
      </p:pic>
      <p:sp>
        <p:nvSpPr>
          <p:cNvPr id="10" name="Title 1"/>
          <p:cNvSpPr>
            <a:spLocks noGrp="1"/>
          </p:cNvSpPr>
          <p:nvPr>
            <p:ph type="title"/>
          </p:nvPr>
        </p:nvSpPr>
        <p:spPr>
          <a:xfrm>
            <a:off x="609601" y="275167"/>
            <a:ext cx="10061825" cy="1143000"/>
          </a:xfrm>
        </p:spPr>
        <p:txBody>
          <a:bodyPr/>
          <a:lstStyle/>
          <a:p>
            <a:r>
              <a:rPr lang="en-US" dirty="0"/>
              <a:t>Click to edit Master title style</a:t>
            </a:r>
          </a:p>
        </p:txBody>
      </p:sp>
      <p:sp>
        <p:nvSpPr>
          <p:cNvPr id="11" name="Vertical Text Placeholder 2"/>
          <p:cNvSpPr>
            <a:spLocks noGrp="1"/>
          </p:cNvSpPr>
          <p:nvPr>
            <p:ph type="body" orient="vert" idx="1"/>
          </p:nvPr>
        </p:nvSpPr>
        <p:spPr>
          <a:xfrm>
            <a:off x="609600" y="1600201"/>
            <a:ext cx="10972800" cy="4525433"/>
          </a:xfrm>
          <a:prstGeom prst="rect">
            <a:avLst/>
          </a:prstGeom>
        </p:spPr>
        <p:txBody>
          <a:bodyPr vert="eaVert"/>
          <a:lstStyle>
            <a:lvl1pPr marL="457189" indent="-457189">
              <a:buFontTx/>
              <a:buBlip>
                <a:blip r:embed="rId3"/>
              </a:buBlip>
              <a:defRPr sz="2667">
                <a:solidFill>
                  <a:schemeClr val="tx2">
                    <a:lumMod val="50000"/>
                  </a:schemeClr>
                </a:solidFill>
              </a:defRPr>
            </a:lvl1pPr>
            <a:lvl2pPr>
              <a:defRPr sz="2400">
                <a:solidFill>
                  <a:schemeClr val="tx2">
                    <a:lumMod val="50000"/>
                  </a:schemeClr>
                </a:solidFill>
              </a:defRPr>
            </a:lvl2pPr>
            <a:lvl3pPr>
              <a:defRPr sz="2133">
                <a:solidFill>
                  <a:schemeClr val="tx2">
                    <a:lumMod val="50000"/>
                  </a:schemeClr>
                </a:solidFill>
              </a:defRPr>
            </a:lvl3pPr>
            <a:lvl4pPr>
              <a:defRPr sz="2133">
                <a:solidFill>
                  <a:schemeClr val="tx2">
                    <a:lumMod val="50000"/>
                  </a:schemeClr>
                </a:solidFill>
              </a:defRPr>
            </a:lvl4pPr>
            <a:lvl5pPr>
              <a:defRPr sz="2133">
                <a:solidFill>
                  <a:schemeClr val="tx2">
                    <a:lumMod val="5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Picture 8"/>
          <p:cNvPicPr>
            <a:picLocks noChangeAspect="1"/>
          </p:cNvPicPr>
          <p:nvPr userDrawn="1"/>
        </p:nvPicPr>
        <p:blipFill>
          <a:blip r:embed="rId4" cstate="hqprint">
            <a:extLst>
              <a:ext uri="{28A0092B-C50C-407E-A947-70E740481C1C}">
                <a14:useLocalDpi xmlns:a14="http://schemas.microsoft.com/office/drawing/2010/main"/>
              </a:ext>
            </a:extLst>
          </a:blip>
          <a:stretch>
            <a:fillRect/>
          </a:stretch>
        </p:blipFill>
        <p:spPr>
          <a:xfrm>
            <a:off x="10766730" y="1"/>
            <a:ext cx="1425271" cy="1518833"/>
          </a:xfrm>
          <a:prstGeom prst="rect">
            <a:avLst/>
          </a:prstGeom>
        </p:spPr>
      </p:pic>
    </p:spTree>
    <p:extLst>
      <p:ext uri="{BB962C8B-B14F-4D97-AF65-F5344CB8AC3E}">
        <p14:creationId xmlns:p14="http://schemas.microsoft.com/office/powerpoint/2010/main" val="13440319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8" name="Picture 7" descr="Artboard 3.png"/>
          <p:cNvPicPr>
            <a:picLocks noChangeAspect="1"/>
          </p:cNvPicPr>
          <p:nvPr userDrawn="1"/>
        </p:nvPicPr>
        <p:blipFill>
          <a:blip r:embed="rId2"/>
          <a:stretch>
            <a:fillRect/>
          </a:stretch>
        </p:blipFill>
        <p:spPr>
          <a:xfrm>
            <a:off x="0" y="0"/>
            <a:ext cx="12175067" cy="6858000"/>
          </a:xfrm>
          <a:prstGeom prst="rect">
            <a:avLst/>
          </a:prstGeom>
        </p:spPr>
      </p:pic>
      <p:sp>
        <p:nvSpPr>
          <p:cNvPr id="11" name="Title 1"/>
          <p:cNvSpPr>
            <a:spLocks noGrp="1"/>
          </p:cNvSpPr>
          <p:nvPr>
            <p:ph type="title"/>
          </p:nvPr>
        </p:nvSpPr>
        <p:spPr>
          <a:xfrm>
            <a:off x="609600" y="275167"/>
            <a:ext cx="9993331" cy="1143000"/>
          </a:xfrm>
        </p:spPr>
        <p:txBody>
          <a:bodyPr/>
          <a:lstStyle/>
          <a:p>
            <a:r>
              <a:rPr lang="en-US" dirty="0"/>
              <a:t>Click to edit Master title style</a:t>
            </a:r>
          </a:p>
        </p:txBody>
      </p:sp>
      <p:sp>
        <p:nvSpPr>
          <p:cNvPr id="12" name="Content Placeholder 2"/>
          <p:cNvSpPr>
            <a:spLocks noGrp="1"/>
          </p:cNvSpPr>
          <p:nvPr>
            <p:ph sz="half" idx="1"/>
          </p:nvPr>
        </p:nvSpPr>
        <p:spPr>
          <a:xfrm>
            <a:off x="609600" y="1600201"/>
            <a:ext cx="5384800" cy="4525433"/>
          </a:xfrm>
          <a:prstGeom prst="rect">
            <a:avLst/>
          </a:prstGeom>
        </p:spPr>
        <p:txBody>
          <a:bodyPr>
            <a:normAutofit/>
          </a:bodyPr>
          <a:lstStyle>
            <a:lvl1pPr marL="457189" indent="-457189">
              <a:buFontTx/>
              <a:buBlip>
                <a:blip r:embed="rId3"/>
              </a:buBlip>
              <a:defRPr sz="2400">
                <a:solidFill>
                  <a:schemeClr val="tx2">
                    <a:lumMod val="50000"/>
                  </a:schemeClr>
                </a:solidFill>
              </a:defRPr>
            </a:lvl1pPr>
            <a:lvl2pPr>
              <a:defRPr sz="2133">
                <a:solidFill>
                  <a:schemeClr val="tx2">
                    <a:lumMod val="50000"/>
                  </a:schemeClr>
                </a:solidFill>
              </a:defRPr>
            </a:lvl2pPr>
            <a:lvl3pPr>
              <a:defRPr sz="1867">
                <a:solidFill>
                  <a:schemeClr val="tx2">
                    <a:lumMod val="50000"/>
                  </a:schemeClr>
                </a:solidFill>
              </a:defRPr>
            </a:lvl3pPr>
            <a:lvl4pPr>
              <a:defRPr sz="1600">
                <a:solidFill>
                  <a:schemeClr val="tx2">
                    <a:lumMod val="50000"/>
                  </a:schemeClr>
                </a:solidFill>
              </a:defRPr>
            </a:lvl4pPr>
            <a:lvl5pPr>
              <a:defRPr sz="1600">
                <a:solidFill>
                  <a:schemeClr val="tx2">
                    <a:lumMod val="50000"/>
                  </a:schemeClr>
                </a:solidFill>
              </a:defRPr>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3"/>
          <p:cNvSpPr>
            <a:spLocks noGrp="1"/>
          </p:cNvSpPr>
          <p:nvPr>
            <p:ph sz="half" idx="2"/>
          </p:nvPr>
        </p:nvSpPr>
        <p:spPr>
          <a:xfrm>
            <a:off x="6197600" y="1600201"/>
            <a:ext cx="5384800" cy="4525433"/>
          </a:xfrm>
          <a:prstGeom prst="rect">
            <a:avLst/>
          </a:prstGeom>
        </p:spPr>
        <p:txBody>
          <a:bodyPr>
            <a:normAutofit/>
          </a:bodyPr>
          <a:lstStyle>
            <a:lvl1pPr marL="457189" indent="-457189">
              <a:buFontTx/>
              <a:buBlip>
                <a:blip r:embed="rId3"/>
              </a:buBlip>
              <a:defRPr sz="2400">
                <a:solidFill>
                  <a:schemeClr val="tx2">
                    <a:lumMod val="50000"/>
                  </a:schemeClr>
                </a:solidFill>
              </a:defRPr>
            </a:lvl1pPr>
            <a:lvl2pPr>
              <a:defRPr sz="2133">
                <a:solidFill>
                  <a:schemeClr val="tx2">
                    <a:lumMod val="50000"/>
                  </a:schemeClr>
                </a:solidFill>
              </a:defRPr>
            </a:lvl2pPr>
            <a:lvl3pPr>
              <a:defRPr sz="1867">
                <a:solidFill>
                  <a:schemeClr val="tx2">
                    <a:lumMod val="50000"/>
                  </a:schemeClr>
                </a:solidFill>
              </a:defRPr>
            </a:lvl3pPr>
            <a:lvl4pPr>
              <a:defRPr sz="1600">
                <a:solidFill>
                  <a:schemeClr val="tx2">
                    <a:lumMod val="50000"/>
                  </a:schemeClr>
                </a:solidFill>
              </a:defRPr>
            </a:lvl4pPr>
            <a:lvl5pPr>
              <a:defRPr sz="1600">
                <a:solidFill>
                  <a:schemeClr val="tx2">
                    <a:lumMod val="50000"/>
                  </a:schemeClr>
                </a:solidFill>
              </a:defRPr>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 name="Picture 9"/>
          <p:cNvPicPr>
            <a:picLocks noChangeAspect="1"/>
          </p:cNvPicPr>
          <p:nvPr userDrawn="1"/>
        </p:nvPicPr>
        <p:blipFill>
          <a:blip r:embed="rId4" cstate="hqprint">
            <a:extLst>
              <a:ext uri="{28A0092B-C50C-407E-A947-70E740481C1C}">
                <a14:useLocalDpi xmlns:a14="http://schemas.microsoft.com/office/drawing/2010/main"/>
              </a:ext>
            </a:extLst>
          </a:blip>
          <a:stretch>
            <a:fillRect/>
          </a:stretch>
        </p:blipFill>
        <p:spPr>
          <a:xfrm>
            <a:off x="10766730" y="1"/>
            <a:ext cx="1425271" cy="1518833"/>
          </a:xfrm>
          <a:prstGeom prst="rect">
            <a:avLst/>
          </a:prstGeom>
        </p:spPr>
      </p:pic>
    </p:spTree>
    <p:extLst>
      <p:ext uri="{BB962C8B-B14F-4D97-AF65-F5344CB8AC3E}">
        <p14:creationId xmlns:p14="http://schemas.microsoft.com/office/powerpoint/2010/main" val="6077490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10" name="Picture 9" descr="Artboard 3.png"/>
          <p:cNvPicPr>
            <a:picLocks noChangeAspect="1"/>
          </p:cNvPicPr>
          <p:nvPr userDrawn="1"/>
        </p:nvPicPr>
        <p:blipFill>
          <a:blip r:embed="rId2"/>
          <a:stretch>
            <a:fillRect/>
          </a:stretch>
        </p:blipFill>
        <p:spPr>
          <a:xfrm>
            <a:off x="0" y="0"/>
            <a:ext cx="12175067" cy="6858000"/>
          </a:xfrm>
          <a:prstGeom prst="rect">
            <a:avLst/>
          </a:prstGeom>
        </p:spPr>
      </p:pic>
      <p:sp>
        <p:nvSpPr>
          <p:cNvPr id="13" name="Title 1"/>
          <p:cNvSpPr>
            <a:spLocks noGrp="1"/>
          </p:cNvSpPr>
          <p:nvPr>
            <p:ph type="title"/>
          </p:nvPr>
        </p:nvSpPr>
        <p:spPr>
          <a:xfrm>
            <a:off x="609600" y="275167"/>
            <a:ext cx="10048125" cy="1143000"/>
          </a:xfrm>
        </p:spPr>
        <p:txBody>
          <a:bodyPr/>
          <a:lstStyle>
            <a:lvl1pPr>
              <a:defRPr/>
            </a:lvl1pPr>
          </a:lstStyle>
          <a:p>
            <a:r>
              <a:rPr lang="en-US" dirty="0"/>
              <a:t>Click to edit Master title style</a:t>
            </a:r>
          </a:p>
        </p:txBody>
      </p:sp>
      <p:sp>
        <p:nvSpPr>
          <p:cNvPr id="14" name="Text Placeholder 2"/>
          <p:cNvSpPr>
            <a:spLocks noGrp="1"/>
          </p:cNvSpPr>
          <p:nvPr>
            <p:ph type="body" idx="1"/>
          </p:nvPr>
        </p:nvSpPr>
        <p:spPr>
          <a:xfrm>
            <a:off x="609600" y="1534584"/>
            <a:ext cx="5386917" cy="641349"/>
          </a:xfrm>
          <a:prstGeom prst="rect">
            <a:avLst/>
          </a:prstGeom>
        </p:spPr>
        <p:txBody>
          <a:bodyPr anchor="b">
            <a:normAutofit/>
          </a:bodyPr>
          <a:lstStyle>
            <a:lvl1pPr marL="0" indent="0">
              <a:buNone/>
              <a:defRPr sz="2400" b="1">
                <a:solidFill>
                  <a:schemeClr val="tx2">
                    <a:lumMod val="50000"/>
                  </a:schemeClr>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dirty="0"/>
              <a:t>Click to edit Master text styles</a:t>
            </a:r>
          </a:p>
        </p:txBody>
      </p:sp>
      <p:sp>
        <p:nvSpPr>
          <p:cNvPr id="15" name="Content Placeholder 3"/>
          <p:cNvSpPr>
            <a:spLocks noGrp="1"/>
          </p:cNvSpPr>
          <p:nvPr>
            <p:ph sz="half" idx="2"/>
          </p:nvPr>
        </p:nvSpPr>
        <p:spPr>
          <a:xfrm>
            <a:off x="609600" y="2175934"/>
            <a:ext cx="5386917" cy="3949700"/>
          </a:xfrm>
          <a:prstGeom prst="rect">
            <a:avLst/>
          </a:prstGeom>
        </p:spPr>
        <p:txBody>
          <a:bodyPr>
            <a:normAutofit/>
          </a:bodyPr>
          <a:lstStyle>
            <a:lvl1pPr marL="457189" indent="-457189">
              <a:buFontTx/>
              <a:buBlip>
                <a:blip r:embed="rId3"/>
              </a:buBlip>
              <a:defRPr sz="2400">
                <a:solidFill>
                  <a:schemeClr val="tx2">
                    <a:lumMod val="50000"/>
                  </a:schemeClr>
                </a:solidFill>
              </a:defRPr>
            </a:lvl1pPr>
            <a:lvl2pPr>
              <a:defRPr sz="2133">
                <a:solidFill>
                  <a:schemeClr val="tx2">
                    <a:lumMod val="50000"/>
                  </a:schemeClr>
                </a:solidFill>
              </a:defRPr>
            </a:lvl2pPr>
            <a:lvl3pPr>
              <a:defRPr sz="1867">
                <a:solidFill>
                  <a:schemeClr val="tx2">
                    <a:lumMod val="50000"/>
                  </a:schemeClr>
                </a:solidFill>
              </a:defRPr>
            </a:lvl3pPr>
            <a:lvl4pPr>
              <a:defRPr sz="1600">
                <a:solidFill>
                  <a:schemeClr val="tx2">
                    <a:lumMod val="50000"/>
                  </a:schemeClr>
                </a:solidFill>
              </a:defRPr>
            </a:lvl4pPr>
            <a:lvl5pPr>
              <a:defRPr sz="1600">
                <a:solidFill>
                  <a:schemeClr val="tx2">
                    <a:lumMod val="50000"/>
                  </a:schemeClr>
                </a:solidFill>
              </a:defRPr>
            </a:lvl5pPr>
            <a:lvl6pPr>
              <a:defRPr sz="2133"/>
            </a:lvl6pPr>
            <a:lvl7pPr>
              <a:defRPr sz="2133"/>
            </a:lvl7pPr>
            <a:lvl8pPr>
              <a:defRPr sz="2133"/>
            </a:lvl8pPr>
            <a:lvl9pPr>
              <a:defRPr sz="2133"/>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4"/>
          <p:cNvSpPr>
            <a:spLocks noGrp="1"/>
          </p:cNvSpPr>
          <p:nvPr>
            <p:ph type="body" sz="quarter" idx="3"/>
          </p:nvPr>
        </p:nvSpPr>
        <p:spPr>
          <a:xfrm>
            <a:off x="6193368" y="1534584"/>
            <a:ext cx="5389033" cy="641349"/>
          </a:xfrm>
          <a:prstGeom prst="rect">
            <a:avLst/>
          </a:prstGeom>
        </p:spPr>
        <p:txBody>
          <a:bodyPr anchor="b">
            <a:normAutofit/>
          </a:bodyPr>
          <a:lstStyle>
            <a:lvl1pPr marL="0" indent="0">
              <a:buNone/>
              <a:defRPr sz="2400" b="1">
                <a:solidFill>
                  <a:schemeClr val="tx2">
                    <a:lumMod val="50000"/>
                  </a:schemeClr>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dirty="0"/>
              <a:t>Click to edit Master text styles</a:t>
            </a:r>
          </a:p>
        </p:txBody>
      </p:sp>
      <p:sp>
        <p:nvSpPr>
          <p:cNvPr id="17" name="Content Placeholder 5"/>
          <p:cNvSpPr>
            <a:spLocks noGrp="1"/>
          </p:cNvSpPr>
          <p:nvPr>
            <p:ph sz="quarter" idx="4"/>
          </p:nvPr>
        </p:nvSpPr>
        <p:spPr>
          <a:xfrm>
            <a:off x="6193368" y="2175934"/>
            <a:ext cx="5389033" cy="3949700"/>
          </a:xfrm>
          <a:prstGeom prst="rect">
            <a:avLst/>
          </a:prstGeom>
        </p:spPr>
        <p:txBody>
          <a:bodyPr>
            <a:normAutofit/>
          </a:bodyPr>
          <a:lstStyle>
            <a:lvl1pPr marL="457189" indent="-457189">
              <a:buFontTx/>
              <a:buBlip>
                <a:blip r:embed="rId3"/>
              </a:buBlip>
              <a:defRPr sz="2400">
                <a:solidFill>
                  <a:schemeClr val="tx2">
                    <a:lumMod val="50000"/>
                  </a:schemeClr>
                </a:solidFill>
              </a:defRPr>
            </a:lvl1pPr>
            <a:lvl2pPr>
              <a:defRPr sz="2133">
                <a:solidFill>
                  <a:schemeClr val="tx2">
                    <a:lumMod val="50000"/>
                  </a:schemeClr>
                </a:solidFill>
              </a:defRPr>
            </a:lvl2pPr>
            <a:lvl3pPr>
              <a:defRPr sz="1867">
                <a:solidFill>
                  <a:schemeClr val="tx2">
                    <a:lumMod val="50000"/>
                  </a:schemeClr>
                </a:solidFill>
              </a:defRPr>
            </a:lvl3pPr>
            <a:lvl4pPr>
              <a:defRPr sz="1600">
                <a:solidFill>
                  <a:schemeClr val="tx2">
                    <a:lumMod val="50000"/>
                  </a:schemeClr>
                </a:solidFill>
              </a:defRPr>
            </a:lvl4pPr>
            <a:lvl5pPr>
              <a:defRPr sz="1600">
                <a:solidFill>
                  <a:schemeClr val="tx2">
                    <a:lumMod val="50000"/>
                  </a:schemeClr>
                </a:solidFill>
              </a:defRPr>
            </a:lvl5pPr>
            <a:lvl6pPr>
              <a:defRPr sz="2133"/>
            </a:lvl6pPr>
            <a:lvl7pPr>
              <a:defRPr sz="2133"/>
            </a:lvl7pPr>
            <a:lvl8pPr>
              <a:defRPr sz="2133"/>
            </a:lvl8pPr>
            <a:lvl9pPr>
              <a:defRPr sz="2133"/>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2" name="Picture 11"/>
          <p:cNvPicPr>
            <a:picLocks noChangeAspect="1"/>
          </p:cNvPicPr>
          <p:nvPr userDrawn="1"/>
        </p:nvPicPr>
        <p:blipFill>
          <a:blip r:embed="rId4" cstate="hqprint">
            <a:extLst>
              <a:ext uri="{28A0092B-C50C-407E-A947-70E740481C1C}">
                <a14:useLocalDpi xmlns:a14="http://schemas.microsoft.com/office/drawing/2010/main"/>
              </a:ext>
            </a:extLst>
          </a:blip>
          <a:stretch>
            <a:fillRect/>
          </a:stretch>
        </p:blipFill>
        <p:spPr>
          <a:xfrm>
            <a:off x="10766730" y="1"/>
            <a:ext cx="1425271" cy="1518833"/>
          </a:xfrm>
          <a:prstGeom prst="rect">
            <a:avLst/>
          </a:prstGeom>
        </p:spPr>
      </p:pic>
    </p:spTree>
    <p:extLst>
      <p:ext uri="{BB962C8B-B14F-4D97-AF65-F5344CB8AC3E}">
        <p14:creationId xmlns:p14="http://schemas.microsoft.com/office/powerpoint/2010/main" val="42518450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pic>
        <p:nvPicPr>
          <p:cNvPr id="8" name="Picture 7" descr="Artboard 3.png"/>
          <p:cNvPicPr>
            <a:picLocks noChangeAspect="1"/>
          </p:cNvPicPr>
          <p:nvPr userDrawn="1"/>
        </p:nvPicPr>
        <p:blipFill>
          <a:blip r:embed="rId2"/>
          <a:stretch>
            <a:fillRect/>
          </a:stretch>
        </p:blipFill>
        <p:spPr>
          <a:xfrm>
            <a:off x="0" y="0"/>
            <a:ext cx="12175067" cy="6858000"/>
          </a:xfrm>
          <a:prstGeom prst="rect">
            <a:avLst/>
          </a:prstGeom>
        </p:spPr>
      </p:pic>
      <p:sp>
        <p:nvSpPr>
          <p:cNvPr id="11" name="Title 1"/>
          <p:cNvSpPr>
            <a:spLocks noGrp="1"/>
          </p:cNvSpPr>
          <p:nvPr>
            <p:ph type="title"/>
          </p:nvPr>
        </p:nvSpPr>
        <p:spPr>
          <a:xfrm>
            <a:off x="609601" y="273052"/>
            <a:ext cx="4011084" cy="1162049"/>
          </a:xfrm>
        </p:spPr>
        <p:txBody>
          <a:bodyPr anchor="b"/>
          <a:lstStyle>
            <a:lvl1pPr algn="l">
              <a:defRPr sz="2667" b="1"/>
            </a:lvl1pPr>
          </a:lstStyle>
          <a:p>
            <a:r>
              <a:rPr lang="en-US" dirty="0"/>
              <a:t>Click to edit Master title style</a:t>
            </a:r>
          </a:p>
        </p:txBody>
      </p:sp>
      <p:sp>
        <p:nvSpPr>
          <p:cNvPr id="12" name="Content Placeholder 2"/>
          <p:cNvSpPr>
            <a:spLocks noGrp="1"/>
          </p:cNvSpPr>
          <p:nvPr>
            <p:ph idx="1"/>
          </p:nvPr>
        </p:nvSpPr>
        <p:spPr>
          <a:xfrm>
            <a:off x="4766733" y="273051"/>
            <a:ext cx="6815667" cy="5852583"/>
          </a:xfrm>
          <a:prstGeom prst="rect">
            <a:avLst/>
          </a:prstGeom>
        </p:spPr>
        <p:txBody>
          <a:bodyPr>
            <a:normAutofit/>
          </a:bodyPr>
          <a:lstStyle>
            <a:lvl1pPr marL="457189" indent="-457189">
              <a:buFontTx/>
              <a:buBlip>
                <a:blip r:embed="rId3"/>
              </a:buBlip>
              <a:defRPr sz="2667">
                <a:solidFill>
                  <a:schemeClr val="tx2">
                    <a:lumMod val="50000"/>
                  </a:schemeClr>
                </a:solidFill>
              </a:defRPr>
            </a:lvl1pPr>
            <a:lvl2pPr>
              <a:defRPr sz="2400">
                <a:solidFill>
                  <a:schemeClr val="tx2">
                    <a:lumMod val="50000"/>
                  </a:schemeClr>
                </a:solidFill>
              </a:defRPr>
            </a:lvl2pPr>
            <a:lvl3pPr>
              <a:defRPr sz="2133">
                <a:solidFill>
                  <a:schemeClr val="tx2">
                    <a:lumMod val="50000"/>
                  </a:schemeClr>
                </a:solidFill>
              </a:defRPr>
            </a:lvl3pPr>
            <a:lvl4pPr>
              <a:defRPr sz="1867">
                <a:solidFill>
                  <a:schemeClr val="tx2">
                    <a:lumMod val="50000"/>
                  </a:schemeClr>
                </a:solidFill>
              </a:defRPr>
            </a:lvl4pPr>
            <a:lvl5pPr>
              <a:defRPr sz="1867">
                <a:solidFill>
                  <a:schemeClr val="tx2">
                    <a:lumMod val="50000"/>
                  </a:schemeClr>
                </a:solidFill>
              </a:defRPr>
            </a:lvl5pPr>
            <a:lvl6pPr>
              <a:defRPr sz="2667"/>
            </a:lvl6pPr>
            <a:lvl7pPr>
              <a:defRPr sz="2667"/>
            </a:lvl7pPr>
            <a:lvl8pPr>
              <a:defRPr sz="2667"/>
            </a:lvl8pPr>
            <a:lvl9pPr>
              <a:defRPr sz="2667"/>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3"/>
          <p:cNvSpPr>
            <a:spLocks noGrp="1"/>
          </p:cNvSpPr>
          <p:nvPr>
            <p:ph type="body" sz="half" idx="2"/>
          </p:nvPr>
        </p:nvSpPr>
        <p:spPr>
          <a:xfrm>
            <a:off x="609601" y="1435100"/>
            <a:ext cx="4011084" cy="4690533"/>
          </a:xfrm>
          <a:prstGeom prst="rect">
            <a:avLst/>
          </a:prstGeom>
        </p:spPr>
        <p:txBody>
          <a:bodyPr/>
          <a:lstStyle>
            <a:lvl1pPr marL="0" indent="0">
              <a:buNone/>
              <a:defRPr sz="1867">
                <a:solidFill>
                  <a:schemeClr val="tx2">
                    <a:lumMod val="50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Click to edit Master text styles</a:t>
            </a:r>
          </a:p>
        </p:txBody>
      </p:sp>
      <p:sp>
        <p:nvSpPr>
          <p:cNvPr id="17" name="Date Placeholder 3"/>
          <p:cNvSpPr>
            <a:spLocks noGrp="1"/>
          </p:cNvSpPr>
          <p:nvPr>
            <p:ph type="dt" sz="half" idx="10"/>
          </p:nvPr>
        </p:nvSpPr>
        <p:spPr>
          <a:xfrm>
            <a:off x="609600" y="6542618"/>
            <a:ext cx="2844800" cy="365125"/>
          </a:xfrm>
          <a:prstGeom prst="rect">
            <a:avLst/>
          </a:prstGeom>
        </p:spPr>
        <p:txBody>
          <a:bodyPr vert="horz" lIns="91440" tIns="45720" rIns="91440" bIns="45720" rtlCol="0" anchor="ctr"/>
          <a:lstStyle>
            <a:lvl1pPr algn="l">
              <a:defRPr sz="1467" b="0">
                <a:solidFill>
                  <a:srgbClr val="4F2D7F"/>
                </a:solidFill>
                <a:latin typeface="Arial" panose="020B0604020202020204" pitchFamily="34" charset="0"/>
                <a:cs typeface="Arial" panose="020B0604020202020204" pitchFamily="34" charset="0"/>
              </a:defRPr>
            </a:lvl1pPr>
          </a:lstStyle>
          <a:p>
            <a:endParaRPr lang="en-US" dirty="0"/>
          </a:p>
        </p:txBody>
      </p:sp>
      <p:pic>
        <p:nvPicPr>
          <p:cNvPr id="10" name="Picture 9"/>
          <p:cNvPicPr>
            <a:picLocks noChangeAspect="1"/>
          </p:cNvPicPr>
          <p:nvPr userDrawn="1"/>
        </p:nvPicPr>
        <p:blipFill>
          <a:blip r:embed="rId4" cstate="hqprint">
            <a:extLst>
              <a:ext uri="{28A0092B-C50C-407E-A947-70E740481C1C}">
                <a14:useLocalDpi xmlns:a14="http://schemas.microsoft.com/office/drawing/2010/main"/>
              </a:ext>
            </a:extLst>
          </a:blip>
          <a:stretch>
            <a:fillRect/>
          </a:stretch>
        </p:blipFill>
        <p:spPr>
          <a:xfrm>
            <a:off x="10766730" y="1"/>
            <a:ext cx="1425271" cy="1518833"/>
          </a:xfrm>
          <a:prstGeom prst="rect">
            <a:avLst/>
          </a:prstGeom>
        </p:spPr>
      </p:pic>
    </p:spTree>
    <p:extLst>
      <p:ext uri="{BB962C8B-B14F-4D97-AF65-F5344CB8AC3E}">
        <p14:creationId xmlns:p14="http://schemas.microsoft.com/office/powerpoint/2010/main" val="1803260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8" name="Picture 7" descr="Artboard 3.png"/>
          <p:cNvPicPr>
            <a:picLocks noChangeAspect="1"/>
          </p:cNvPicPr>
          <p:nvPr userDrawn="1"/>
        </p:nvPicPr>
        <p:blipFill>
          <a:blip r:embed="rId2"/>
          <a:stretch>
            <a:fillRect/>
          </a:stretch>
        </p:blipFill>
        <p:spPr>
          <a:xfrm>
            <a:off x="0" y="0"/>
            <a:ext cx="12175067" cy="6858000"/>
          </a:xfrm>
          <a:prstGeom prst="rect">
            <a:avLst/>
          </a:prstGeom>
        </p:spPr>
      </p:pic>
      <p:sp>
        <p:nvSpPr>
          <p:cNvPr id="11" name="Title 1"/>
          <p:cNvSpPr>
            <a:spLocks noGrp="1"/>
          </p:cNvSpPr>
          <p:nvPr>
            <p:ph type="title"/>
          </p:nvPr>
        </p:nvSpPr>
        <p:spPr>
          <a:xfrm>
            <a:off x="2389717" y="4800600"/>
            <a:ext cx="7315200" cy="567267"/>
          </a:xfrm>
        </p:spPr>
        <p:txBody>
          <a:bodyPr anchor="b"/>
          <a:lstStyle>
            <a:lvl1pPr algn="l">
              <a:defRPr sz="2667" b="1"/>
            </a:lvl1pPr>
          </a:lstStyle>
          <a:p>
            <a:r>
              <a:rPr lang="en-US" dirty="0"/>
              <a:t>Click to edit Master title style</a:t>
            </a:r>
          </a:p>
        </p:txBody>
      </p:sp>
      <p:sp>
        <p:nvSpPr>
          <p:cNvPr id="12" name="Picture Placeholder 2"/>
          <p:cNvSpPr>
            <a:spLocks noGrp="1"/>
          </p:cNvSpPr>
          <p:nvPr>
            <p:ph type="pic" idx="1"/>
          </p:nvPr>
        </p:nvSpPr>
        <p:spPr>
          <a:xfrm>
            <a:off x="2389717" y="613833"/>
            <a:ext cx="7315200" cy="4114800"/>
          </a:xfrm>
          <a:prstGeom prst="rect">
            <a:avLst/>
          </a:prstGeom>
        </p:spPr>
        <p:txBody>
          <a:bodyPr/>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endParaRPr lang="en-US"/>
          </a:p>
        </p:txBody>
      </p:sp>
      <p:sp>
        <p:nvSpPr>
          <p:cNvPr id="13" name="Text Placeholder 3"/>
          <p:cNvSpPr>
            <a:spLocks noGrp="1"/>
          </p:cNvSpPr>
          <p:nvPr>
            <p:ph type="body" sz="half" idx="2"/>
          </p:nvPr>
        </p:nvSpPr>
        <p:spPr>
          <a:xfrm>
            <a:off x="2389717" y="5367867"/>
            <a:ext cx="7315200" cy="804333"/>
          </a:xfrm>
          <a:prstGeom prst="rect">
            <a:avLst/>
          </a:prstGeom>
        </p:spPr>
        <p:txBody>
          <a:bodyPr/>
          <a:lstStyle>
            <a:lvl1pPr marL="0" indent="0">
              <a:buNone/>
              <a:defRPr sz="1867">
                <a:solidFill>
                  <a:schemeClr val="tx2">
                    <a:lumMod val="50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Click to edit Master text styles</a:t>
            </a:r>
          </a:p>
        </p:txBody>
      </p:sp>
      <p:pic>
        <p:nvPicPr>
          <p:cNvPr id="10" name="Picture 9"/>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10766730" y="1"/>
            <a:ext cx="1425271" cy="1518833"/>
          </a:xfrm>
          <a:prstGeom prst="rect">
            <a:avLst/>
          </a:prstGeom>
        </p:spPr>
      </p:pic>
    </p:spTree>
    <p:extLst>
      <p:ext uri="{BB962C8B-B14F-4D97-AF65-F5344CB8AC3E}">
        <p14:creationId xmlns:p14="http://schemas.microsoft.com/office/powerpoint/2010/main" val="16490211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7" name="Picture 6" descr="Artboard 3.png"/>
          <p:cNvPicPr>
            <a:picLocks noChangeAspect="1"/>
          </p:cNvPicPr>
          <p:nvPr userDrawn="1"/>
        </p:nvPicPr>
        <p:blipFill>
          <a:blip r:embed="rId2"/>
          <a:stretch>
            <a:fillRect/>
          </a:stretch>
        </p:blipFill>
        <p:spPr>
          <a:xfrm>
            <a:off x="0" y="0"/>
            <a:ext cx="12175067" cy="6858000"/>
          </a:xfrm>
          <a:prstGeom prst="rect">
            <a:avLst/>
          </a:prstGeom>
        </p:spPr>
      </p:pic>
      <p:sp>
        <p:nvSpPr>
          <p:cNvPr id="10" name="Vertical Title 1"/>
          <p:cNvSpPr>
            <a:spLocks noGrp="1"/>
          </p:cNvSpPr>
          <p:nvPr>
            <p:ph type="title" orient="vert"/>
          </p:nvPr>
        </p:nvSpPr>
        <p:spPr>
          <a:xfrm>
            <a:off x="8839200" y="275167"/>
            <a:ext cx="2194560" cy="5850467"/>
          </a:xfrm>
        </p:spPr>
        <p:txBody>
          <a:bodyPr vert="eaVert"/>
          <a:lstStyle/>
          <a:p>
            <a:r>
              <a:rPr lang="en-US" dirty="0"/>
              <a:t>Click to edit Master title style</a:t>
            </a:r>
          </a:p>
        </p:txBody>
      </p:sp>
      <p:sp>
        <p:nvSpPr>
          <p:cNvPr id="11" name="Vertical Text Placeholder 2"/>
          <p:cNvSpPr>
            <a:spLocks noGrp="1"/>
          </p:cNvSpPr>
          <p:nvPr>
            <p:ph type="body" orient="vert" idx="1"/>
          </p:nvPr>
        </p:nvSpPr>
        <p:spPr>
          <a:xfrm>
            <a:off x="609600" y="275167"/>
            <a:ext cx="8026400" cy="5850467"/>
          </a:xfrm>
          <a:prstGeom prst="rect">
            <a:avLst/>
          </a:prstGeom>
        </p:spPr>
        <p:txBody>
          <a:bodyPr vert="eaVert"/>
          <a:lstStyle>
            <a:lvl1pPr marL="457189" indent="-457189">
              <a:buFontTx/>
              <a:buBlip>
                <a:blip r:embed="rId3"/>
              </a:buBlip>
              <a:defRPr sz="2667">
                <a:solidFill>
                  <a:schemeClr val="tx2">
                    <a:lumMod val="50000"/>
                  </a:schemeClr>
                </a:solidFill>
              </a:defRPr>
            </a:lvl1pPr>
            <a:lvl2pPr>
              <a:defRPr sz="2400">
                <a:solidFill>
                  <a:schemeClr val="tx2">
                    <a:lumMod val="50000"/>
                  </a:schemeClr>
                </a:solidFill>
              </a:defRPr>
            </a:lvl2pPr>
            <a:lvl3pPr>
              <a:defRPr sz="2133">
                <a:solidFill>
                  <a:schemeClr val="tx2">
                    <a:lumMod val="50000"/>
                  </a:schemeClr>
                </a:solidFill>
              </a:defRPr>
            </a:lvl3pPr>
            <a:lvl4pPr>
              <a:defRPr sz="2133">
                <a:solidFill>
                  <a:schemeClr val="tx2">
                    <a:lumMod val="50000"/>
                  </a:schemeClr>
                </a:solidFill>
              </a:defRPr>
            </a:lvl4pPr>
            <a:lvl5pPr>
              <a:defRPr sz="2133">
                <a:solidFill>
                  <a:schemeClr val="tx2">
                    <a:lumMod val="5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Picture 8"/>
          <p:cNvPicPr>
            <a:picLocks noChangeAspect="1"/>
          </p:cNvPicPr>
          <p:nvPr userDrawn="1"/>
        </p:nvPicPr>
        <p:blipFill>
          <a:blip r:embed="rId4" cstate="hqprint">
            <a:extLst>
              <a:ext uri="{28A0092B-C50C-407E-A947-70E740481C1C}">
                <a14:useLocalDpi xmlns:a14="http://schemas.microsoft.com/office/drawing/2010/main"/>
              </a:ext>
            </a:extLst>
          </a:blip>
          <a:stretch>
            <a:fillRect/>
          </a:stretch>
        </p:blipFill>
        <p:spPr>
          <a:xfrm>
            <a:off x="10766730" y="1"/>
            <a:ext cx="1425271" cy="1518833"/>
          </a:xfrm>
          <a:prstGeom prst="rect">
            <a:avLst/>
          </a:prstGeom>
        </p:spPr>
      </p:pic>
    </p:spTree>
    <p:extLst>
      <p:ext uri="{BB962C8B-B14F-4D97-AF65-F5344CB8AC3E}">
        <p14:creationId xmlns:p14="http://schemas.microsoft.com/office/powerpoint/2010/main" val="14180193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en-US" dirty="0"/>
              <a:t>Click to edit Master title style</a:t>
            </a:r>
          </a:p>
        </p:txBody>
      </p:sp>
      <p:sp>
        <p:nvSpPr>
          <p:cNvPr id="9" name="Date Placeholder 8"/>
          <p:cNvSpPr>
            <a:spLocks noGrp="1"/>
          </p:cNvSpPr>
          <p:nvPr>
            <p:ph type="dt" sz="half" idx="2"/>
          </p:nvPr>
        </p:nvSpPr>
        <p:spPr>
          <a:xfrm>
            <a:off x="838200" y="6439007"/>
            <a:ext cx="2743200" cy="366183"/>
          </a:xfrm>
          <a:prstGeom prst="rect">
            <a:avLst/>
          </a:prstGeom>
        </p:spPr>
        <p:txBody>
          <a:bodyPr vert="horz" lIns="91440" tIns="45720" rIns="91440" bIns="45720" rtlCol="0" anchor="ctr"/>
          <a:lstStyle>
            <a:lvl1pPr algn="l">
              <a:defRPr sz="1333">
                <a:solidFill>
                  <a:schemeClr val="tx1">
                    <a:tint val="75000"/>
                  </a:schemeClr>
                </a:solidFill>
                <a:latin typeface="Arial" panose="020B0604020202020204" pitchFamily="34" charset="0"/>
                <a:cs typeface="Arial" panose="020B0604020202020204" pitchFamily="34" charset="0"/>
              </a:defRPr>
            </a:lvl1pPr>
          </a:lstStyle>
          <a:p>
            <a:endParaRPr lang="en-GB"/>
          </a:p>
        </p:txBody>
      </p:sp>
      <p:sp>
        <p:nvSpPr>
          <p:cNvPr id="10" name="Footer Placeholder 9"/>
          <p:cNvSpPr>
            <a:spLocks noGrp="1"/>
          </p:cNvSpPr>
          <p:nvPr>
            <p:ph type="ftr" sz="quarter" idx="3"/>
          </p:nvPr>
        </p:nvSpPr>
        <p:spPr>
          <a:xfrm>
            <a:off x="4038600" y="6439007"/>
            <a:ext cx="4114800" cy="366183"/>
          </a:xfrm>
          <a:prstGeom prst="rect">
            <a:avLst/>
          </a:prstGeom>
        </p:spPr>
        <p:txBody>
          <a:bodyPr vert="horz" lIns="91440" tIns="45720" rIns="91440" bIns="45720" rtlCol="0" anchor="ctr"/>
          <a:lstStyle>
            <a:lvl1pPr algn="ctr">
              <a:defRPr sz="1333">
                <a:solidFill>
                  <a:schemeClr val="tx1">
                    <a:tint val="75000"/>
                  </a:schemeClr>
                </a:solidFill>
                <a:latin typeface="Arial" panose="020B0604020202020204" pitchFamily="34" charset="0"/>
                <a:cs typeface="Arial" panose="020B0604020202020204" pitchFamily="34" charset="0"/>
              </a:defRPr>
            </a:lvl1pPr>
          </a:lstStyle>
          <a:p>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5" r:id="rId3"/>
    <p:sldLayoutId id="2147483679" r:id="rId4"/>
    <p:sldLayoutId id="2147483680" r:id="rId5"/>
    <p:sldLayoutId id="2147483682" r:id="rId6"/>
    <p:sldLayoutId id="2147483683" r:id="rId7"/>
    <p:sldLayoutId id="2147483684" r:id="rId8"/>
    <p:sldLayoutId id="2147483685" r:id="rId9"/>
    <p:sldLayoutId id="2147483686" r:id="rId10"/>
  </p:sldLayoutIdLst>
  <p:hf hdr="0" ftr="0" dt="0"/>
  <p:txStyles>
    <p:titleStyle>
      <a:lvl1pPr algn="l" defTabSz="609585" rtl="0" eaLnBrk="1" latinLnBrk="0" hangingPunct="1">
        <a:spcBef>
          <a:spcPct val="0"/>
        </a:spcBef>
        <a:buNone/>
        <a:defRPr sz="3733" b="1" kern="1200">
          <a:solidFill>
            <a:srgbClr val="331C58"/>
          </a:solidFill>
          <a:latin typeface="+mj-lt"/>
          <a:ea typeface="+mj-ea"/>
          <a:cs typeface="+mj-cs"/>
        </a:defRPr>
      </a:lvl1pPr>
    </p:titleStyle>
    <p:bodyStyle>
      <a:lvl1pPr marL="457189" indent="-457189" algn="l" defTabSz="609585" rtl="0" eaLnBrk="1" latinLnBrk="0" hangingPunct="1">
        <a:spcBef>
          <a:spcPct val="20000"/>
        </a:spcBef>
        <a:buFont typeface="Arial"/>
        <a:buChar char="•"/>
        <a:defRPr sz="3733" kern="1200">
          <a:solidFill>
            <a:schemeClr val="tx1"/>
          </a:solidFill>
          <a:latin typeface="Arial" panose="020B0604020202020204" pitchFamily="34" charset="0"/>
          <a:ea typeface="+mn-ea"/>
          <a:cs typeface="Arial" panose="020B0604020202020204" pitchFamily="34" charset="0"/>
        </a:defRPr>
      </a:lvl1pPr>
      <a:lvl2pPr marL="990575" indent="-380990" algn="l" defTabSz="609585" rtl="0" eaLnBrk="1" latinLnBrk="0" hangingPunct="1">
        <a:spcBef>
          <a:spcPct val="20000"/>
        </a:spcBef>
        <a:buFont typeface="Arial"/>
        <a:buChar char="–"/>
        <a:defRPr sz="3200" kern="1200">
          <a:solidFill>
            <a:schemeClr val="tx1"/>
          </a:solidFill>
          <a:latin typeface="Arial" panose="020B0604020202020204" pitchFamily="34" charset="0"/>
          <a:ea typeface="+mn-ea"/>
          <a:cs typeface="Arial" panose="020B0604020202020204" pitchFamily="34" charset="0"/>
        </a:defRPr>
      </a:lvl2pPr>
      <a:lvl3pPr marL="1523962" indent="-304792" algn="l" defTabSz="609585" rtl="0" eaLnBrk="1" latinLnBrk="0" hangingPunct="1">
        <a:spcBef>
          <a:spcPct val="20000"/>
        </a:spcBef>
        <a:buFont typeface="Arial"/>
        <a:buChar char="•"/>
        <a:defRPr sz="2667" kern="1200">
          <a:solidFill>
            <a:schemeClr val="tx1"/>
          </a:solidFill>
          <a:latin typeface="Arial" panose="020B0604020202020204" pitchFamily="34" charset="0"/>
          <a:ea typeface="+mn-ea"/>
          <a:cs typeface="Arial" panose="020B0604020202020204" pitchFamily="34" charset="0"/>
        </a:defRPr>
      </a:lvl3pPr>
      <a:lvl4pPr marL="2133547" indent="-304792" algn="l" defTabSz="609585" rtl="0" eaLnBrk="1" latinLnBrk="0" hangingPunct="1">
        <a:spcBef>
          <a:spcPct val="20000"/>
        </a:spcBef>
        <a:buFont typeface="Arial"/>
        <a:buChar char="–"/>
        <a:defRPr sz="2400" kern="1200">
          <a:solidFill>
            <a:schemeClr val="tx1"/>
          </a:solidFill>
          <a:latin typeface="Arial" panose="020B0604020202020204" pitchFamily="34" charset="0"/>
          <a:ea typeface="+mn-ea"/>
          <a:cs typeface="Arial" panose="020B0604020202020204" pitchFamily="34" charset="0"/>
        </a:defRPr>
      </a:lvl4pPr>
      <a:lvl5pPr marL="2743131" indent="-304792" algn="l" defTabSz="609585" rtl="0" eaLnBrk="1" latinLnBrk="0" hangingPunct="1">
        <a:spcBef>
          <a:spcPct val="20000"/>
        </a:spcBef>
        <a:buFont typeface="Arial"/>
        <a:buChar char="»"/>
        <a:defRPr sz="2400" kern="1200">
          <a:solidFill>
            <a:schemeClr val="tx1"/>
          </a:solidFill>
          <a:latin typeface="Arial" panose="020B0604020202020204" pitchFamily="34" charset="0"/>
          <a:ea typeface="+mn-ea"/>
          <a:cs typeface="Arial" panose="020B060402020202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6.xml"/><Relationship Id="rId5" Type="http://schemas.openxmlformats.org/officeDocument/2006/relationships/image" Target="../media/image14.jpeg"/><Relationship Id="rId4" Type="http://schemas.openxmlformats.org/officeDocument/2006/relationships/image" Target="../media/image13.jpeg"/></Relationships>
</file>

<file path=ppt/slides/_rels/slide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slideLayout" Target="../slideLayouts/slideLayout6.xml"/><Relationship Id="rId1" Type="http://schemas.openxmlformats.org/officeDocument/2006/relationships/video" Target="https://www.youtube.com/embed/6h7T_zbPGBw?start=20&amp;feature=oembed"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slideLayout" Target="../slideLayouts/slideLayout6.xml"/><Relationship Id="rId1" Type="http://schemas.openxmlformats.org/officeDocument/2006/relationships/video" Target="https://www.youtube.com/embed/sMp2D239fPo?feature=oembed"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6.xml"/><Relationship Id="rId5" Type="http://schemas.openxmlformats.org/officeDocument/2006/relationships/image" Target="../media/image29.jpeg"/><Relationship Id="rId4" Type="http://schemas.openxmlformats.org/officeDocument/2006/relationships/image" Target="../media/image28.jpeg"/></Relationships>
</file>

<file path=ppt/slides/_rels/slide13.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33.gif"/><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34.gi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36.gif"/></Relationships>
</file>

<file path=ppt/slides/_rels/slide2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38.wmf"/><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wmf"/><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image" Target="../media/image43.jpe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slideLayout" Target="../slideLayouts/slideLayout9.xml"/><Relationship Id="rId1" Type="http://schemas.openxmlformats.org/officeDocument/2006/relationships/video" Target="https://www.youtube.com/embed/GyV_UG60dD4?feature=oembed"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4817" y="1116035"/>
            <a:ext cx="9426726" cy="2672193"/>
          </a:xfrm>
        </p:spPr>
        <p:txBody>
          <a:bodyPr>
            <a:normAutofit fontScale="90000"/>
          </a:bodyPr>
          <a:lstStyle/>
          <a:p>
            <a:pPr algn="ctr"/>
            <a:r>
              <a:rPr lang="en-GB" altLang="zh-CN" sz="4900" dirty="0"/>
              <a:t>MGNT 5506</a:t>
            </a:r>
            <a:br>
              <a:rPr lang="en-GB" altLang="zh-CN" dirty="0"/>
            </a:br>
            <a:r>
              <a:rPr lang="en-US" sz="4900" dirty="0"/>
              <a:t>Strategic Management for Competitive Advantage</a:t>
            </a:r>
            <a:endParaRPr lang="en-GB" sz="4900" dirty="0"/>
          </a:p>
        </p:txBody>
      </p:sp>
      <p:sp>
        <p:nvSpPr>
          <p:cNvPr id="3" name="Text Placeholder 2"/>
          <p:cNvSpPr>
            <a:spLocks noGrp="1"/>
          </p:cNvSpPr>
          <p:nvPr>
            <p:ph type="body" sz="quarter" idx="10"/>
          </p:nvPr>
        </p:nvSpPr>
        <p:spPr/>
        <p:txBody>
          <a:bodyPr/>
          <a:lstStyle/>
          <a:p>
            <a:pPr algn="ctr"/>
            <a:r>
              <a:rPr lang="en-GB" altLang="zh-CN" dirty="0"/>
              <a:t>J</a:t>
            </a:r>
            <a:r>
              <a:rPr lang="en-US" altLang="zh-CN" dirty="0" err="1"/>
              <a:t>ingyu</a:t>
            </a:r>
            <a:r>
              <a:rPr lang="en-US" altLang="zh-CN" dirty="0"/>
              <a:t> (Sissi) Li</a:t>
            </a:r>
            <a:endParaRPr lang="en-GB" altLang="zh-CN" dirty="0"/>
          </a:p>
          <a:p>
            <a:endParaRPr lang="en-GB" dirty="0"/>
          </a:p>
        </p:txBody>
      </p:sp>
    </p:spTree>
    <p:extLst>
      <p:ext uri="{BB962C8B-B14F-4D97-AF65-F5344CB8AC3E}">
        <p14:creationId xmlns:p14="http://schemas.microsoft.com/office/powerpoint/2010/main" val="15554510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2AC4BCE-2516-294D-A098-7BB84F0097A7}"/>
              </a:ext>
            </a:extLst>
          </p:cNvPr>
          <p:cNvSpPr>
            <a:spLocks noGrp="1"/>
          </p:cNvSpPr>
          <p:nvPr>
            <p:ph type="title"/>
          </p:nvPr>
        </p:nvSpPr>
        <p:spPr>
          <a:xfrm>
            <a:off x="620183" y="1407836"/>
            <a:ext cx="9942713" cy="4929902"/>
          </a:xfrm>
        </p:spPr>
        <p:txBody>
          <a:bodyPr>
            <a:normAutofit/>
          </a:bodyPr>
          <a:lstStyle/>
          <a:p>
            <a:pPr algn="ctr"/>
            <a:r>
              <a:rPr lang="en-US" dirty="0" err="1"/>
              <a:t>Jingyu</a:t>
            </a:r>
            <a:r>
              <a:rPr lang="en-US" dirty="0"/>
              <a:t> li</a:t>
            </a:r>
            <a:br>
              <a:rPr lang="en-US" dirty="0"/>
            </a:br>
            <a:br>
              <a:rPr lang="en-US" dirty="0"/>
            </a:br>
            <a:r>
              <a:rPr lang="en-US" dirty="0" err="1"/>
              <a:t>李晶钰</a:t>
            </a:r>
            <a:r>
              <a:rPr lang="zh-TW" altLang="en-US" dirty="0"/>
              <a:t>（</a:t>
            </a:r>
            <a:r>
              <a:rPr lang="zh-CN" altLang="en-US" dirty="0"/>
              <a:t>鈺</a:t>
            </a:r>
            <a:r>
              <a:rPr lang="zh-TW" altLang="en-US" dirty="0"/>
              <a:t>）</a:t>
            </a:r>
            <a:br>
              <a:rPr lang="en-US" dirty="0"/>
            </a:br>
            <a:br>
              <a:rPr lang="en-US" dirty="0"/>
            </a:br>
            <a:r>
              <a:rPr lang="en-US" dirty="0" err="1"/>
              <a:t>Sissi</a:t>
            </a:r>
            <a:br>
              <a:rPr lang="en-US" dirty="0"/>
            </a:br>
            <a:endParaRPr lang="en-US" dirty="0"/>
          </a:p>
        </p:txBody>
      </p:sp>
    </p:spTree>
    <p:extLst>
      <p:ext uri="{BB962C8B-B14F-4D97-AF65-F5344CB8AC3E}">
        <p14:creationId xmlns:p14="http://schemas.microsoft.com/office/powerpoint/2010/main" val="22773392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609600" y="275167"/>
            <a:ext cx="9993331" cy="1143000"/>
          </a:xfrm>
        </p:spPr>
        <p:txBody>
          <a:bodyPr anchor="ctr">
            <a:normAutofit/>
          </a:bodyPr>
          <a:lstStyle/>
          <a:p>
            <a:r>
              <a:rPr lang="en-US" altLang="zh-CN" dirty="0"/>
              <a:t>About me</a:t>
            </a:r>
            <a:endParaRPr lang="en-GB" dirty="0"/>
          </a:p>
        </p:txBody>
      </p:sp>
      <p:sp>
        <p:nvSpPr>
          <p:cNvPr id="6" name="Content Placeholder 5"/>
          <p:cNvSpPr>
            <a:spLocks noGrp="1"/>
          </p:cNvSpPr>
          <p:nvPr>
            <p:ph sz="half" idx="1"/>
          </p:nvPr>
        </p:nvSpPr>
        <p:spPr>
          <a:xfrm>
            <a:off x="457199" y="1418167"/>
            <a:ext cx="5770179" cy="4761916"/>
          </a:xfrm>
        </p:spPr>
        <p:txBody>
          <a:bodyPr>
            <a:normAutofit/>
          </a:bodyPr>
          <a:lstStyle/>
          <a:p>
            <a:r>
              <a:rPr lang="en-US" altLang="zh-CN" dirty="0"/>
              <a:t>Hometown: Xi'an</a:t>
            </a:r>
          </a:p>
          <a:p>
            <a:pPr lvl="1"/>
            <a:r>
              <a:rPr lang="en-US" altLang="zh-CN" sz="2400" dirty="0"/>
              <a:t>One of the oldest cities in China </a:t>
            </a:r>
          </a:p>
          <a:p>
            <a:pPr lvl="1"/>
            <a:r>
              <a:rPr lang="en-US" altLang="zh-CN" sz="2400" dirty="0"/>
              <a:t>Capitals for 13 dynasties</a:t>
            </a:r>
          </a:p>
          <a:p>
            <a:pPr lvl="1"/>
            <a:endParaRPr lang="en-US" altLang="zh-CN" sz="2400" dirty="0"/>
          </a:p>
          <a:p>
            <a:r>
              <a:rPr lang="en-US" dirty="0"/>
              <a:t>Moved to Shanghai</a:t>
            </a:r>
          </a:p>
          <a:p>
            <a:pPr lvl="1"/>
            <a:r>
              <a:rPr lang="en-GB" dirty="0"/>
              <a:t>Shanghai Jiao Tong University</a:t>
            </a:r>
          </a:p>
          <a:p>
            <a:pPr lvl="1"/>
            <a:r>
              <a:rPr lang="en-GB" dirty="0"/>
              <a:t>B.S. in Accounting </a:t>
            </a:r>
          </a:p>
          <a:p>
            <a:pPr lvl="1"/>
            <a:r>
              <a:rPr lang="en-GB" dirty="0"/>
              <a:t>M.S. in Finance</a:t>
            </a:r>
          </a:p>
        </p:txBody>
      </p:sp>
      <p:pic>
        <p:nvPicPr>
          <p:cNvPr id="1028" name="Picture 4">
            <a:extLst>
              <a:ext uri="{FF2B5EF4-FFF2-40B4-BE49-F238E27FC236}">
                <a16:creationId xmlns:a16="http://schemas.microsoft.com/office/drawing/2014/main" id="{9D49E214-B9A3-4519-97D7-03A0C2F01F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28782" y="0"/>
            <a:ext cx="5163218" cy="3417856"/>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4" descr="Shanghai jiao tong university (xuhui campus) photo image_picture free  download 500376195_lovepik.com">
            <a:extLst>
              <a:ext uri="{FF2B5EF4-FFF2-40B4-BE49-F238E27FC236}">
                <a16:creationId xmlns:a16="http://schemas.microsoft.com/office/drawing/2014/main" id="{94D2C776-39AA-417E-8D78-6693CF6AED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28782" y="3417856"/>
            <a:ext cx="5163217" cy="34401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6348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59906-EC9E-4A9B-B440-0EC0A669DD2F}"/>
              </a:ext>
            </a:extLst>
          </p:cNvPr>
          <p:cNvSpPr>
            <a:spLocks noGrp="1"/>
          </p:cNvSpPr>
          <p:nvPr>
            <p:ph type="title"/>
          </p:nvPr>
        </p:nvSpPr>
        <p:spPr>
          <a:xfrm>
            <a:off x="609600" y="131657"/>
            <a:ext cx="9993331" cy="1143000"/>
          </a:xfrm>
        </p:spPr>
        <p:txBody>
          <a:bodyPr anchor="ctr">
            <a:normAutofit/>
          </a:bodyPr>
          <a:lstStyle/>
          <a:p>
            <a:r>
              <a:rPr lang="en-US" altLang="zh-CN" dirty="0"/>
              <a:t>Texas</a:t>
            </a:r>
            <a:endParaRPr lang="zh-CN" altLang="en-US" dirty="0"/>
          </a:p>
        </p:txBody>
      </p:sp>
      <p:sp>
        <p:nvSpPr>
          <p:cNvPr id="3" name="Content Placeholder 2">
            <a:extLst>
              <a:ext uri="{FF2B5EF4-FFF2-40B4-BE49-F238E27FC236}">
                <a16:creationId xmlns:a16="http://schemas.microsoft.com/office/drawing/2014/main" id="{E1C43C4A-21D5-4C7C-B89E-F972E63B28ED}"/>
              </a:ext>
            </a:extLst>
          </p:cNvPr>
          <p:cNvSpPr>
            <a:spLocks noGrp="1"/>
          </p:cNvSpPr>
          <p:nvPr>
            <p:ph sz="half" idx="1"/>
          </p:nvPr>
        </p:nvSpPr>
        <p:spPr>
          <a:xfrm>
            <a:off x="346841" y="1592317"/>
            <a:ext cx="5647559" cy="4533317"/>
          </a:xfrm>
        </p:spPr>
        <p:txBody>
          <a:bodyPr>
            <a:normAutofit/>
          </a:bodyPr>
          <a:lstStyle/>
          <a:p>
            <a:r>
              <a:rPr lang="en-US" altLang="zh-CN" dirty="0"/>
              <a:t>Attend Texas A&amp;M University</a:t>
            </a:r>
          </a:p>
          <a:p>
            <a:pPr lvl="1"/>
            <a:r>
              <a:rPr lang="en-US" altLang="zh-CN" dirty="0"/>
              <a:t>Ph.D. in Management</a:t>
            </a:r>
          </a:p>
          <a:p>
            <a:pPr lvl="1"/>
            <a:r>
              <a:rPr lang="en-US" altLang="zh-CN" dirty="0"/>
              <a:t>Strong traditions of Texas A&amp;M University</a:t>
            </a:r>
          </a:p>
        </p:txBody>
      </p:sp>
      <p:pic>
        <p:nvPicPr>
          <p:cNvPr id="5" name="Picture 2" descr="Image result for texas">
            <a:extLst>
              <a:ext uri="{FF2B5EF4-FFF2-40B4-BE49-F238E27FC236}">
                <a16:creationId xmlns:a16="http://schemas.microsoft.com/office/drawing/2014/main" id="{6E0C7B9C-253F-41B0-AB4D-9EAC94EF51E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003319" y="237500"/>
            <a:ext cx="3362296" cy="2495964"/>
          </a:xfrm>
          <a:prstGeom prst="rect">
            <a:avLst/>
          </a:prstGeom>
          <a:solidFill>
            <a:srgbClr val="FFFFFF"/>
          </a:solidFill>
        </p:spPr>
      </p:pic>
      <p:pic>
        <p:nvPicPr>
          <p:cNvPr id="7" name="Picture 8" descr="Image result for texas cowboy">
            <a:extLst>
              <a:ext uri="{FF2B5EF4-FFF2-40B4-BE49-F238E27FC236}">
                <a16:creationId xmlns:a16="http://schemas.microsoft.com/office/drawing/2014/main" id="{F2E1AD78-4AB1-4EB7-ABA5-9D9769DC2A1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82100" y="0"/>
            <a:ext cx="3009900" cy="2407920"/>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Texas A&amp;M University - Swansea University">
            <a:extLst>
              <a:ext uri="{FF2B5EF4-FFF2-40B4-BE49-F238E27FC236}">
                <a16:creationId xmlns:a16="http://schemas.microsoft.com/office/drawing/2014/main" id="{A2C4EF34-8EAD-4017-8B29-1CCD755439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03319" y="2837369"/>
            <a:ext cx="6188681" cy="402063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Moving to College Station, TX? Here&amp;#39;s All You Need to Know">
            <a:extLst>
              <a:ext uri="{FF2B5EF4-FFF2-40B4-BE49-F238E27FC236}">
                <a16:creationId xmlns:a16="http://schemas.microsoft.com/office/drawing/2014/main" id="{8CDC539A-3523-BD2D-12E9-F7378123F39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8238" y="3398428"/>
            <a:ext cx="5325081" cy="34595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8349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5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77A14-CDEB-7B47-76CD-D9E9501BB771}"/>
              </a:ext>
            </a:extLst>
          </p:cNvPr>
          <p:cNvSpPr>
            <a:spLocks noGrp="1"/>
          </p:cNvSpPr>
          <p:nvPr>
            <p:ph type="title"/>
          </p:nvPr>
        </p:nvSpPr>
        <p:spPr>
          <a:xfrm>
            <a:off x="0" y="37407"/>
            <a:ext cx="9993331" cy="1143000"/>
          </a:xfrm>
        </p:spPr>
        <p:txBody>
          <a:bodyPr/>
          <a:lstStyle/>
          <a:p>
            <a:r>
              <a:rPr lang="en-US" i="1" dirty="0">
                <a:latin typeface="Oswald" pitchFamily="2" charset="77"/>
              </a:rPr>
              <a:t>Elephant</a:t>
            </a:r>
            <a:r>
              <a:rPr lang="zh-CN" altLang="en-US" i="1" dirty="0">
                <a:latin typeface="Oswald" pitchFamily="2" charset="77"/>
              </a:rPr>
              <a:t> </a:t>
            </a:r>
            <a:r>
              <a:rPr lang="en-US" altLang="zh-CN" i="1" dirty="0">
                <a:latin typeface="Oswald" pitchFamily="2" charset="77"/>
              </a:rPr>
              <a:t>Walk</a:t>
            </a:r>
            <a:endParaRPr lang="en-US" i="1" dirty="0">
              <a:latin typeface="Oswald" pitchFamily="2" charset="77"/>
            </a:endParaRPr>
          </a:p>
        </p:txBody>
      </p:sp>
      <p:pic>
        <p:nvPicPr>
          <p:cNvPr id="1026" name="Picture 2" descr="Elephant Walk">
            <a:extLst>
              <a:ext uri="{FF2B5EF4-FFF2-40B4-BE49-F238E27FC236}">
                <a16:creationId xmlns:a16="http://schemas.microsoft.com/office/drawing/2014/main" id="{76ABE3DE-34B9-E040-B3AA-A532BF9E65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49374" y="0"/>
            <a:ext cx="7842626" cy="567759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nimal Science professor makes Elephant Walk more than just a photo  opportunity - Animal Science">
            <a:extLst>
              <a:ext uri="{FF2B5EF4-FFF2-40B4-BE49-F238E27FC236}">
                <a16:creationId xmlns:a16="http://schemas.microsoft.com/office/drawing/2014/main" id="{F31934CD-1CDE-94DE-5904-DE0F83F601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1217814"/>
            <a:ext cx="8395855" cy="56401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1490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AF554-2853-FD6A-236C-5D79191D7A94}"/>
              </a:ext>
            </a:extLst>
          </p:cNvPr>
          <p:cNvSpPr>
            <a:spLocks noGrp="1"/>
          </p:cNvSpPr>
          <p:nvPr>
            <p:ph type="title"/>
          </p:nvPr>
        </p:nvSpPr>
        <p:spPr/>
        <p:txBody>
          <a:bodyPr/>
          <a:lstStyle/>
          <a:p>
            <a:r>
              <a:rPr lang="en-US" i="1" dirty="0"/>
              <a:t>Midnight</a:t>
            </a:r>
            <a:r>
              <a:rPr lang="zh-CN" altLang="en-US" i="1" dirty="0"/>
              <a:t> </a:t>
            </a:r>
            <a:r>
              <a:rPr lang="en-US" altLang="zh-CN" i="1" dirty="0"/>
              <a:t>Yell</a:t>
            </a:r>
            <a:endParaRPr lang="en-US" i="1" dirty="0"/>
          </a:p>
        </p:txBody>
      </p:sp>
      <p:pic>
        <p:nvPicPr>
          <p:cNvPr id="2050" name="Picture 2" descr="Washington Post: Every fan should see Texas A&amp;M's Midnight Yell | Texas A&amp;M  News | myaggienation.com">
            <a:extLst>
              <a:ext uri="{FF2B5EF4-FFF2-40B4-BE49-F238E27FC236}">
                <a16:creationId xmlns:a16="http://schemas.microsoft.com/office/drawing/2014/main" id="{A9574251-D124-EF35-2E89-547A56C840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10880" y="0"/>
            <a:ext cx="8281120" cy="601756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Yell Practice Set For 10 P.M. Wednesday, Aug. 28 - Texas A&amp;M Today">
            <a:extLst>
              <a:ext uri="{FF2B5EF4-FFF2-40B4-BE49-F238E27FC236}">
                <a16:creationId xmlns:a16="http://schemas.microsoft.com/office/drawing/2014/main" id="{C4F0C27A-DBE4-C90F-0204-EBF9A34840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371631"/>
            <a:ext cx="8229553" cy="54863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8050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956D73-BD64-8ECB-0009-1E2912898EAA}"/>
              </a:ext>
            </a:extLst>
          </p:cNvPr>
          <p:cNvSpPr>
            <a:spLocks noGrp="1"/>
          </p:cNvSpPr>
          <p:nvPr>
            <p:ph type="title"/>
          </p:nvPr>
        </p:nvSpPr>
        <p:spPr>
          <a:xfrm>
            <a:off x="0" y="0"/>
            <a:ext cx="9993331" cy="1143000"/>
          </a:xfrm>
        </p:spPr>
        <p:txBody>
          <a:bodyPr>
            <a:normAutofit/>
          </a:bodyPr>
          <a:lstStyle/>
          <a:p>
            <a:r>
              <a:rPr lang="en-US" sz="4000" i="1" dirty="0">
                <a:solidFill>
                  <a:srgbClr val="222222"/>
                </a:solidFill>
                <a:effectLst/>
                <a:latin typeface="Oswald" pitchFamily="2" charset="77"/>
              </a:rPr>
              <a:t>The Aggie War Hymn</a:t>
            </a:r>
            <a:endParaRPr lang="en-US" sz="4000" dirty="0"/>
          </a:p>
        </p:txBody>
      </p:sp>
      <p:pic>
        <p:nvPicPr>
          <p:cNvPr id="5" name="Online Media 4" descr="The Aggie War Hymn">
            <a:hlinkClick r:id="" action="ppaction://media"/>
            <a:extLst>
              <a:ext uri="{FF2B5EF4-FFF2-40B4-BE49-F238E27FC236}">
                <a16:creationId xmlns:a16="http://schemas.microsoft.com/office/drawing/2014/main" id="{167AD4D5-CEC4-C31E-1D8D-939535E74283}"/>
              </a:ext>
            </a:extLst>
          </p:cNvPr>
          <p:cNvPicPr>
            <a:picLocks noGrp="1" noRot="1" noChangeAspect="1"/>
          </p:cNvPicPr>
          <p:nvPr>
            <p:ph sz="half" idx="1"/>
            <a:videoFile r:link="rId1"/>
          </p:nvPr>
        </p:nvPicPr>
        <p:blipFill>
          <a:blip r:embed="rId3"/>
          <a:stretch>
            <a:fillRect/>
          </a:stretch>
        </p:blipFill>
        <p:spPr>
          <a:xfrm>
            <a:off x="6267797" y="0"/>
            <a:ext cx="5924203" cy="4472247"/>
          </a:xfrm>
          <a:prstGeom prst="rect">
            <a:avLst/>
          </a:prstGeom>
        </p:spPr>
      </p:pic>
      <p:sp>
        <p:nvSpPr>
          <p:cNvPr id="7" name="TextBox 6">
            <a:extLst>
              <a:ext uri="{FF2B5EF4-FFF2-40B4-BE49-F238E27FC236}">
                <a16:creationId xmlns:a16="http://schemas.microsoft.com/office/drawing/2014/main" id="{10C75B44-D105-F1EE-CE0C-2B6AFFDF4C20}"/>
              </a:ext>
            </a:extLst>
          </p:cNvPr>
          <p:cNvSpPr txBox="1"/>
          <p:nvPr/>
        </p:nvSpPr>
        <p:spPr>
          <a:xfrm>
            <a:off x="149630" y="1172095"/>
            <a:ext cx="6267796" cy="6001643"/>
          </a:xfrm>
          <a:prstGeom prst="rect">
            <a:avLst/>
          </a:prstGeom>
          <a:noFill/>
        </p:spPr>
        <p:txBody>
          <a:bodyPr wrap="square">
            <a:spAutoFit/>
          </a:bodyPr>
          <a:lstStyle/>
          <a:p>
            <a:pPr algn="l"/>
            <a:r>
              <a:rPr lang="en-US" b="0" i="1" dirty="0">
                <a:solidFill>
                  <a:srgbClr val="666666"/>
                </a:solidFill>
                <a:effectLst/>
                <a:latin typeface="Open Sans" panose="020B0606030504020204" pitchFamily="34" charset="0"/>
              </a:rPr>
              <a:t>Hullabaloo, </a:t>
            </a:r>
            <a:r>
              <a:rPr lang="en-US" b="0" i="1" dirty="0" err="1">
                <a:solidFill>
                  <a:srgbClr val="666666"/>
                </a:solidFill>
                <a:effectLst/>
                <a:latin typeface="Open Sans" panose="020B0606030504020204" pitchFamily="34" charset="0"/>
              </a:rPr>
              <a:t>Caneck</a:t>
            </a:r>
            <a:r>
              <a:rPr lang="en-US" b="0" i="1" dirty="0">
                <a:solidFill>
                  <a:srgbClr val="666666"/>
                </a:solidFill>
                <a:effectLst/>
                <a:latin typeface="Open Sans" panose="020B0606030504020204" pitchFamily="34" charset="0"/>
              </a:rPr>
              <a:t>! </a:t>
            </a:r>
            <a:r>
              <a:rPr lang="en-US" b="0" i="1" dirty="0" err="1">
                <a:solidFill>
                  <a:srgbClr val="666666"/>
                </a:solidFill>
                <a:effectLst/>
                <a:latin typeface="Open Sans" panose="020B0606030504020204" pitchFamily="34" charset="0"/>
              </a:rPr>
              <a:t>Caneck</a:t>
            </a:r>
            <a:r>
              <a:rPr lang="en-US" b="0" i="1" dirty="0">
                <a:solidFill>
                  <a:srgbClr val="666666"/>
                </a:solidFill>
                <a:effectLst/>
                <a:latin typeface="Open Sans" panose="020B0606030504020204" pitchFamily="34" charset="0"/>
              </a:rPr>
              <a:t>!</a:t>
            </a:r>
            <a:br>
              <a:rPr lang="en-US" b="0" i="1" dirty="0">
                <a:solidFill>
                  <a:srgbClr val="666666"/>
                </a:solidFill>
                <a:effectLst/>
                <a:latin typeface="Open Sans" panose="020B0606030504020204" pitchFamily="34" charset="0"/>
              </a:rPr>
            </a:br>
            <a:r>
              <a:rPr lang="en-US" b="0" i="1" dirty="0">
                <a:solidFill>
                  <a:srgbClr val="666666"/>
                </a:solidFill>
                <a:effectLst/>
                <a:latin typeface="Open Sans" panose="020B0606030504020204" pitchFamily="34" charset="0"/>
              </a:rPr>
              <a:t>Hullabaloo, </a:t>
            </a:r>
            <a:r>
              <a:rPr lang="en-US" b="0" i="1" dirty="0" err="1">
                <a:solidFill>
                  <a:srgbClr val="666666"/>
                </a:solidFill>
                <a:effectLst/>
                <a:latin typeface="Open Sans" panose="020B0606030504020204" pitchFamily="34" charset="0"/>
              </a:rPr>
              <a:t>Caneck</a:t>
            </a:r>
            <a:r>
              <a:rPr lang="en-US" b="0" i="1" dirty="0">
                <a:solidFill>
                  <a:srgbClr val="666666"/>
                </a:solidFill>
                <a:effectLst/>
                <a:latin typeface="Open Sans" panose="020B0606030504020204" pitchFamily="34" charset="0"/>
              </a:rPr>
              <a:t>! </a:t>
            </a:r>
            <a:r>
              <a:rPr lang="en-US" b="0" i="1" dirty="0" err="1">
                <a:solidFill>
                  <a:srgbClr val="666666"/>
                </a:solidFill>
                <a:effectLst/>
                <a:latin typeface="Open Sans" panose="020B0606030504020204" pitchFamily="34" charset="0"/>
              </a:rPr>
              <a:t>Caneck</a:t>
            </a:r>
            <a:r>
              <a:rPr lang="en-US" b="0" i="1" dirty="0">
                <a:solidFill>
                  <a:srgbClr val="666666"/>
                </a:solidFill>
                <a:effectLst/>
                <a:latin typeface="Open Sans" panose="020B0606030504020204" pitchFamily="34" charset="0"/>
              </a:rPr>
              <a:t>!</a:t>
            </a:r>
            <a:endParaRPr lang="en-US" b="0" i="0" dirty="0">
              <a:solidFill>
                <a:srgbClr val="666666"/>
              </a:solidFill>
              <a:effectLst/>
              <a:latin typeface="Open Sans" panose="020B0606030504020204" pitchFamily="34" charset="0"/>
            </a:endParaRPr>
          </a:p>
          <a:p>
            <a:pPr algn="l"/>
            <a:br>
              <a:rPr lang="en-US" b="0" i="0" dirty="0">
                <a:solidFill>
                  <a:srgbClr val="666666"/>
                </a:solidFill>
                <a:effectLst/>
                <a:latin typeface="Open Sans" panose="020B0606030504020204" pitchFamily="34" charset="0"/>
              </a:rPr>
            </a:br>
            <a:r>
              <a:rPr lang="en-US" b="0" i="1" dirty="0">
                <a:solidFill>
                  <a:srgbClr val="666666"/>
                </a:solidFill>
                <a:effectLst/>
                <a:latin typeface="Open Sans" panose="020B0606030504020204" pitchFamily="34" charset="0"/>
              </a:rPr>
              <a:t>Good-bye to </a:t>
            </a:r>
            <a:r>
              <a:rPr lang="en-US" b="0" i="1" dirty="0" err="1">
                <a:solidFill>
                  <a:srgbClr val="666666"/>
                </a:solidFill>
                <a:effectLst/>
                <a:latin typeface="Open Sans" panose="020B0606030504020204" pitchFamily="34" charset="0"/>
              </a:rPr>
              <a:t>texas</a:t>
            </a:r>
            <a:r>
              <a:rPr lang="en-US" b="0" i="1" dirty="0">
                <a:solidFill>
                  <a:srgbClr val="666666"/>
                </a:solidFill>
                <a:effectLst/>
                <a:latin typeface="Open Sans" panose="020B0606030504020204" pitchFamily="34" charset="0"/>
              </a:rPr>
              <a:t> university</a:t>
            </a:r>
            <a:br>
              <a:rPr lang="en-US" b="0" i="1" dirty="0">
                <a:solidFill>
                  <a:srgbClr val="666666"/>
                </a:solidFill>
                <a:effectLst/>
                <a:latin typeface="Open Sans" panose="020B0606030504020204" pitchFamily="34" charset="0"/>
              </a:rPr>
            </a:br>
            <a:r>
              <a:rPr lang="en-US" b="0" i="1" dirty="0">
                <a:solidFill>
                  <a:srgbClr val="666666"/>
                </a:solidFill>
                <a:effectLst/>
                <a:latin typeface="Open Sans" panose="020B0606030504020204" pitchFamily="34" charset="0"/>
              </a:rPr>
              <a:t>So long to the orange and the white</a:t>
            </a:r>
            <a:br>
              <a:rPr lang="en-US" b="0" i="1" dirty="0">
                <a:solidFill>
                  <a:srgbClr val="666666"/>
                </a:solidFill>
                <a:effectLst/>
                <a:latin typeface="Open Sans" panose="020B0606030504020204" pitchFamily="34" charset="0"/>
              </a:rPr>
            </a:br>
            <a:r>
              <a:rPr lang="en-US" b="0" i="1" dirty="0">
                <a:solidFill>
                  <a:srgbClr val="666666"/>
                </a:solidFill>
                <a:effectLst/>
                <a:latin typeface="Open Sans" panose="020B0606030504020204" pitchFamily="34" charset="0"/>
              </a:rPr>
              <a:t>Good luck to dear old Texas Aggies</a:t>
            </a:r>
            <a:br>
              <a:rPr lang="en-US" b="0" i="1" dirty="0">
                <a:solidFill>
                  <a:srgbClr val="666666"/>
                </a:solidFill>
                <a:effectLst/>
                <a:latin typeface="Open Sans" panose="020B0606030504020204" pitchFamily="34" charset="0"/>
              </a:rPr>
            </a:br>
            <a:r>
              <a:rPr lang="en-US" b="0" i="1" dirty="0">
                <a:solidFill>
                  <a:srgbClr val="666666"/>
                </a:solidFill>
                <a:effectLst/>
                <a:latin typeface="Open Sans" panose="020B0606030504020204" pitchFamily="34" charset="0"/>
              </a:rPr>
              <a:t>They are the boys that show the real old fight</a:t>
            </a:r>
            <a:br>
              <a:rPr lang="en-US" b="0" i="1" dirty="0">
                <a:solidFill>
                  <a:srgbClr val="666666"/>
                </a:solidFill>
                <a:effectLst/>
                <a:latin typeface="Open Sans" panose="020B0606030504020204" pitchFamily="34" charset="0"/>
              </a:rPr>
            </a:br>
            <a:r>
              <a:rPr lang="en-US" b="0" i="1" dirty="0">
                <a:solidFill>
                  <a:srgbClr val="666666"/>
                </a:solidFill>
                <a:effectLst/>
                <a:latin typeface="Open Sans" panose="020B0606030504020204" pitchFamily="34" charset="0"/>
              </a:rPr>
              <a:t>“The eyes of Texas are upon you . . .”</a:t>
            </a:r>
            <a:br>
              <a:rPr lang="en-US" b="0" i="1" dirty="0">
                <a:solidFill>
                  <a:srgbClr val="666666"/>
                </a:solidFill>
                <a:effectLst/>
                <a:latin typeface="Open Sans" panose="020B0606030504020204" pitchFamily="34" charset="0"/>
              </a:rPr>
            </a:br>
            <a:r>
              <a:rPr lang="en-US" b="0" i="1" dirty="0">
                <a:solidFill>
                  <a:srgbClr val="666666"/>
                </a:solidFill>
                <a:effectLst/>
                <a:latin typeface="Open Sans" panose="020B0606030504020204" pitchFamily="34" charset="0"/>
              </a:rPr>
              <a:t>That is the song they sing so well</a:t>
            </a:r>
          </a:p>
          <a:p>
            <a:pPr algn="l"/>
            <a:endParaRPr lang="en-US" i="1" dirty="0">
              <a:solidFill>
                <a:srgbClr val="666666"/>
              </a:solidFill>
              <a:latin typeface="Open Sans" panose="020B0606030504020204" pitchFamily="34" charset="0"/>
            </a:endParaRPr>
          </a:p>
          <a:p>
            <a:pPr algn="l"/>
            <a:r>
              <a:rPr lang="en-US" i="1" dirty="0">
                <a:solidFill>
                  <a:srgbClr val="666666"/>
                </a:solidFill>
                <a:latin typeface="Open Sans" panose="020B0606030504020204" pitchFamily="34" charset="0"/>
              </a:rPr>
              <a:t>So good-bye to </a:t>
            </a:r>
            <a:r>
              <a:rPr lang="en-US" i="1" dirty="0" err="1">
                <a:solidFill>
                  <a:srgbClr val="666666"/>
                </a:solidFill>
                <a:latin typeface="Open Sans" panose="020B0606030504020204" pitchFamily="34" charset="0"/>
              </a:rPr>
              <a:t>texas</a:t>
            </a:r>
            <a:r>
              <a:rPr lang="en-US" i="1" dirty="0">
                <a:solidFill>
                  <a:srgbClr val="666666"/>
                </a:solidFill>
                <a:latin typeface="Open Sans" panose="020B0606030504020204" pitchFamily="34" charset="0"/>
              </a:rPr>
              <a:t> university</a:t>
            </a:r>
            <a:br>
              <a:rPr lang="en-US" i="1" dirty="0">
                <a:solidFill>
                  <a:srgbClr val="666666"/>
                </a:solidFill>
                <a:latin typeface="Open Sans" panose="020B0606030504020204" pitchFamily="34" charset="0"/>
              </a:rPr>
            </a:br>
            <a:r>
              <a:rPr lang="en-US" i="1" dirty="0">
                <a:solidFill>
                  <a:srgbClr val="666666"/>
                </a:solidFill>
                <a:latin typeface="Open Sans" panose="020B0606030504020204" pitchFamily="34" charset="0"/>
              </a:rPr>
              <a:t>We’re going to beat you all to </a:t>
            </a:r>
          </a:p>
          <a:p>
            <a:pPr algn="l"/>
            <a:r>
              <a:rPr lang="en-US" i="1" dirty="0" err="1">
                <a:solidFill>
                  <a:srgbClr val="666666"/>
                </a:solidFill>
                <a:latin typeface="Open Sans" panose="020B0606030504020204" pitchFamily="34" charset="0"/>
              </a:rPr>
              <a:t>Chig</a:t>
            </a:r>
            <a:r>
              <a:rPr lang="en-US" i="1" dirty="0">
                <a:solidFill>
                  <a:srgbClr val="666666"/>
                </a:solidFill>
                <a:latin typeface="Open Sans" panose="020B0606030504020204" pitchFamily="34" charset="0"/>
              </a:rPr>
              <a:t>-gar-</a:t>
            </a:r>
            <a:r>
              <a:rPr lang="en-US" i="1" dirty="0" err="1">
                <a:solidFill>
                  <a:srgbClr val="666666"/>
                </a:solidFill>
                <a:latin typeface="Open Sans" panose="020B0606030504020204" pitchFamily="34" charset="0"/>
              </a:rPr>
              <a:t>roo</a:t>
            </a:r>
            <a:r>
              <a:rPr lang="en-US" i="1" dirty="0">
                <a:solidFill>
                  <a:srgbClr val="666666"/>
                </a:solidFill>
                <a:latin typeface="Open Sans" panose="020B0606030504020204" pitchFamily="34" charset="0"/>
              </a:rPr>
              <a:t>-gar-rem</a:t>
            </a:r>
            <a:r>
              <a:rPr lang="zh-CN" altLang="en-US" i="1" dirty="0">
                <a:solidFill>
                  <a:srgbClr val="666666"/>
                </a:solidFill>
                <a:latin typeface="Open Sans" panose="020B0606030504020204" pitchFamily="34" charset="0"/>
              </a:rPr>
              <a:t> </a:t>
            </a:r>
            <a:r>
              <a:rPr lang="en-US" i="1" dirty="0" err="1">
                <a:solidFill>
                  <a:srgbClr val="666666"/>
                </a:solidFill>
                <a:latin typeface="Open Sans" panose="020B0606030504020204" pitchFamily="34" charset="0"/>
              </a:rPr>
              <a:t>Chig</a:t>
            </a:r>
            <a:r>
              <a:rPr lang="en-US" i="1" dirty="0">
                <a:solidFill>
                  <a:srgbClr val="666666"/>
                </a:solidFill>
                <a:latin typeface="Open Sans" panose="020B0606030504020204" pitchFamily="34" charset="0"/>
              </a:rPr>
              <a:t>-gar-</a:t>
            </a:r>
            <a:r>
              <a:rPr lang="en-US" i="1" dirty="0" err="1">
                <a:solidFill>
                  <a:srgbClr val="666666"/>
                </a:solidFill>
                <a:latin typeface="Open Sans" panose="020B0606030504020204" pitchFamily="34" charset="0"/>
              </a:rPr>
              <a:t>roo</a:t>
            </a:r>
            <a:r>
              <a:rPr lang="en-US" i="1" dirty="0">
                <a:solidFill>
                  <a:srgbClr val="666666"/>
                </a:solidFill>
                <a:latin typeface="Open Sans" panose="020B0606030504020204" pitchFamily="34" charset="0"/>
              </a:rPr>
              <a:t>-gar-rem</a:t>
            </a:r>
            <a:br>
              <a:rPr lang="en-US" i="1" dirty="0">
                <a:solidFill>
                  <a:srgbClr val="666666"/>
                </a:solidFill>
                <a:latin typeface="Open Sans" panose="020B0606030504020204" pitchFamily="34" charset="0"/>
              </a:rPr>
            </a:br>
            <a:r>
              <a:rPr lang="en-US" i="1" dirty="0">
                <a:solidFill>
                  <a:srgbClr val="666666"/>
                </a:solidFill>
                <a:latin typeface="Open Sans" panose="020B0606030504020204" pitchFamily="34" charset="0"/>
              </a:rPr>
              <a:t>Rough Tough! Real Stuff! Texas A&amp;M!</a:t>
            </a:r>
            <a:br>
              <a:rPr lang="en-US" i="1" dirty="0">
                <a:solidFill>
                  <a:srgbClr val="666666"/>
                </a:solidFill>
                <a:latin typeface="Open Sans" panose="020B0606030504020204" pitchFamily="34" charset="0"/>
              </a:rPr>
            </a:br>
            <a:br>
              <a:rPr lang="en-US" b="0" i="1" dirty="0">
                <a:solidFill>
                  <a:srgbClr val="666666"/>
                </a:solidFill>
                <a:effectLst/>
                <a:latin typeface="Open Sans" panose="020B0606030504020204" pitchFamily="34" charset="0"/>
              </a:rPr>
            </a:br>
            <a:endParaRPr lang="en-US" b="0" i="0" dirty="0">
              <a:solidFill>
                <a:srgbClr val="666666"/>
              </a:solidFill>
              <a:effectLst/>
              <a:latin typeface="Open Sans" panose="020B0606030504020204" pitchFamily="34" charset="0"/>
            </a:endParaRPr>
          </a:p>
        </p:txBody>
      </p:sp>
    </p:spTree>
    <p:extLst>
      <p:ext uri="{BB962C8B-B14F-4D97-AF65-F5344CB8AC3E}">
        <p14:creationId xmlns:p14="http://schemas.microsoft.com/office/powerpoint/2010/main" val="692250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5" fill="hold" display="0">
                  <p:stCondLst>
                    <p:cond delay="indefinite"/>
                  </p:stCondLst>
                </p:cTn>
                <p:tgtEl>
                  <p:spTgt spid="5"/>
                </p:tgtEl>
              </p:cMediaNode>
            </p:video>
            <p:seq concurrent="1" nextAc="seek">
              <p:cTn id="16" restart="whenNotActive" fill="hold" evtFilter="cancelBubble" nodeType="interactiveSeq">
                <p:stCondLst>
                  <p:cond evt="onClick" delay="0">
                    <p:tgtEl>
                      <p:spTgt spid="5"/>
                    </p:tgtEl>
                  </p:cond>
                </p:stCondLst>
                <p:endSync evt="end" delay="0">
                  <p:rtn val="all"/>
                </p:endSync>
                <p:childTnLst>
                  <p:par>
                    <p:cTn id="17" fill="hold">
                      <p:stCondLst>
                        <p:cond delay="0"/>
                      </p:stCondLst>
                      <p:childTnLst>
                        <p:par>
                          <p:cTn id="18" fill="hold">
                            <p:stCondLst>
                              <p:cond delay="0"/>
                            </p:stCondLst>
                            <p:childTnLst>
                              <p:par>
                                <p:cTn id="19" presetID="2" presetClass="mediacall" presetSubtype="0" fill="hold" nodeType="clickEffect">
                                  <p:stCondLst>
                                    <p:cond delay="0"/>
                                  </p:stCondLst>
                                  <p:childTnLst>
                                    <p:cmd type="call" cmd="togglePause">
                                      <p:cBhvr>
                                        <p:cTn id="20" dur="1" fill="hold"/>
                                        <p:tgtEl>
                                          <p:spTgt spid="5"/>
                                        </p:tgtEl>
                                      </p:cBhvr>
                                    </p:cmd>
                                  </p:childTnLst>
                                </p:cTn>
                              </p:par>
                            </p:childTnLst>
                          </p:cTn>
                        </p:par>
                      </p:childTnLst>
                    </p:cTn>
                  </p:par>
                </p:childTnLst>
              </p:cTn>
              <p:nextCondLst>
                <p:cond evt="onClick" delay="0">
                  <p:tgtEl>
                    <p:spTgt spid="5"/>
                  </p:tgtEl>
                </p:cond>
              </p:nextCondLst>
            </p:seq>
          </p:childTnLst>
        </p:cTn>
      </p:par>
    </p:tnLst>
    <p:bldLst>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3EA12-6ED9-4310-CEEB-71733211A484}"/>
            </a:ext>
          </a:extLst>
        </p:cNvPr>
        <p:cNvGrpSpPr/>
        <p:nvPr/>
      </p:nvGrpSpPr>
      <p:grpSpPr>
        <a:xfrm>
          <a:off x="0" y="0"/>
          <a:ext cx="0" cy="0"/>
          <a:chOff x="0" y="0"/>
          <a:chExt cx="0" cy="0"/>
        </a:xfrm>
      </p:grpSpPr>
      <p:pic>
        <p:nvPicPr>
          <p:cNvPr id="5" name="Online Media 4" descr="Texas A&amp;M Traditions">
            <a:hlinkClick r:id="" action="ppaction://media"/>
            <a:extLst>
              <a:ext uri="{FF2B5EF4-FFF2-40B4-BE49-F238E27FC236}">
                <a16:creationId xmlns:a16="http://schemas.microsoft.com/office/drawing/2014/main" id="{1E5F5185-788E-C5C1-5C07-EF98669193AA}"/>
              </a:ext>
            </a:extLst>
          </p:cNvPr>
          <p:cNvPicPr>
            <a:picLocks noRot="1" noChangeAspect="1"/>
          </p:cNvPicPr>
          <p:nvPr>
            <a:videoFile r:link="rId1"/>
          </p:nvPr>
        </p:nvPicPr>
        <p:blipFill>
          <a:blip r:embed="rId3"/>
          <a:stretch>
            <a:fillRect/>
          </a:stretch>
        </p:blipFill>
        <p:spPr>
          <a:xfrm>
            <a:off x="0" y="0"/>
            <a:ext cx="12192000" cy="6888480"/>
          </a:xfrm>
          <a:prstGeom prst="rect">
            <a:avLst/>
          </a:prstGeom>
        </p:spPr>
      </p:pic>
    </p:spTree>
    <p:extLst>
      <p:ext uri="{BB962C8B-B14F-4D97-AF65-F5344CB8AC3E}">
        <p14:creationId xmlns:p14="http://schemas.microsoft.com/office/powerpoint/2010/main" val="3821294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C613C-31BF-4116-9A02-407AA122FA99}"/>
              </a:ext>
            </a:extLst>
          </p:cNvPr>
          <p:cNvSpPr>
            <a:spLocks noGrp="1"/>
          </p:cNvSpPr>
          <p:nvPr>
            <p:ph type="title"/>
          </p:nvPr>
        </p:nvSpPr>
        <p:spPr/>
        <p:txBody>
          <a:bodyPr/>
          <a:lstStyle/>
          <a:p>
            <a:r>
              <a:rPr lang="en-US" altLang="zh-CN" dirty="0"/>
              <a:t>Hong Kong</a:t>
            </a:r>
            <a:endParaRPr lang="zh-CN" altLang="en-US" dirty="0"/>
          </a:p>
        </p:txBody>
      </p:sp>
      <p:sp>
        <p:nvSpPr>
          <p:cNvPr id="3" name="Content Placeholder 2">
            <a:extLst>
              <a:ext uri="{FF2B5EF4-FFF2-40B4-BE49-F238E27FC236}">
                <a16:creationId xmlns:a16="http://schemas.microsoft.com/office/drawing/2014/main" id="{11A6B2F6-6273-4A2F-A897-15A195571131}"/>
              </a:ext>
            </a:extLst>
          </p:cNvPr>
          <p:cNvSpPr>
            <a:spLocks noGrp="1"/>
          </p:cNvSpPr>
          <p:nvPr>
            <p:ph sz="half" idx="1"/>
          </p:nvPr>
        </p:nvSpPr>
        <p:spPr>
          <a:xfrm>
            <a:off x="0" y="1706650"/>
            <a:ext cx="5384800" cy="4525433"/>
          </a:xfrm>
        </p:spPr>
        <p:txBody>
          <a:bodyPr/>
          <a:lstStyle/>
          <a:p>
            <a:r>
              <a:rPr lang="en-US" altLang="zh-CN" dirty="0"/>
              <a:t>Moved to Hong Kong in 2019</a:t>
            </a:r>
          </a:p>
          <a:p>
            <a:endParaRPr lang="en-US" altLang="zh-CN" dirty="0"/>
          </a:p>
          <a:p>
            <a:r>
              <a:rPr lang="en-US" altLang="zh-CN" dirty="0"/>
              <a:t>CUHK and me</a:t>
            </a:r>
          </a:p>
          <a:p>
            <a:pPr lvl="1"/>
            <a:r>
              <a:rPr lang="en-US" altLang="zh-CN" dirty="0"/>
              <a:t>Dream school</a:t>
            </a:r>
            <a:r>
              <a:rPr lang="zh-CN" altLang="en-US" dirty="0"/>
              <a:t> </a:t>
            </a:r>
            <a:r>
              <a:rPr lang="en-US" altLang="zh-CN" dirty="0"/>
              <a:t>When in the</a:t>
            </a:r>
            <a:r>
              <a:rPr lang="zh-CN" altLang="en-US" dirty="0"/>
              <a:t> </a:t>
            </a:r>
            <a:r>
              <a:rPr lang="en-US" altLang="zh-CN" dirty="0"/>
              <a:t>high school</a:t>
            </a:r>
          </a:p>
        </p:txBody>
      </p:sp>
      <p:pic>
        <p:nvPicPr>
          <p:cNvPr id="6" name="Picture 8" descr="preview">
            <a:extLst>
              <a:ext uri="{FF2B5EF4-FFF2-40B4-BE49-F238E27FC236}">
                <a16:creationId xmlns:a16="http://schemas.microsoft.com/office/drawing/2014/main" id="{347107C2-B07C-436F-961C-74603676E9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11213" y="0"/>
            <a:ext cx="728078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9737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7DEE2-F2A3-CE8C-2797-6549170651C6}"/>
              </a:ext>
            </a:extLst>
          </p:cNvPr>
          <p:cNvSpPr>
            <a:spLocks noGrp="1"/>
          </p:cNvSpPr>
          <p:nvPr>
            <p:ph type="title"/>
          </p:nvPr>
        </p:nvSpPr>
        <p:spPr>
          <a:xfrm>
            <a:off x="0" y="23109"/>
            <a:ext cx="9993331" cy="1143000"/>
          </a:xfrm>
        </p:spPr>
        <p:txBody>
          <a:bodyPr/>
          <a:lstStyle/>
          <a:p>
            <a:r>
              <a:rPr lang="en-US" dirty="0"/>
              <a:t>CUHK</a:t>
            </a:r>
            <a:r>
              <a:rPr lang="zh-CN" altLang="en-US" dirty="0"/>
              <a:t> </a:t>
            </a:r>
            <a:r>
              <a:rPr lang="en-US" altLang="zh-CN" dirty="0"/>
              <a:t>and</a:t>
            </a:r>
            <a:r>
              <a:rPr lang="zh-CN" altLang="en-US" dirty="0"/>
              <a:t> </a:t>
            </a:r>
            <a:r>
              <a:rPr lang="en-US" altLang="zh-CN" dirty="0"/>
              <a:t>me</a:t>
            </a:r>
            <a:r>
              <a:rPr lang="zh-CN" altLang="en-US" dirty="0"/>
              <a:t>：</a:t>
            </a:r>
            <a:r>
              <a:rPr lang="en-US" altLang="zh-TW" dirty="0"/>
              <a:t>College</a:t>
            </a:r>
            <a:r>
              <a:rPr lang="zh-CN" altLang="en-US" dirty="0"/>
              <a:t> </a:t>
            </a:r>
            <a:r>
              <a:rPr lang="en-US" altLang="zh-CN" dirty="0"/>
              <a:t>system</a:t>
            </a:r>
            <a:endParaRPr lang="en-US" dirty="0"/>
          </a:p>
        </p:txBody>
      </p:sp>
      <p:sp>
        <p:nvSpPr>
          <p:cNvPr id="3" name="Content Placeholder 2">
            <a:extLst>
              <a:ext uri="{FF2B5EF4-FFF2-40B4-BE49-F238E27FC236}">
                <a16:creationId xmlns:a16="http://schemas.microsoft.com/office/drawing/2014/main" id="{359A3B26-FA90-5D9E-EF59-A0F11DDAB65B}"/>
              </a:ext>
            </a:extLst>
          </p:cNvPr>
          <p:cNvSpPr>
            <a:spLocks noGrp="1"/>
          </p:cNvSpPr>
          <p:nvPr>
            <p:ph sz="half" idx="1"/>
          </p:nvPr>
        </p:nvSpPr>
        <p:spPr>
          <a:xfrm>
            <a:off x="372232" y="1128714"/>
            <a:ext cx="5384800" cy="471487"/>
          </a:xfrm>
        </p:spPr>
        <p:txBody>
          <a:bodyPr/>
          <a:lstStyle/>
          <a:p>
            <a:r>
              <a:rPr lang="en-US" dirty="0"/>
              <a:t>Imaged</a:t>
            </a:r>
            <a:r>
              <a:rPr lang="zh-CN" altLang="en-US" dirty="0"/>
              <a:t> </a:t>
            </a:r>
            <a:r>
              <a:rPr lang="en-US" altLang="zh-CN" dirty="0"/>
              <a:t>college</a:t>
            </a:r>
            <a:r>
              <a:rPr lang="zh-TW" altLang="en-US" dirty="0"/>
              <a:t> </a:t>
            </a:r>
            <a:r>
              <a:rPr lang="en-US" altLang="zh-TW" dirty="0"/>
              <a:t>activities</a:t>
            </a:r>
            <a:endParaRPr lang="en-US" dirty="0"/>
          </a:p>
        </p:txBody>
      </p:sp>
      <p:sp>
        <p:nvSpPr>
          <p:cNvPr id="4" name="Content Placeholder 3">
            <a:extLst>
              <a:ext uri="{FF2B5EF4-FFF2-40B4-BE49-F238E27FC236}">
                <a16:creationId xmlns:a16="http://schemas.microsoft.com/office/drawing/2014/main" id="{06DE232C-4381-37B4-2637-0AFFB90A6070}"/>
              </a:ext>
            </a:extLst>
          </p:cNvPr>
          <p:cNvSpPr>
            <a:spLocks noGrp="1"/>
          </p:cNvSpPr>
          <p:nvPr>
            <p:ph sz="half" idx="2"/>
          </p:nvPr>
        </p:nvSpPr>
        <p:spPr>
          <a:xfrm>
            <a:off x="5994400" y="1106617"/>
            <a:ext cx="5384800" cy="471488"/>
          </a:xfrm>
        </p:spPr>
        <p:txBody>
          <a:bodyPr/>
          <a:lstStyle/>
          <a:p>
            <a:r>
              <a:rPr lang="en-US" dirty="0"/>
              <a:t>Actually</a:t>
            </a:r>
            <a:r>
              <a:rPr lang="zh-CN" altLang="en-US" dirty="0"/>
              <a:t> </a:t>
            </a:r>
            <a:r>
              <a:rPr lang="en-US" altLang="zh-CN" dirty="0"/>
              <a:t>college</a:t>
            </a:r>
            <a:r>
              <a:rPr lang="zh-CN" altLang="en-US" dirty="0"/>
              <a:t> </a:t>
            </a:r>
            <a:r>
              <a:rPr lang="en-US" altLang="zh-CN" dirty="0"/>
              <a:t>activities</a:t>
            </a:r>
            <a:endParaRPr lang="en-US" dirty="0"/>
          </a:p>
        </p:txBody>
      </p:sp>
      <p:pic>
        <p:nvPicPr>
          <p:cNvPr id="5" name="Picture 2" descr="How do I choose the right college for me at Oxford? – Dreamando">
            <a:extLst>
              <a:ext uri="{FF2B5EF4-FFF2-40B4-BE49-F238E27FC236}">
                <a16:creationId xmlns:a16="http://schemas.microsoft.com/office/drawing/2014/main" id="{BEF304C5-4770-947F-D511-CE6921A745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2232" y="1698633"/>
            <a:ext cx="5384800" cy="510361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68C07473-DC65-629B-7B81-E78000FB7251}"/>
              </a:ext>
            </a:extLst>
          </p:cNvPr>
          <p:cNvPicPr>
            <a:picLocks noChangeAspect="1"/>
          </p:cNvPicPr>
          <p:nvPr/>
        </p:nvPicPr>
        <p:blipFill>
          <a:blip r:embed="rId4"/>
          <a:stretch>
            <a:fillRect/>
          </a:stretch>
        </p:blipFill>
        <p:spPr>
          <a:xfrm>
            <a:off x="6096000" y="1665991"/>
            <a:ext cx="6108700" cy="5168900"/>
          </a:xfrm>
          <a:prstGeom prst="rect">
            <a:avLst/>
          </a:prstGeom>
        </p:spPr>
      </p:pic>
    </p:spTree>
    <p:extLst>
      <p:ext uri="{BB962C8B-B14F-4D97-AF65-F5344CB8AC3E}">
        <p14:creationId xmlns:p14="http://schemas.microsoft.com/office/powerpoint/2010/main" val="2668432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15D1B-F45E-82A0-582A-3727C28347F3}"/>
              </a:ext>
            </a:extLst>
          </p:cNvPr>
          <p:cNvSpPr>
            <a:spLocks noGrp="1"/>
          </p:cNvSpPr>
          <p:nvPr>
            <p:ph type="title"/>
          </p:nvPr>
        </p:nvSpPr>
        <p:spPr>
          <a:xfrm>
            <a:off x="487744" y="31543"/>
            <a:ext cx="8187070" cy="1143000"/>
          </a:xfrm>
        </p:spPr>
        <p:txBody>
          <a:bodyPr anchor="ctr">
            <a:normAutofit/>
          </a:bodyPr>
          <a:lstStyle/>
          <a:p>
            <a:r>
              <a:rPr lang="en-US" dirty="0"/>
              <a:t>CUHK</a:t>
            </a:r>
            <a:r>
              <a:rPr lang="zh-CN" altLang="en-US" dirty="0"/>
              <a:t> </a:t>
            </a:r>
            <a:r>
              <a:rPr lang="en-US" altLang="zh-CN" dirty="0"/>
              <a:t>and</a:t>
            </a:r>
            <a:r>
              <a:rPr lang="zh-CN" altLang="en-US" dirty="0"/>
              <a:t> </a:t>
            </a:r>
            <a:r>
              <a:rPr lang="en-US" altLang="zh-CN" dirty="0"/>
              <a:t>me</a:t>
            </a:r>
            <a:r>
              <a:rPr lang="zh-TW" altLang="en-US" dirty="0"/>
              <a:t>：</a:t>
            </a:r>
            <a:r>
              <a:rPr lang="en-US" dirty="0"/>
              <a:t>Stunning Campus</a:t>
            </a:r>
          </a:p>
        </p:txBody>
      </p:sp>
      <p:sp>
        <p:nvSpPr>
          <p:cNvPr id="3" name="Content Placeholder 2">
            <a:extLst>
              <a:ext uri="{FF2B5EF4-FFF2-40B4-BE49-F238E27FC236}">
                <a16:creationId xmlns:a16="http://schemas.microsoft.com/office/drawing/2014/main" id="{AA2131EA-615C-6B7D-4509-139EE18964FC}"/>
              </a:ext>
            </a:extLst>
          </p:cNvPr>
          <p:cNvSpPr>
            <a:spLocks noGrp="1"/>
          </p:cNvSpPr>
          <p:nvPr>
            <p:ph sz="half" idx="1"/>
          </p:nvPr>
        </p:nvSpPr>
        <p:spPr>
          <a:xfrm>
            <a:off x="180846" y="1123398"/>
            <a:ext cx="5384800" cy="471487"/>
          </a:xfrm>
        </p:spPr>
        <p:txBody>
          <a:bodyPr/>
          <a:lstStyle/>
          <a:p>
            <a:r>
              <a:rPr lang="en-US" dirty="0"/>
              <a:t>Imaged</a:t>
            </a:r>
            <a:r>
              <a:rPr lang="zh-CN" altLang="en-US" dirty="0"/>
              <a:t> </a:t>
            </a:r>
            <a:r>
              <a:rPr lang="en-US" altLang="zh-CN" dirty="0"/>
              <a:t>Campus</a:t>
            </a:r>
            <a:endParaRPr lang="en-US" dirty="0"/>
          </a:p>
        </p:txBody>
      </p:sp>
      <p:sp>
        <p:nvSpPr>
          <p:cNvPr id="4" name="Content Placeholder 3">
            <a:extLst>
              <a:ext uri="{FF2B5EF4-FFF2-40B4-BE49-F238E27FC236}">
                <a16:creationId xmlns:a16="http://schemas.microsoft.com/office/drawing/2014/main" id="{2FAA1854-99F5-3EDF-BBC1-226E9FB8A1E9}"/>
              </a:ext>
            </a:extLst>
          </p:cNvPr>
          <p:cNvSpPr>
            <a:spLocks noGrp="1"/>
          </p:cNvSpPr>
          <p:nvPr>
            <p:ph sz="half" idx="2"/>
          </p:nvPr>
        </p:nvSpPr>
        <p:spPr>
          <a:xfrm>
            <a:off x="5994400" y="1106617"/>
            <a:ext cx="5384800" cy="471488"/>
          </a:xfrm>
        </p:spPr>
        <p:txBody>
          <a:bodyPr/>
          <a:lstStyle/>
          <a:p>
            <a:r>
              <a:rPr lang="en-US" dirty="0"/>
              <a:t>Actually</a:t>
            </a:r>
            <a:r>
              <a:rPr lang="zh-CN" altLang="en-US" dirty="0"/>
              <a:t> </a:t>
            </a:r>
            <a:r>
              <a:rPr lang="en-US" altLang="zh-CN" dirty="0"/>
              <a:t>Campus</a:t>
            </a:r>
            <a:endParaRPr lang="en-US" dirty="0"/>
          </a:p>
        </p:txBody>
      </p:sp>
      <p:sp>
        <p:nvSpPr>
          <p:cNvPr id="10" name="AutoShape 7" descr="A photorealistic depiction of the campus of the Chinese University of Hong Kong, featuring its iconic steep mountain road with lush greenery and highly realistic CUHK architecture in the background. The scene includes accurate landmarks such as the university library or other distinctive CUHK buildings, detailed and recognizable. The road is sparsely populated with one or two fully clothed individuals, clearly professors or students carrying backpacks or books, visibly tired but hurrying to class. The overall image captures the authentic academic atmosphere and physical challenge of CUHK's hilly terrain with precise architectural and environmental details.">
            <a:extLst>
              <a:ext uri="{FF2B5EF4-FFF2-40B4-BE49-F238E27FC236}">
                <a16:creationId xmlns:a16="http://schemas.microsoft.com/office/drawing/2014/main" id="{13987BC1-6779-A7BA-5036-1FE2ADEE8BAE}"/>
              </a:ext>
            </a:extLst>
          </p:cNvPr>
          <p:cNvSpPr>
            <a:spLocks noChangeAspect="1" noChangeArrowheads="1"/>
          </p:cNvSpPr>
          <p:nvPr/>
        </p:nvSpPr>
        <p:spPr bwMode="auto">
          <a:xfrm>
            <a:off x="5943600" y="3276600"/>
            <a:ext cx="4837814" cy="483781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1" name="Picture 10">
            <a:extLst>
              <a:ext uri="{FF2B5EF4-FFF2-40B4-BE49-F238E27FC236}">
                <a16:creationId xmlns:a16="http://schemas.microsoft.com/office/drawing/2014/main" id="{957F6685-CCC9-E306-FF84-E69548DE34B3}"/>
              </a:ext>
            </a:extLst>
          </p:cNvPr>
          <p:cNvPicPr>
            <a:picLocks noChangeAspect="1"/>
          </p:cNvPicPr>
          <p:nvPr/>
        </p:nvPicPr>
        <p:blipFill>
          <a:blip r:embed="rId2"/>
          <a:stretch>
            <a:fillRect/>
          </a:stretch>
        </p:blipFill>
        <p:spPr>
          <a:xfrm>
            <a:off x="6360288" y="1685320"/>
            <a:ext cx="5018912" cy="5050346"/>
          </a:xfrm>
          <a:prstGeom prst="rect">
            <a:avLst/>
          </a:prstGeom>
        </p:spPr>
      </p:pic>
      <p:sp>
        <p:nvSpPr>
          <p:cNvPr id="12" name="Rectangle 8">
            <a:extLst>
              <a:ext uri="{FF2B5EF4-FFF2-40B4-BE49-F238E27FC236}">
                <a16:creationId xmlns:a16="http://schemas.microsoft.com/office/drawing/2014/main" id="{0D736C04-78A6-6CF4-1ACF-37110A5EC03C}"/>
              </a:ext>
            </a:extLst>
          </p:cNvPr>
          <p:cNvSpPr>
            <a:spLocks noChangeArrowheads="1"/>
          </p:cNvSpPr>
          <p:nvPr/>
        </p:nvSpPr>
        <p:spPr bwMode="auto">
          <a:xfrm>
            <a:off x="487744" y="1099194"/>
            <a:ext cx="2892369"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1033" name="Picture 9" descr="A photorealistic depiction of the Chinese University of Hong Kong campus, showcasing its iconic hillside location with a stunning view of the sea. The scene features lush greenery, the natural mountainous terrain, and a tranquil ocean backdrop. Animals such as monkeys, deer, and foxes are visible, harmoniously blending into the vibrant and serene environment. The setting emphasizes the unique blend of nature and academics that defines CUHK, with a focus on the peaceful coexistence of wildlife and the campus's natural beauty.">
            <a:extLst>
              <a:ext uri="{FF2B5EF4-FFF2-40B4-BE49-F238E27FC236}">
                <a16:creationId xmlns:a16="http://schemas.microsoft.com/office/drawing/2014/main" id="{E09A0820-48B5-9D40-35A2-EBB86F3DD3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744" y="1716754"/>
            <a:ext cx="5018912" cy="5018912"/>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0">
            <a:extLst>
              <a:ext uri="{FF2B5EF4-FFF2-40B4-BE49-F238E27FC236}">
                <a16:creationId xmlns:a16="http://schemas.microsoft.com/office/drawing/2014/main" id="{B092D5D8-A4E7-C93E-9C4F-847976D0BEB2}"/>
              </a:ext>
            </a:extLst>
          </p:cNvPr>
          <p:cNvSpPr>
            <a:spLocks noChangeArrowheads="1"/>
          </p:cNvSpPr>
          <p:nvPr/>
        </p:nvSpPr>
        <p:spPr bwMode="auto">
          <a:xfrm>
            <a:off x="1740282" y="1872344"/>
            <a:ext cx="192559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11538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B182D0-C1AD-7DFF-E377-5231B2EB50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E7F020-D622-BB1D-8294-9CD51AF206D7}"/>
              </a:ext>
            </a:extLst>
          </p:cNvPr>
          <p:cNvSpPr>
            <a:spLocks noGrp="1"/>
          </p:cNvSpPr>
          <p:nvPr>
            <p:ph type="title"/>
          </p:nvPr>
        </p:nvSpPr>
        <p:spPr>
          <a:xfrm>
            <a:off x="295445" y="21251"/>
            <a:ext cx="8593374" cy="1167918"/>
          </a:xfrm>
        </p:spPr>
        <p:txBody>
          <a:bodyPr anchor="ctr">
            <a:normAutofit/>
          </a:bodyPr>
          <a:lstStyle/>
          <a:p>
            <a:r>
              <a:rPr lang="en-US" dirty="0"/>
              <a:t>CUHK</a:t>
            </a:r>
            <a:r>
              <a:rPr lang="zh-CN" altLang="en-US" dirty="0"/>
              <a:t> </a:t>
            </a:r>
            <a:r>
              <a:rPr lang="en-US" altLang="zh-CN" dirty="0"/>
              <a:t>and</a:t>
            </a:r>
            <a:r>
              <a:rPr lang="zh-CN" altLang="en-US" dirty="0"/>
              <a:t> </a:t>
            </a:r>
            <a:r>
              <a:rPr lang="en-US" altLang="zh-CN" dirty="0"/>
              <a:t>me: On-campus Activities</a:t>
            </a:r>
            <a:endParaRPr lang="en-US" dirty="0"/>
          </a:p>
        </p:txBody>
      </p:sp>
      <p:sp>
        <p:nvSpPr>
          <p:cNvPr id="3" name="Content Placeholder 2">
            <a:extLst>
              <a:ext uri="{FF2B5EF4-FFF2-40B4-BE49-F238E27FC236}">
                <a16:creationId xmlns:a16="http://schemas.microsoft.com/office/drawing/2014/main" id="{909AEF79-545E-1C37-D724-0B0F503BA1EE}"/>
              </a:ext>
            </a:extLst>
          </p:cNvPr>
          <p:cNvSpPr>
            <a:spLocks noGrp="1"/>
          </p:cNvSpPr>
          <p:nvPr>
            <p:ph sz="half" idx="1"/>
          </p:nvPr>
        </p:nvSpPr>
        <p:spPr>
          <a:xfrm>
            <a:off x="180846" y="1123398"/>
            <a:ext cx="5384800" cy="471487"/>
          </a:xfrm>
        </p:spPr>
        <p:txBody>
          <a:bodyPr/>
          <a:lstStyle/>
          <a:p>
            <a:r>
              <a:rPr lang="en-US" dirty="0"/>
              <a:t>Imaged</a:t>
            </a:r>
            <a:r>
              <a:rPr lang="zh-CN" altLang="en-US" dirty="0"/>
              <a:t> </a:t>
            </a:r>
            <a:r>
              <a:rPr lang="en-US" altLang="zh-CN" dirty="0"/>
              <a:t>Student Activities</a:t>
            </a:r>
            <a:endParaRPr lang="en-US" dirty="0"/>
          </a:p>
        </p:txBody>
      </p:sp>
      <p:sp>
        <p:nvSpPr>
          <p:cNvPr id="4" name="Content Placeholder 3">
            <a:extLst>
              <a:ext uri="{FF2B5EF4-FFF2-40B4-BE49-F238E27FC236}">
                <a16:creationId xmlns:a16="http://schemas.microsoft.com/office/drawing/2014/main" id="{1507AB9F-AD68-5580-77A2-C17F5165263F}"/>
              </a:ext>
            </a:extLst>
          </p:cNvPr>
          <p:cNvSpPr>
            <a:spLocks noGrp="1"/>
          </p:cNvSpPr>
          <p:nvPr>
            <p:ph sz="half" idx="2"/>
          </p:nvPr>
        </p:nvSpPr>
        <p:spPr>
          <a:xfrm>
            <a:off x="5994400" y="1106617"/>
            <a:ext cx="5384800" cy="471488"/>
          </a:xfrm>
        </p:spPr>
        <p:txBody>
          <a:bodyPr/>
          <a:lstStyle/>
          <a:p>
            <a:r>
              <a:rPr lang="en-US" dirty="0"/>
              <a:t>Actually</a:t>
            </a:r>
            <a:r>
              <a:rPr lang="zh-CN" altLang="en-US" dirty="0"/>
              <a:t> </a:t>
            </a:r>
            <a:r>
              <a:rPr lang="en-US" altLang="zh-CN" dirty="0"/>
              <a:t>Student</a:t>
            </a:r>
            <a:r>
              <a:rPr lang="zh-CN" altLang="en-US" dirty="0"/>
              <a:t> </a:t>
            </a:r>
            <a:r>
              <a:rPr lang="en-US" altLang="zh-CN" dirty="0"/>
              <a:t>Activities</a:t>
            </a:r>
            <a:endParaRPr lang="en-US" dirty="0"/>
          </a:p>
        </p:txBody>
      </p:sp>
      <p:sp>
        <p:nvSpPr>
          <p:cNvPr id="10" name="AutoShape 7" descr="A photorealistic depiction of the campus of the Chinese University of Hong Kong, featuring its iconic steep mountain road with lush greenery and highly realistic CUHK architecture in the background. The scene includes accurate landmarks such as the university library or other distinctive CUHK buildings, detailed and recognizable. The road is sparsely populated with one or two fully clothed individuals, clearly professors or students carrying backpacks or books, visibly tired but hurrying to class. The overall image captures the authentic academic atmosphere and physical challenge of CUHK's hilly terrain with precise architectural and environmental details.">
            <a:extLst>
              <a:ext uri="{FF2B5EF4-FFF2-40B4-BE49-F238E27FC236}">
                <a16:creationId xmlns:a16="http://schemas.microsoft.com/office/drawing/2014/main" id="{28FD7C6F-8A9E-2A85-2C15-439B0FE9D91A}"/>
              </a:ext>
            </a:extLst>
          </p:cNvPr>
          <p:cNvSpPr>
            <a:spLocks noChangeAspect="1" noChangeArrowheads="1"/>
          </p:cNvSpPr>
          <p:nvPr/>
        </p:nvSpPr>
        <p:spPr bwMode="auto">
          <a:xfrm>
            <a:off x="5943600" y="3276600"/>
            <a:ext cx="4837814" cy="483781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Rectangle 8">
            <a:extLst>
              <a:ext uri="{FF2B5EF4-FFF2-40B4-BE49-F238E27FC236}">
                <a16:creationId xmlns:a16="http://schemas.microsoft.com/office/drawing/2014/main" id="{00D137BB-BF37-366D-1FC4-834DAD8DEB52}"/>
              </a:ext>
            </a:extLst>
          </p:cNvPr>
          <p:cNvSpPr>
            <a:spLocks noChangeArrowheads="1"/>
          </p:cNvSpPr>
          <p:nvPr/>
        </p:nvSpPr>
        <p:spPr bwMode="auto">
          <a:xfrm>
            <a:off x="487744" y="1099194"/>
            <a:ext cx="2892369"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nvGrpSpPr>
          <p:cNvPr id="7" name="Group 6">
            <a:extLst>
              <a:ext uri="{FF2B5EF4-FFF2-40B4-BE49-F238E27FC236}">
                <a16:creationId xmlns:a16="http://schemas.microsoft.com/office/drawing/2014/main" id="{40F71385-93CC-9966-9B48-96C9DC7F43C7}"/>
              </a:ext>
            </a:extLst>
          </p:cNvPr>
          <p:cNvGrpSpPr/>
          <p:nvPr/>
        </p:nvGrpSpPr>
        <p:grpSpPr>
          <a:xfrm>
            <a:off x="76679" y="1691577"/>
            <a:ext cx="5643638" cy="5053072"/>
            <a:chOff x="76679" y="1691577"/>
            <a:chExt cx="5643638" cy="5053072"/>
          </a:xfrm>
        </p:grpSpPr>
        <p:sp>
          <p:nvSpPr>
            <p:cNvPr id="13" name="Rectangle 10">
              <a:extLst>
                <a:ext uri="{FF2B5EF4-FFF2-40B4-BE49-F238E27FC236}">
                  <a16:creationId xmlns:a16="http://schemas.microsoft.com/office/drawing/2014/main" id="{1AE032C7-D3D7-2D75-2D81-66971E73579E}"/>
                </a:ext>
              </a:extLst>
            </p:cNvPr>
            <p:cNvSpPr>
              <a:spLocks noChangeArrowheads="1"/>
            </p:cNvSpPr>
            <p:nvPr/>
          </p:nvSpPr>
          <p:spPr bwMode="auto">
            <a:xfrm>
              <a:off x="1740282" y="1872344"/>
              <a:ext cx="192559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id="{E8566196-E5C3-48A5-146A-8947E104CF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679" y="1691577"/>
              <a:ext cx="2356188" cy="354412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9年过去了，《樱兰高校男公关部》第2季动画就这样鸽了_故事">
              <a:extLst>
                <a:ext uri="{FF2B5EF4-FFF2-40B4-BE49-F238E27FC236}">
                  <a16:creationId xmlns:a16="http://schemas.microsoft.com/office/drawing/2014/main" id="{D8C78901-CE11-EEA5-F17C-467921D6F8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55601" y="1691578"/>
              <a:ext cx="3264716" cy="2307712"/>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YESASIA : 网球王子(DVD) (第三辑) (Ep.8) (香港版) DVD - - 华语动画- 邮费全免- 北美网站">
              <a:extLst>
                <a:ext uri="{FF2B5EF4-FFF2-40B4-BE49-F238E27FC236}">
                  <a16:creationId xmlns:a16="http://schemas.microsoft.com/office/drawing/2014/main" id="{1E58DDCE-65A0-1F09-7643-798A2AEE00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55601" y="4003775"/>
              <a:ext cx="1925591" cy="2740874"/>
            </a:xfrm>
            <a:prstGeom prst="rect">
              <a:avLst/>
            </a:prstGeom>
            <a:noFill/>
            <a:extLst>
              <a:ext uri="{909E8E84-426E-40DD-AFC4-6F175D3DCCD1}">
                <a14:hiddenFill xmlns:a14="http://schemas.microsoft.com/office/drawing/2010/main">
                  <a:solidFill>
                    <a:srgbClr val="FFFFFF"/>
                  </a:solidFill>
                </a14:hiddenFill>
              </a:ext>
            </a:extLst>
          </p:spPr>
        </p:pic>
      </p:grpSp>
      <p:pic>
        <p:nvPicPr>
          <p:cNvPr id="3076" name="Picture 4">
            <a:extLst>
              <a:ext uri="{FF2B5EF4-FFF2-40B4-BE49-F238E27FC236}">
                <a16:creationId xmlns:a16="http://schemas.microsoft.com/office/drawing/2014/main" id="{382AD076-B98A-DCC3-E53C-9394F0A6622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94400" y="1860009"/>
            <a:ext cx="5935330" cy="42785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8175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436ED-37AA-525B-0FE8-EAF87BBF87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5810DB-96F4-153C-1C02-9C5225FC19B7}"/>
              </a:ext>
            </a:extLst>
          </p:cNvPr>
          <p:cNvSpPr>
            <a:spLocks noGrp="1"/>
          </p:cNvSpPr>
          <p:nvPr>
            <p:ph type="title"/>
          </p:nvPr>
        </p:nvSpPr>
        <p:spPr>
          <a:xfrm>
            <a:off x="609600" y="275167"/>
            <a:ext cx="9993331" cy="1143000"/>
          </a:xfrm>
        </p:spPr>
        <p:txBody>
          <a:bodyPr anchor="ctr">
            <a:normAutofit/>
          </a:bodyPr>
          <a:lstStyle/>
          <a:p>
            <a:r>
              <a:rPr lang="en-US" altLang="zh-CN" dirty="0"/>
              <a:t>Teaching Philosophy</a:t>
            </a:r>
            <a:endParaRPr lang="zh-CN" altLang="en-US" dirty="0"/>
          </a:p>
        </p:txBody>
      </p:sp>
      <p:sp>
        <p:nvSpPr>
          <p:cNvPr id="3" name="Content Placeholder 2">
            <a:extLst>
              <a:ext uri="{FF2B5EF4-FFF2-40B4-BE49-F238E27FC236}">
                <a16:creationId xmlns:a16="http://schemas.microsoft.com/office/drawing/2014/main" id="{61135562-8F99-66A3-C5A6-0F0873BD98EE}"/>
              </a:ext>
            </a:extLst>
          </p:cNvPr>
          <p:cNvSpPr>
            <a:spLocks noGrp="1"/>
          </p:cNvSpPr>
          <p:nvPr>
            <p:ph sz="half" idx="1"/>
          </p:nvPr>
        </p:nvSpPr>
        <p:spPr>
          <a:xfrm>
            <a:off x="379141" y="1600201"/>
            <a:ext cx="6282123" cy="4525433"/>
          </a:xfrm>
        </p:spPr>
        <p:txBody>
          <a:bodyPr>
            <a:normAutofit/>
          </a:bodyPr>
          <a:lstStyle/>
          <a:p>
            <a:endParaRPr lang="en-US" altLang="zh-CN" dirty="0"/>
          </a:p>
          <a:p>
            <a:r>
              <a:rPr lang="en-US" altLang="zh-CN" dirty="0"/>
              <a:t>Real &amp; Practical</a:t>
            </a:r>
          </a:p>
          <a:p>
            <a:r>
              <a:rPr lang="en-US" altLang="zh-CN" dirty="0"/>
              <a:t>Diversity &amp; Interaction</a:t>
            </a:r>
          </a:p>
          <a:p>
            <a:r>
              <a:rPr lang="en-US" altLang="zh-CN" dirty="0"/>
              <a:t>Communication &amp; Mutual-understanding</a:t>
            </a:r>
          </a:p>
          <a:p>
            <a:r>
              <a:rPr lang="en-US" altLang="zh-CN" dirty="0"/>
              <a:t>Friendship and support</a:t>
            </a:r>
            <a:endParaRPr lang="zh-CN" altLang="en-US" dirty="0"/>
          </a:p>
        </p:txBody>
      </p:sp>
      <p:pic>
        <p:nvPicPr>
          <p:cNvPr id="1026" name="Picture 2" descr="The Difference Between Shallow &amp; Deep Friendships | by Zaid K. Dahhaj |  Medium">
            <a:extLst>
              <a:ext uri="{FF2B5EF4-FFF2-40B4-BE49-F238E27FC236}">
                <a16:creationId xmlns:a16="http://schemas.microsoft.com/office/drawing/2014/main" id="{65BD2B53-A23E-72B8-301D-31A78B0E048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1158" r="9416" b="-1"/>
          <a:stretch/>
        </p:blipFill>
        <p:spPr bwMode="auto">
          <a:xfrm>
            <a:off x="6661264" y="1600201"/>
            <a:ext cx="5384800" cy="4525433"/>
          </a:xfrm>
          <a:prstGeom prst="rect">
            <a:avLst/>
          </a:prstGeom>
          <a:solidFill>
            <a:srgbClr val="FFFFFF"/>
          </a:solidFill>
        </p:spPr>
      </p:pic>
    </p:spTree>
    <p:extLst>
      <p:ext uri="{BB962C8B-B14F-4D97-AF65-F5344CB8AC3E}">
        <p14:creationId xmlns:p14="http://schemas.microsoft.com/office/powerpoint/2010/main" val="3584346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615072B6-4974-4EFC-BF88-7B12B424BCE0}"/>
              </a:ext>
            </a:extLst>
          </p:cNvPr>
          <p:cNvSpPr>
            <a:spLocks noGrp="1"/>
          </p:cNvSpPr>
          <p:nvPr>
            <p:ph type="title"/>
          </p:nvPr>
        </p:nvSpPr>
        <p:spPr>
          <a:xfrm>
            <a:off x="1071937" y="2857500"/>
            <a:ext cx="10048125" cy="1143000"/>
          </a:xfrm>
        </p:spPr>
        <p:txBody>
          <a:bodyPr anchor="ctr">
            <a:normAutofit/>
          </a:bodyPr>
          <a:lstStyle/>
          <a:p>
            <a:r>
              <a:rPr lang="en-US" dirty="0"/>
              <a:t>What else do you want to know about me?</a:t>
            </a:r>
          </a:p>
        </p:txBody>
      </p:sp>
    </p:spTree>
    <p:extLst>
      <p:ext uri="{BB962C8B-B14F-4D97-AF65-F5344CB8AC3E}">
        <p14:creationId xmlns:p14="http://schemas.microsoft.com/office/powerpoint/2010/main" val="2336631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807C3-B2C5-032B-8194-8F51BBA75837}"/>
              </a:ext>
            </a:extLst>
          </p:cNvPr>
          <p:cNvSpPr>
            <a:spLocks noGrp="1"/>
          </p:cNvSpPr>
          <p:nvPr>
            <p:ph type="title"/>
          </p:nvPr>
        </p:nvSpPr>
        <p:spPr>
          <a:xfrm>
            <a:off x="609600" y="275167"/>
            <a:ext cx="9993331" cy="1143000"/>
          </a:xfrm>
        </p:spPr>
        <p:txBody>
          <a:bodyPr anchor="ctr">
            <a:normAutofit/>
          </a:bodyPr>
          <a:lstStyle/>
          <a:p>
            <a:r>
              <a:rPr lang="en-US" dirty="0"/>
              <a:t>What you can expect</a:t>
            </a:r>
          </a:p>
        </p:txBody>
      </p:sp>
      <p:sp>
        <p:nvSpPr>
          <p:cNvPr id="3" name="Content Placeholder 2">
            <a:extLst>
              <a:ext uri="{FF2B5EF4-FFF2-40B4-BE49-F238E27FC236}">
                <a16:creationId xmlns:a16="http://schemas.microsoft.com/office/drawing/2014/main" id="{CF3B4055-0E87-6914-DE86-C99BCBBFFA00}"/>
              </a:ext>
            </a:extLst>
          </p:cNvPr>
          <p:cNvSpPr>
            <a:spLocks noGrp="1"/>
          </p:cNvSpPr>
          <p:nvPr>
            <p:ph sz="half" idx="1"/>
          </p:nvPr>
        </p:nvSpPr>
        <p:spPr>
          <a:xfrm>
            <a:off x="276447" y="1411260"/>
            <a:ext cx="7272669" cy="4903314"/>
          </a:xfrm>
        </p:spPr>
        <p:txBody>
          <a:bodyPr>
            <a:normAutofit/>
          </a:bodyPr>
          <a:lstStyle/>
          <a:p>
            <a:pPr marL="0" indent="0">
              <a:buNone/>
            </a:pPr>
            <a:endParaRPr lang="en-US" dirty="0"/>
          </a:p>
          <a:p>
            <a:r>
              <a:rPr lang="en-US" dirty="0"/>
              <a:t>INTENSIVE Participation</a:t>
            </a:r>
          </a:p>
          <a:p>
            <a:r>
              <a:rPr lang="en-US" dirty="0"/>
              <a:t>Weekly case </a:t>
            </a:r>
            <a:r>
              <a:rPr lang="en-US" altLang="zh-CN" dirty="0"/>
              <a:t>(R</a:t>
            </a:r>
            <a:r>
              <a:rPr lang="en-US" dirty="0"/>
              <a:t>eadings)</a:t>
            </a:r>
          </a:p>
          <a:p>
            <a:r>
              <a:rPr lang="en-US" dirty="0"/>
              <a:t>Cooperation and competition</a:t>
            </a:r>
          </a:p>
          <a:p>
            <a:pPr marL="0" indent="0">
              <a:buNone/>
            </a:pPr>
            <a:endParaRPr lang="en-US" dirty="0"/>
          </a:p>
          <a:p>
            <a:r>
              <a:rPr lang="en-US" dirty="0"/>
              <a:t>No homework and assignments</a:t>
            </a:r>
          </a:p>
          <a:p>
            <a:r>
              <a:rPr lang="en-US" dirty="0"/>
              <a:t>Pass</a:t>
            </a:r>
            <a:r>
              <a:rPr lang="zh-CN" altLang="en-US" dirty="0"/>
              <a:t> </a:t>
            </a:r>
            <a:r>
              <a:rPr lang="en-US" altLang="zh-CN" dirty="0"/>
              <a:t>the</a:t>
            </a:r>
            <a:r>
              <a:rPr lang="zh-CN" altLang="en-US" dirty="0"/>
              <a:t> </a:t>
            </a:r>
            <a:r>
              <a:rPr lang="en-US" altLang="zh-CN" dirty="0"/>
              <a:t>course (in normal situation)</a:t>
            </a:r>
          </a:p>
          <a:p>
            <a:r>
              <a:rPr lang="en-US" dirty="0"/>
              <a:t>Support</a:t>
            </a:r>
            <a:r>
              <a:rPr lang="zh-CN" altLang="en-US" dirty="0"/>
              <a:t> </a:t>
            </a:r>
            <a:r>
              <a:rPr lang="en-US" altLang="zh-CN" dirty="0"/>
              <a:t>and</a:t>
            </a:r>
            <a:r>
              <a:rPr lang="zh-CN" altLang="en-US" dirty="0"/>
              <a:t> </a:t>
            </a:r>
            <a:r>
              <a:rPr lang="en-US" altLang="zh-CN" dirty="0"/>
              <a:t>Friendship</a:t>
            </a:r>
            <a:endParaRPr lang="en-US" dirty="0"/>
          </a:p>
          <a:p>
            <a:endParaRPr lang="en-US" dirty="0"/>
          </a:p>
        </p:txBody>
      </p:sp>
      <p:pic>
        <p:nvPicPr>
          <p:cNvPr id="5" name="Picture 4">
            <a:extLst>
              <a:ext uri="{FF2B5EF4-FFF2-40B4-BE49-F238E27FC236}">
                <a16:creationId xmlns:a16="http://schemas.microsoft.com/office/drawing/2014/main" id="{9ACB667E-111E-98CA-57DF-D47691D89E90}"/>
              </a:ext>
            </a:extLst>
          </p:cNvPr>
          <p:cNvPicPr>
            <a:picLocks noChangeAspect="1"/>
          </p:cNvPicPr>
          <p:nvPr/>
        </p:nvPicPr>
        <p:blipFill>
          <a:blip r:embed="rId2"/>
          <a:stretch>
            <a:fillRect/>
          </a:stretch>
        </p:blipFill>
        <p:spPr>
          <a:xfrm>
            <a:off x="7115694" y="1600200"/>
            <a:ext cx="4466869" cy="4714374"/>
          </a:xfrm>
          <a:prstGeom prst="rect">
            <a:avLst/>
          </a:prstGeom>
          <a:noFill/>
        </p:spPr>
      </p:pic>
    </p:spTree>
    <p:extLst>
      <p:ext uri="{BB962C8B-B14F-4D97-AF65-F5344CB8AC3E}">
        <p14:creationId xmlns:p14="http://schemas.microsoft.com/office/powerpoint/2010/main" val="2955609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83FF7E-9FF1-B435-9600-1A1C700B1FBC}"/>
              </a:ext>
            </a:extLst>
          </p:cNvPr>
          <p:cNvSpPr>
            <a:spLocks noGrp="1"/>
          </p:cNvSpPr>
          <p:nvPr>
            <p:ph type="title"/>
          </p:nvPr>
        </p:nvSpPr>
        <p:spPr>
          <a:xfrm>
            <a:off x="609600" y="275167"/>
            <a:ext cx="9993331" cy="1143000"/>
          </a:xfrm>
        </p:spPr>
        <p:txBody>
          <a:bodyPr anchor="ctr">
            <a:normAutofit/>
          </a:bodyPr>
          <a:lstStyle/>
          <a:p>
            <a:r>
              <a:rPr lang="en-US" dirty="0"/>
              <a:t>What you may gain</a:t>
            </a:r>
          </a:p>
        </p:txBody>
      </p:sp>
      <p:pic>
        <p:nvPicPr>
          <p:cNvPr id="1026" name="Picture 2" descr="The Use Of Irrelevant Graphics In eLearning - eLearning Industry">
            <a:extLst>
              <a:ext uri="{FF2B5EF4-FFF2-40B4-BE49-F238E27FC236}">
                <a16:creationId xmlns:a16="http://schemas.microsoft.com/office/drawing/2014/main" id="{32AC0CC5-32E4-8B53-C776-F89C06F5835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86576" y="1774878"/>
            <a:ext cx="5907578" cy="3308244"/>
          </a:xfrm>
          <a:prstGeom prst="rect">
            <a:avLst/>
          </a:prstGeom>
          <a:solidFill>
            <a:srgbClr val="FFFFFF"/>
          </a:solidFill>
        </p:spPr>
      </p:pic>
      <p:sp>
        <p:nvSpPr>
          <p:cNvPr id="3" name="Content Placeholder 2">
            <a:extLst>
              <a:ext uri="{FF2B5EF4-FFF2-40B4-BE49-F238E27FC236}">
                <a16:creationId xmlns:a16="http://schemas.microsoft.com/office/drawing/2014/main" id="{7A2FC3DC-3087-E930-BFD0-D00BB78275CE}"/>
              </a:ext>
            </a:extLst>
          </p:cNvPr>
          <p:cNvSpPr>
            <a:spLocks noGrp="1"/>
          </p:cNvSpPr>
          <p:nvPr>
            <p:ph sz="half" idx="2"/>
          </p:nvPr>
        </p:nvSpPr>
        <p:spPr>
          <a:xfrm>
            <a:off x="6615814" y="1491836"/>
            <a:ext cx="5384800" cy="4865544"/>
          </a:xfrm>
        </p:spPr>
        <p:txBody>
          <a:bodyPr>
            <a:normAutofit/>
          </a:bodyPr>
          <a:lstStyle/>
          <a:p>
            <a:pPr marL="0" indent="0">
              <a:buNone/>
            </a:pPr>
            <a:endParaRPr lang="en-US" dirty="0"/>
          </a:p>
          <a:p>
            <a:r>
              <a:rPr lang="en-US" dirty="0"/>
              <a:t>Possibly nothing if you do not devote</a:t>
            </a:r>
          </a:p>
          <a:p>
            <a:r>
              <a:rPr lang="en-US" dirty="0"/>
              <a:t>Strategic way of thinking</a:t>
            </a:r>
          </a:p>
          <a:p>
            <a:r>
              <a:rPr lang="en-US" dirty="0"/>
              <a:t>Knowledge and Experiences</a:t>
            </a:r>
          </a:p>
          <a:p>
            <a:pPr lvl="1"/>
            <a:r>
              <a:rPr lang="en-US" sz="2400" dirty="0"/>
              <a:t>Examples, tools and frameworks for managerial analysis</a:t>
            </a:r>
          </a:p>
          <a:p>
            <a:pPr lvl="1"/>
            <a:r>
              <a:rPr lang="en-US" sz="2400" dirty="0"/>
              <a:t>Useful experiences for future careers</a:t>
            </a:r>
          </a:p>
        </p:txBody>
      </p:sp>
    </p:spTree>
    <p:extLst>
      <p:ext uri="{BB962C8B-B14F-4D97-AF65-F5344CB8AC3E}">
        <p14:creationId xmlns:p14="http://schemas.microsoft.com/office/powerpoint/2010/main" val="919451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1511B-907E-4688-89F0-BE12BC25811B}"/>
              </a:ext>
            </a:extLst>
          </p:cNvPr>
          <p:cNvSpPr>
            <a:spLocks noGrp="1"/>
          </p:cNvSpPr>
          <p:nvPr>
            <p:ph type="title"/>
          </p:nvPr>
        </p:nvSpPr>
        <p:spPr>
          <a:xfrm>
            <a:off x="609601" y="0"/>
            <a:ext cx="9993331" cy="1143000"/>
          </a:xfrm>
        </p:spPr>
        <p:txBody>
          <a:bodyPr anchor="ctr">
            <a:normAutofit/>
          </a:bodyPr>
          <a:lstStyle/>
          <a:p>
            <a:r>
              <a:rPr lang="en-US" altLang="zh-CN" dirty="0"/>
              <a:t>Class Schedule</a:t>
            </a:r>
            <a:endParaRPr lang="zh-CN" altLang="en-US" dirty="0"/>
          </a:p>
        </p:txBody>
      </p:sp>
      <p:sp>
        <p:nvSpPr>
          <p:cNvPr id="3" name="Content Placeholder 2">
            <a:extLst>
              <a:ext uri="{FF2B5EF4-FFF2-40B4-BE49-F238E27FC236}">
                <a16:creationId xmlns:a16="http://schemas.microsoft.com/office/drawing/2014/main" id="{055BBEBE-35C1-4E10-B239-A2F4019C1B67}"/>
              </a:ext>
            </a:extLst>
          </p:cNvPr>
          <p:cNvSpPr>
            <a:spLocks noGrp="1"/>
          </p:cNvSpPr>
          <p:nvPr>
            <p:ph sz="half" idx="1"/>
          </p:nvPr>
        </p:nvSpPr>
        <p:spPr>
          <a:xfrm>
            <a:off x="24681" y="1143000"/>
            <a:ext cx="6071320" cy="5446986"/>
          </a:xfrm>
        </p:spPr>
        <p:txBody>
          <a:bodyPr>
            <a:normAutofit/>
          </a:bodyPr>
          <a:lstStyle/>
          <a:p>
            <a:r>
              <a:rPr lang="en-US" altLang="zh-CN" sz="2000" dirty="0"/>
              <a:t>Three sections</a:t>
            </a:r>
          </a:p>
          <a:p>
            <a:pPr lvl="1"/>
            <a:r>
              <a:rPr lang="en-US" altLang="zh-CN" sz="2000" b="1" dirty="0"/>
              <a:t>Lecture</a:t>
            </a:r>
          </a:p>
          <a:p>
            <a:pPr lvl="1"/>
            <a:r>
              <a:rPr lang="en-US" altLang="zh-CN" sz="2000" dirty="0"/>
              <a:t>Break (15)</a:t>
            </a:r>
          </a:p>
          <a:p>
            <a:pPr lvl="1"/>
            <a:r>
              <a:rPr lang="en-US" altLang="zh-CN" sz="2000" b="1" dirty="0"/>
              <a:t>Lecture</a:t>
            </a:r>
            <a:r>
              <a:rPr lang="zh-CN" altLang="en-US" sz="2000" b="1" dirty="0"/>
              <a:t> </a:t>
            </a:r>
            <a:r>
              <a:rPr lang="en-US" altLang="zh-CN" sz="2000" b="1" dirty="0"/>
              <a:t>&amp;</a:t>
            </a:r>
            <a:r>
              <a:rPr lang="zh-CN" altLang="en-US" sz="2000" b="1" dirty="0"/>
              <a:t> </a:t>
            </a:r>
            <a:r>
              <a:rPr lang="en-US" altLang="zh-CN" sz="2000" b="1" dirty="0"/>
              <a:t>Class</a:t>
            </a:r>
            <a:r>
              <a:rPr lang="zh-CN" altLang="en-US" sz="2000" b="1" dirty="0"/>
              <a:t> </a:t>
            </a:r>
            <a:r>
              <a:rPr lang="en-US" altLang="zh-CN" sz="2000" b="1" dirty="0"/>
              <a:t>Activities</a:t>
            </a:r>
          </a:p>
          <a:p>
            <a:pPr lvl="1"/>
            <a:r>
              <a:rPr lang="en-US" altLang="zh-CN" sz="2000" dirty="0"/>
              <a:t>Break (15)</a:t>
            </a:r>
          </a:p>
          <a:p>
            <a:pPr lvl="1"/>
            <a:r>
              <a:rPr lang="en-US" altLang="zh-CN" sz="2000" b="1" dirty="0"/>
              <a:t>Case</a:t>
            </a:r>
            <a:r>
              <a:rPr lang="zh-CN" altLang="en-US" sz="2000" b="1" dirty="0"/>
              <a:t> </a:t>
            </a:r>
            <a:r>
              <a:rPr lang="en-US" altLang="zh-CN" sz="2000" b="1" dirty="0"/>
              <a:t>activities</a:t>
            </a:r>
            <a:r>
              <a:rPr lang="zh-CN" altLang="en-US" sz="2000" b="1" dirty="0"/>
              <a:t> </a:t>
            </a:r>
            <a:r>
              <a:rPr lang="en-US" altLang="zh-CN" sz="2000" b="1" dirty="0"/>
              <a:t>&amp;</a:t>
            </a:r>
            <a:r>
              <a:rPr lang="zh-CN" altLang="en-US" sz="2000" b="1" dirty="0"/>
              <a:t> </a:t>
            </a:r>
            <a:r>
              <a:rPr lang="en-US" altLang="zh-CN" sz="2000" b="1" dirty="0"/>
              <a:t>project</a:t>
            </a:r>
            <a:r>
              <a:rPr lang="zh-CN" altLang="en-US" sz="2000" b="1" dirty="0"/>
              <a:t> </a:t>
            </a:r>
            <a:r>
              <a:rPr lang="en-US" altLang="zh-CN" sz="2000" b="1" dirty="0"/>
              <a:t>sharing</a:t>
            </a:r>
          </a:p>
          <a:p>
            <a:r>
              <a:rPr lang="en-US" altLang="zh-CN" dirty="0"/>
              <a:t>Interaction and discussion-oriented class</a:t>
            </a:r>
          </a:p>
          <a:p>
            <a:r>
              <a:rPr lang="en-US" altLang="zh-CN" sz="2800" b="1" dirty="0"/>
              <a:t>PARTICIPATION</a:t>
            </a:r>
            <a:r>
              <a:rPr lang="en-US" altLang="zh-CN" dirty="0"/>
              <a:t> is the key</a:t>
            </a:r>
            <a:endParaRPr lang="zh-CN" altLang="en-US" dirty="0"/>
          </a:p>
        </p:txBody>
      </p:sp>
      <p:pic>
        <p:nvPicPr>
          <p:cNvPr id="2050" name="Picture 2" descr="Its friday so its D&amp;D and beer night!!!! - GIF on Imgur">
            <a:extLst>
              <a:ext uri="{FF2B5EF4-FFF2-40B4-BE49-F238E27FC236}">
                <a16:creationId xmlns:a16="http://schemas.microsoft.com/office/drawing/2014/main" id="{ACB38AD4-67DC-405F-A695-F7D2A9689EA8}"/>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tretch>
            <a:fillRect/>
          </a:stretch>
        </p:blipFill>
        <p:spPr bwMode="auto">
          <a:xfrm>
            <a:off x="6167640" y="0"/>
            <a:ext cx="6024360" cy="3154680"/>
          </a:xfrm>
          <a:prstGeom prst="rect">
            <a:avLst/>
          </a:prstGeom>
          <a:solidFill>
            <a:srgbClr val="FFFFFF"/>
          </a:solidFill>
        </p:spPr>
      </p:pic>
      <p:pic>
        <p:nvPicPr>
          <p:cNvPr id="2052" name="Picture 4" descr="interaction | PECOP Blog">
            <a:extLst>
              <a:ext uri="{FF2B5EF4-FFF2-40B4-BE49-F238E27FC236}">
                <a16:creationId xmlns:a16="http://schemas.microsoft.com/office/drawing/2014/main" id="{ED8A8641-6715-40A0-A935-2E95F10C473C}"/>
              </a:ext>
            </a:extLst>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6192320" y="3251200"/>
            <a:ext cx="5975000" cy="35001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1736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A23F7-FBBD-03B5-D08D-A2DA79DC5523}"/>
              </a:ext>
            </a:extLst>
          </p:cNvPr>
          <p:cNvSpPr>
            <a:spLocks noGrp="1"/>
          </p:cNvSpPr>
          <p:nvPr>
            <p:ph type="title"/>
          </p:nvPr>
        </p:nvSpPr>
        <p:spPr>
          <a:xfrm>
            <a:off x="1894509" y="2857500"/>
            <a:ext cx="8118764" cy="1143000"/>
          </a:xfrm>
        </p:spPr>
        <p:txBody>
          <a:bodyPr>
            <a:normAutofit/>
          </a:bodyPr>
          <a:lstStyle/>
          <a:p>
            <a:pPr algn="ctr"/>
            <a:r>
              <a:rPr lang="en-US" dirty="0"/>
              <a:t>Class</a:t>
            </a:r>
            <a:r>
              <a:rPr lang="zh-CN" altLang="en-US" dirty="0"/>
              <a:t> </a:t>
            </a:r>
            <a:r>
              <a:rPr lang="en-US" altLang="zh-CN" dirty="0"/>
              <a:t>Requirements and </a:t>
            </a:r>
            <a:r>
              <a:rPr lang="en-US" dirty="0"/>
              <a:t>Syllabus</a:t>
            </a:r>
          </a:p>
        </p:txBody>
      </p:sp>
    </p:spTree>
    <p:extLst>
      <p:ext uri="{BB962C8B-B14F-4D97-AF65-F5344CB8AC3E}">
        <p14:creationId xmlns:p14="http://schemas.microsoft.com/office/powerpoint/2010/main" val="36857337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2751C-0F08-4716-AA31-FF30ECD56F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8317AD-FD91-F19B-FA45-B5302C37BE0D}"/>
              </a:ext>
            </a:extLst>
          </p:cNvPr>
          <p:cNvSpPr>
            <a:spLocks noGrp="1"/>
          </p:cNvSpPr>
          <p:nvPr>
            <p:ph type="title"/>
          </p:nvPr>
        </p:nvSpPr>
        <p:spPr>
          <a:xfrm>
            <a:off x="609601" y="0"/>
            <a:ext cx="10048125" cy="1143000"/>
          </a:xfrm>
        </p:spPr>
        <p:txBody>
          <a:bodyPr/>
          <a:lstStyle/>
          <a:p>
            <a:r>
              <a:rPr lang="en-US" dirty="0"/>
              <a:t>Class Requirements</a:t>
            </a:r>
          </a:p>
        </p:txBody>
      </p:sp>
      <p:sp>
        <p:nvSpPr>
          <p:cNvPr id="3" name="Content Placeholder 2">
            <a:extLst>
              <a:ext uri="{FF2B5EF4-FFF2-40B4-BE49-F238E27FC236}">
                <a16:creationId xmlns:a16="http://schemas.microsoft.com/office/drawing/2014/main" id="{98DBC202-A370-E9E4-5B3B-546AD1D3631F}"/>
              </a:ext>
            </a:extLst>
          </p:cNvPr>
          <p:cNvSpPr>
            <a:spLocks noGrp="1"/>
          </p:cNvSpPr>
          <p:nvPr>
            <p:ph sz="quarter" idx="10"/>
          </p:nvPr>
        </p:nvSpPr>
        <p:spPr>
          <a:xfrm>
            <a:off x="412377" y="1143000"/>
            <a:ext cx="10245350" cy="5714999"/>
          </a:xfrm>
        </p:spPr>
        <p:txBody>
          <a:bodyPr>
            <a:normAutofit fontScale="92500" lnSpcReduction="10000"/>
          </a:bodyPr>
          <a:lstStyle/>
          <a:p>
            <a:r>
              <a:rPr lang="en-US" sz="2800" dirty="0"/>
              <a:t>Attend class on time</a:t>
            </a:r>
          </a:p>
          <a:p>
            <a:pPr lvl="1"/>
            <a:r>
              <a:rPr lang="en-US" dirty="0"/>
              <a:t>Build a positive and effective learning environment</a:t>
            </a:r>
          </a:p>
          <a:p>
            <a:pPr lvl="1"/>
            <a:r>
              <a:rPr lang="en-US" dirty="0"/>
              <a:t>Show respect for your fellow students and the instructor.</a:t>
            </a:r>
          </a:p>
          <a:p>
            <a:pPr lvl="1"/>
            <a:r>
              <a:rPr lang="en-US" dirty="0"/>
              <a:t>Develop good habits that will benefit your future career and life</a:t>
            </a:r>
          </a:p>
          <a:p>
            <a:r>
              <a:rPr lang="en-US" sz="2800" dirty="0"/>
              <a:t>Request leave in advance</a:t>
            </a:r>
          </a:p>
          <a:p>
            <a:pPr lvl="1"/>
            <a:r>
              <a:rPr lang="en-US" dirty="0"/>
              <a:t>University-approved excuses will be accepted.</a:t>
            </a:r>
          </a:p>
          <a:p>
            <a:pPr lvl="1"/>
            <a:r>
              <a:rPr lang="en-US" dirty="0"/>
              <a:t>Up to two additional excused absences may be granted</a:t>
            </a:r>
          </a:p>
          <a:p>
            <a:r>
              <a:rPr lang="en-US" sz="2800" dirty="0"/>
              <a:t>Participation is key</a:t>
            </a:r>
          </a:p>
          <a:p>
            <a:pPr lvl="1"/>
            <a:r>
              <a:rPr lang="en-US" dirty="0"/>
              <a:t>Not a lecture-style class</a:t>
            </a:r>
          </a:p>
          <a:p>
            <a:pPr lvl="1"/>
            <a:r>
              <a:rPr lang="en-US" dirty="0"/>
              <a:t>What you learn depends on how much you participate</a:t>
            </a:r>
          </a:p>
          <a:p>
            <a:pPr lvl="1"/>
            <a:r>
              <a:rPr lang="en-US" dirty="0"/>
              <a:t>Grades are typically strongly aligned with participation levels</a:t>
            </a:r>
          </a:p>
          <a:p>
            <a:r>
              <a:rPr lang="en-US" sz="2800" dirty="0"/>
              <a:t>No AI Tools Allowed</a:t>
            </a:r>
          </a:p>
          <a:p>
            <a:pPr lvl="1"/>
            <a:r>
              <a:rPr lang="en-US" dirty="0"/>
              <a:t>Ensure work reflects your own thinking and learning</a:t>
            </a:r>
          </a:p>
          <a:p>
            <a:pPr lvl="1"/>
            <a:r>
              <a:rPr lang="en-US" dirty="0"/>
              <a:t>Maintain fairness and academic integrity</a:t>
            </a:r>
          </a:p>
        </p:txBody>
      </p:sp>
    </p:spTree>
    <p:extLst>
      <p:ext uri="{BB962C8B-B14F-4D97-AF65-F5344CB8AC3E}">
        <p14:creationId xmlns:p14="http://schemas.microsoft.com/office/powerpoint/2010/main" val="3484663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DB5C1B-19D1-6E22-1CAA-4148FE157D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799FDE-F273-E1BD-949F-CB0E017484DF}"/>
              </a:ext>
            </a:extLst>
          </p:cNvPr>
          <p:cNvSpPr>
            <a:spLocks noGrp="1"/>
          </p:cNvSpPr>
          <p:nvPr>
            <p:ph type="title"/>
          </p:nvPr>
        </p:nvSpPr>
        <p:spPr>
          <a:xfrm>
            <a:off x="1452283" y="1763806"/>
            <a:ext cx="10048125" cy="1143000"/>
          </a:xfrm>
        </p:spPr>
        <p:txBody>
          <a:bodyPr/>
          <a:lstStyle/>
          <a:p>
            <a:r>
              <a:rPr lang="en-US" dirty="0"/>
              <a:t>Any Questions?</a:t>
            </a:r>
          </a:p>
        </p:txBody>
      </p:sp>
    </p:spTree>
    <p:extLst>
      <p:ext uri="{BB962C8B-B14F-4D97-AF65-F5344CB8AC3E}">
        <p14:creationId xmlns:p14="http://schemas.microsoft.com/office/powerpoint/2010/main" val="35987586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A23F7-FBBD-03B5-D08D-A2DA79DC5523}"/>
              </a:ext>
            </a:extLst>
          </p:cNvPr>
          <p:cNvSpPr>
            <a:spLocks noGrp="1"/>
          </p:cNvSpPr>
          <p:nvPr>
            <p:ph type="title"/>
          </p:nvPr>
        </p:nvSpPr>
        <p:spPr>
          <a:xfrm>
            <a:off x="2488276" y="2857500"/>
            <a:ext cx="8118764" cy="1143000"/>
          </a:xfrm>
        </p:spPr>
        <p:txBody>
          <a:bodyPr>
            <a:normAutofit/>
          </a:bodyPr>
          <a:lstStyle/>
          <a:p>
            <a:r>
              <a:rPr lang="en-US" dirty="0"/>
              <a:t>NOW</a:t>
            </a:r>
            <a:r>
              <a:rPr lang="en-US" altLang="zh-CN" dirty="0"/>
              <a:t>, it is your turn</a:t>
            </a:r>
            <a:endParaRPr lang="en-US" dirty="0"/>
          </a:p>
        </p:txBody>
      </p:sp>
    </p:spTree>
    <p:extLst>
      <p:ext uri="{BB962C8B-B14F-4D97-AF65-F5344CB8AC3E}">
        <p14:creationId xmlns:p14="http://schemas.microsoft.com/office/powerpoint/2010/main" val="18441673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B6F9B-AC5A-4351-8086-09F9BFB95CA5}"/>
              </a:ext>
            </a:extLst>
          </p:cNvPr>
          <p:cNvSpPr>
            <a:spLocks noGrp="1"/>
          </p:cNvSpPr>
          <p:nvPr>
            <p:ph type="title"/>
          </p:nvPr>
        </p:nvSpPr>
        <p:spPr>
          <a:xfrm>
            <a:off x="609291" y="137165"/>
            <a:ext cx="10048125" cy="1143000"/>
          </a:xfrm>
        </p:spPr>
        <p:txBody>
          <a:bodyPr/>
          <a:lstStyle/>
          <a:p>
            <a:r>
              <a:rPr lang="en-US" altLang="zh-CN" dirty="0"/>
              <a:t>Ice Breaking Time</a:t>
            </a:r>
            <a:endParaRPr lang="zh-CN" altLang="en-US" dirty="0"/>
          </a:p>
        </p:txBody>
      </p:sp>
      <p:sp>
        <p:nvSpPr>
          <p:cNvPr id="3" name="Content Placeholder 2">
            <a:extLst>
              <a:ext uri="{FF2B5EF4-FFF2-40B4-BE49-F238E27FC236}">
                <a16:creationId xmlns:a16="http://schemas.microsoft.com/office/drawing/2014/main" id="{554F1024-D94D-4DCD-BD76-E64029745701}"/>
              </a:ext>
            </a:extLst>
          </p:cNvPr>
          <p:cNvSpPr>
            <a:spLocks noGrp="1"/>
          </p:cNvSpPr>
          <p:nvPr>
            <p:ph sz="quarter" idx="10"/>
          </p:nvPr>
        </p:nvSpPr>
        <p:spPr>
          <a:xfrm>
            <a:off x="591362" y="1280165"/>
            <a:ext cx="10047817" cy="5281999"/>
          </a:xfrm>
        </p:spPr>
        <p:txBody>
          <a:bodyPr/>
          <a:lstStyle/>
          <a:p>
            <a:r>
              <a:rPr lang="en-US" sz="2800" dirty="0"/>
              <a:t>You all seem to know each other pretty well already: But I don’t know you yet </a:t>
            </a:r>
          </a:p>
          <a:p>
            <a:pPr marL="0" indent="0">
              <a:buNone/>
            </a:pPr>
            <a:endParaRPr lang="en-US" sz="2800" dirty="0"/>
          </a:p>
          <a:p>
            <a:pPr marL="0" indent="0">
              <a:buNone/>
            </a:pPr>
            <a:r>
              <a:rPr lang="en-US" sz="2800" b="1" dirty="0"/>
              <a:t>So please tell me:</a:t>
            </a:r>
            <a:endParaRPr lang="en-US" sz="2800" dirty="0"/>
          </a:p>
          <a:p>
            <a:r>
              <a:rPr lang="en-US" sz="2800" dirty="0"/>
              <a:t>What is your dream job?</a:t>
            </a:r>
          </a:p>
          <a:p>
            <a:r>
              <a:rPr lang="en-US" sz="2800" dirty="0"/>
              <a:t>How do you plan to achieve it?</a:t>
            </a:r>
          </a:p>
          <a:p>
            <a:r>
              <a:rPr lang="en-US" sz="2800" dirty="0"/>
              <a:t>How can strategic management help you get there? (What can I do for you?)</a:t>
            </a:r>
          </a:p>
          <a:p>
            <a:pPr lvl="1"/>
            <a:endParaRPr lang="en-US" sz="2600" dirty="0">
              <a:solidFill>
                <a:srgbClr val="323335"/>
              </a:solidFill>
            </a:endParaRPr>
          </a:p>
          <a:p>
            <a:pPr marL="457200" indent="-457200">
              <a:spcBef>
                <a:spcPts val="640"/>
              </a:spcBef>
              <a:buNone/>
            </a:pPr>
            <a:endParaRPr lang="en-US" altLang="zh-CN" sz="2400" dirty="0"/>
          </a:p>
        </p:txBody>
      </p:sp>
    </p:spTree>
    <p:extLst>
      <p:ext uri="{BB962C8B-B14F-4D97-AF65-F5344CB8AC3E}">
        <p14:creationId xmlns:p14="http://schemas.microsoft.com/office/powerpoint/2010/main" val="1685584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C00D2C-F1F3-13D6-7E31-5D3AC5A85D82}"/>
            </a:ext>
          </a:extLst>
        </p:cNvPr>
        <p:cNvGrpSpPr/>
        <p:nvPr/>
      </p:nvGrpSpPr>
      <p:grpSpPr>
        <a:xfrm>
          <a:off x="0" y="0"/>
          <a:ext cx="0" cy="0"/>
          <a:chOff x="0" y="0"/>
          <a:chExt cx="0" cy="0"/>
        </a:xfrm>
      </p:grpSpPr>
      <p:pic>
        <p:nvPicPr>
          <p:cNvPr id="3074" name="Picture 2" descr="5 Reasons Why Rest Is SO Important | KOA FITNESS">
            <a:extLst>
              <a:ext uri="{FF2B5EF4-FFF2-40B4-BE49-F238E27FC236}">
                <a16:creationId xmlns:a16="http://schemas.microsoft.com/office/drawing/2014/main" id="{A36E0229-2789-5376-C6DE-BCE01A8554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40227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63880" y="219287"/>
            <a:ext cx="9993331" cy="1143000"/>
          </a:xfrm>
        </p:spPr>
        <p:txBody>
          <a:bodyPr anchor="ctr">
            <a:normAutofit/>
          </a:bodyPr>
          <a:lstStyle/>
          <a:p>
            <a:r>
              <a:rPr lang="en-US" altLang="zh-CN" sz="4000" dirty="0"/>
              <a:t>Objectives for Today</a:t>
            </a:r>
            <a:endParaRPr lang="en-GB" dirty="0"/>
          </a:p>
        </p:txBody>
      </p:sp>
      <p:sp>
        <p:nvSpPr>
          <p:cNvPr id="6" name="Content Placeholder 5"/>
          <p:cNvSpPr>
            <a:spLocks noGrp="1"/>
          </p:cNvSpPr>
          <p:nvPr>
            <p:ph sz="half" idx="1"/>
          </p:nvPr>
        </p:nvSpPr>
        <p:spPr>
          <a:xfrm>
            <a:off x="666750" y="2047876"/>
            <a:ext cx="10115550" cy="4219574"/>
          </a:xfrm>
        </p:spPr>
        <p:txBody>
          <a:bodyPr>
            <a:normAutofit/>
          </a:bodyPr>
          <a:lstStyle/>
          <a:p>
            <a:r>
              <a:rPr lang="en-US" altLang="zh-CN" sz="2800" kern="0" dirty="0"/>
              <a:t>Sign up a case!</a:t>
            </a:r>
          </a:p>
          <a:p>
            <a:r>
              <a:rPr lang="en-US" altLang="zh-CN" sz="2800" kern="0" dirty="0"/>
              <a:t>Form your project group!</a:t>
            </a:r>
          </a:p>
          <a:p>
            <a:r>
              <a:rPr lang="en-US" altLang="zh-CN" sz="2800" kern="0" dirty="0"/>
              <a:t>A brief introduction about strategy, mission, vision, and strategic management process</a:t>
            </a:r>
          </a:p>
          <a:p>
            <a:r>
              <a:rPr lang="en-US" altLang="zh-CN" sz="2800" dirty="0"/>
              <a:t>Interactive Case Exercise: Alaska Gold Mine</a:t>
            </a:r>
            <a:endParaRPr lang="en-US" altLang="zh-CN" sz="2800" kern="0" dirty="0">
              <a:solidFill>
                <a:srgbClr val="000000"/>
              </a:solidFill>
            </a:endParaRPr>
          </a:p>
          <a:p>
            <a:endParaRPr lang="en-GB" dirty="0"/>
          </a:p>
        </p:txBody>
      </p:sp>
    </p:spTree>
    <p:extLst>
      <p:ext uri="{BB962C8B-B14F-4D97-AF65-F5344CB8AC3E}">
        <p14:creationId xmlns:p14="http://schemas.microsoft.com/office/powerpoint/2010/main" val="924928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6BFDAB6-0C8C-B327-8FCB-A805AF89F2B5}"/>
              </a:ext>
            </a:extLst>
          </p:cNvPr>
          <p:cNvSpPr/>
          <p:nvPr/>
        </p:nvSpPr>
        <p:spPr>
          <a:xfrm>
            <a:off x="495300" y="1928812"/>
            <a:ext cx="11201400" cy="1938992"/>
          </a:xfrm>
          <a:prstGeom prst="rect">
            <a:avLst/>
          </a:prstGeom>
          <a:noFill/>
        </p:spPr>
        <p:txBody>
          <a:bodyPr wrap="square" lIns="91440" tIns="45720" rIns="91440" bIns="45720">
            <a:spAutoFit/>
          </a:bodyPr>
          <a:lstStyle/>
          <a:p>
            <a:pPr algn="ctr">
              <a:spcBef>
                <a:spcPct val="0"/>
              </a:spcBef>
            </a:pPr>
            <a:r>
              <a:rPr lang="en-US" altLang="zh-CN" sz="4000" b="1" dirty="0">
                <a:solidFill>
                  <a:srgbClr val="331C58"/>
                </a:solidFill>
                <a:latin typeface="+mj-lt"/>
                <a:ea typeface="+mj-ea"/>
                <a:cs typeface="+mj-cs"/>
              </a:rPr>
              <a:t>What is a strategy?</a:t>
            </a:r>
          </a:p>
          <a:p>
            <a:pPr algn="ctr">
              <a:spcBef>
                <a:spcPct val="0"/>
              </a:spcBef>
            </a:pPr>
            <a:endParaRPr lang="en-US" altLang="zh-CN" sz="4000" b="1" dirty="0">
              <a:solidFill>
                <a:srgbClr val="331C58"/>
              </a:solidFill>
              <a:latin typeface="+mj-lt"/>
              <a:ea typeface="+mj-ea"/>
              <a:cs typeface="+mj-cs"/>
            </a:endParaRPr>
          </a:p>
          <a:p>
            <a:pPr algn="ctr">
              <a:spcBef>
                <a:spcPct val="0"/>
              </a:spcBef>
            </a:pPr>
            <a:r>
              <a:rPr lang="en-US" altLang="zh-CN" sz="4000" b="1" dirty="0">
                <a:solidFill>
                  <a:srgbClr val="331C58"/>
                </a:solidFill>
                <a:latin typeface="+mj-lt"/>
                <a:ea typeface="+mj-ea"/>
                <a:cs typeface="+mj-cs"/>
              </a:rPr>
              <a:t>When</a:t>
            </a:r>
            <a:r>
              <a:rPr lang="zh-CN" altLang="en-US" sz="4000" b="1" dirty="0">
                <a:solidFill>
                  <a:srgbClr val="331C58"/>
                </a:solidFill>
                <a:latin typeface="+mj-lt"/>
                <a:ea typeface="+mj-ea"/>
                <a:cs typeface="+mj-cs"/>
              </a:rPr>
              <a:t> </a:t>
            </a:r>
            <a:r>
              <a:rPr lang="en-US" altLang="zh-CN" sz="4000" b="1" dirty="0">
                <a:solidFill>
                  <a:srgbClr val="331C58"/>
                </a:solidFill>
                <a:latin typeface="+mj-lt"/>
                <a:ea typeface="+mj-ea"/>
                <a:cs typeface="+mj-cs"/>
              </a:rPr>
              <a:t>will</a:t>
            </a:r>
            <a:r>
              <a:rPr lang="zh-CN" altLang="en-US" sz="4000" b="1" dirty="0">
                <a:solidFill>
                  <a:srgbClr val="331C58"/>
                </a:solidFill>
                <a:latin typeface="+mj-lt"/>
                <a:ea typeface="+mj-ea"/>
                <a:cs typeface="+mj-cs"/>
              </a:rPr>
              <a:t> </a:t>
            </a:r>
            <a:r>
              <a:rPr lang="en-US" altLang="zh-CN" sz="4000" b="1" dirty="0">
                <a:solidFill>
                  <a:srgbClr val="331C58"/>
                </a:solidFill>
                <a:latin typeface="+mj-lt"/>
                <a:ea typeface="+mj-ea"/>
                <a:cs typeface="+mj-cs"/>
              </a:rPr>
              <a:t>you</a:t>
            </a:r>
            <a:r>
              <a:rPr lang="zh-CN" altLang="en-US" sz="4000" b="1" dirty="0">
                <a:solidFill>
                  <a:srgbClr val="331C58"/>
                </a:solidFill>
                <a:latin typeface="+mj-lt"/>
                <a:ea typeface="+mj-ea"/>
                <a:cs typeface="+mj-cs"/>
              </a:rPr>
              <a:t> </a:t>
            </a:r>
            <a:r>
              <a:rPr lang="en-US" altLang="zh-CN" sz="4000" b="1" dirty="0">
                <a:solidFill>
                  <a:srgbClr val="331C58"/>
                </a:solidFill>
                <a:latin typeface="+mj-lt"/>
                <a:ea typeface="+mj-ea"/>
                <a:cs typeface="+mj-cs"/>
              </a:rPr>
              <a:t>use</a:t>
            </a:r>
            <a:r>
              <a:rPr lang="zh-CN" altLang="en-US" sz="4000" b="1" dirty="0">
                <a:solidFill>
                  <a:srgbClr val="331C58"/>
                </a:solidFill>
                <a:latin typeface="+mj-lt"/>
                <a:ea typeface="+mj-ea"/>
                <a:cs typeface="+mj-cs"/>
              </a:rPr>
              <a:t> </a:t>
            </a:r>
            <a:r>
              <a:rPr lang="en-US" altLang="zh-CN" sz="4000" b="1" dirty="0">
                <a:solidFill>
                  <a:srgbClr val="331C58"/>
                </a:solidFill>
                <a:latin typeface="+mj-lt"/>
                <a:ea typeface="+mj-ea"/>
                <a:cs typeface="+mj-cs"/>
              </a:rPr>
              <a:t>the</a:t>
            </a:r>
            <a:r>
              <a:rPr lang="zh-CN" altLang="en-US" sz="4000" b="1" dirty="0">
                <a:solidFill>
                  <a:srgbClr val="331C58"/>
                </a:solidFill>
                <a:latin typeface="+mj-lt"/>
                <a:ea typeface="+mj-ea"/>
                <a:cs typeface="+mj-cs"/>
              </a:rPr>
              <a:t> </a:t>
            </a:r>
            <a:r>
              <a:rPr lang="en-US" altLang="zh-CN" sz="4000" b="1" dirty="0">
                <a:solidFill>
                  <a:srgbClr val="331C58"/>
                </a:solidFill>
                <a:latin typeface="+mj-lt"/>
                <a:ea typeface="+mj-ea"/>
                <a:cs typeface="+mj-cs"/>
              </a:rPr>
              <a:t>term</a:t>
            </a:r>
            <a:r>
              <a:rPr lang="zh-CN" altLang="en-US" sz="4000" b="1" dirty="0">
                <a:solidFill>
                  <a:srgbClr val="331C58"/>
                </a:solidFill>
                <a:latin typeface="+mj-lt"/>
                <a:ea typeface="+mj-ea"/>
                <a:cs typeface="+mj-cs"/>
              </a:rPr>
              <a:t> </a:t>
            </a:r>
            <a:r>
              <a:rPr lang="en-US" altLang="zh-CN" sz="4000" b="1" dirty="0">
                <a:solidFill>
                  <a:srgbClr val="331C58"/>
                </a:solidFill>
                <a:latin typeface="+mj-lt"/>
                <a:ea typeface="+mj-ea"/>
                <a:cs typeface="+mj-cs"/>
              </a:rPr>
              <a:t>“strategy”?</a:t>
            </a:r>
          </a:p>
        </p:txBody>
      </p:sp>
    </p:spTree>
    <p:extLst>
      <p:ext uri="{BB962C8B-B14F-4D97-AF65-F5344CB8AC3E}">
        <p14:creationId xmlns:p14="http://schemas.microsoft.com/office/powerpoint/2010/main" val="21027675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6315E6-1C9A-6444-B5F0-FDE55545852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884AB7A-9125-6ACE-6A71-75715EE85979}"/>
              </a:ext>
            </a:extLst>
          </p:cNvPr>
          <p:cNvSpPr>
            <a:spLocks noGrp="1"/>
          </p:cNvSpPr>
          <p:nvPr>
            <p:ph type="title"/>
          </p:nvPr>
        </p:nvSpPr>
        <p:spPr>
          <a:xfrm>
            <a:off x="113938" y="0"/>
            <a:ext cx="9993331" cy="1143000"/>
          </a:xfrm>
        </p:spPr>
        <p:txBody>
          <a:bodyPr anchor="ctr">
            <a:normAutofit/>
          </a:bodyPr>
          <a:lstStyle/>
          <a:p>
            <a:r>
              <a:rPr lang="en-US" altLang="zh-CN" sz="3600" dirty="0"/>
              <a:t>What is Strategy?</a:t>
            </a:r>
            <a:endParaRPr lang="en-GB" dirty="0"/>
          </a:p>
        </p:txBody>
      </p:sp>
      <p:sp>
        <p:nvSpPr>
          <p:cNvPr id="6" name="Content Placeholder 5">
            <a:extLst>
              <a:ext uri="{FF2B5EF4-FFF2-40B4-BE49-F238E27FC236}">
                <a16:creationId xmlns:a16="http://schemas.microsoft.com/office/drawing/2014/main" id="{CE8FC78C-7791-2A70-A42F-4EFA291C6FB1}"/>
              </a:ext>
            </a:extLst>
          </p:cNvPr>
          <p:cNvSpPr>
            <a:spLocks noGrp="1"/>
          </p:cNvSpPr>
          <p:nvPr>
            <p:ph sz="half" idx="1"/>
          </p:nvPr>
        </p:nvSpPr>
        <p:spPr>
          <a:xfrm>
            <a:off x="113938" y="910772"/>
            <a:ext cx="11414760" cy="5947228"/>
          </a:xfrm>
        </p:spPr>
        <p:txBody>
          <a:bodyPr>
            <a:normAutofit fontScale="92500" lnSpcReduction="20000"/>
          </a:bodyPr>
          <a:lstStyle/>
          <a:p>
            <a:pPr marL="0" indent="0">
              <a:buNone/>
            </a:pPr>
            <a:endParaRPr lang="en-US" altLang="zh-CN" dirty="0"/>
          </a:p>
          <a:p>
            <a:r>
              <a:rPr lang="en-US" altLang="zh-CN" dirty="0"/>
              <a:t>What</a:t>
            </a:r>
            <a:r>
              <a:rPr lang="zh-CN" altLang="en-US" dirty="0"/>
              <a:t> </a:t>
            </a:r>
            <a:r>
              <a:rPr lang="en-US" altLang="zh-CN" dirty="0"/>
              <a:t>is</a:t>
            </a:r>
            <a:r>
              <a:rPr lang="zh-CN" altLang="en-US" dirty="0"/>
              <a:t> </a:t>
            </a:r>
            <a:r>
              <a:rPr lang="en-US" altLang="zh-CN" dirty="0"/>
              <a:t>not</a:t>
            </a:r>
            <a:r>
              <a:rPr lang="zh-CN" altLang="en-US" dirty="0"/>
              <a:t> </a:t>
            </a:r>
            <a:r>
              <a:rPr lang="en-US" altLang="zh-CN" dirty="0"/>
              <a:t>a</a:t>
            </a:r>
            <a:r>
              <a:rPr lang="zh-CN" altLang="en-US" dirty="0"/>
              <a:t> </a:t>
            </a:r>
            <a:r>
              <a:rPr lang="en-US" altLang="zh-CN" dirty="0"/>
              <a:t>strategy</a:t>
            </a:r>
          </a:p>
          <a:p>
            <a:pPr lvl="1"/>
            <a:r>
              <a:rPr lang="en-US" altLang="zh-CN" dirty="0"/>
              <a:t>A</a:t>
            </a:r>
            <a:r>
              <a:rPr lang="zh-CN" altLang="en-US" dirty="0"/>
              <a:t> </a:t>
            </a:r>
            <a:r>
              <a:rPr lang="en-US" altLang="zh-CN" dirty="0"/>
              <a:t>Goal</a:t>
            </a:r>
          </a:p>
          <a:p>
            <a:pPr lvl="1"/>
            <a:r>
              <a:rPr lang="en-US" altLang="zh-CN" dirty="0"/>
              <a:t>A</a:t>
            </a:r>
            <a:r>
              <a:rPr lang="zh-CN" altLang="en-US" dirty="0"/>
              <a:t> </a:t>
            </a:r>
            <a:r>
              <a:rPr lang="en-US" altLang="zh-CN" dirty="0"/>
              <a:t>leader</a:t>
            </a:r>
          </a:p>
          <a:p>
            <a:pPr lvl="1"/>
            <a:r>
              <a:rPr lang="en-US" altLang="zh-CN" dirty="0"/>
              <a:t>A</a:t>
            </a:r>
            <a:r>
              <a:rPr lang="zh-CN" altLang="en-US" dirty="0"/>
              <a:t> </a:t>
            </a:r>
            <a:r>
              <a:rPr lang="en-US" altLang="zh-CN" dirty="0"/>
              <a:t>Plan</a:t>
            </a:r>
          </a:p>
          <a:p>
            <a:pPr lvl="1"/>
            <a:r>
              <a:rPr lang="en-US" altLang="zh-CN" dirty="0"/>
              <a:t>Approach</a:t>
            </a:r>
            <a:r>
              <a:rPr lang="zh-CN" altLang="en-US" dirty="0"/>
              <a:t> </a:t>
            </a:r>
            <a:r>
              <a:rPr lang="en-US" altLang="zh-CN" dirty="0"/>
              <a:t>of</a:t>
            </a:r>
            <a:r>
              <a:rPr lang="zh-CN" altLang="en-US" dirty="0"/>
              <a:t> </a:t>
            </a:r>
            <a:r>
              <a:rPr lang="en-US" altLang="zh-CN" dirty="0"/>
              <a:t>doing</a:t>
            </a:r>
            <a:r>
              <a:rPr lang="zh-CN" altLang="en-US" dirty="0"/>
              <a:t> </a:t>
            </a:r>
            <a:r>
              <a:rPr lang="en-US" altLang="zh-CN" dirty="0"/>
              <a:t>things</a:t>
            </a:r>
          </a:p>
          <a:p>
            <a:pPr lvl="1"/>
            <a:endParaRPr lang="en-US" altLang="zh-CN" dirty="0"/>
          </a:p>
          <a:p>
            <a:pPr marL="0" indent="0">
              <a:buNone/>
            </a:pPr>
            <a:r>
              <a:rPr lang="en-US" altLang="zh-CN" dirty="0"/>
              <a:t>The</a:t>
            </a:r>
            <a:r>
              <a:rPr lang="zh-CN" altLang="en-US" dirty="0"/>
              <a:t> </a:t>
            </a:r>
            <a:r>
              <a:rPr lang="en-US" altLang="zh-CN" dirty="0"/>
              <a:t>term</a:t>
            </a:r>
            <a:r>
              <a:rPr lang="zh-CN" altLang="en-US" dirty="0"/>
              <a:t> </a:t>
            </a:r>
            <a:r>
              <a:rPr lang="en-US" altLang="zh-CN" dirty="0"/>
              <a:t>“Strategy”</a:t>
            </a:r>
            <a:r>
              <a:rPr lang="zh-CN" altLang="en-US" dirty="0"/>
              <a:t> </a:t>
            </a:r>
            <a:r>
              <a:rPr lang="en-US" altLang="zh-CN" dirty="0"/>
              <a:t>origins in military history:</a:t>
            </a:r>
          </a:p>
          <a:p>
            <a:r>
              <a:rPr lang="en-US" altLang="zh-CN" i="1" dirty="0"/>
              <a:t>strategus</a:t>
            </a:r>
            <a:r>
              <a:rPr lang="en-US" altLang="zh-CN" dirty="0"/>
              <a:t>  </a:t>
            </a:r>
          </a:p>
          <a:p>
            <a:pPr lvl="1"/>
            <a:r>
              <a:rPr lang="en-US" altLang="zh-CN" sz="2400" dirty="0"/>
              <a:t>a military commander in ancient Athens and a member of the Council of War</a:t>
            </a:r>
          </a:p>
          <a:p>
            <a:pPr lvl="2"/>
            <a:r>
              <a:rPr lang="en-US" altLang="zh-CN" sz="2400" i="1" dirty="0" err="1"/>
              <a:t>stratos</a:t>
            </a:r>
            <a:r>
              <a:rPr lang="en-US" altLang="zh-CN" sz="2400" dirty="0"/>
              <a:t> (</a:t>
            </a:r>
            <a:r>
              <a:rPr lang="en-US" altLang="zh-CN" sz="2400" dirty="0">
                <a:sym typeface="Symbol" pitchFamily="18" charset="2"/>
              </a:rPr>
              <a:t></a:t>
            </a:r>
            <a:r>
              <a:rPr lang="en-US" altLang="zh-CN" sz="2400" dirty="0"/>
              <a:t>) – army</a:t>
            </a:r>
          </a:p>
          <a:p>
            <a:pPr lvl="2"/>
            <a:r>
              <a:rPr lang="en-US" altLang="zh-CN" sz="2400" i="1" dirty="0" err="1"/>
              <a:t>agein</a:t>
            </a:r>
            <a:r>
              <a:rPr lang="en-US" altLang="zh-CN" sz="2400" dirty="0"/>
              <a:t> (</a:t>
            </a:r>
            <a:r>
              <a:rPr lang="en-US" altLang="zh-CN" sz="2400" dirty="0">
                <a:sym typeface="Symbol" pitchFamily="18" charset="2"/>
              </a:rPr>
              <a:t></a:t>
            </a:r>
            <a:r>
              <a:rPr lang="en-US" altLang="zh-CN" sz="2400" dirty="0"/>
              <a:t>) – to </a:t>
            </a:r>
            <a:r>
              <a:rPr lang="en-US" altLang="zh-CN" sz="2400" b="1" dirty="0"/>
              <a:t>lead</a:t>
            </a:r>
          </a:p>
          <a:p>
            <a:pPr marL="1219170" lvl="2" indent="0">
              <a:buNone/>
            </a:pPr>
            <a:endParaRPr lang="en-US" altLang="zh-CN" sz="2400" dirty="0"/>
          </a:p>
          <a:p>
            <a:pPr marL="177800" lvl="4" indent="-177800">
              <a:buFontTx/>
              <a:buChar char="•"/>
            </a:pPr>
            <a:r>
              <a:rPr lang="en-US" altLang="zh-CN" sz="2400" dirty="0"/>
              <a:t>Carl von Clausewitz, </a:t>
            </a:r>
            <a:r>
              <a:rPr lang="en-US" altLang="zh-CN" sz="2400" i="1" dirty="0"/>
              <a:t>On War</a:t>
            </a:r>
            <a:r>
              <a:rPr lang="en-US" altLang="zh-CN" sz="2400" dirty="0"/>
              <a:t> 1832 – “the intelligent </a:t>
            </a:r>
            <a:r>
              <a:rPr lang="en-US" altLang="zh-CN" sz="2400" b="1" dirty="0"/>
              <a:t>use</a:t>
            </a:r>
            <a:r>
              <a:rPr lang="en-US" altLang="zh-CN" sz="2400" dirty="0"/>
              <a:t> of individual battles for the </a:t>
            </a:r>
            <a:r>
              <a:rPr lang="en-US" altLang="zh-CN" sz="2400" b="1" dirty="0"/>
              <a:t>design</a:t>
            </a:r>
            <a:r>
              <a:rPr lang="en-US" altLang="zh-CN" sz="2400" dirty="0"/>
              <a:t> of a sustainable campaign”</a:t>
            </a:r>
          </a:p>
          <a:p>
            <a:pPr marL="177800" lvl="4" indent="-177800">
              <a:buFontTx/>
              <a:buChar char="•"/>
            </a:pPr>
            <a:endParaRPr lang="en-US" altLang="zh-CN" sz="2400" dirty="0"/>
          </a:p>
          <a:p>
            <a:pPr marL="177800" lvl="4" indent="-177800">
              <a:buFontTx/>
              <a:buChar char="•"/>
            </a:pPr>
            <a:r>
              <a:rPr lang="en-US" altLang="zh-CN" sz="2400" dirty="0"/>
              <a:t>Sun Tzu </a:t>
            </a:r>
            <a:r>
              <a:rPr lang="en-US" altLang="zh-CN" sz="2400" i="1" dirty="0"/>
              <a:t>The Art of War</a:t>
            </a:r>
            <a:r>
              <a:rPr lang="en-US" altLang="zh-CN" sz="2400" dirty="0"/>
              <a:t> (circa 500 B.C.): “</a:t>
            </a:r>
            <a:r>
              <a:rPr lang="en-US" altLang="zh-CN" sz="2400" b="1" dirty="0"/>
              <a:t>Strategy</a:t>
            </a:r>
            <a:r>
              <a:rPr lang="en-US" altLang="zh-CN" sz="2400" dirty="0"/>
              <a:t> without </a:t>
            </a:r>
            <a:r>
              <a:rPr lang="en-US" altLang="zh-CN" sz="2400" b="1" dirty="0"/>
              <a:t>tactics</a:t>
            </a:r>
            <a:r>
              <a:rPr lang="en-US" altLang="zh-CN" sz="2400" dirty="0"/>
              <a:t> is the slowest route to victory. Tactics without strategy is the noise before defeat.” </a:t>
            </a:r>
          </a:p>
        </p:txBody>
      </p:sp>
    </p:spTree>
    <p:extLst>
      <p:ext uri="{BB962C8B-B14F-4D97-AF65-F5344CB8AC3E}">
        <p14:creationId xmlns:p14="http://schemas.microsoft.com/office/powerpoint/2010/main" val="2994435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
                                            <p:txEl>
                                              <p:pRg st="13" end="1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0028B-7D89-47EC-AC4F-B5E788AE37BE}"/>
              </a:ext>
            </a:extLst>
          </p:cNvPr>
          <p:cNvSpPr>
            <a:spLocks noGrp="1"/>
          </p:cNvSpPr>
          <p:nvPr>
            <p:ph type="title"/>
          </p:nvPr>
        </p:nvSpPr>
        <p:spPr>
          <a:xfrm>
            <a:off x="588793" y="30292"/>
            <a:ext cx="9993331" cy="1143000"/>
          </a:xfrm>
        </p:spPr>
        <p:txBody>
          <a:bodyPr/>
          <a:lstStyle/>
          <a:p>
            <a:r>
              <a:rPr lang="en-US" altLang="zh-CN" dirty="0"/>
              <a:t>Strategy in the Business Context</a:t>
            </a:r>
            <a:endParaRPr lang="zh-CN" altLang="en-US" dirty="0"/>
          </a:p>
        </p:txBody>
      </p:sp>
      <p:sp>
        <p:nvSpPr>
          <p:cNvPr id="7" name="TextBox 6">
            <a:extLst>
              <a:ext uri="{FF2B5EF4-FFF2-40B4-BE49-F238E27FC236}">
                <a16:creationId xmlns:a16="http://schemas.microsoft.com/office/drawing/2014/main" id="{FE449177-9F28-4C86-840D-2D15D9AFEAF0}"/>
              </a:ext>
            </a:extLst>
          </p:cNvPr>
          <p:cNvSpPr txBox="1"/>
          <p:nvPr/>
        </p:nvSpPr>
        <p:spPr>
          <a:xfrm>
            <a:off x="431800" y="1144655"/>
            <a:ext cx="10266680" cy="720197"/>
          </a:xfrm>
          <a:prstGeom prst="rect">
            <a:avLst/>
          </a:prstGeom>
          <a:noFill/>
        </p:spPr>
        <p:txBody>
          <a:bodyPr wrap="square">
            <a:spAutoFit/>
          </a:bodyPr>
          <a:lstStyle/>
          <a:p>
            <a:pPr algn="just">
              <a:lnSpc>
                <a:spcPct val="85000"/>
              </a:lnSpc>
              <a:spcBef>
                <a:spcPct val="10000"/>
              </a:spcBef>
              <a:spcAft>
                <a:spcPct val="10000"/>
              </a:spcAft>
            </a:pPr>
            <a:r>
              <a:rPr lang="en-US" altLang="zh-CN" sz="2400" b="1" dirty="0">
                <a:solidFill>
                  <a:srgbClr val="007471"/>
                </a:solidFill>
              </a:rPr>
              <a:t>Business Strategies </a:t>
            </a:r>
            <a:r>
              <a:rPr lang="en-US" altLang="zh-CN" sz="2400" dirty="0">
                <a:solidFill>
                  <a:srgbClr val="007471"/>
                </a:solidFill>
              </a:rPr>
              <a:t>are streams of related actions that managers take to increase their company’s performance</a:t>
            </a:r>
          </a:p>
        </p:txBody>
      </p:sp>
      <p:sp>
        <p:nvSpPr>
          <p:cNvPr id="8" name="Line 6">
            <a:extLst>
              <a:ext uri="{FF2B5EF4-FFF2-40B4-BE49-F238E27FC236}">
                <a16:creationId xmlns:a16="http://schemas.microsoft.com/office/drawing/2014/main" id="{70D06733-AA94-41E3-A0B4-F8D5768E8DC8}"/>
              </a:ext>
            </a:extLst>
          </p:cNvPr>
          <p:cNvSpPr>
            <a:spLocks noChangeShapeType="1"/>
          </p:cNvSpPr>
          <p:nvPr/>
        </p:nvSpPr>
        <p:spPr bwMode="auto">
          <a:xfrm flipV="1">
            <a:off x="431800" y="2035053"/>
            <a:ext cx="10175240" cy="35560"/>
          </a:xfrm>
          <a:prstGeom prst="line">
            <a:avLst/>
          </a:prstGeom>
          <a:noFill/>
          <a:ln w="3175">
            <a:solidFill>
              <a:srgbClr val="006666"/>
            </a:solidFill>
            <a:round/>
            <a:headEnd/>
            <a:tailEnd/>
          </a:ln>
          <a:scene3d>
            <a:camera prst="legacyObliqueTopLeft"/>
            <a:lightRig rig="legacyFlat3" dir="t"/>
          </a:scene3d>
          <a:sp3d extrusionH="49200" prstMaterial="legacyMatte">
            <a:bevelT w="13500" h="13500" prst="angle"/>
            <a:bevelB w="13500" h="13500" prst="angle"/>
            <a:extrusionClr>
              <a:srgbClr val="006666"/>
            </a:extrusionClr>
          </a:sp3d>
        </p:spPr>
        <p:txBody>
          <a:bodyPr>
            <a:flatTx/>
          </a:bodyPr>
          <a:lstStyle/>
          <a:p>
            <a:endParaRPr lang="en-US"/>
          </a:p>
        </p:txBody>
      </p:sp>
      <p:sp>
        <p:nvSpPr>
          <p:cNvPr id="9" name="Rectangle 4">
            <a:extLst>
              <a:ext uri="{FF2B5EF4-FFF2-40B4-BE49-F238E27FC236}">
                <a16:creationId xmlns:a16="http://schemas.microsoft.com/office/drawing/2014/main" id="{565FBFD2-7202-43A1-9F3A-97CB4D775D7E}"/>
              </a:ext>
            </a:extLst>
          </p:cNvPr>
          <p:cNvSpPr txBox="1">
            <a:spLocks noChangeArrowheads="1"/>
          </p:cNvSpPr>
          <p:nvPr/>
        </p:nvSpPr>
        <p:spPr>
          <a:xfrm>
            <a:off x="401320" y="2287655"/>
            <a:ext cx="10519721" cy="4326693"/>
          </a:xfrm>
          <a:prstGeom prst="rect">
            <a:avLst/>
          </a:prstGeom>
        </p:spPr>
        <p:txBody>
          <a:bodyPr>
            <a:normAutofit lnSpcReduction="10000"/>
          </a:bodyPr>
          <a:lstStyle>
            <a:lvl1pPr marL="457189" indent="-457189" algn="l" defTabSz="609585" rtl="0" eaLnBrk="1" latinLnBrk="0" hangingPunct="1">
              <a:spcBef>
                <a:spcPct val="20000"/>
              </a:spcBef>
              <a:buFontTx/>
              <a:buBlip>
                <a:blip r:embed="rId3"/>
              </a:buBlip>
              <a:defRPr sz="2400" kern="1200">
                <a:solidFill>
                  <a:schemeClr val="tx2">
                    <a:lumMod val="50000"/>
                  </a:schemeClr>
                </a:solidFill>
                <a:latin typeface="Arial" panose="020B0604020202020204" pitchFamily="34" charset="0"/>
                <a:ea typeface="+mn-ea"/>
                <a:cs typeface="Arial" panose="020B0604020202020204" pitchFamily="34" charset="0"/>
              </a:defRPr>
            </a:lvl1pPr>
            <a:lvl2pPr marL="990575" indent="-380990" algn="l" defTabSz="609585" rtl="0" eaLnBrk="1" latinLnBrk="0" hangingPunct="1">
              <a:spcBef>
                <a:spcPct val="20000"/>
              </a:spcBef>
              <a:buFont typeface="Arial"/>
              <a:buChar char="–"/>
              <a:defRPr sz="2133" kern="1200">
                <a:solidFill>
                  <a:schemeClr val="tx2">
                    <a:lumMod val="50000"/>
                  </a:schemeClr>
                </a:solidFill>
                <a:latin typeface="Arial" panose="020B0604020202020204" pitchFamily="34" charset="0"/>
                <a:ea typeface="+mn-ea"/>
                <a:cs typeface="Arial" panose="020B0604020202020204" pitchFamily="34" charset="0"/>
              </a:defRPr>
            </a:lvl2pPr>
            <a:lvl3pPr marL="1523962" indent="-304792" algn="l" defTabSz="609585" rtl="0" eaLnBrk="1" latinLnBrk="0" hangingPunct="1">
              <a:spcBef>
                <a:spcPct val="20000"/>
              </a:spcBef>
              <a:buFont typeface="Arial"/>
              <a:buChar char="•"/>
              <a:defRPr sz="1867" kern="1200">
                <a:solidFill>
                  <a:schemeClr val="tx2">
                    <a:lumMod val="50000"/>
                  </a:schemeClr>
                </a:solidFill>
                <a:latin typeface="Arial" panose="020B0604020202020204" pitchFamily="34" charset="0"/>
                <a:ea typeface="+mn-ea"/>
                <a:cs typeface="Arial" panose="020B0604020202020204" pitchFamily="34" charset="0"/>
              </a:defRPr>
            </a:lvl3pPr>
            <a:lvl4pPr marL="2133547" indent="-304792" algn="l" defTabSz="609585" rtl="0" eaLnBrk="1" latinLnBrk="0" hangingPunct="1">
              <a:spcBef>
                <a:spcPct val="20000"/>
              </a:spcBef>
              <a:buFont typeface="Arial"/>
              <a:buChar char="–"/>
              <a:defRPr sz="1600" kern="1200">
                <a:solidFill>
                  <a:schemeClr val="tx2">
                    <a:lumMod val="50000"/>
                  </a:schemeClr>
                </a:solidFill>
                <a:latin typeface="Arial" panose="020B0604020202020204" pitchFamily="34" charset="0"/>
                <a:ea typeface="+mn-ea"/>
                <a:cs typeface="Arial" panose="020B0604020202020204" pitchFamily="34" charset="0"/>
              </a:defRPr>
            </a:lvl4pPr>
            <a:lvl5pPr marL="2743131" indent="-304792" algn="l" defTabSz="609585" rtl="0" eaLnBrk="1" latinLnBrk="0" hangingPunct="1">
              <a:spcBef>
                <a:spcPct val="20000"/>
              </a:spcBef>
              <a:buFont typeface="Arial"/>
              <a:buChar char="»"/>
              <a:defRPr sz="1600" kern="1200">
                <a:solidFill>
                  <a:schemeClr val="tx2">
                    <a:lumMod val="50000"/>
                  </a:schemeClr>
                </a:solidFill>
                <a:latin typeface="Arial" panose="020B0604020202020204" pitchFamily="34" charset="0"/>
                <a:ea typeface="+mn-ea"/>
                <a:cs typeface="Arial" panose="020B0604020202020204" pitchFamily="34" charset="0"/>
              </a:defRPr>
            </a:lvl5pPr>
            <a:lvl6pPr marL="3352716" indent="-304792" algn="l" defTabSz="609585" rtl="0" eaLnBrk="1" latinLnBrk="0" hangingPunct="1">
              <a:spcBef>
                <a:spcPct val="20000"/>
              </a:spcBef>
              <a:buFont typeface="Arial"/>
              <a:buChar char="•"/>
              <a:defRPr sz="2400"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400"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400"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400" kern="1200">
                <a:solidFill>
                  <a:schemeClr val="tx1"/>
                </a:solidFill>
                <a:latin typeface="+mn-lt"/>
                <a:ea typeface="+mn-ea"/>
                <a:cs typeface="+mn-cs"/>
              </a:defRPr>
            </a:lvl9pPr>
          </a:lstStyle>
          <a:p>
            <a:pPr>
              <a:buFont typeface="Wingdings" pitchFamily="2" charset="2"/>
              <a:buNone/>
            </a:pPr>
            <a:r>
              <a:rPr lang="en-US" sz="2800" dirty="0"/>
              <a:t>Strategic Management Process(SMP):</a:t>
            </a:r>
          </a:p>
          <a:p>
            <a:pPr lvl="1"/>
            <a:r>
              <a:rPr lang="en-US" sz="2800" dirty="0">
                <a:solidFill>
                  <a:srgbClr val="3333FF"/>
                </a:solidFill>
              </a:rPr>
              <a:t>Leadership</a:t>
            </a:r>
            <a:r>
              <a:rPr lang="en-US" sz="2800" dirty="0"/>
              <a:t>	</a:t>
            </a:r>
            <a:endParaRPr lang="en-US" sz="2800" dirty="0">
              <a:solidFill>
                <a:srgbClr val="006666"/>
              </a:solidFill>
            </a:endParaRPr>
          </a:p>
          <a:p>
            <a:pPr lvl="2"/>
            <a:r>
              <a:rPr lang="en-US" sz="2400" dirty="0"/>
              <a:t>Task of effectively managing a company’s strategy-making process</a:t>
            </a:r>
          </a:p>
          <a:p>
            <a:pPr lvl="1"/>
            <a:r>
              <a:rPr lang="en-US" sz="2800" dirty="0">
                <a:solidFill>
                  <a:srgbClr val="3333FF"/>
                </a:solidFill>
              </a:rPr>
              <a:t>Formulation</a:t>
            </a:r>
          </a:p>
          <a:p>
            <a:pPr lvl="2"/>
            <a:r>
              <a:rPr lang="en-US" sz="2400" dirty="0"/>
              <a:t>Task of determining and selecting strategies</a:t>
            </a:r>
          </a:p>
          <a:p>
            <a:pPr lvl="1"/>
            <a:r>
              <a:rPr lang="en-US" sz="2800" dirty="0"/>
              <a:t> </a:t>
            </a:r>
            <a:r>
              <a:rPr lang="en-US" sz="2800" dirty="0">
                <a:solidFill>
                  <a:srgbClr val="3333FF"/>
                </a:solidFill>
              </a:rPr>
              <a:t>Implementation</a:t>
            </a:r>
          </a:p>
          <a:p>
            <a:pPr lvl="2"/>
            <a:r>
              <a:rPr lang="en-US" sz="2400" dirty="0"/>
              <a:t>Task of putting strategies into action</a:t>
            </a:r>
          </a:p>
          <a:p>
            <a:pPr lvl="1"/>
            <a:r>
              <a:rPr lang="en-US" sz="2800" dirty="0">
                <a:solidFill>
                  <a:srgbClr val="3333FF"/>
                </a:solidFill>
              </a:rPr>
              <a:t>Feedback and revisions</a:t>
            </a:r>
          </a:p>
          <a:p>
            <a:pPr lvl="2"/>
            <a:r>
              <a:rPr lang="en-US" sz="2400" dirty="0"/>
              <a:t>Revise your strategy based on the current implementation results</a:t>
            </a:r>
          </a:p>
        </p:txBody>
      </p:sp>
      <p:pic>
        <p:nvPicPr>
          <p:cNvPr id="10" name="Picture 3" descr="MMj02968850000[1]">
            <a:extLst>
              <a:ext uri="{FF2B5EF4-FFF2-40B4-BE49-F238E27FC236}">
                <a16:creationId xmlns:a16="http://schemas.microsoft.com/office/drawing/2014/main" id="{2A29FB85-641F-460A-A24E-F05964CCD6E4}"/>
              </a:ext>
            </a:extLst>
          </p:cNvPr>
          <p:cNvPicPr>
            <a:picLocks noChangeAspect="1" noChangeArrowheads="1" noCrop="1"/>
          </p:cNvPicPr>
          <p:nvPr/>
        </p:nvPicPr>
        <p:blipFill>
          <a:blip r:embed="rId4" cstate="print"/>
          <a:srcRect/>
          <a:stretch>
            <a:fillRect/>
          </a:stretch>
        </p:blipFill>
        <p:spPr bwMode="auto">
          <a:xfrm>
            <a:off x="9606280" y="3938970"/>
            <a:ext cx="2184400" cy="2124330"/>
          </a:xfrm>
          <a:prstGeom prst="rect">
            <a:avLst/>
          </a:prstGeom>
          <a:noFill/>
          <a:ln w="9525">
            <a:noFill/>
            <a:miter lim="800000"/>
            <a:headEnd/>
            <a:tailEnd/>
          </a:ln>
        </p:spPr>
      </p:pic>
    </p:spTree>
    <p:extLst>
      <p:ext uri="{BB962C8B-B14F-4D97-AF65-F5344CB8AC3E}">
        <p14:creationId xmlns:p14="http://schemas.microsoft.com/office/powerpoint/2010/main" val="3543772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animEffect transition="in" filter="fade">
                                      <p:cBhvr>
                                        <p:cTn id="11" dur="500"/>
                                        <p:tgtEl>
                                          <p:spTgt spid="9">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nodeType="clickEffect">
                                  <p:stCondLst>
                                    <p:cond delay="0"/>
                                  </p:stCondLst>
                                  <p:childTnLst>
                                    <p:set>
                                      <p:cBhvr>
                                        <p:cTn id="39" dur="1" fill="hold">
                                          <p:stCondLst>
                                            <p:cond delay="0"/>
                                          </p:stCondLst>
                                        </p:cTn>
                                        <p:tgtEl>
                                          <p:spTgt spid="10"/>
                                        </p:tgtEl>
                                        <p:attrNameLst>
                                          <p:attrName>style.visibility</p:attrName>
                                        </p:attrNameLst>
                                      </p:cBhvr>
                                      <p:to>
                                        <p:strVal val="visible"/>
                                      </p:to>
                                    </p:set>
                                    <p:anim calcmode="lin" valueType="num">
                                      <p:cBhvr additive="base">
                                        <p:cTn id="40" dur="500" fill="hold"/>
                                        <p:tgtEl>
                                          <p:spTgt spid="10"/>
                                        </p:tgtEl>
                                        <p:attrNameLst>
                                          <p:attrName>ppt_x</p:attrName>
                                        </p:attrNameLst>
                                      </p:cBhvr>
                                      <p:tavLst>
                                        <p:tav tm="0">
                                          <p:val>
                                            <p:strVal val="#ppt_x"/>
                                          </p:val>
                                        </p:tav>
                                        <p:tav tm="100000">
                                          <p:val>
                                            <p:strVal val="#ppt_x"/>
                                          </p:val>
                                        </p:tav>
                                      </p:tavLst>
                                    </p:anim>
                                    <p:anim calcmode="lin" valueType="num">
                                      <p:cBhvr additive="base">
                                        <p:cTn id="41"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56C62-9193-4ADA-9B41-A7EC23C42942}"/>
              </a:ext>
            </a:extLst>
          </p:cNvPr>
          <p:cNvSpPr>
            <a:spLocks noGrp="1"/>
          </p:cNvSpPr>
          <p:nvPr>
            <p:ph type="title"/>
          </p:nvPr>
        </p:nvSpPr>
        <p:spPr>
          <a:xfrm>
            <a:off x="188532" y="0"/>
            <a:ext cx="10048125" cy="1143000"/>
          </a:xfrm>
        </p:spPr>
        <p:txBody>
          <a:bodyPr anchor="ctr">
            <a:normAutofit/>
          </a:bodyPr>
          <a:lstStyle/>
          <a:p>
            <a:r>
              <a:rPr lang="en-US" altLang="zh-CN" dirty="0"/>
              <a:t>The Strategic Management Process (SMP)</a:t>
            </a:r>
            <a:endParaRPr lang="zh-CN" altLang="en-US" dirty="0"/>
          </a:p>
        </p:txBody>
      </p:sp>
      <p:pic>
        <p:nvPicPr>
          <p:cNvPr id="5" name="Picture 4" descr="Diagram&#10;&#10;Description automatically generated">
            <a:extLst>
              <a:ext uri="{FF2B5EF4-FFF2-40B4-BE49-F238E27FC236}">
                <a16:creationId xmlns:a16="http://schemas.microsoft.com/office/drawing/2014/main" id="{C165E30E-2701-4539-9505-D6C6CC773D5D}"/>
              </a:ext>
            </a:extLst>
          </p:cNvPr>
          <p:cNvPicPr>
            <a:picLocks noChangeAspect="1"/>
          </p:cNvPicPr>
          <p:nvPr/>
        </p:nvPicPr>
        <p:blipFill>
          <a:blip r:embed="rId2"/>
          <a:srcRect l="4753" t="5875" r="4053" b="4354"/>
          <a:stretch/>
        </p:blipFill>
        <p:spPr>
          <a:xfrm>
            <a:off x="2333625" y="1143000"/>
            <a:ext cx="7903032" cy="5422671"/>
          </a:xfrm>
          <a:prstGeom prst="rect">
            <a:avLst/>
          </a:prstGeom>
          <a:noFill/>
          <a:ln w="9525">
            <a:noFill/>
          </a:ln>
        </p:spPr>
      </p:pic>
    </p:spTree>
    <p:extLst>
      <p:ext uri="{BB962C8B-B14F-4D97-AF65-F5344CB8AC3E}">
        <p14:creationId xmlns:p14="http://schemas.microsoft.com/office/powerpoint/2010/main" val="32815238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77991-7319-4634-9F6C-319F2D6183FB}"/>
              </a:ext>
            </a:extLst>
          </p:cNvPr>
          <p:cNvSpPr>
            <a:spLocks noGrp="1"/>
          </p:cNvSpPr>
          <p:nvPr>
            <p:ph type="title"/>
          </p:nvPr>
        </p:nvSpPr>
        <p:spPr>
          <a:xfrm>
            <a:off x="246743" y="275167"/>
            <a:ext cx="10048125" cy="1143000"/>
          </a:xfrm>
        </p:spPr>
        <p:txBody>
          <a:bodyPr>
            <a:normAutofit/>
          </a:bodyPr>
          <a:lstStyle/>
          <a:p>
            <a:r>
              <a:rPr lang="en-US" altLang="zh-CN" dirty="0"/>
              <a:t>Step 1: Analyze strategic inputs</a:t>
            </a:r>
            <a:endParaRPr lang="zh-CN" altLang="en-US" dirty="0"/>
          </a:p>
        </p:txBody>
      </p:sp>
      <p:sp>
        <p:nvSpPr>
          <p:cNvPr id="3" name="Content Placeholder 2">
            <a:extLst>
              <a:ext uri="{FF2B5EF4-FFF2-40B4-BE49-F238E27FC236}">
                <a16:creationId xmlns:a16="http://schemas.microsoft.com/office/drawing/2014/main" id="{509EF230-7D1D-4EA3-91EC-DF16BB0716C2}"/>
              </a:ext>
            </a:extLst>
          </p:cNvPr>
          <p:cNvSpPr>
            <a:spLocks noGrp="1"/>
          </p:cNvSpPr>
          <p:nvPr>
            <p:ph sz="quarter" idx="10"/>
          </p:nvPr>
        </p:nvSpPr>
        <p:spPr>
          <a:xfrm>
            <a:off x="55877" y="1627475"/>
            <a:ext cx="6040123" cy="5006762"/>
          </a:xfrm>
        </p:spPr>
        <p:txBody>
          <a:bodyPr/>
          <a:lstStyle/>
          <a:p>
            <a:r>
              <a:rPr lang="en-US" altLang="zh-CN" dirty="0"/>
              <a:t>External</a:t>
            </a:r>
            <a:r>
              <a:rPr lang="zh-CN" altLang="en-US" dirty="0"/>
              <a:t> </a:t>
            </a:r>
            <a:r>
              <a:rPr lang="en-US" altLang="zh-CN" dirty="0"/>
              <a:t>analysis</a:t>
            </a:r>
          </a:p>
          <a:p>
            <a:pPr lvl="1"/>
            <a:r>
              <a:rPr lang="en-US" altLang="zh-CN" dirty="0"/>
              <a:t>External environment is primary determinant of a firm’s strategic actions </a:t>
            </a:r>
          </a:p>
          <a:p>
            <a:pPr lvl="1"/>
            <a:r>
              <a:rPr lang="en-US" altLang="zh-CN" dirty="0"/>
              <a:t>Models focus on the firm’s external environment:</a:t>
            </a:r>
          </a:p>
          <a:p>
            <a:pPr lvl="2"/>
            <a:r>
              <a:rPr lang="en-US" altLang="zh-CN" dirty="0"/>
              <a:t>Macro</a:t>
            </a:r>
            <a:r>
              <a:rPr lang="zh-CN" altLang="en-US" dirty="0"/>
              <a:t> </a:t>
            </a:r>
            <a:r>
              <a:rPr lang="en-US" altLang="zh-CN" dirty="0"/>
              <a:t>environment</a:t>
            </a:r>
            <a:r>
              <a:rPr lang="zh-CN" altLang="en-US" dirty="0"/>
              <a:t> </a:t>
            </a:r>
            <a:r>
              <a:rPr lang="en-US" altLang="zh-CN" dirty="0"/>
              <a:t>analysis</a:t>
            </a:r>
          </a:p>
          <a:p>
            <a:pPr lvl="2"/>
            <a:r>
              <a:rPr lang="en-US" altLang="zh-CN" dirty="0"/>
              <a:t>Industrial organization (I/O) model</a:t>
            </a:r>
          </a:p>
          <a:p>
            <a:pPr lvl="1"/>
            <a:endParaRPr lang="en-US" altLang="zh-CN" dirty="0"/>
          </a:p>
          <a:p>
            <a:endParaRPr lang="zh-CN" altLang="en-US" dirty="0"/>
          </a:p>
        </p:txBody>
      </p:sp>
      <p:sp>
        <p:nvSpPr>
          <p:cNvPr id="8" name="Content Placeholder 2">
            <a:extLst>
              <a:ext uri="{FF2B5EF4-FFF2-40B4-BE49-F238E27FC236}">
                <a16:creationId xmlns:a16="http://schemas.microsoft.com/office/drawing/2014/main" id="{EA372274-B5D5-4E12-B494-0473EABB8CF5}"/>
              </a:ext>
            </a:extLst>
          </p:cNvPr>
          <p:cNvSpPr txBox="1">
            <a:spLocks/>
          </p:cNvSpPr>
          <p:nvPr/>
        </p:nvSpPr>
        <p:spPr>
          <a:xfrm>
            <a:off x="6233162" y="1627475"/>
            <a:ext cx="5765799" cy="4548716"/>
          </a:xfrm>
          <a:prstGeom prst="rect">
            <a:avLst/>
          </a:prstGeom>
        </p:spPr>
        <p:txBody>
          <a:bodyPr/>
          <a:lstStyle>
            <a:lvl1pPr marL="457189" indent="-457189" algn="l" defTabSz="609585" rtl="0" eaLnBrk="1" latinLnBrk="0" hangingPunct="1">
              <a:spcBef>
                <a:spcPct val="20000"/>
              </a:spcBef>
              <a:buSzPct val="100000"/>
              <a:buFontTx/>
              <a:buBlip>
                <a:blip r:embed="rId3"/>
              </a:buBlip>
              <a:defRPr sz="2667" kern="1200">
                <a:solidFill>
                  <a:schemeClr val="tx2">
                    <a:lumMod val="50000"/>
                  </a:schemeClr>
                </a:solidFill>
                <a:latin typeface="Arial" panose="020B0604020202020204" pitchFamily="34" charset="0"/>
                <a:ea typeface="+mn-ea"/>
                <a:cs typeface="Arial" panose="020B0604020202020204" pitchFamily="34" charset="0"/>
              </a:defRPr>
            </a:lvl1pPr>
            <a:lvl2pPr marL="990575" indent="-380990" algn="l" defTabSz="609585" rtl="0" eaLnBrk="1" latinLnBrk="0" hangingPunct="1">
              <a:spcBef>
                <a:spcPct val="20000"/>
              </a:spcBef>
              <a:buFont typeface="Arial"/>
              <a:buChar char="–"/>
              <a:defRPr sz="2400" kern="1200">
                <a:solidFill>
                  <a:schemeClr val="tx2">
                    <a:lumMod val="50000"/>
                  </a:schemeClr>
                </a:solidFill>
                <a:latin typeface="Arial" panose="020B0604020202020204" pitchFamily="34" charset="0"/>
                <a:ea typeface="+mn-ea"/>
                <a:cs typeface="Arial" panose="020B0604020202020204" pitchFamily="34" charset="0"/>
              </a:defRPr>
            </a:lvl2pPr>
            <a:lvl3pPr marL="1523962" indent="-304792" algn="l" defTabSz="609585" rtl="0" eaLnBrk="1" latinLnBrk="0" hangingPunct="1">
              <a:spcBef>
                <a:spcPct val="20000"/>
              </a:spcBef>
              <a:buFont typeface="Arial"/>
              <a:buChar char="•"/>
              <a:defRPr sz="2133" kern="1200">
                <a:solidFill>
                  <a:schemeClr val="tx2">
                    <a:lumMod val="50000"/>
                  </a:schemeClr>
                </a:solidFill>
                <a:latin typeface="Arial" panose="020B0604020202020204" pitchFamily="34" charset="0"/>
                <a:ea typeface="+mn-ea"/>
                <a:cs typeface="Arial" panose="020B0604020202020204" pitchFamily="34" charset="0"/>
              </a:defRPr>
            </a:lvl3pPr>
            <a:lvl4pPr marL="2133547" indent="-304792" algn="l" defTabSz="609585" rtl="0" eaLnBrk="1" latinLnBrk="0" hangingPunct="1">
              <a:spcBef>
                <a:spcPct val="20000"/>
              </a:spcBef>
              <a:buFont typeface="Arial"/>
              <a:buChar char="–"/>
              <a:defRPr sz="2133" kern="1200">
                <a:solidFill>
                  <a:schemeClr val="tx2">
                    <a:lumMod val="50000"/>
                  </a:schemeClr>
                </a:solidFill>
                <a:latin typeface="Arial" panose="020B0604020202020204" pitchFamily="34" charset="0"/>
                <a:ea typeface="+mn-ea"/>
                <a:cs typeface="Arial" panose="020B0604020202020204" pitchFamily="34" charset="0"/>
              </a:defRPr>
            </a:lvl4pPr>
            <a:lvl5pPr marL="2743131" indent="-304792" algn="l" defTabSz="609585" rtl="0" eaLnBrk="1" latinLnBrk="0" hangingPunct="1">
              <a:spcBef>
                <a:spcPct val="20000"/>
              </a:spcBef>
              <a:buFont typeface="Arial"/>
              <a:buChar char="»"/>
              <a:defRPr sz="2133" kern="1200">
                <a:solidFill>
                  <a:schemeClr val="tx2">
                    <a:lumMod val="50000"/>
                  </a:schemeClr>
                </a:solidFill>
                <a:latin typeface="Arial" panose="020B0604020202020204" pitchFamily="34" charset="0"/>
                <a:ea typeface="+mn-ea"/>
                <a:cs typeface="Arial" panose="020B060402020202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r>
              <a:rPr lang="en-US" altLang="zh-CN" dirty="0"/>
              <a:t>Internal Analysis: </a:t>
            </a:r>
          </a:p>
          <a:p>
            <a:pPr lvl="1"/>
            <a:r>
              <a:rPr lang="en-US" altLang="zh-CN" dirty="0"/>
              <a:t>Resource-based model: A model focuses on the firm’s internal environment</a:t>
            </a:r>
          </a:p>
          <a:p>
            <a:pPr lvl="1"/>
            <a:r>
              <a:rPr lang="en-US" altLang="zh-CN" dirty="0"/>
              <a:t>A firm’s unique resources and capabilities are the critical link to strategic competitiveness.</a:t>
            </a:r>
          </a:p>
        </p:txBody>
      </p:sp>
      <p:sp>
        <p:nvSpPr>
          <p:cNvPr id="4" name="Title 1">
            <a:extLst>
              <a:ext uri="{FF2B5EF4-FFF2-40B4-BE49-F238E27FC236}">
                <a16:creationId xmlns:a16="http://schemas.microsoft.com/office/drawing/2014/main" id="{985AC5C7-91DC-408E-CD6B-A0F3CECABB2D}"/>
              </a:ext>
            </a:extLst>
          </p:cNvPr>
          <p:cNvSpPr txBox="1">
            <a:spLocks/>
          </p:cNvSpPr>
          <p:nvPr/>
        </p:nvSpPr>
        <p:spPr>
          <a:xfrm>
            <a:off x="246743" y="5230525"/>
            <a:ext cx="11752217" cy="1352308"/>
          </a:xfrm>
          <a:prstGeom prst="rect">
            <a:avLst/>
          </a:prstGeom>
        </p:spPr>
        <p:txBody>
          <a:bodyPr vert="horz" lIns="91440" tIns="45720" rIns="91440" bIns="45720" rtlCol="0" anchor="ctr">
            <a:normAutofit/>
          </a:bodyPr>
          <a:lstStyle>
            <a:lvl1pPr algn="l" defTabSz="609585" rtl="0" eaLnBrk="1" latinLnBrk="0" hangingPunct="1">
              <a:spcBef>
                <a:spcPct val="0"/>
              </a:spcBef>
              <a:buNone/>
              <a:defRPr sz="3733" b="1" kern="1200">
                <a:solidFill>
                  <a:srgbClr val="331C58"/>
                </a:solidFill>
                <a:latin typeface="+mj-lt"/>
                <a:ea typeface="+mj-ea"/>
                <a:cs typeface="+mj-cs"/>
              </a:defRPr>
            </a:lvl1pPr>
          </a:lstStyle>
          <a:p>
            <a:r>
              <a:rPr lang="en-US" sz="2800" dirty="0"/>
              <a:t>Why does a firm or entrepreneur need to conduct these analysis?</a:t>
            </a:r>
          </a:p>
          <a:p>
            <a:endParaRPr lang="en-US" sz="2400" dirty="0"/>
          </a:p>
        </p:txBody>
      </p:sp>
    </p:spTree>
    <p:extLst>
      <p:ext uri="{BB962C8B-B14F-4D97-AF65-F5344CB8AC3E}">
        <p14:creationId xmlns:p14="http://schemas.microsoft.com/office/powerpoint/2010/main" val="2893680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FC650-6FA6-57B1-3B37-A9092A370FF4}"/>
              </a:ext>
            </a:extLst>
          </p:cNvPr>
          <p:cNvSpPr>
            <a:spLocks noGrp="1"/>
          </p:cNvSpPr>
          <p:nvPr>
            <p:ph type="title"/>
          </p:nvPr>
        </p:nvSpPr>
        <p:spPr>
          <a:xfrm>
            <a:off x="452437" y="0"/>
            <a:ext cx="9993331" cy="1143000"/>
          </a:xfrm>
        </p:spPr>
        <p:txBody>
          <a:bodyPr/>
          <a:lstStyle/>
          <a:p>
            <a:r>
              <a:rPr lang="en-US" sz="4000" dirty="0"/>
              <a:t>Mission</a:t>
            </a:r>
            <a:endParaRPr lang="en-US" dirty="0"/>
          </a:p>
        </p:txBody>
      </p:sp>
      <p:sp>
        <p:nvSpPr>
          <p:cNvPr id="3" name="Content Placeholder 2">
            <a:extLst>
              <a:ext uri="{FF2B5EF4-FFF2-40B4-BE49-F238E27FC236}">
                <a16:creationId xmlns:a16="http://schemas.microsoft.com/office/drawing/2014/main" id="{E7644C57-8453-6222-D231-E55185AA9507}"/>
              </a:ext>
            </a:extLst>
          </p:cNvPr>
          <p:cNvSpPr>
            <a:spLocks noGrp="1"/>
          </p:cNvSpPr>
          <p:nvPr>
            <p:ph sz="half" idx="1"/>
          </p:nvPr>
        </p:nvSpPr>
        <p:spPr>
          <a:xfrm>
            <a:off x="452437" y="1143000"/>
            <a:ext cx="10220326" cy="5514975"/>
          </a:xfrm>
        </p:spPr>
        <p:txBody>
          <a:bodyPr>
            <a:normAutofit lnSpcReduction="10000"/>
          </a:bodyPr>
          <a:lstStyle/>
          <a:p>
            <a:pPr>
              <a:lnSpc>
                <a:spcPct val="105000"/>
              </a:lnSpc>
              <a:spcAft>
                <a:spcPct val="5000"/>
              </a:spcAft>
              <a:buSzPct val="100000"/>
              <a:defRPr/>
            </a:pPr>
            <a:r>
              <a:rPr lang="en-US" altLang="zh-CN" kern="0" dirty="0"/>
              <a:t>Specifically about</a:t>
            </a:r>
            <a:r>
              <a:rPr lang="en-US" kern="0" dirty="0"/>
              <a:t> what your organization </a:t>
            </a:r>
            <a:r>
              <a:rPr lang="en-US" b="1" kern="0" dirty="0"/>
              <a:t>actually does</a:t>
            </a:r>
          </a:p>
          <a:p>
            <a:pPr>
              <a:lnSpc>
                <a:spcPct val="105000"/>
              </a:lnSpc>
              <a:spcAft>
                <a:spcPct val="5000"/>
              </a:spcAft>
              <a:buSzPct val="100000"/>
              <a:defRPr/>
            </a:pPr>
            <a:r>
              <a:rPr lang="en-US" altLang="zh-CN" kern="0" dirty="0"/>
              <a:t>Short and easy to memorize</a:t>
            </a:r>
          </a:p>
          <a:p>
            <a:pPr>
              <a:lnSpc>
                <a:spcPct val="105000"/>
              </a:lnSpc>
              <a:spcAft>
                <a:spcPct val="5000"/>
              </a:spcAft>
              <a:buSzPct val="100000"/>
              <a:defRPr/>
            </a:pPr>
            <a:r>
              <a:rPr lang="en-US" kern="0" dirty="0"/>
              <a:t>Selection of choices regarding:</a:t>
            </a:r>
          </a:p>
          <a:p>
            <a:pPr lvl="1">
              <a:lnSpc>
                <a:spcPct val="105000"/>
              </a:lnSpc>
              <a:spcAft>
                <a:spcPct val="5000"/>
              </a:spcAft>
              <a:buSzPct val="100000"/>
              <a:defRPr/>
            </a:pPr>
            <a:r>
              <a:rPr lang="en-US" kern="0" dirty="0"/>
              <a:t>Customer needs – </a:t>
            </a:r>
            <a:r>
              <a:rPr lang="en-US" sz="2400" kern="0" dirty="0">
                <a:solidFill>
                  <a:schemeClr val="accent3"/>
                </a:solidFill>
              </a:rPr>
              <a:t>WHAT</a:t>
            </a:r>
            <a:r>
              <a:rPr lang="en-US" sz="2400" kern="0" dirty="0"/>
              <a:t> is to be satisfied</a:t>
            </a:r>
          </a:p>
          <a:p>
            <a:pPr lvl="1">
              <a:lnSpc>
                <a:spcPct val="105000"/>
              </a:lnSpc>
              <a:spcAft>
                <a:spcPct val="5000"/>
              </a:spcAft>
              <a:buSzPct val="100000"/>
              <a:defRPr/>
            </a:pPr>
            <a:r>
              <a:rPr lang="en-US" kern="0" dirty="0"/>
              <a:t>Customer groups – </a:t>
            </a:r>
            <a:r>
              <a:rPr lang="en-US" sz="2400" kern="0" dirty="0">
                <a:solidFill>
                  <a:schemeClr val="accent6">
                    <a:lumMod val="60000"/>
                    <a:lumOff val="40000"/>
                  </a:schemeClr>
                </a:solidFill>
              </a:rPr>
              <a:t>WHO</a:t>
            </a:r>
            <a:r>
              <a:rPr lang="en-US" sz="2400" kern="0" dirty="0"/>
              <a:t> is to be satisfied</a:t>
            </a:r>
          </a:p>
          <a:p>
            <a:pPr lvl="1">
              <a:lnSpc>
                <a:spcPct val="105000"/>
              </a:lnSpc>
              <a:spcAft>
                <a:spcPct val="5000"/>
              </a:spcAft>
              <a:buSzPct val="100000"/>
              <a:defRPr/>
            </a:pPr>
            <a:r>
              <a:rPr lang="en-US" kern="0" dirty="0"/>
              <a:t>Strategic orientation – </a:t>
            </a:r>
            <a:r>
              <a:rPr lang="en-US" sz="2400" kern="0" dirty="0">
                <a:solidFill>
                  <a:schemeClr val="tx1">
                    <a:lumMod val="60000"/>
                    <a:lumOff val="40000"/>
                  </a:schemeClr>
                </a:solidFill>
              </a:rPr>
              <a:t>HOW</a:t>
            </a:r>
            <a:r>
              <a:rPr lang="en-US" sz="2400" kern="0" dirty="0"/>
              <a:t> customers are to be satisfied</a:t>
            </a:r>
          </a:p>
          <a:p>
            <a:pPr>
              <a:lnSpc>
                <a:spcPct val="105000"/>
              </a:lnSpc>
              <a:spcAft>
                <a:spcPct val="5000"/>
              </a:spcAft>
              <a:buSzPct val="100000"/>
              <a:defRPr/>
            </a:pPr>
            <a:r>
              <a:rPr lang="en-US" sz="2667" kern="0" dirty="0"/>
              <a:t>Example: </a:t>
            </a:r>
          </a:p>
          <a:p>
            <a:pPr lvl="1">
              <a:lnSpc>
                <a:spcPct val="105000"/>
              </a:lnSpc>
              <a:spcAft>
                <a:spcPct val="5000"/>
              </a:spcAft>
              <a:buSzPct val="100000"/>
              <a:defRPr/>
            </a:pPr>
            <a:r>
              <a:rPr lang="en-US" kern="0" dirty="0"/>
              <a:t>“To assist in the </a:t>
            </a:r>
            <a:r>
              <a:rPr lang="en-US" kern="0" dirty="0">
                <a:solidFill>
                  <a:schemeClr val="accent3"/>
                </a:solidFill>
              </a:rPr>
              <a:t>preservation, creation, application and dissemination of knowledge</a:t>
            </a:r>
            <a:r>
              <a:rPr lang="en-US" kern="0" dirty="0"/>
              <a:t> by </a:t>
            </a:r>
            <a:r>
              <a:rPr lang="en-US" kern="0" dirty="0">
                <a:solidFill>
                  <a:schemeClr val="tx1">
                    <a:lumMod val="60000"/>
                    <a:lumOff val="40000"/>
                  </a:schemeClr>
                </a:solidFill>
              </a:rPr>
              <a:t>teaching, research and public service in a comprehensive range of disciplines</a:t>
            </a:r>
            <a:r>
              <a:rPr lang="en-US" kern="0" dirty="0"/>
              <a:t>, thereby serving the needs and enhancing the well-being of the </a:t>
            </a:r>
            <a:r>
              <a:rPr lang="en-US" kern="0" dirty="0">
                <a:solidFill>
                  <a:schemeClr val="accent6">
                    <a:lumMod val="60000"/>
                    <a:lumOff val="40000"/>
                  </a:schemeClr>
                </a:solidFill>
              </a:rPr>
              <a:t>citizens of Hong Kong, China as a whole, and the wider world community</a:t>
            </a:r>
            <a:r>
              <a:rPr lang="en-US" kern="0" dirty="0"/>
              <a:t>.”</a:t>
            </a:r>
          </a:p>
          <a:p>
            <a:pPr>
              <a:lnSpc>
                <a:spcPct val="105000"/>
              </a:lnSpc>
              <a:spcAft>
                <a:spcPct val="5000"/>
              </a:spcAft>
              <a:buSzPct val="100000"/>
              <a:defRPr/>
            </a:pPr>
            <a:r>
              <a:rPr lang="en-US" kern="0" dirty="0"/>
              <a:t>Foundation of consistent strategy formulation</a:t>
            </a:r>
            <a:endParaRPr lang="en-US" altLang="zh-CN" kern="0" dirty="0"/>
          </a:p>
          <a:p>
            <a:endParaRPr lang="en-US" dirty="0"/>
          </a:p>
        </p:txBody>
      </p:sp>
    </p:spTree>
    <p:extLst>
      <p:ext uri="{BB962C8B-B14F-4D97-AF65-F5344CB8AC3E}">
        <p14:creationId xmlns:p14="http://schemas.microsoft.com/office/powerpoint/2010/main" val="774450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12766-0ADA-B03B-1A57-834E21DEA8B9}"/>
              </a:ext>
            </a:extLst>
          </p:cNvPr>
          <p:cNvSpPr>
            <a:spLocks noGrp="1"/>
          </p:cNvSpPr>
          <p:nvPr>
            <p:ph type="title"/>
          </p:nvPr>
        </p:nvSpPr>
        <p:spPr>
          <a:xfrm>
            <a:off x="609600" y="0"/>
            <a:ext cx="9993331" cy="1143000"/>
          </a:xfrm>
        </p:spPr>
        <p:txBody>
          <a:bodyPr/>
          <a:lstStyle/>
          <a:p>
            <a:r>
              <a:rPr lang="en-US" dirty="0"/>
              <a:t>Exercise: Mission Matching</a:t>
            </a:r>
          </a:p>
        </p:txBody>
      </p:sp>
      <p:sp>
        <p:nvSpPr>
          <p:cNvPr id="3" name="Content Placeholder 2">
            <a:extLst>
              <a:ext uri="{FF2B5EF4-FFF2-40B4-BE49-F238E27FC236}">
                <a16:creationId xmlns:a16="http://schemas.microsoft.com/office/drawing/2014/main" id="{0A0245FF-CB77-5FED-785C-70045CB3E72C}"/>
              </a:ext>
            </a:extLst>
          </p:cNvPr>
          <p:cNvSpPr>
            <a:spLocks noGrp="1"/>
          </p:cNvSpPr>
          <p:nvPr>
            <p:ph sz="half" idx="1"/>
          </p:nvPr>
        </p:nvSpPr>
        <p:spPr>
          <a:xfrm>
            <a:off x="468331" y="850106"/>
            <a:ext cx="10134600" cy="585787"/>
          </a:xfrm>
        </p:spPr>
        <p:txBody>
          <a:bodyPr/>
          <a:lstStyle/>
          <a:p>
            <a:r>
              <a:rPr lang="en-US" dirty="0"/>
              <a:t>Can you match the mission statement with organizations?</a:t>
            </a:r>
          </a:p>
        </p:txBody>
      </p:sp>
      <p:sp>
        <p:nvSpPr>
          <p:cNvPr id="4" name="Content Placeholder 3">
            <a:extLst>
              <a:ext uri="{FF2B5EF4-FFF2-40B4-BE49-F238E27FC236}">
                <a16:creationId xmlns:a16="http://schemas.microsoft.com/office/drawing/2014/main" id="{9FA27ABD-79D4-9207-8BB8-507456243A52}"/>
              </a:ext>
            </a:extLst>
          </p:cNvPr>
          <p:cNvSpPr>
            <a:spLocks noGrp="1"/>
          </p:cNvSpPr>
          <p:nvPr>
            <p:ph sz="half" idx="2"/>
          </p:nvPr>
        </p:nvSpPr>
        <p:spPr>
          <a:xfrm>
            <a:off x="609600" y="1435892"/>
            <a:ext cx="6862762" cy="5422107"/>
          </a:xfrm>
        </p:spPr>
        <p:txBody>
          <a:bodyPr>
            <a:normAutofit fontScale="92500"/>
          </a:bodyPr>
          <a:lstStyle/>
          <a:p>
            <a:r>
              <a:rPr lang="en-US" kern="0" dirty="0"/>
              <a:t>Act in the public interest, serving all audiences through the provision of impartial, high-quality and distinctive output and services which inform, educate and entertain</a:t>
            </a:r>
            <a:endParaRPr lang="en-US" altLang="zh-CN" kern="0" dirty="0"/>
          </a:p>
          <a:p>
            <a:r>
              <a:rPr lang="en-US" kern="0" dirty="0"/>
              <a:t>To seek the truth and help people understand the world</a:t>
            </a:r>
            <a:endParaRPr lang="en-US" altLang="zh-CN" kern="0" dirty="0"/>
          </a:p>
          <a:p>
            <a:r>
              <a:rPr lang="en-US" altLang="zh-CN" kern="0" dirty="0"/>
              <a:t>To organize the world’s information and make it universally accessible and useful</a:t>
            </a:r>
          </a:p>
          <a:p>
            <a:r>
              <a:rPr lang="en-US" kern="0" dirty="0"/>
              <a:t>To give everyone the power to create and share ideas and information instantly without barriers</a:t>
            </a:r>
          </a:p>
          <a:p>
            <a:r>
              <a:rPr lang="en-US" kern="0" dirty="0"/>
              <a:t>To give people the power to build community and bring the world closer together</a:t>
            </a:r>
          </a:p>
          <a:p>
            <a:r>
              <a:rPr lang="en-US" kern="0" dirty="0"/>
              <a:t>To be Earth's most customer-centric company</a:t>
            </a:r>
          </a:p>
          <a:p>
            <a:r>
              <a:rPr lang="en-US" kern="0" dirty="0"/>
              <a:t>Inspire creativity and bring joy</a:t>
            </a:r>
          </a:p>
        </p:txBody>
      </p:sp>
      <p:sp>
        <p:nvSpPr>
          <p:cNvPr id="5" name="Content Placeholder 3">
            <a:extLst>
              <a:ext uri="{FF2B5EF4-FFF2-40B4-BE49-F238E27FC236}">
                <a16:creationId xmlns:a16="http://schemas.microsoft.com/office/drawing/2014/main" id="{19DF4101-39AE-D53E-518E-F69AD988B046}"/>
              </a:ext>
            </a:extLst>
          </p:cNvPr>
          <p:cNvSpPr txBox="1">
            <a:spLocks/>
          </p:cNvSpPr>
          <p:nvPr/>
        </p:nvSpPr>
        <p:spPr>
          <a:xfrm>
            <a:off x="8596338" y="1584854"/>
            <a:ext cx="3348012" cy="5081588"/>
          </a:xfrm>
          <a:prstGeom prst="rect">
            <a:avLst/>
          </a:prstGeom>
        </p:spPr>
        <p:txBody>
          <a:bodyPr>
            <a:normAutofit fontScale="92500" lnSpcReduction="10000"/>
          </a:bodyPr>
          <a:lstStyle>
            <a:lvl1pPr marL="457189" indent="-457189" algn="l" defTabSz="609585" rtl="0" eaLnBrk="1" latinLnBrk="0" hangingPunct="1">
              <a:spcBef>
                <a:spcPct val="20000"/>
              </a:spcBef>
              <a:buFontTx/>
              <a:buBlip>
                <a:blip r:embed="rId2"/>
              </a:buBlip>
              <a:defRPr sz="2400" kern="1200">
                <a:solidFill>
                  <a:schemeClr val="tx2">
                    <a:lumMod val="50000"/>
                  </a:schemeClr>
                </a:solidFill>
                <a:latin typeface="Arial" panose="020B0604020202020204" pitchFamily="34" charset="0"/>
                <a:ea typeface="+mn-ea"/>
                <a:cs typeface="Arial" panose="020B0604020202020204" pitchFamily="34" charset="0"/>
              </a:defRPr>
            </a:lvl1pPr>
            <a:lvl2pPr marL="990575" indent="-380990" algn="l" defTabSz="609585" rtl="0" eaLnBrk="1" latinLnBrk="0" hangingPunct="1">
              <a:spcBef>
                <a:spcPct val="20000"/>
              </a:spcBef>
              <a:buFont typeface="Arial"/>
              <a:buChar char="–"/>
              <a:defRPr sz="2133" kern="1200">
                <a:solidFill>
                  <a:schemeClr val="tx2">
                    <a:lumMod val="50000"/>
                  </a:schemeClr>
                </a:solidFill>
                <a:latin typeface="Arial" panose="020B0604020202020204" pitchFamily="34" charset="0"/>
                <a:ea typeface="+mn-ea"/>
                <a:cs typeface="Arial" panose="020B0604020202020204" pitchFamily="34" charset="0"/>
              </a:defRPr>
            </a:lvl2pPr>
            <a:lvl3pPr marL="1523962" indent="-304792" algn="l" defTabSz="609585" rtl="0" eaLnBrk="1" latinLnBrk="0" hangingPunct="1">
              <a:spcBef>
                <a:spcPct val="20000"/>
              </a:spcBef>
              <a:buFont typeface="Arial"/>
              <a:buChar char="•"/>
              <a:defRPr sz="1867" kern="1200">
                <a:solidFill>
                  <a:schemeClr val="tx2">
                    <a:lumMod val="50000"/>
                  </a:schemeClr>
                </a:solidFill>
                <a:latin typeface="Arial" panose="020B0604020202020204" pitchFamily="34" charset="0"/>
                <a:ea typeface="+mn-ea"/>
                <a:cs typeface="Arial" panose="020B0604020202020204" pitchFamily="34" charset="0"/>
              </a:defRPr>
            </a:lvl3pPr>
            <a:lvl4pPr marL="2133547" indent="-304792" algn="l" defTabSz="609585" rtl="0" eaLnBrk="1" latinLnBrk="0" hangingPunct="1">
              <a:spcBef>
                <a:spcPct val="20000"/>
              </a:spcBef>
              <a:buFont typeface="Arial"/>
              <a:buChar char="–"/>
              <a:defRPr sz="1600" kern="1200">
                <a:solidFill>
                  <a:schemeClr val="tx2">
                    <a:lumMod val="50000"/>
                  </a:schemeClr>
                </a:solidFill>
                <a:latin typeface="Arial" panose="020B0604020202020204" pitchFamily="34" charset="0"/>
                <a:ea typeface="+mn-ea"/>
                <a:cs typeface="Arial" panose="020B0604020202020204" pitchFamily="34" charset="0"/>
              </a:defRPr>
            </a:lvl4pPr>
            <a:lvl5pPr marL="2743131" indent="-304792" algn="l" defTabSz="609585" rtl="0" eaLnBrk="1" latinLnBrk="0" hangingPunct="1">
              <a:spcBef>
                <a:spcPct val="20000"/>
              </a:spcBef>
              <a:buFont typeface="Arial"/>
              <a:buChar char="»"/>
              <a:defRPr sz="1600" kern="1200">
                <a:solidFill>
                  <a:schemeClr val="tx2">
                    <a:lumMod val="50000"/>
                  </a:schemeClr>
                </a:solidFill>
                <a:latin typeface="Arial" panose="020B0604020202020204" pitchFamily="34" charset="0"/>
                <a:ea typeface="+mn-ea"/>
                <a:cs typeface="Arial" panose="020B0604020202020204" pitchFamily="34" charset="0"/>
              </a:defRPr>
            </a:lvl5pPr>
            <a:lvl6pPr marL="3352716" indent="-304792" algn="l" defTabSz="609585" rtl="0" eaLnBrk="1" latinLnBrk="0" hangingPunct="1">
              <a:spcBef>
                <a:spcPct val="20000"/>
              </a:spcBef>
              <a:buFont typeface="Arial"/>
              <a:buChar char="•"/>
              <a:defRPr sz="2400"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400"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400"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400" kern="1200">
                <a:solidFill>
                  <a:schemeClr val="tx1"/>
                </a:solidFill>
                <a:latin typeface="+mn-lt"/>
                <a:ea typeface="+mn-ea"/>
                <a:cs typeface="+mn-cs"/>
              </a:defRPr>
            </a:lvl9pPr>
          </a:lstStyle>
          <a:p>
            <a:r>
              <a:rPr lang="en-US" i="1" kern="0" dirty="0"/>
              <a:t>Google</a:t>
            </a:r>
          </a:p>
          <a:p>
            <a:pPr marL="0" indent="0">
              <a:buNone/>
            </a:pPr>
            <a:endParaRPr lang="en-US" i="1" kern="0" dirty="0"/>
          </a:p>
          <a:p>
            <a:r>
              <a:rPr lang="en-US" i="1" kern="0" dirty="0"/>
              <a:t>New York Times</a:t>
            </a:r>
          </a:p>
          <a:p>
            <a:pPr marL="0" indent="0">
              <a:buNone/>
            </a:pPr>
            <a:endParaRPr lang="en-US" i="1" kern="0" dirty="0"/>
          </a:p>
          <a:p>
            <a:r>
              <a:rPr lang="en-US" i="1" kern="0" dirty="0"/>
              <a:t>BBC</a:t>
            </a:r>
          </a:p>
          <a:p>
            <a:pPr marL="0" indent="0">
              <a:buNone/>
            </a:pPr>
            <a:endParaRPr lang="en-US" i="1" kern="0" dirty="0"/>
          </a:p>
          <a:p>
            <a:r>
              <a:rPr lang="en-US" i="1" kern="0" dirty="0"/>
              <a:t>Meta (Facebook)</a:t>
            </a:r>
          </a:p>
          <a:p>
            <a:pPr marL="0" indent="0">
              <a:buNone/>
            </a:pPr>
            <a:endParaRPr lang="en-US" i="1" kern="0" dirty="0"/>
          </a:p>
          <a:p>
            <a:r>
              <a:rPr lang="en-US" i="1" kern="0" dirty="0"/>
              <a:t>Tik Tok</a:t>
            </a:r>
          </a:p>
          <a:p>
            <a:pPr marL="0" indent="0">
              <a:buNone/>
            </a:pPr>
            <a:endParaRPr lang="en-US" i="1" kern="0" dirty="0"/>
          </a:p>
          <a:p>
            <a:r>
              <a:rPr lang="en-US" i="1" kern="0" dirty="0"/>
              <a:t>X (Twitter)</a:t>
            </a:r>
          </a:p>
          <a:p>
            <a:endParaRPr lang="en-US" i="1" kern="0" dirty="0"/>
          </a:p>
          <a:p>
            <a:r>
              <a:rPr lang="en-US" i="1" kern="0" dirty="0"/>
              <a:t>Amazon</a:t>
            </a:r>
          </a:p>
          <a:p>
            <a:endParaRPr lang="en-US" dirty="0"/>
          </a:p>
        </p:txBody>
      </p:sp>
      <p:cxnSp>
        <p:nvCxnSpPr>
          <p:cNvPr id="7" name="Straight Connector 6">
            <a:extLst>
              <a:ext uri="{FF2B5EF4-FFF2-40B4-BE49-F238E27FC236}">
                <a16:creationId xmlns:a16="http://schemas.microsoft.com/office/drawing/2014/main" id="{378B3A61-4152-16A2-C90F-5ECE477B6659}"/>
              </a:ext>
            </a:extLst>
          </p:cNvPr>
          <p:cNvCxnSpPr>
            <a:cxnSpLocks/>
          </p:cNvCxnSpPr>
          <p:nvPr/>
        </p:nvCxnSpPr>
        <p:spPr>
          <a:xfrm>
            <a:off x="7170057" y="2104571"/>
            <a:ext cx="1582057" cy="1132190"/>
          </a:xfrm>
          <a:prstGeom prst="line">
            <a:avLst/>
          </a:prstGeom>
        </p:spPr>
        <p:style>
          <a:lnRef idx="3">
            <a:schemeClr val="accent1"/>
          </a:lnRef>
          <a:fillRef idx="0">
            <a:schemeClr val="accent1"/>
          </a:fillRef>
          <a:effectRef idx="2">
            <a:schemeClr val="accent1"/>
          </a:effectRef>
          <a:fontRef idx="minor">
            <a:schemeClr val="tx1"/>
          </a:fontRef>
        </p:style>
      </p:cxnSp>
      <p:cxnSp>
        <p:nvCxnSpPr>
          <p:cNvPr id="10" name="Straight Connector 9">
            <a:extLst>
              <a:ext uri="{FF2B5EF4-FFF2-40B4-BE49-F238E27FC236}">
                <a16:creationId xmlns:a16="http://schemas.microsoft.com/office/drawing/2014/main" id="{EAC7B2AD-DDC6-1A82-5018-83A178AA360A}"/>
              </a:ext>
            </a:extLst>
          </p:cNvPr>
          <p:cNvCxnSpPr>
            <a:cxnSpLocks/>
          </p:cNvCxnSpPr>
          <p:nvPr/>
        </p:nvCxnSpPr>
        <p:spPr>
          <a:xfrm flipV="1">
            <a:off x="7415553" y="2536296"/>
            <a:ext cx="1336561" cy="504447"/>
          </a:xfrm>
          <a:prstGeom prst="line">
            <a:avLst/>
          </a:prstGeom>
        </p:spPr>
        <p:style>
          <a:lnRef idx="3">
            <a:schemeClr val="accent3"/>
          </a:lnRef>
          <a:fillRef idx="0">
            <a:schemeClr val="accent3"/>
          </a:fillRef>
          <a:effectRef idx="2">
            <a:schemeClr val="accent3"/>
          </a:effectRef>
          <a:fontRef idx="minor">
            <a:schemeClr val="tx1"/>
          </a:fontRef>
        </p:style>
      </p:cxnSp>
      <p:cxnSp>
        <p:nvCxnSpPr>
          <p:cNvPr id="12" name="Straight Connector 11">
            <a:extLst>
              <a:ext uri="{FF2B5EF4-FFF2-40B4-BE49-F238E27FC236}">
                <a16:creationId xmlns:a16="http://schemas.microsoft.com/office/drawing/2014/main" id="{8EA04F45-D265-CBFA-68A4-2CCD205966E6}"/>
              </a:ext>
            </a:extLst>
          </p:cNvPr>
          <p:cNvCxnSpPr>
            <a:cxnSpLocks/>
          </p:cNvCxnSpPr>
          <p:nvPr/>
        </p:nvCxnSpPr>
        <p:spPr>
          <a:xfrm flipV="1">
            <a:off x="7170057" y="1770743"/>
            <a:ext cx="1582057" cy="2205944"/>
          </a:xfrm>
          <a:prstGeom prst="line">
            <a:avLst/>
          </a:prstGeom>
        </p:spPr>
        <p:style>
          <a:lnRef idx="3">
            <a:schemeClr val="accent2"/>
          </a:lnRef>
          <a:fillRef idx="0">
            <a:schemeClr val="accent2"/>
          </a:fillRef>
          <a:effectRef idx="2">
            <a:schemeClr val="accent2"/>
          </a:effectRef>
          <a:fontRef idx="minor">
            <a:schemeClr val="tx1"/>
          </a:fontRef>
        </p:style>
      </p:cxnSp>
      <p:cxnSp>
        <p:nvCxnSpPr>
          <p:cNvPr id="14" name="Straight Connector 13">
            <a:extLst>
              <a:ext uri="{FF2B5EF4-FFF2-40B4-BE49-F238E27FC236}">
                <a16:creationId xmlns:a16="http://schemas.microsoft.com/office/drawing/2014/main" id="{DEBC1C84-1900-2923-AEF3-7458A2ED65E8}"/>
              </a:ext>
            </a:extLst>
          </p:cNvPr>
          <p:cNvCxnSpPr>
            <a:cxnSpLocks/>
          </p:cNvCxnSpPr>
          <p:nvPr/>
        </p:nvCxnSpPr>
        <p:spPr>
          <a:xfrm>
            <a:off x="7170057" y="4630057"/>
            <a:ext cx="1582057" cy="791030"/>
          </a:xfrm>
          <a:prstGeom prst="line">
            <a:avLst/>
          </a:prstGeom>
        </p:spPr>
        <p:style>
          <a:lnRef idx="3">
            <a:schemeClr val="accent6"/>
          </a:lnRef>
          <a:fillRef idx="0">
            <a:schemeClr val="accent6"/>
          </a:fillRef>
          <a:effectRef idx="2">
            <a:schemeClr val="accent6"/>
          </a:effectRef>
          <a:fontRef idx="minor">
            <a:schemeClr val="tx1"/>
          </a:fontRef>
        </p:style>
      </p:cxnSp>
      <p:cxnSp>
        <p:nvCxnSpPr>
          <p:cNvPr id="16" name="Straight Connector 15">
            <a:extLst>
              <a:ext uri="{FF2B5EF4-FFF2-40B4-BE49-F238E27FC236}">
                <a16:creationId xmlns:a16="http://schemas.microsoft.com/office/drawing/2014/main" id="{B577525D-3B73-08BD-19DD-70D828068AC7}"/>
              </a:ext>
            </a:extLst>
          </p:cNvPr>
          <p:cNvCxnSpPr>
            <a:cxnSpLocks/>
          </p:cNvCxnSpPr>
          <p:nvPr/>
        </p:nvCxnSpPr>
        <p:spPr>
          <a:xfrm flipV="1">
            <a:off x="7300686" y="4013201"/>
            <a:ext cx="1451428" cy="1284816"/>
          </a:xfrm>
          <a:prstGeom prst="line">
            <a:avLst/>
          </a:prstGeom>
        </p:spPr>
        <p:style>
          <a:lnRef idx="3">
            <a:schemeClr val="accent4"/>
          </a:lnRef>
          <a:fillRef idx="0">
            <a:schemeClr val="accent4"/>
          </a:fillRef>
          <a:effectRef idx="2">
            <a:schemeClr val="accent4"/>
          </a:effectRef>
          <a:fontRef idx="minor">
            <a:schemeClr val="tx1"/>
          </a:fontRef>
        </p:style>
      </p:cxnSp>
      <p:cxnSp>
        <p:nvCxnSpPr>
          <p:cNvPr id="18" name="Straight Connector 17">
            <a:extLst>
              <a:ext uri="{FF2B5EF4-FFF2-40B4-BE49-F238E27FC236}">
                <a16:creationId xmlns:a16="http://schemas.microsoft.com/office/drawing/2014/main" id="{BFE36616-9900-401E-EC7C-5408EC6A9B67}"/>
              </a:ext>
            </a:extLst>
          </p:cNvPr>
          <p:cNvCxnSpPr>
            <a:cxnSpLocks/>
          </p:cNvCxnSpPr>
          <p:nvPr/>
        </p:nvCxnSpPr>
        <p:spPr>
          <a:xfrm>
            <a:off x="6952343" y="6037943"/>
            <a:ext cx="1799771" cy="203200"/>
          </a:xfrm>
          <a:prstGeom prst="line">
            <a:avLst/>
          </a:prstGeom>
        </p:spPr>
        <p:style>
          <a:lnRef idx="3">
            <a:schemeClr val="accent5"/>
          </a:lnRef>
          <a:fillRef idx="0">
            <a:schemeClr val="accent5"/>
          </a:fillRef>
          <a:effectRef idx="2">
            <a:schemeClr val="accent5"/>
          </a:effectRef>
          <a:fontRef idx="minor">
            <a:schemeClr val="tx1"/>
          </a:fontRef>
        </p:style>
      </p:cxnSp>
      <p:cxnSp>
        <p:nvCxnSpPr>
          <p:cNvPr id="32" name="Straight Connector 31">
            <a:extLst>
              <a:ext uri="{FF2B5EF4-FFF2-40B4-BE49-F238E27FC236}">
                <a16:creationId xmlns:a16="http://schemas.microsoft.com/office/drawing/2014/main" id="{3B63F77E-2880-4B3A-9BEA-956015503FCF}"/>
              </a:ext>
            </a:extLst>
          </p:cNvPr>
          <p:cNvCxnSpPr>
            <a:cxnSpLocks/>
          </p:cNvCxnSpPr>
          <p:nvPr/>
        </p:nvCxnSpPr>
        <p:spPr>
          <a:xfrm flipV="1">
            <a:off x="6734629" y="4746171"/>
            <a:ext cx="2017485" cy="1920271"/>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082344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45485-E0EE-2A5B-E14F-30010A97EB2D}"/>
              </a:ext>
            </a:extLst>
          </p:cNvPr>
          <p:cNvSpPr>
            <a:spLocks noGrp="1"/>
          </p:cNvSpPr>
          <p:nvPr>
            <p:ph type="title"/>
          </p:nvPr>
        </p:nvSpPr>
        <p:spPr>
          <a:xfrm>
            <a:off x="449942" y="32657"/>
            <a:ext cx="9318173" cy="1143000"/>
          </a:xfrm>
        </p:spPr>
        <p:txBody>
          <a:bodyPr>
            <a:normAutofit/>
          </a:bodyPr>
          <a:lstStyle/>
          <a:p>
            <a:r>
              <a:rPr lang="en-US" sz="4800" dirty="0"/>
              <a:t>Vision</a:t>
            </a:r>
            <a:endParaRPr lang="en-US" dirty="0"/>
          </a:p>
        </p:txBody>
      </p:sp>
      <p:sp>
        <p:nvSpPr>
          <p:cNvPr id="3" name="Content Placeholder 2">
            <a:extLst>
              <a:ext uri="{FF2B5EF4-FFF2-40B4-BE49-F238E27FC236}">
                <a16:creationId xmlns:a16="http://schemas.microsoft.com/office/drawing/2014/main" id="{89592BB0-0E02-7F81-6E44-1C98E36A87B6}"/>
              </a:ext>
            </a:extLst>
          </p:cNvPr>
          <p:cNvSpPr>
            <a:spLocks noGrp="1"/>
          </p:cNvSpPr>
          <p:nvPr>
            <p:ph sz="half" idx="1"/>
          </p:nvPr>
        </p:nvSpPr>
        <p:spPr>
          <a:xfrm>
            <a:off x="449942" y="1461711"/>
            <a:ext cx="9318173" cy="5363632"/>
          </a:xfrm>
        </p:spPr>
        <p:txBody>
          <a:bodyPr>
            <a:normAutofit lnSpcReduction="10000"/>
          </a:bodyPr>
          <a:lstStyle/>
          <a:p>
            <a:r>
              <a:rPr lang="en-US" sz="2400" dirty="0"/>
              <a:t>Can be logical </a:t>
            </a:r>
            <a:r>
              <a:rPr lang="en-US" b="1" dirty="0"/>
              <a:t>e</a:t>
            </a:r>
            <a:r>
              <a:rPr lang="en-US" sz="2400" b="1" dirty="0"/>
              <a:t>xtension of current </a:t>
            </a:r>
            <a:r>
              <a:rPr lang="en-US" b="1" dirty="0"/>
              <a:t>p</a:t>
            </a:r>
            <a:r>
              <a:rPr lang="en-US" sz="2400" b="1" dirty="0"/>
              <a:t>ath</a:t>
            </a:r>
            <a:endParaRPr lang="en-US" b="1" i="1" kern="0" dirty="0"/>
          </a:p>
          <a:p>
            <a:pPr lvl="1"/>
            <a:r>
              <a:rPr lang="en-US" i="1" kern="0" dirty="0"/>
              <a:t>Answers the question, “</a:t>
            </a:r>
            <a:r>
              <a:rPr lang="en-US" b="1" i="1" kern="0" dirty="0"/>
              <a:t>What would the company </a:t>
            </a:r>
            <a:r>
              <a:rPr lang="en-US" altLang="zh-CN" b="1" i="1" kern="0" dirty="0"/>
              <a:t>aspires to be</a:t>
            </a:r>
            <a:r>
              <a:rPr lang="en-US" b="1" i="1" kern="0" dirty="0"/>
              <a:t>?</a:t>
            </a:r>
            <a:r>
              <a:rPr lang="en-US" i="1" kern="0" dirty="0"/>
              <a:t>”</a:t>
            </a:r>
          </a:p>
          <a:p>
            <a:pPr lvl="1"/>
            <a:endParaRPr lang="en-US" i="1" kern="0" dirty="0"/>
          </a:p>
          <a:p>
            <a:r>
              <a:rPr lang="en-US" i="1" kern="0" dirty="0"/>
              <a:t> </a:t>
            </a:r>
            <a:r>
              <a:rPr lang="en-US" kern="0" dirty="0"/>
              <a:t>A good vision is meant to stretch a company by articulating an ambitious but attainable </a:t>
            </a:r>
            <a:r>
              <a:rPr lang="en-US" b="1" kern="0" dirty="0"/>
              <a:t>FUTURE</a:t>
            </a:r>
            <a:r>
              <a:rPr lang="en-US" kern="0" dirty="0"/>
              <a:t> state</a:t>
            </a:r>
          </a:p>
          <a:p>
            <a:pPr marL="0" indent="0">
              <a:buNone/>
            </a:pPr>
            <a:endParaRPr lang="en-US" kern="0" dirty="0"/>
          </a:p>
          <a:p>
            <a:r>
              <a:rPr lang="en-US" altLang="zh-CN" i="1" kern="0" dirty="0"/>
              <a:t>A good vision can help drive decisions and goals in your company</a:t>
            </a:r>
          </a:p>
          <a:p>
            <a:pPr lvl="1"/>
            <a:r>
              <a:rPr lang="en-US" dirty="0"/>
              <a:t>Meta’s  vision</a:t>
            </a:r>
            <a:r>
              <a:rPr lang="en-US" kern="0" dirty="0"/>
              <a:t>: “</a:t>
            </a:r>
            <a:r>
              <a:rPr lang="en-US" i="1" kern="0" dirty="0"/>
              <a:t>Bring the metaverse to life and help people connect, find communities and grow businesses</a:t>
            </a:r>
            <a:r>
              <a:rPr lang="en-US" i="1" dirty="0">
                <a:solidFill>
                  <a:srgbClr val="333333"/>
                </a:solidFill>
                <a:effectLst/>
                <a:latin typeface="Libre Franklin" panose="020F0502020204030204" pitchFamily="34" charset="0"/>
              </a:rPr>
              <a:t>.</a:t>
            </a:r>
            <a:r>
              <a:rPr lang="en-US" kern="0" dirty="0"/>
              <a:t>”</a:t>
            </a:r>
          </a:p>
          <a:p>
            <a:pPr lvl="1"/>
            <a:r>
              <a:rPr lang="en-US" i="1" kern="0" dirty="0"/>
              <a:t>Amazon’s vision: “Be Earth's most customer-centric company, where customers can find and discover anything they might want to buy online, and </a:t>
            </a:r>
            <a:r>
              <a:rPr lang="en-US" i="1" kern="0" dirty="0" err="1"/>
              <a:t>endeavours</a:t>
            </a:r>
            <a:r>
              <a:rPr lang="en-US" i="1" kern="0" dirty="0"/>
              <a:t> to offer its customers the lowest possible prices”</a:t>
            </a:r>
          </a:p>
          <a:p>
            <a:endParaRPr lang="en-US" dirty="0"/>
          </a:p>
        </p:txBody>
      </p:sp>
    </p:spTree>
    <p:extLst>
      <p:ext uri="{BB962C8B-B14F-4D97-AF65-F5344CB8AC3E}">
        <p14:creationId xmlns:p14="http://schemas.microsoft.com/office/powerpoint/2010/main" val="843780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45485-E0EE-2A5B-E14F-30010A97EB2D}"/>
              </a:ext>
            </a:extLst>
          </p:cNvPr>
          <p:cNvSpPr>
            <a:spLocks noGrp="1"/>
          </p:cNvSpPr>
          <p:nvPr>
            <p:ph type="title"/>
          </p:nvPr>
        </p:nvSpPr>
        <p:spPr>
          <a:xfrm>
            <a:off x="508783" y="0"/>
            <a:ext cx="9993331" cy="1143000"/>
          </a:xfrm>
        </p:spPr>
        <p:txBody>
          <a:bodyPr>
            <a:normAutofit/>
          </a:bodyPr>
          <a:lstStyle/>
          <a:p>
            <a:r>
              <a:rPr lang="en-US" sz="4800" dirty="0"/>
              <a:t>Vision</a:t>
            </a:r>
            <a:endParaRPr lang="en-US" dirty="0"/>
          </a:p>
        </p:txBody>
      </p:sp>
      <p:sp>
        <p:nvSpPr>
          <p:cNvPr id="3" name="Content Placeholder 2">
            <a:extLst>
              <a:ext uri="{FF2B5EF4-FFF2-40B4-BE49-F238E27FC236}">
                <a16:creationId xmlns:a16="http://schemas.microsoft.com/office/drawing/2014/main" id="{89592BB0-0E02-7F81-6E44-1C98E36A87B6}"/>
              </a:ext>
            </a:extLst>
          </p:cNvPr>
          <p:cNvSpPr>
            <a:spLocks noGrp="1"/>
          </p:cNvSpPr>
          <p:nvPr>
            <p:ph sz="half" idx="1"/>
          </p:nvPr>
        </p:nvSpPr>
        <p:spPr>
          <a:xfrm>
            <a:off x="393455" y="1143000"/>
            <a:ext cx="9993331" cy="5562600"/>
          </a:xfrm>
        </p:spPr>
        <p:txBody>
          <a:bodyPr>
            <a:normAutofit/>
          </a:bodyPr>
          <a:lstStyle/>
          <a:p>
            <a:r>
              <a:rPr lang="en-US" sz="2400" dirty="0"/>
              <a:t>Can also be </a:t>
            </a:r>
            <a:r>
              <a:rPr lang="en-US" sz="2400" b="1" dirty="0"/>
              <a:t>ambitious </a:t>
            </a:r>
            <a:r>
              <a:rPr lang="en-US" b="1" dirty="0"/>
              <a:t>c</a:t>
            </a:r>
            <a:r>
              <a:rPr lang="en-US" sz="2400" b="1" dirty="0"/>
              <a:t>ommunication of strategic </a:t>
            </a:r>
            <a:r>
              <a:rPr lang="en-US" b="1" dirty="0"/>
              <a:t>i</a:t>
            </a:r>
            <a:r>
              <a:rPr lang="en-US" sz="2400" b="1" dirty="0"/>
              <a:t>ntent</a:t>
            </a:r>
          </a:p>
          <a:p>
            <a:r>
              <a:rPr lang="en-US" kern="0" dirty="0">
                <a:solidFill>
                  <a:srgbClr val="000000"/>
                </a:solidFill>
              </a:rPr>
              <a:t>Avoids the </a:t>
            </a:r>
            <a:r>
              <a:rPr lang="en-US" i="1" kern="0" dirty="0">
                <a:solidFill>
                  <a:srgbClr val="000000"/>
                </a:solidFill>
              </a:rPr>
              <a:t>strategic</a:t>
            </a:r>
            <a:r>
              <a:rPr lang="en-US" kern="0" dirty="0">
                <a:solidFill>
                  <a:srgbClr val="000000"/>
                </a:solidFill>
              </a:rPr>
              <a:t> </a:t>
            </a:r>
            <a:r>
              <a:rPr lang="en-US" i="1" kern="0" dirty="0">
                <a:solidFill>
                  <a:srgbClr val="000000"/>
                </a:solidFill>
              </a:rPr>
              <a:t>fit model,</a:t>
            </a:r>
            <a:r>
              <a:rPr lang="en-US" kern="0" dirty="0">
                <a:solidFill>
                  <a:srgbClr val="000000"/>
                </a:solidFill>
              </a:rPr>
              <a:t> which focuses too much on the current state</a:t>
            </a:r>
          </a:p>
          <a:p>
            <a:r>
              <a:rPr lang="en-US" kern="0" dirty="0">
                <a:solidFill>
                  <a:srgbClr val="000000"/>
                </a:solidFill>
              </a:rPr>
              <a:t>Sets ambitious vision and goals that stretch a company and then finds ways to build to attain those goals</a:t>
            </a:r>
          </a:p>
          <a:p>
            <a:r>
              <a:rPr lang="en-US" i="1" kern="0" dirty="0"/>
              <a:t>Interesting Examples:</a:t>
            </a:r>
          </a:p>
          <a:p>
            <a:pPr lvl="1"/>
            <a:r>
              <a:rPr lang="en-US" sz="2200" i="1" kern="0" dirty="0"/>
              <a:t>“Crush Adidas” (Nike in the1960s)</a:t>
            </a:r>
          </a:p>
          <a:p>
            <a:pPr lvl="1"/>
            <a:r>
              <a:rPr lang="en-US" sz="2200" i="1" kern="0" dirty="0"/>
              <a:t>“Become the company most known for changing the worldwide poor quality image of Japanese products” (Sony in the 1950s)</a:t>
            </a:r>
          </a:p>
          <a:p>
            <a:pPr lvl="1"/>
            <a:r>
              <a:rPr lang="en-US" sz="2200" i="1" kern="0" dirty="0"/>
              <a:t>“Become the Harvard of the West” (Stanford in the 1940s)</a:t>
            </a:r>
          </a:p>
          <a:p>
            <a:pPr lvl="1"/>
            <a:r>
              <a:rPr lang="en-US" sz="2200" i="1" kern="0" dirty="0"/>
              <a:t>“Become a $125 billion company by the year 2000” (Walmart in the 1990s)</a:t>
            </a:r>
          </a:p>
          <a:p>
            <a:pPr lvl="1"/>
            <a:r>
              <a:rPr lang="en-US" i="1" kern="0" dirty="0"/>
              <a:t>“Be the world's most trusted and influential social media platform, where people can connect, express themselves, and stay informed from </a:t>
            </a:r>
            <a:r>
              <a:rPr lang="en-US" kern="0" dirty="0"/>
              <a:t>X</a:t>
            </a:r>
          </a:p>
        </p:txBody>
      </p:sp>
    </p:spTree>
    <p:extLst>
      <p:ext uri="{BB962C8B-B14F-4D97-AF65-F5344CB8AC3E}">
        <p14:creationId xmlns:p14="http://schemas.microsoft.com/office/powerpoint/2010/main" val="1384181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E0E7F-001B-45CB-9F44-4D55B6FDFE00}"/>
              </a:ext>
            </a:extLst>
          </p:cNvPr>
          <p:cNvSpPr>
            <a:spLocks noGrp="1"/>
          </p:cNvSpPr>
          <p:nvPr>
            <p:ph type="title"/>
          </p:nvPr>
        </p:nvSpPr>
        <p:spPr>
          <a:xfrm>
            <a:off x="580572" y="24938"/>
            <a:ext cx="10048125" cy="1143000"/>
          </a:xfrm>
        </p:spPr>
        <p:txBody>
          <a:bodyPr/>
          <a:lstStyle/>
          <a:p>
            <a:r>
              <a:rPr lang="en-US" altLang="zh-CN" dirty="0"/>
              <a:t>Step 2: Take Strategic Action</a:t>
            </a:r>
            <a:endParaRPr lang="zh-CN" altLang="en-US" dirty="0"/>
          </a:p>
        </p:txBody>
      </p:sp>
      <p:sp>
        <p:nvSpPr>
          <p:cNvPr id="3" name="Content Placeholder 2">
            <a:extLst>
              <a:ext uri="{FF2B5EF4-FFF2-40B4-BE49-F238E27FC236}">
                <a16:creationId xmlns:a16="http://schemas.microsoft.com/office/drawing/2014/main" id="{214228FE-D86F-4E5E-BE6E-283184332E2C}"/>
              </a:ext>
            </a:extLst>
          </p:cNvPr>
          <p:cNvSpPr>
            <a:spLocks noGrp="1"/>
          </p:cNvSpPr>
          <p:nvPr>
            <p:ph sz="quarter" idx="10"/>
          </p:nvPr>
        </p:nvSpPr>
        <p:spPr>
          <a:xfrm>
            <a:off x="580572" y="4544972"/>
            <a:ext cx="11358509" cy="2175141"/>
          </a:xfrm>
        </p:spPr>
        <p:txBody>
          <a:bodyPr/>
          <a:lstStyle/>
          <a:p>
            <a:r>
              <a:rPr lang="en-US" altLang="zh-CN" dirty="0"/>
              <a:t>Develop relevant strategies at different levels</a:t>
            </a:r>
          </a:p>
          <a:p>
            <a:pPr lvl="1"/>
            <a:r>
              <a:rPr lang="en-US" altLang="zh-CN" dirty="0"/>
              <a:t>Business level strategy &amp; Corporate level strategy</a:t>
            </a:r>
          </a:p>
          <a:p>
            <a:pPr lvl="1"/>
            <a:r>
              <a:rPr lang="en-US" altLang="zh-CN" dirty="0"/>
              <a:t>Competitive &amp; cooperative</a:t>
            </a:r>
          </a:p>
          <a:p>
            <a:pPr lvl="1"/>
            <a:r>
              <a:rPr lang="en-US" altLang="zh-CN" dirty="0"/>
              <a:t>International &amp; regional</a:t>
            </a:r>
          </a:p>
          <a:p>
            <a:pPr lvl="1"/>
            <a:endParaRPr lang="zh-CN" altLang="en-US" dirty="0"/>
          </a:p>
        </p:txBody>
      </p:sp>
      <p:grpSp>
        <p:nvGrpSpPr>
          <p:cNvPr id="11" name="Group 10">
            <a:extLst>
              <a:ext uri="{FF2B5EF4-FFF2-40B4-BE49-F238E27FC236}">
                <a16:creationId xmlns:a16="http://schemas.microsoft.com/office/drawing/2014/main" id="{73284324-C9C7-442D-8743-B067DE167749}"/>
              </a:ext>
            </a:extLst>
          </p:cNvPr>
          <p:cNvGrpSpPr/>
          <p:nvPr/>
        </p:nvGrpSpPr>
        <p:grpSpPr>
          <a:xfrm>
            <a:off x="1027883" y="1167938"/>
            <a:ext cx="9153502" cy="3229089"/>
            <a:chOff x="1194617" y="1843019"/>
            <a:chExt cx="9153502" cy="3229089"/>
          </a:xfrm>
        </p:grpSpPr>
        <p:sp>
          <p:nvSpPr>
            <p:cNvPr id="4" name="Rectangle 3">
              <a:extLst>
                <a:ext uri="{FF2B5EF4-FFF2-40B4-BE49-F238E27FC236}">
                  <a16:creationId xmlns:a16="http://schemas.microsoft.com/office/drawing/2014/main" id="{6C01A257-98D2-4535-853E-9AD6DA451AA1}"/>
                </a:ext>
              </a:extLst>
            </p:cNvPr>
            <p:cNvSpPr/>
            <p:nvPr/>
          </p:nvSpPr>
          <p:spPr>
            <a:xfrm>
              <a:off x="1194617" y="1843019"/>
              <a:ext cx="2439964" cy="3229089"/>
            </a:xfrm>
            <a:prstGeom prst="rect">
              <a:avLst/>
            </a:prstGeom>
            <a:solidFill>
              <a:srgbClr val="FFFFFF"/>
            </a:solidFill>
            <a:ln w="25400" cap="flat" cmpd="sng">
              <a:solidFill>
                <a:schemeClr val="tx1"/>
              </a:solidFill>
              <a:prstDash val="solid"/>
              <a:miter/>
              <a:headEnd type="none" w="med" len="med"/>
              <a:tailEnd type="none" w="med" len="med"/>
            </a:ln>
          </p:spPr>
          <p:txBody>
            <a:bodyPr wrap="none" lIns="90488" tIns="44450" rIns="90488" bIns="44450">
              <a:spAutoFit/>
            </a:bodyPr>
            <a:lstStyle>
              <a:lvl1pPr marL="342900" indent="-342900" algn="l" rtl="0" eaLnBrk="0" fontAlgn="base" hangingPunct="0">
                <a:spcBef>
                  <a:spcPct val="20000"/>
                </a:spcBef>
                <a:spcAft>
                  <a:spcPct val="0"/>
                </a:spcAft>
                <a:buClr>
                  <a:srgbClr val="800000"/>
                </a:buClr>
                <a:buFont typeface="Garamond" panose="02020404030301010803" pitchFamily="18" charset="0"/>
                <a:buChar char="■"/>
                <a:tabLst>
                  <a:tab pos="2293620" algn="l"/>
                  <a:tab pos="2519045" algn="l"/>
                  <a:tab pos="2743200" algn="l"/>
                  <a:tab pos="3309620" algn="l"/>
                </a:tabLst>
                <a:defRPr sz="2400">
                  <a:solidFill>
                    <a:schemeClr val="tx1"/>
                  </a:solidFill>
                  <a:latin typeface="+mn-lt"/>
                  <a:ea typeface="+mn-ea"/>
                  <a:cs typeface="+mn-cs"/>
                </a:defRPr>
              </a:lvl1pPr>
              <a:lvl2pPr marL="742950" indent="-285750" algn="l" rtl="0" eaLnBrk="0" fontAlgn="base" hangingPunct="0">
                <a:spcBef>
                  <a:spcPct val="20000"/>
                </a:spcBef>
                <a:spcAft>
                  <a:spcPct val="0"/>
                </a:spcAft>
                <a:buClr>
                  <a:srgbClr val="777777"/>
                </a:buClr>
                <a:buFont typeface="Garamond" panose="02020404030301010803" pitchFamily="18" charset="0"/>
                <a:buChar char="■"/>
                <a:tabLst>
                  <a:tab pos="2293620" algn="l"/>
                  <a:tab pos="2519045" algn="l"/>
                  <a:tab pos="2743200" algn="l"/>
                  <a:tab pos="3309620" algn="l"/>
                </a:tabLst>
                <a:defRPr sz="2200">
                  <a:solidFill>
                    <a:schemeClr val="tx1"/>
                  </a:solidFill>
                  <a:latin typeface="+mn-lt"/>
                </a:defRPr>
              </a:lvl2pPr>
              <a:lvl3pPr marL="1143000" indent="-228600" algn="l" rtl="0" eaLnBrk="0" fontAlgn="base" hangingPunct="0">
                <a:spcBef>
                  <a:spcPct val="20000"/>
                </a:spcBef>
                <a:spcAft>
                  <a:spcPct val="0"/>
                </a:spcAft>
                <a:buClr>
                  <a:srgbClr val="800000"/>
                </a:buClr>
                <a:buFont typeface="Garamond" panose="02020404030301010803" pitchFamily="18" charset="0"/>
                <a:buChar char="□"/>
                <a:tabLst>
                  <a:tab pos="2293620" algn="l"/>
                  <a:tab pos="2519045" algn="l"/>
                  <a:tab pos="2743200" algn="l"/>
                  <a:tab pos="3309620" algn="l"/>
                </a:tabLst>
                <a:defRPr sz="2000">
                  <a:solidFill>
                    <a:schemeClr val="tx1"/>
                  </a:solidFill>
                  <a:latin typeface="+mn-lt"/>
                </a:defRPr>
              </a:lvl3pPr>
              <a:lvl4pPr marL="1600200" indent="-228600" algn="l" rtl="0" eaLnBrk="0" fontAlgn="base" hangingPunct="0">
                <a:spcBef>
                  <a:spcPct val="20000"/>
                </a:spcBef>
                <a:spcAft>
                  <a:spcPct val="0"/>
                </a:spcAft>
                <a:buClr>
                  <a:srgbClr val="777777"/>
                </a:buClr>
                <a:buFont typeface="Garamond" panose="02020404030301010803" pitchFamily="18" charset="0"/>
                <a:buChar char="□"/>
                <a:tabLst>
                  <a:tab pos="2293620" algn="l"/>
                  <a:tab pos="2519045" algn="l"/>
                  <a:tab pos="2743200" algn="l"/>
                  <a:tab pos="3309620" algn="l"/>
                </a:tabLst>
                <a:defRPr>
                  <a:solidFill>
                    <a:schemeClr val="tx1"/>
                  </a:solidFill>
                  <a:latin typeface="+mn-lt"/>
                </a:defRPr>
              </a:lvl4pPr>
              <a:lvl5pPr marL="2057400" indent="-228600" algn="l" rtl="0" eaLnBrk="0" fontAlgn="base" hangingPunct="0">
                <a:spcBef>
                  <a:spcPct val="20000"/>
                </a:spcBef>
                <a:spcAft>
                  <a:spcPct val="0"/>
                </a:spcAft>
                <a:buClr>
                  <a:srgbClr val="A50021"/>
                </a:buClr>
                <a:buSzPct val="75000"/>
                <a:buFont typeface="Garamond" panose="02020404030301010803" pitchFamily="18" charset="0"/>
                <a:buChar char="■"/>
                <a:tabLst>
                  <a:tab pos="2293620" algn="l"/>
                  <a:tab pos="2519045" algn="l"/>
                  <a:tab pos="2743200" algn="l"/>
                  <a:tab pos="3309620" algn="l"/>
                </a:tabLst>
                <a:defRPr sz="1600">
                  <a:solidFill>
                    <a:schemeClr val="tx1"/>
                  </a:solidFill>
                  <a:latin typeface="+mn-lt"/>
                </a:defRPr>
              </a:lvl5pPr>
            </a:lstStyle>
            <a:p>
              <a:pPr marL="0" lvl="0" indent="0" algn="ctr" defTabSz="762000">
                <a:spcBef>
                  <a:spcPct val="0"/>
                </a:spcBef>
                <a:buClrTx/>
                <a:buFontTx/>
                <a:buNone/>
                <a:tabLst>
                  <a:tab pos="-635" algn="l"/>
                </a:tabLst>
              </a:pPr>
              <a:r>
                <a:rPr lang="en-US" altLang="zh-CN" sz="2000" b="1" dirty="0">
                  <a:latin typeface="Arial" panose="020B0604020202020204" pitchFamily="34" charset="0"/>
                </a:rPr>
                <a:t> </a:t>
              </a:r>
              <a:r>
                <a:rPr lang="en-US" altLang="zh-CN" b="1" dirty="0">
                  <a:latin typeface="Arial" panose="020B0604020202020204" pitchFamily="34" charset="0"/>
                </a:rPr>
                <a:t>THE FIRM</a:t>
              </a:r>
            </a:p>
            <a:p>
              <a:pPr marL="0" lvl="0" indent="0" algn="ctr" defTabSz="762000">
                <a:spcBef>
                  <a:spcPct val="0"/>
                </a:spcBef>
                <a:buClrTx/>
                <a:buFontTx/>
                <a:buNone/>
                <a:tabLst>
                  <a:tab pos="-635" algn="l"/>
                </a:tabLst>
              </a:pPr>
              <a:endParaRPr lang="en-US" altLang="zh-CN" sz="2000" b="1" dirty="0">
                <a:latin typeface="Arial" panose="020B0604020202020204" pitchFamily="34" charset="0"/>
              </a:endParaRPr>
            </a:p>
            <a:p>
              <a:pPr marL="0" lvl="0" indent="0" algn="ctr" defTabSz="762000">
                <a:spcBef>
                  <a:spcPct val="0"/>
                </a:spcBef>
                <a:buClrTx/>
                <a:buFontTx/>
                <a:buNone/>
                <a:tabLst>
                  <a:tab pos="-635" algn="l"/>
                </a:tabLst>
              </a:pPr>
              <a:r>
                <a:rPr lang="en-US" altLang="zh-CN" sz="2000" b="1" dirty="0">
                  <a:latin typeface="Arial" panose="020B0604020202020204" pitchFamily="34" charset="0"/>
                </a:rPr>
                <a:t> Mission, Vision &amp; </a:t>
              </a:r>
            </a:p>
            <a:p>
              <a:pPr marL="0" lvl="0" indent="0" algn="ctr" defTabSz="762000">
                <a:spcBef>
                  <a:spcPct val="0"/>
                </a:spcBef>
                <a:buClrTx/>
                <a:buFontTx/>
                <a:buNone/>
                <a:tabLst>
                  <a:tab pos="-635" algn="l"/>
                </a:tabLst>
              </a:pPr>
              <a:r>
                <a:rPr lang="en-US" altLang="zh-CN" sz="2000" b="1" dirty="0">
                  <a:latin typeface="Arial" panose="020B0604020202020204" pitchFamily="34" charset="0"/>
                </a:rPr>
                <a:t> Values</a:t>
              </a:r>
            </a:p>
            <a:p>
              <a:pPr marL="0" lvl="0" indent="0" algn="ctr" defTabSz="762000">
                <a:spcBef>
                  <a:spcPct val="0"/>
                </a:spcBef>
                <a:buClrTx/>
                <a:buFontTx/>
                <a:buNone/>
                <a:tabLst>
                  <a:tab pos="-635" algn="l"/>
                </a:tabLst>
              </a:pPr>
              <a:endParaRPr lang="en-US" altLang="zh-CN" sz="2000" b="1" dirty="0">
                <a:latin typeface="Arial" panose="020B0604020202020204" pitchFamily="34" charset="0"/>
              </a:endParaRPr>
            </a:p>
            <a:p>
              <a:pPr marL="0" lvl="0" indent="0" algn="ctr" defTabSz="762000">
                <a:spcBef>
                  <a:spcPct val="0"/>
                </a:spcBef>
                <a:buClrTx/>
                <a:buFontTx/>
                <a:buNone/>
                <a:tabLst>
                  <a:tab pos="-635" algn="l"/>
                </a:tabLst>
              </a:pPr>
              <a:r>
                <a:rPr lang="en-US" altLang="zh-CN" sz="2000" b="1" dirty="0">
                  <a:latin typeface="Arial" panose="020B0604020202020204" pitchFamily="34" charset="0"/>
                </a:rPr>
                <a:t>Resources &amp;</a:t>
              </a:r>
            </a:p>
            <a:p>
              <a:pPr marL="0" lvl="0" indent="0" algn="ctr" defTabSz="762000">
                <a:spcBef>
                  <a:spcPct val="0"/>
                </a:spcBef>
                <a:buClrTx/>
                <a:buFontTx/>
                <a:buNone/>
                <a:tabLst>
                  <a:tab pos="-635" algn="l"/>
                </a:tabLst>
              </a:pPr>
              <a:r>
                <a:rPr lang="en-US" altLang="zh-CN" sz="2000" b="1" dirty="0">
                  <a:latin typeface="Arial" panose="020B0604020202020204" pitchFamily="34" charset="0"/>
                </a:rPr>
                <a:t>Capabilities</a:t>
              </a:r>
            </a:p>
            <a:p>
              <a:pPr marL="0" lvl="0" indent="0" algn="ctr" defTabSz="762000">
                <a:spcBef>
                  <a:spcPct val="0"/>
                </a:spcBef>
                <a:buClrTx/>
                <a:buFontTx/>
                <a:buNone/>
                <a:tabLst>
                  <a:tab pos="-635" algn="l"/>
                </a:tabLst>
              </a:pPr>
              <a:endParaRPr lang="en-US" altLang="zh-CN" sz="2000" b="1" dirty="0">
                <a:latin typeface="Arial" panose="020B0604020202020204" pitchFamily="34" charset="0"/>
              </a:endParaRPr>
            </a:p>
            <a:p>
              <a:pPr marL="0" lvl="0" indent="0" algn="ctr" defTabSz="762000">
                <a:spcBef>
                  <a:spcPct val="0"/>
                </a:spcBef>
                <a:buClrTx/>
                <a:buFontTx/>
                <a:buNone/>
                <a:tabLst>
                  <a:tab pos="-635" algn="l"/>
                </a:tabLst>
              </a:pPr>
              <a:r>
                <a:rPr lang="en-US" altLang="zh-CN" sz="2000" b="1" dirty="0">
                  <a:latin typeface="Arial" panose="020B0604020202020204" pitchFamily="34" charset="0"/>
                </a:rPr>
                <a:t>Structure &amp; </a:t>
              </a:r>
            </a:p>
            <a:p>
              <a:pPr marL="0" lvl="0" indent="0" algn="ctr" defTabSz="762000">
                <a:spcBef>
                  <a:spcPct val="0"/>
                </a:spcBef>
                <a:buClrTx/>
                <a:buFontTx/>
                <a:buNone/>
                <a:tabLst>
                  <a:tab pos="-635" algn="l"/>
                </a:tabLst>
              </a:pPr>
              <a:r>
                <a:rPr lang="en-US" altLang="zh-CN" sz="2000" b="1" dirty="0">
                  <a:latin typeface="Arial" panose="020B0604020202020204" pitchFamily="34" charset="0"/>
                </a:rPr>
                <a:t>Systems</a:t>
              </a:r>
            </a:p>
          </p:txBody>
        </p:sp>
        <p:sp>
          <p:nvSpPr>
            <p:cNvPr id="5" name="Rectangle 4">
              <a:extLst>
                <a:ext uri="{FF2B5EF4-FFF2-40B4-BE49-F238E27FC236}">
                  <a16:creationId xmlns:a16="http://schemas.microsoft.com/office/drawing/2014/main" id="{077ECDCB-B8B9-47A9-B7B8-4425190CB5C7}"/>
                </a:ext>
              </a:extLst>
            </p:cNvPr>
            <p:cNvSpPr/>
            <p:nvPr/>
          </p:nvSpPr>
          <p:spPr>
            <a:xfrm>
              <a:off x="7889081" y="2274887"/>
              <a:ext cx="2459038" cy="2428875"/>
            </a:xfrm>
            <a:prstGeom prst="rect">
              <a:avLst/>
            </a:prstGeom>
            <a:solidFill>
              <a:srgbClr val="FFFFFF"/>
            </a:solidFill>
            <a:ln w="25400" cap="flat" cmpd="sng">
              <a:solidFill>
                <a:schemeClr val="tx1"/>
              </a:solidFill>
              <a:prstDash val="solid"/>
              <a:miter/>
              <a:headEnd type="none" w="med" len="med"/>
              <a:tailEnd type="none" w="med" len="med"/>
            </a:ln>
          </p:spPr>
          <p:txBody>
            <a:bodyPr wrap="none" lIns="90488" tIns="44450" rIns="90488" bIns="44450">
              <a:spAutoFit/>
            </a:bodyPr>
            <a:lstStyle>
              <a:lvl1pPr marL="342900" indent="-342900" algn="l" rtl="0" eaLnBrk="0" fontAlgn="base" hangingPunct="0">
                <a:spcBef>
                  <a:spcPct val="20000"/>
                </a:spcBef>
                <a:spcAft>
                  <a:spcPct val="0"/>
                </a:spcAft>
                <a:buClr>
                  <a:srgbClr val="800000"/>
                </a:buClr>
                <a:buFont typeface="Garamond" panose="02020404030301010803" pitchFamily="18" charset="0"/>
                <a:buChar char="■"/>
                <a:tabLst>
                  <a:tab pos="2293620" algn="l"/>
                  <a:tab pos="2519045" algn="l"/>
                  <a:tab pos="2743200" algn="l"/>
                  <a:tab pos="3309620" algn="l"/>
                </a:tabLst>
                <a:defRPr sz="2400">
                  <a:solidFill>
                    <a:schemeClr val="tx1"/>
                  </a:solidFill>
                  <a:latin typeface="+mn-lt"/>
                  <a:ea typeface="+mn-ea"/>
                  <a:cs typeface="+mn-cs"/>
                </a:defRPr>
              </a:lvl1pPr>
              <a:lvl2pPr marL="742950" indent="-285750" algn="l" rtl="0" eaLnBrk="0" fontAlgn="base" hangingPunct="0">
                <a:spcBef>
                  <a:spcPct val="20000"/>
                </a:spcBef>
                <a:spcAft>
                  <a:spcPct val="0"/>
                </a:spcAft>
                <a:buClr>
                  <a:srgbClr val="777777"/>
                </a:buClr>
                <a:buFont typeface="Garamond" panose="02020404030301010803" pitchFamily="18" charset="0"/>
                <a:buChar char="■"/>
                <a:tabLst>
                  <a:tab pos="2293620" algn="l"/>
                  <a:tab pos="2519045" algn="l"/>
                  <a:tab pos="2743200" algn="l"/>
                  <a:tab pos="3309620" algn="l"/>
                </a:tabLst>
                <a:defRPr sz="2200">
                  <a:solidFill>
                    <a:schemeClr val="tx1"/>
                  </a:solidFill>
                  <a:latin typeface="+mn-lt"/>
                </a:defRPr>
              </a:lvl2pPr>
              <a:lvl3pPr marL="1143000" indent="-228600" algn="l" rtl="0" eaLnBrk="0" fontAlgn="base" hangingPunct="0">
                <a:spcBef>
                  <a:spcPct val="20000"/>
                </a:spcBef>
                <a:spcAft>
                  <a:spcPct val="0"/>
                </a:spcAft>
                <a:buClr>
                  <a:srgbClr val="800000"/>
                </a:buClr>
                <a:buFont typeface="Garamond" panose="02020404030301010803" pitchFamily="18" charset="0"/>
                <a:buChar char="□"/>
                <a:tabLst>
                  <a:tab pos="2293620" algn="l"/>
                  <a:tab pos="2519045" algn="l"/>
                  <a:tab pos="2743200" algn="l"/>
                  <a:tab pos="3309620" algn="l"/>
                </a:tabLst>
                <a:defRPr sz="2000">
                  <a:solidFill>
                    <a:schemeClr val="tx1"/>
                  </a:solidFill>
                  <a:latin typeface="+mn-lt"/>
                </a:defRPr>
              </a:lvl3pPr>
              <a:lvl4pPr marL="1600200" indent="-228600" algn="l" rtl="0" eaLnBrk="0" fontAlgn="base" hangingPunct="0">
                <a:spcBef>
                  <a:spcPct val="20000"/>
                </a:spcBef>
                <a:spcAft>
                  <a:spcPct val="0"/>
                </a:spcAft>
                <a:buClr>
                  <a:srgbClr val="777777"/>
                </a:buClr>
                <a:buFont typeface="Garamond" panose="02020404030301010803" pitchFamily="18" charset="0"/>
                <a:buChar char="□"/>
                <a:tabLst>
                  <a:tab pos="2293620" algn="l"/>
                  <a:tab pos="2519045" algn="l"/>
                  <a:tab pos="2743200" algn="l"/>
                  <a:tab pos="3309620" algn="l"/>
                </a:tabLst>
                <a:defRPr>
                  <a:solidFill>
                    <a:schemeClr val="tx1"/>
                  </a:solidFill>
                  <a:latin typeface="+mn-lt"/>
                </a:defRPr>
              </a:lvl4pPr>
              <a:lvl5pPr marL="2057400" indent="-228600" algn="l" rtl="0" eaLnBrk="0" fontAlgn="base" hangingPunct="0">
                <a:spcBef>
                  <a:spcPct val="20000"/>
                </a:spcBef>
                <a:spcAft>
                  <a:spcPct val="0"/>
                </a:spcAft>
                <a:buClr>
                  <a:srgbClr val="A50021"/>
                </a:buClr>
                <a:buSzPct val="75000"/>
                <a:buFont typeface="Garamond" panose="02020404030301010803" pitchFamily="18" charset="0"/>
                <a:buChar char="■"/>
                <a:tabLst>
                  <a:tab pos="2293620" algn="l"/>
                  <a:tab pos="2519045" algn="l"/>
                  <a:tab pos="2743200" algn="l"/>
                  <a:tab pos="3309620" algn="l"/>
                </a:tabLst>
                <a:defRPr sz="1600">
                  <a:solidFill>
                    <a:schemeClr val="tx1"/>
                  </a:solidFill>
                  <a:latin typeface="+mn-lt"/>
                </a:defRPr>
              </a:lvl5pPr>
            </a:lstStyle>
            <a:p>
              <a:pPr marL="0" lvl="0" indent="0" algn="ctr" defTabSz="762000">
                <a:spcBef>
                  <a:spcPct val="0"/>
                </a:spcBef>
                <a:buClrTx/>
                <a:buFontTx/>
                <a:buNone/>
                <a:tabLst>
                  <a:tab pos="-635" algn="l"/>
                </a:tabLst>
              </a:pPr>
              <a:r>
                <a:rPr lang="en-US" altLang="zh-CN" b="1" dirty="0">
                  <a:latin typeface="Arial" panose="020B0604020202020204" pitchFamily="34" charset="0"/>
                </a:rPr>
                <a:t>THE </a:t>
              </a:r>
            </a:p>
            <a:p>
              <a:pPr marL="0" lvl="0" indent="0" algn="ctr" defTabSz="762000">
                <a:spcBef>
                  <a:spcPct val="0"/>
                </a:spcBef>
                <a:buClrTx/>
                <a:buFontTx/>
                <a:buNone/>
                <a:tabLst>
                  <a:tab pos="-635" algn="l"/>
                </a:tabLst>
              </a:pPr>
              <a:r>
                <a:rPr lang="en-US" altLang="zh-CN" b="1" dirty="0">
                  <a:latin typeface="Arial" panose="020B0604020202020204" pitchFamily="34" charset="0"/>
                </a:rPr>
                <a:t>INDUSTRY</a:t>
              </a:r>
            </a:p>
            <a:p>
              <a:pPr marL="0" lvl="0" indent="0" algn="ctr" defTabSz="762000">
                <a:spcBef>
                  <a:spcPct val="0"/>
                </a:spcBef>
                <a:buClrTx/>
                <a:buFontTx/>
                <a:buNone/>
                <a:tabLst>
                  <a:tab pos="-635" algn="l"/>
                </a:tabLst>
              </a:pPr>
              <a:r>
                <a:rPr lang="en-US" altLang="zh-CN" b="1" dirty="0">
                  <a:latin typeface="Arial" panose="020B0604020202020204" pitchFamily="34" charset="0"/>
                </a:rPr>
                <a:t>ENVIRONMENT</a:t>
              </a:r>
            </a:p>
            <a:p>
              <a:pPr marL="0" lvl="0" indent="0" algn="ctr" defTabSz="762000">
                <a:spcBef>
                  <a:spcPct val="0"/>
                </a:spcBef>
                <a:buClrTx/>
                <a:buFontTx/>
                <a:buNone/>
                <a:tabLst>
                  <a:tab pos="-635" algn="l"/>
                </a:tabLst>
              </a:pPr>
              <a:endParaRPr lang="en-US" altLang="zh-CN" sz="2000" b="1" dirty="0">
                <a:latin typeface="Arial" panose="020B0604020202020204" pitchFamily="34" charset="0"/>
              </a:endParaRPr>
            </a:p>
            <a:p>
              <a:pPr marL="0" lvl="0" indent="0" algn="ctr" defTabSz="762000">
                <a:spcBef>
                  <a:spcPct val="0"/>
                </a:spcBef>
                <a:buClrTx/>
                <a:buFontTx/>
                <a:buNone/>
                <a:tabLst>
                  <a:tab pos="-635" algn="l"/>
                </a:tabLst>
              </a:pPr>
              <a:r>
                <a:rPr lang="en-US" altLang="zh-CN" sz="2000" b="1" dirty="0">
                  <a:latin typeface="Arial" panose="020B0604020202020204" pitchFamily="34" charset="0"/>
                </a:rPr>
                <a:t>Competitors</a:t>
              </a:r>
            </a:p>
            <a:p>
              <a:pPr marL="0" lvl="0" indent="0" algn="ctr" defTabSz="762000">
                <a:spcBef>
                  <a:spcPct val="0"/>
                </a:spcBef>
                <a:buClrTx/>
                <a:buFontTx/>
                <a:buNone/>
                <a:tabLst>
                  <a:tab pos="-635" algn="l"/>
                </a:tabLst>
              </a:pPr>
              <a:r>
                <a:rPr lang="en-US" altLang="zh-CN" sz="2000" b="1" dirty="0">
                  <a:latin typeface="Arial" panose="020B0604020202020204" pitchFamily="34" charset="0"/>
                </a:rPr>
                <a:t>Customers</a:t>
              </a:r>
            </a:p>
            <a:p>
              <a:pPr marL="0" lvl="0" indent="0" algn="ctr" defTabSz="762000">
                <a:spcBef>
                  <a:spcPct val="0"/>
                </a:spcBef>
                <a:buClrTx/>
                <a:buFontTx/>
                <a:buNone/>
                <a:tabLst>
                  <a:tab pos="-635" algn="l"/>
                </a:tabLst>
              </a:pPr>
              <a:r>
                <a:rPr lang="en-US" altLang="zh-CN" sz="2000" b="1" dirty="0">
                  <a:latin typeface="Arial" panose="020B0604020202020204" pitchFamily="34" charset="0"/>
                </a:rPr>
                <a:t>Suppliers</a:t>
              </a:r>
            </a:p>
          </p:txBody>
        </p:sp>
        <p:sp>
          <p:nvSpPr>
            <p:cNvPr id="6" name="Rectangle 5">
              <a:extLst>
                <a:ext uri="{FF2B5EF4-FFF2-40B4-BE49-F238E27FC236}">
                  <a16:creationId xmlns:a16="http://schemas.microsoft.com/office/drawing/2014/main" id="{6FACE443-9137-4838-851D-D0D9CD993E74}"/>
                </a:ext>
              </a:extLst>
            </p:cNvPr>
            <p:cNvSpPr/>
            <p:nvPr/>
          </p:nvSpPr>
          <p:spPr>
            <a:xfrm>
              <a:off x="5098256" y="3214687"/>
              <a:ext cx="1566863" cy="393700"/>
            </a:xfrm>
            <a:prstGeom prst="rect">
              <a:avLst/>
            </a:prstGeom>
            <a:solidFill>
              <a:srgbClr val="FFFFFF"/>
            </a:solidFill>
            <a:ln w="12700">
              <a:noFill/>
            </a:ln>
          </p:spPr>
          <p:txBody>
            <a:bodyPr wrap="none" lIns="90488" tIns="44450" rIns="90488" bIns="44450">
              <a:spAutoFit/>
            </a:bodyPr>
            <a:lstStyle>
              <a:lvl1pPr marL="342900" indent="-342900" algn="l" rtl="0" eaLnBrk="0" fontAlgn="base" hangingPunct="0">
                <a:spcBef>
                  <a:spcPct val="20000"/>
                </a:spcBef>
                <a:spcAft>
                  <a:spcPct val="0"/>
                </a:spcAft>
                <a:buClr>
                  <a:srgbClr val="800000"/>
                </a:buClr>
                <a:buFont typeface="Garamond" panose="02020404030301010803" pitchFamily="18" charset="0"/>
                <a:buChar char="■"/>
                <a:tabLst>
                  <a:tab pos="2293620" algn="l"/>
                  <a:tab pos="2519045" algn="l"/>
                  <a:tab pos="2743200" algn="l"/>
                  <a:tab pos="3309620" algn="l"/>
                </a:tabLst>
                <a:defRPr sz="2400">
                  <a:solidFill>
                    <a:schemeClr val="tx1"/>
                  </a:solidFill>
                  <a:latin typeface="+mn-lt"/>
                  <a:ea typeface="+mn-ea"/>
                  <a:cs typeface="+mn-cs"/>
                </a:defRPr>
              </a:lvl1pPr>
              <a:lvl2pPr marL="742950" indent="-285750" algn="l" rtl="0" eaLnBrk="0" fontAlgn="base" hangingPunct="0">
                <a:spcBef>
                  <a:spcPct val="20000"/>
                </a:spcBef>
                <a:spcAft>
                  <a:spcPct val="0"/>
                </a:spcAft>
                <a:buClr>
                  <a:srgbClr val="777777"/>
                </a:buClr>
                <a:buFont typeface="Garamond" panose="02020404030301010803" pitchFamily="18" charset="0"/>
                <a:buChar char="■"/>
                <a:tabLst>
                  <a:tab pos="2293620" algn="l"/>
                  <a:tab pos="2519045" algn="l"/>
                  <a:tab pos="2743200" algn="l"/>
                  <a:tab pos="3309620" algn="l"/>
                </a:tabLst>
                <a:defRPr sz="2200">
                  <a:solidFill>
                    <a:schemeClr val="tx1"/>
                  </a:solidFill>
                  <a:latin typeface="+mn-lt"/>
                </a:defRPr>
              </a:lvl2pPr>
              <a:lvl3pPr marL="1143000" indent="-228600" algn="l" rtl="0" eaLnBrk="0" fontAlgn="base" hangingPunct="0">
                <a:spcBef>
                  <a:spcPct val="20000"/>
                </a:spcBef>
                <a:spcAft>
                  <a:spcPct val="0"/>
                </a:spcAft>
                <a:buClr>
                  <a:srgbClr val="800000"/>
                </a:buClr>
                <a:buFont typeface="Garamond" panose="02020404030301010803" pitchFamily="18" charset="0"/>
                <a:buChar char="□"/>
                <a:tabLst>
                  <a:tab pos="2293620" algn="l"/>
                  <a:tab pos="2519045" algn="l"/>
                  <a:tab pos="2743200" algn="l"/>
                  <a:tab pos="3309620" algn="l"/>
                </a:tabLst>
                <a:defRPr sz="2000">
                  <a:solidFill>
                    <a:schemeClr val="tx1"/>
                  </a:solidFill>
                  <a:latin typeface="+mn-lt"/>
                </a:defRPr>
              </a:lvl3pPr>
              <a:lvl4pPr marL="1600200" indent="-228600" algn="l" rtl="0" eaLnBrk="0" fontAlgn="base" hangingPunct="0">
                <a:spcBef>
                  <a:spcPct val="20000"/>
                </a:spcBef>
                <a:spcAft>
                  <a:spcPct val="0"/>
                </a:spcAft>
                <a:buClr>
                  <a:srgbClr val="777777"/>
                </a:buClr>
                <a:buFont typeface="Garamond" panose="02020404030301010803" pitchFamily="18" charset="0"/>
                <a:buChar char="□"/>
                <a:tabLst>
                  <a:tab pos="2293620" algn="l"/>
                  <a:tab pos="2519045" algn="l"/>
                  <a:tab pos="2743200" algn="l"/>
                  <a:tab pos="3309620" algn="l"/>
                </a:tabLst>
                <a:defRPr>
                  <a:solidFill>
                    <a:schemeClr val="tx1"/>
                  </a:solidFill>
                  <a:latin typeface="+mn-lt"/>
                </a:defRPr>
              </a:lvl4pPr>
              <a:lvl5pPr marL="2057400" indent="-228600" algn="l" rtl="0" eaLnBrk="0" fontAlgn="base" hangingPunct="0">
                <a:spcBef>
                  <a:spcPct val="20000"/>
                </a:spcBef>
                <a:spcAft>
                  <a:spcPct val="0"/>
                </a:spcAft>
                <a:buClr>
                  <a:srgbClr val="A50021"/>
                </a:buClr>
                <a:buSzPct val="75000"/>
                <a:buFont typeface="Garamond" panose="02020404030301010803" pitchFamily="18" charset="0"/>
                <a:buChar char="■"/>
                <a:tabLst>
                  <a:tab pos="2293620" algn="l"/>
                  <a:tab pos="2519045" algn="l"/>
                  <a:tab pos="2743200" algn="l"/>
                  <a:tab pos="3309620" algn="l"/>
                </a:tabLst>
                <a:defRPr sz="1600">
                  <a:solidFill>
                    <a:schemeClr val="tx1"/>
                  </a:solidFill>
                  <a:latin typeface="+mn-lt"/>
                </a:defRPr>
              </a:lvl5pPr>
            </a:lstStyle>
            <a:p>
              <a:pPr marL="0" lvl="0" indent="0" algn="ctr" defTabSz="762000">
                <a:spcBef>
                  <a:spcPct val="0"/>
                </a:spcBef>
                <a:buClrTx/>
                <a:buFontTx/>
                <a:buNone/>
                <a:tabLst>
                  <a:tab pos="-635" algn="l"/>
                </a:tabLst>
              </a:pPr>
              <a:r>
                <a:rPr lang="en-US" altLang="zh-CN" sz="2000" b="1" dirty="0">
                  <a:latin typeface="Arial" panose="020B0604020202020204" pitchFamily="34" charset="0"/>
                </a:rPr>
                <a:t>STRATEGY</a:t>
              </a:r>
            </a:p>
          </p:txBody>
        </p:sp>
        <p:sp>
          <p:nvSpPr>
            <p:cNvPr id="7" name="Oval 6">
              <a:extLst>
                <a:ext uri="{FF2B5EF4-FFF2-40B4-BE49-F238E27FC236}">
                  <a16:creationId xmlns:a16="http://schemas.microsoft.com/office/drawing/2014/main" id="{FA04144E-EBCC-4BBD-8C5C-0503776584A5}"/>
                </a:ext>
              </a:extLst>
            </p:cNvPr>
            <p:cNvSpPr/>
            <p:nvPr/>
          </p:nvSpPr>
          <p:spPr>
            <a:xfrm>
              <a:off x="4587081" y="2808287"/>
              <a:ext cx="2362200" cy="1371600"/>
            </a:xfrm>
            <a:prstGeom prst="ellipse">
              <a:avLst/>
            </a:prstGeom>
            <a:solidFill>
              <a:srgbClr val="FFFFFF"/>
            </a:solidFill>
            <a:ln w="254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rgbClr val="800000"/>
                </a:buClr>
                <a:buFont typeface="Garamond" panose="02020404030301010803" pitchFamily="18" charset="0"/>
                <a:buChar char="■"/>
                <a:tabLst>
                  <a:tab pos="2293620" algn="l"/>
                  <a:tab pos="2519045" algn="l"/>
                  <a:tab pos="2743200" algn="l"/>
                  <a:tab pos="3309620" algn="l"/>
                </a:tabLst>
                <a:defRPr sz="2400">
                  <a:solidFill>
                    <a:schemeClr val="tx1"/>
                  </a:solidFill>
                  <a:latin typeface="+mn-lt"/>
                  <a:ea typeface="+mn-ea"/>
                  <a:cs typeface="+mn-cs"/>
                </a:defRPr>
              </a:lvl1pPr>
              <a:lvl2pPr marL="742950" indent="-285750" algn="l" rtl="0" eaLnBrk="0" fontAlgn="base" hangingPunct="0">
                <a:spcBef>
                  <a:spcPct val="20000"/>
                </a:spcBef>
                <a:spcAft>
                  <a:spcPct val="0"/>
                </a:spcAft>
                <a:buClr>
                  <a:srgbClr val="777777"/>
                </a:buClr>
                <a:buFont typeface="Garamond" panose="02020404030301010803" pitchFamily="18" charset="0"/>
                <a:buChar char="■"/>
                <a:tabLst>
                  <a:tab pos="2293620" algn="l"/>
                  <a:tab pos="2519045" algn="l"/>
                  <a:tab pos="2743200" algn="l"/>
                  <a:tab pos="3309620" algn="l"/>
                </a:tabLst>
                <a:defRPr sz="2200">
                  <a:solidFill>
                    <a:schemeClr val="tx1"/>
                  </a:solidFill>
                  <a:latin typeface="+mn-lt"/>
                </a:defRPr>
              </a:lvl2pPr>
              <a:lvl3pPr marL="1143000" indent="-228600" algn="l" rtl="0" eaLnBrk="0" fontAlgn="base" hangingPunct="0">
                <a:spcBef>
                  <a:spcPct val="20000"/>
                </a:spcBef>
                <a:spcAft>
                  <a:spcPct val="0"/>
                </a:spcAft>
                <a:buClr>
                  <a:srgbClr val="800000"/>
                </a:buClr>
                <a:buFont typeface="Garamond" panose="02020404030301010803" pitchFamily="18" charset="0"/>
                <a:buChar char="□"/>
                <a:tabLst>
                  <a:tab pos="2293620" algn="l"/>
                  <a:tab pos="2519045" algn="l"/>
                  <a:tab pos="2743200" algn="l"/>
                  <a:tab pos="3309620" algn="l"/>
                </a:tabLst>
                <a:defRPr sz="2000">
                  <a:solidFill>
                    <a:schemeClr val="tx1"/>
                  </a:solidFill>
                  <a:latin typeface="+mn-lt"/>
                </a:defRPr>
              </a:lvl3pPr>
              <a:lvl4pPr marL="1600200" indent="-228600" algn="l" rtl="0" eaLnBrk="0" fontAlgn="base" hangingPunct="0">
                <a:spcBef>
                  <a:spcPct val="20000"/>
                </a:spcBef>
                <a:spcAft>
                  <a:spcPct val="0"/>
                </a:spcAft>
                <a:buClr>
                  <a:srgbClr val="777777"/>
                </a:buClr>
                <a:buFont typeface="Garamond" panose="02020404030301010803" pitchFamily="18" charset="0"/>
                <a:buChar char="□"/>
                <a:tabLst>
                  <a:tab pos="2293620" algn="l"/>
                  <a:tab pos="2519045" algn="l"/>
                  <a:tab pos="2743200" algn="l"/>
                  <a:tab pos="3309620" algn="l"/>
                </a:tabLst>
                <a:defRPr>
                  <a:solidFill>
                    <a:schemeClr val="tx1"/>
                  </a:solidFill>
                  <a:latin typeface="+mn-lt"/>
                </a:defRPr>
              </a:lvl4pPr>
              <a:lvl5pPr marL="2057400" indent="-228600" algn="l" rtl="0" eaLnBrk="0" fontAlgn="base" hangingPunct="0">
                <a:spcBef>
                  <a:spcPct val="20000"/>
                </a:spcBef>
                <a:spcAft>
                  <a:spcPct val="0"/>
                </a:spcAft>
                <a:buClr>
                  <a:srgbClr val="A50021"/>
                </a:buClr>
                <a:buSzPct val="75000"/>
                <a:buFont typeface="Garamond" panose="02020404030301010803" pitchFamily="18" charset="0"/>
                <a:buChar char="■"/>
                <a:tabLst>
                  <a:tab pos="2293620" algn="l"/>
                  <a:tab pos="2519045" algn="l"/>
                  <a:tab pos="2743200" algn="l"/>
                  <a:tab pos="3309620" algn="l"/>
                </a:tabLst>
                <a:defRPr sz="1600">
                  <a:solidFill>
                    <a:schemeClr val="tx1"/>
                  </a:solidFill>
                  <a:latin typeface="+mn-lt"/>
                </a:defRPr>
              </a:lvl5pPr>
            </a:lstStyle>
            <a:p>
              <a:pPr marL="0" lvl="0" indent="0" algn="ctr" defTabSz="914400" eaLnBrk="1" hangingPunct="1">
                <a:spcBef>
                  <a:spcPct val="0"/>
                </a:spcBef>
                <a:buClrTx/>
                <a:buFontTx/>
                <a:buNone/>
                <a:tabLst>
                  <a:tab pos="-635" algn="l"/>
                </a:tabLst>
              </a:pPr>
              <a:endParaRPr sz="1800" dirty="0">
                <a:latin typeface="Arial" panose="020B0604020202020204" pitchFamily="34" charset="0"/>
              </a:endParaRPr>
            </a:p>
          </p:txBody>
        </p:sp>
        <p:sp>
          <p:nvSpPr>
            <p:cNvPr id="8" name="Rectangle 7">
              <a:extLst>
                <a:ext uri="{FF2B5EF4-FFF2-40B4-BE49-F238E27FC236}">
                  <a16:creationId xmlns:a16="http://schemas.microsoft.com/office/drawing/2014/main" id="{0309DC72-6B19-4277-938D-EA38B5A50931}"/>
                </a:ext>
              </a:extLst>
            </p:cNvPr>
            <p:cNvSpPr/>
            <p:nvPr/>
          </p:nvSpPr>
          <p:spPr>
            <a:xfrm>
              <a:off x="4739481" y="3265487"/>
              <a:ext cx="2133600" cy="515937"/>
            </a:xfrm>
            <a:prstGeom prst="rect">
              <a:avLst/>
            </a:prstGeom>
            <a:solidFill>
              <a:srgbClr val="FFFFFF"/>
            </a:solidFill>
            <a:ln w="12700">
              <a:noFill/>
            </a:ln>
          </p:spPr>
          <p:txBody>
            <a:bodyPr lIns="90488" tIns="44450" rIns="90488" bIns="44450">
              <a:spAutoFit/>
            </a:bodyPr>
            <a:lstStyle>
              <a:lvl1pPr marL="342900" indent="-342900" algn="l" rtl="0" eaLnBrk="0" fontAlgn="base" hangingPunct="0">
                <a:spcBef>
                  <a:spcPct val="20000"/>
                </a:spcBef>
                <a:spcAft>
                  <a:spcPct val="0"/>
                </a:spcAft>
                <a:buClr>
                  <a:srgbClr val="800000"/>
                </a:buClr>
                <a:buFont typeface="Garamond" panose="02020404030301010803" pitchFamily="18" charset="0"/>
                <a:buChar char="■"/>
                <a:tabLst>
                  <a:tab pos="2293620" algn="l"/>
                  <a:tab pos="2519045" algn="l"/>
                  <a:tab pos="2743200" algn="l"/>
                  <a:tab pos="3309620" algn="l"/>
                </a:tabLst>
                <a:defRPr sz="2400">
                  <a:solidFill>
                    <a:schemeClr val="tx1"/>
                  </a:solidFill>
                  <a:latin typeface="+mn-lt"/>
                  <a:ea typeface="+mn-ea"/>
                  <a:cs typeface="+mn-cs"/>
                </a:defRPr>
              </a:lvl1pPr>
              <a:lvl2pPr marL="742950" indent="-285750" algn="l" rtl="0" eaLnBrk="0" fontAlgn="base" hangingPunct="0">
                <a:spcBef>
                  <a:spcPct val="20000"/>
                </a:spcBef>
                <a:spcAft>
                  <a:spcPct val="0"/>
                </a:spcAft>
                <a:buClr>
                  <a:srgbClr val="777777"/>
                </a:buClr>
                <a:buFont typeface="Garamond" panose="02020404030301010803" pitchFamily="18" charset="0"/>
                <a:buChar char="■"/>
                <a:tabLst>
                  <a:tab pos="2293620" algn="l"/>
                  <a:tab pos="2519045" algn="l"/>
                  <a:tab pos="2743200" algn="l"/>
                  <a:tab pos="3309620" algn="l"/>
                </a:tabLst>
                <a:defRPr sz="2200">
                  <a:solidFill>
                    <a:schemeClr val="tx1"/>
                  </a:solidFill>
                  <a:latin typeface="+mn-lt"/>
                </a:defRPr>
              </a:lvl2pPr>
              <a:lvl3pPr marL="1143000" indent="-228600" algn="l" rtl="0" eaLnBrk="0" fontAlgn="base" hangingPunct="0">
                <a:spcBef>
                  <a:spcPct val="20000"/>
                </a:spcBef>
                <a:spcAft>
                  <a:spcPct val="0"/>
                </a:spcAft>
                <a:buClr>
                  <a:srgbClr val="800000"/>
                </a:buClr>
                <a:buFont typeface="Garamond" panose="02020404030301010803" pitchFamily="18" charset="0"/>
                <a:buChar char="□"/>
                <a:tabLst>
                  <a:tab pos="2293620" algn="l"/>
                  <a:tab pos="2519045" algn="l"/>
                  <a:tab pos="2743200" algn="l"/>
                  <a:tab pos="3309620" algn="l"/>
                </a:tabLst>
                <a:defRPr sz="2000">
                  <a:solidFill>
                    <a:schemeClr val="tx1"/>
                  </a:solidFill>
                  <a:latin typeface="+mn-lt"/>
                </a:defRPr>
              </a:lvl3pPr>
              <a:lvl4pPr marL="1600200" indent="-228600" algn="l" rtl="0" eaLnBrk="0" fontAlgn="base" hangingPunct="0">
                <a:spcBef>
                  <a:spcPct val="20000"/>
                </a:spcBef>
                <a:spcAft>
                  <a:spcPct val="0"/>
                </a:spcAft>
                <a:buClr>
                  <a:srgbClr val="777777"/>
                </a:buClr>
                <a:buFont typeface="Garamond" panose="02020404030301010803" pitchFamily="18" charset="0"/>
                <a:buChar char="□"/>
                <a:tabLst>
                  <a:tab pos="2293620" algn="l"/>
                  <a:tab pos="2519045" algn="l"/>
                  <a:tab pos="2743200" algn="l"/>
                  <a:tab pos="3309620" algn="l"/>
                </a:tabLst>
                <a:defRPr>
                  <a:solidFill>
                    <a:schemeClr val="tx1"/>
                  </a:solidFill>
                  <a:latin typeface="+mn-lt"/>
                </a:defRPr>
              </a:lvl4pPr>
              <a:lvl5pPr marL="2057400" indent="-228600" algn="l" rtl="0" eaLnBrk="0" fontAlgn="base" hangingPunct="0">
                <a:spcBef>
                  <a:spcPct val="20000"/>
                </a:spcBef>
                <a:spcAft>
                  <a:spcPct val="0"/>
                </a:spcAft>
                <a:buClr>
                  <a:srgbClr val="A50021"/>
                </a:buClr>
                <a:buSzPct val="75000"/>
                <a:buFont typeface="Garamond" panose="02020404030301010803" pitchFamily="18" charset="0"/>
                <a:buChar char="■"/>
                <a:tabLst>
                  <a:tab pos="2293620" algn="l"/>
                  <a:tab pos="2519045" algn="l"/>
                  <a:tab pos="2743200" algn="l"/>
                  <a:tab pos="3309620" algn="l"/>
                </a:tabLst>
                <a:defRPr sz="1600">
                  <a:solidFill>
                    <a:schemeClr val="tx1"/>
                  </a:solidFill>
                  <a:latin typeface="+mn-lt"/>
                </a:defRPr>
              </a:lvl5pPr>
            </a:lstStyle>
            <a:p>
              <a:pPr marL="0" lvl="0" indent="0" algn="ctr" defTabSz="762000">
                <a:spcBef>
                  <a:spcPct val="50000"/>
                </a:spcBef>
                <a:buClrTx/>
                <a:buFontTx/>
                <a:buNone/>
                <a:tabLst>
                  <a:tab pos="-635" algn="l"/>
                </a:tabLst>
              </a:pPr>
              <a:r>
                <a:rPr lang="en-US" altLang="zh-CN" sz="2800" b="1" dirty="0">
                  <a:latin typeface="Arial" panose="020B0604020202020204" pitchFamily="34" charset="0"/>
                </a:rPr>
                <a:t>STRATEGY</a:t>
              </a:r>
            </a:p>
          </p:txBody>
        </p:sp>
        <p:sp>
          <p:nvSpPr>
            <p:cNvPr id="9" name="AutoShape 7">
              <a:extLst>
                <a:ext uri="{FF2B5EF4-FFF2-40B4-BE49-F238E27FC236}">
                  <a16:creationId xmlns:a16="http://schemas.microsoft.com/office/drawing/2014/main" id="{382E49F2-A852-41B7-9D2B-CD8B7264C44A}"/>
                </a:ext>
              </a:extLst>
            </p:cNvPr>
            <p:cNvSpPr/>
            <p:nvPr/>
          </p:nvSpPr>
          <p:spPr>
            <a:xfrm>
              <a:off x="3672681" y="3127256"/>
              <a:ext cx="914400" cy="733663"/>
            </a:xfrm>
            <a:prstGeom prst="leftRightArrow">
              <a:avLst>
                <a:gd name="adj1" fmla="val 50000"/>
                <a:gd name="adj2" fmla="val 30000"/>
              </a:avLst>
            </a:prstGeom>
            <a:solidFill>
              <a:schemeClr val="accent1"/>
            </a:solidFill>
            <a:ln w="12700" cap="flat" cmpd="sng">
              <a:solidFill>
                <a:schemeClr val="tx1"/>
              </a:solidFill>
              <a:prstDash val="solid"/>
              <a:miter/>
              <a:headEnd type="none" w="med" len="med"/>
              <a:tailEnd type="none" w="med" len="med"/>
            </a:ln>
            <a:effectLst>
              <a:outerShdw dist="107763" dir="2699999" algn="ctr" rotWithShape="0">
                <a:schemeClr val="bg2"/>
              </a:outerShdw>
            </a:effectLst>
          </p:spPr>
          <p:txBody>
            <a:bodyPr anchor="ctr">
              <a:spAutoFit/>
            </a:bodyPr>
            <a:lstStyle>
              <a:lvl1pPr marL="342900" indent="-342900" algn="l" rtl="0" eaLnBrk="0" fontAlgn="base" hangingPunct="0">
                <a:spcBef>
                  <a:spcPct val="20000"/>
                </a:spcBef>
                <a:spcAft>
                  <a:spcPct val="0"/>
                </a:spcAft>
                <a:buClr>
                  <a:srgbClr val="800000"/>
                </a:buClr>
                <a:buFont typeface="Garamond" panose="02020404030301010803" pitchFamily="18" charset="0"/>
                <a:buChar char="■"/>
                <a:tabLst>
                  <a:tab pos="2293620" algn="l"/>
                  <a:tab pos="2519045" algn="l"/>
                  <a:tab pos="2743200" algn="l"/>
                  <a:tab pos="3309620" algn="l"/>
                </a:tabLst>
                <a:defRPr sz="2400">
                  <a:solidFill>
                    <a:schemeClr val="tx1"/>
                  </a:solidFill>
                  <a:latin typeface="+mn-lt"/>
                  <a:ea typeface="+mn-ea"/>
                  <a:cs typeface="+mn-cs"/>
                </a:defRPr>
              </a:lvl1pPr>
              <a:lvl2pPr marL="742950" indent="-285750" algn="l" rtl="0" eaLnBrk="0" fontAlgn="base" hangingPunct="0">
                <a:spcBef>
                  <a:spcPct val="20000"/>
                </a:spcBef>
                <a:spcAft>
                  <a:spcPct val="0"/>
                </a:spcAft>
                <a:buClr>
                  <a:srgbClr val="777777"/>
                </a:buClr>
                <a:buFont typeface="Garamond" panose="02020404030301010803" pitchFamily="18" charset="0"/>
                <a:buChar char="■"/>
                <a:tabLst>
                  <a:tab pos="2293620" algn="l"/>
                  <a:tab pos="2519045" algn="l"/>
                  <a:tab pos="2743200" algn="l"/>
                  <a:tab pos="3309620" algn="l"/>
                </a:tabLst>
                <a:defRPr sz="2200">
                  <a:solidFill>
                    <a:schemeClr val="tx1"/>
                  </a:solidFill>
                  <a:latin typeface="+mn-lt"/>
                </a:defRPr>
              </a:lvl2pPr>
              <a:lvl3pPr marL="1143000" indent="-228600" algn="l" rtl="0" eaLnBrk="0" fontAlgn="base" hangingPunct="0">
                <a:spcBef>
                  <a:spcPct val="20000"/>
                </a:spcBef>
                <a:spcAft>
                  <a:spcPct val="0"/>
                </a:spcAft>
                <a:buClr>
                  <a:srgbClr val="800000"/>
                </a:buClr>
                <a:buFont typeface="Garamond" panose="02020404030301010803" pitchFamily="18" charset="0"/>
                <a:buChar char="□"/>
                <a:tabLst>
                  <a:tab pos="2293620" algn="l"/>
                  <a:tab pos="2519045" algn="l"/>
                  <a:tab pos="2743200" algn="l"/>
                  <a:tab pos="3309620" algn="l"/>
                </a:tabLst>
                <a:defRPr sz="2000">
                  <a:solidFill>
                    <a:schemeClr val="tx1"/>
                  </a:solidFill>
                  <a:latin typeface="+mn-lt"/>
                </a:defRPr>
              </a:lvl3pPr>
              <a:lvl4pPr marL="1600200" indent="-228600" algn="l" rtl="0" eaLnBrk="0" fontAlgn="base" hangingPunct="0">
                <a:spcBef>
                  <a:spcPct val="20000"/>
                </a:spcBef>
                <a:spcAft>
                  <a:spcPct val="0"/>
                </a:spcAft>
                <a:buClr>
                  <a:srgbClr val="777777"/>
                </a:buClr>
                <a:buFont typeface="Garamond" panose="02020404030301010803" pitchFamily="18" charset="0"/>
                <a:buChar char="□"/>
                <a:tabLst>
                  <a:tab pos="2293620" algn="l"/>
                  <a:tab pos="2519045" algn="l"/>
                  <a:tab pos="2743200" algn="l"/>
                  <a:tab pos="3309620" algn="l"/>
                </a:tabLst>
                <a:defRPr>
                  <a:solidFill>
                    <a:schemeClr val="tx1"/>
                  </a:solidFill>
                  <a:latin typeface="+mn-lt"/>
                </a:defRPr>
              </a:lvl4pPr>
              <a:lvl5pPr marL="2057400" indent="-228600" algn="l" rtl="0" eaLnBrk="0" fontAlgn="base" hangingPunct="0">
                <a:spcBef>
                  <a:spcPct val="20000"/>
                </a:spcBef>
                <a:spcAft>
                  <a:spcPct val="0"/>
                </a:spcAft>
                <a:buClr>
                  <a:srgbClr val="A50021"/>
                </a:buClr>
                <a:buSzPct val="75000"/>
                <a:buFont typeface="Garamond" panose="02020404030301010803" pitchFamily="18" charset="0"/>
                <a:buChar char="■"/>
                <a:tabLst>
                  <a:tab pos="2293620" algn="l"/>
                  <a:tab pos="2519045" algn="l"/>
                  <a:tab pos="2743200" algn="l"/>
                  <a:tab pos="3309620" algn="l"/>
                </a:tabLst>
                <a:defRPr sz="1600">
                  <a:solidFill>
                    <a:schemeClr val="tx1"/>
                  </a:solidFill>
                  <a:latin typeface="+mn-lt"/>
                </a:defRPr>
              </a:lvl5pPr>
            </a:lstStyle>
            <a:p>
              <a:pPr marL="0" lvl="0" indent="0" algn="ctr" defTabSz="914400" eaLnBrk="1" hangingPunct="1">
                <a:spcBef>
                  <a:spcPct val="0"/>
                </a:spcBef>
                <a:buClrTx/>
                <a:buFontTx/>
                <a:buNone/>
                <a:tabLst>
                  <a:tab pos="-635" algn="l"/>
                </a:tabLst>
              </a:pPr>
              <a:endParaRPr sz="1800" dirty="0">
                <a:latin typeface="Arial" panose="020B0604020202020204" pitchFamily="34" charset="0"/>
              </a:endParaRPr>
            </a:p>
          </p:txBody>
        </p:sp>
        <p:sp>
          <p:nvSpPr>
            <p:cNvPr id="10" name="AutoShape 8">
              <a:extLst>
                <a:ext uri="{FF2B5EF4-FFF2-40B4-BE49-F238E27FC236}">
                  <a16:creationId xmlns:a16="http://schemas.microsoft.com/office/drawing/2014/main" id="{BD4C495F-1823-42DE-8DE4-1A68D175F721}"/>
                </a:ext>
              </a:extLst>
            </p:cNvPr>
            <p:cNvSpPr/>
            <p:nvPr/>
          </p:nvSpPr>
          <p:spPr>
            <a:xfrm>
              <a:off x="6949281" y="3127256"/>
              <a:ext cx="838200" cy="733663"/>
            </a:xfrm>
            <a:prstGeom prst="leftRightArrow">
              <a:avLst>
                <a:gd name="adj1" fmla="val 50000"/>
                <a:gd name="adj2" fmla="val 27500"/>
              </a:avLst>
            </a:prstGeom>
            <a:solidFill>
              <a:schemeClr val="accent1"/>
            </a:solidFill>
            <a:ln w="12700" cap="flat" cmpd="sng">
              <a:solidFill>
                <a:schemeClr val="tx1"/>
              </a:solidFill>
              <a:prstDash val="solid"/>
              <a:miter/>
              <a:headEnd type="none" w="med" len="med"/>
              <a:tailEnd type="none" w="med" len="med"/>
            </a:ln>
            <a:effectLst>
              <a:outerShdw dist="107763" dir="2699999" algn="ctr" rotWithShape="0">
                <a:schemeClr val="bg2"/>
              </a:outerShdw>
            </a:effectLst>
          </p:spPr>
          <p:txBody>
            <a:bodyPr anchor="ctr">
              <a:spAutoFit/>
            </a:bodyPr>
            <a:lstStyle>
              <a:lvl1pPr marL="342900" indent="-342900" algn="l" rtl="0" eaLnBrk="0" fontAlgn="base" hangingPunct="0">
                <a:spcBef>
                  <a:spcPct val="20000"/>
                </a:spcBef>
                <a:spcAft>
                  <a:spcPct val="0"/>
                </a:spcAft>
                <a:buClr>
                  <a:srgbClr val="800000"/>
                </a:buClr>
                <a:buFont typeface="Garamond" panose="02020404030301010803" pitchFamily="18" charset="0"/>
                <a:buChar char="■"/>
                <a:tabLst>
                  <a:tab pos="2293620" algn="l"/>
                  <a:tab pos="2519045" algn="l"/>
                  <a:tab pos="2743200" algn="l"/>
                  <a:tab pos="3309620" algn="l"/>
                </a:tabLst>
                <a:defRPr sz="2400">
                  <a:solidFill>
                    <a:schemeClr val="tx1"/>
                  </a:solidFill>
                  <a:latin typeface="+mn-lt"/>
                  <a:ea typeface="+mn-ea"/>
                  <a:cs typeface="+mn-cs"/>
                </a:defRPr>
              </a:lvl1pPr>
              <a:lvl2pPr marL="742950" indent="-285750" algn="l" rtl="0" eaLnBrk="0" fontAlgn="base" hangingPunct="0">
                <a:spcBef>
                  <a:spcPct val="20000"/>
                </a:spcBef>
                <a:spcAft>
                  <a:spcPct val="0"/>
                </a:spcAft>
                <a:buClr>
                  <a:srgbClr val="777777"/>
                </a:buClr>
                <a:buFont typeface="Garamond" panose="02020404030301010803" pitchFamily="18" charset="0"/>
                <a:buChar char="■"/>
                <a:tabLst>
                  <a:tab pos="2293620" algn="l"/>
                  <a:tab pos="2519045" algn="l"/>
                  <a:tab pos="2743200" algn="l"/>
                  <a:tab pos="3309620" algn="l"/>
                </a:tabLst>
                <a:defRPr sz="2200">
                  <a:solidFill>
                    <a:schemeClr val="tx1"/>
                  </a:solidFill>
                  <a:latin typeface="+mn-lt"/>
                </a:defRPr>
              </a:lvl2pPr>
              <a:lvl3pPr marL="1143000" indent="-228600" algn="l" rtl="0" eaLnBrk="0" fontAlgn="base" hangingPunct="0">
                <a:spcBef>
                  <a:spcPct val="20000"/>
                </a:spcBef>
                <a:spcAft>
                  <a:spcPct val="0"/>
                </a:spcAft>
                <a:buClr>
                  <a:srgbClr val="800000"/>
                </a:buClr>
                <a:buFont typeface="Garamond" panose="02020404030301010803" pitchFamily="18" charset="0"/>
                <a:buChar char="□"/>
                <a:tabLst>
                  <a:tab pos="2293620" algn="l"/>
                  <a:tab pos="2519045" algn="l"/>
                  <a:tab pos="2743200" algn="l"/>
                  <a:tab pos="3309620" algn="l"/>
                </a:tabLst>
                <a:defRPr sz="2000">
                  <a:solidFill>
                    <a:schemeClr val="tx1"/>
                  </a:solidFill>
                  <a:latin typeface="+mn-lt"/>
                </a:defRPr>
              </a:lvl3pPr>
              <a:lvl4pPr marL="1600200" indent="-228600" algn="l" rtl="0" eaLnBrk="0" fontAlgn="base" hangingPunct="0">
                <a:spcBef>
                  <a:spcPct val="20000"/>
                </a:spcBef>
                <a:spcAft>
                  <a:spcPct val="0"/>
                </a:spcAft>
                <a:buClr>
                  <a:srgbClr val="777777"/>
                </a:buClr>
                <a:buFont typeface="Garamond" panose="02020404030301010803" pitchFamily="18" charset="0"/>
                <a:buChar char="□"/>
                <a:tabLst>
                  <a:tab pos="2293620" algn="l"/>
                  <a:tab pos="2519045" algn="l"/>
                  <a:tab pos="2743200" algn="l"/>
                  <a:tab pos="3309620" algn="l"/>
                </a:tabLst>
                <a:defRPr>
                  <a:solidFill>
                    <a:schemeClr val="tx1"/>
                  </a:solidFill>
                  <a:latin typeface="+mn-lt"/>
                </a:defRPr>
              </a:lvl4pPr>
              <a:lvl5pPr marL="2057400" indent="-228600" algn="l" rtl="0" eaLnBrk="0" fontAlgn="base" hangingPunct="0">
                <a:spcBef>
                  <a:spcPct val="20000"/>
                </a:spcBef>
                <a:spcAft>
                  <a:spcPct val="0"/>
                </a:spcAft>
                <a:buClr>
                  <a:srgbClr val="A50021"/>
                </a:buClr>
                <a:buSzPct val="75000"/>
                <a:buFont typeface="Garamond" panose="02020404030301010803" pitchFamily="18" charset="0"/>
                <a:buChar char="■"/>
                <a:tabLst>
                  <a:tab pos="2293620" algn="l"/>
                  <a:tab pos="2519045" algn="l"/>
                  <a:tab pos="2743200" algn="l"/>
                  <a:tab pos="3309620" algn="l"/>
                </a:tabLst>
                <a:defRPr sz="1600">
                  <a:solidFill>
                    <a:schemeClr val="tx1"/>
                  </a:solidFill>
                  <a:latin typeface="+mn-lt"/>
                </a:defRPr>
              </a:lvl5pPr>
            </a:lstStyle>
            <a:p>
              <a:pPr marL="0" lvl="0" indent="0" algn="ctr" defTabSz="914400" eaLnBrk="1" hangingPunct="1">
                <a:spcBef>
                  <a:spcPct val="0"/>
                </a:spcBef>
                <a:buClrTx/>
                <a:buFontTx/>
                <a:buNone/>
                <a:tabLst>
                  <a:tab pos="-635" algn="l"/>
                </a:tabLst>
              </a:pPr>
              <a:endParaRPr sz="1800" dirty="0">
                <a:latin typeface="Arial" panose="020B0604020202020204" pitchFamily="34" charset="0"/>
              </a:endParaRPr>
            </a:p>
          </p:txBody>
        </p:sp>
      </p:grpSp>
    </p:spTree>
    <p:extLst>
      <p:ext uri="{BB962C8B-B14F-4D97-AF65-F5344CB8AC3E}">
        <p14:creationId xmlns:p14="http://schemas.microsoft.com/office/powerpoint/2010/main" val="3232782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AFEE0-1B30-3F26-229D-12BC30B011B3}"/>
              </a:ext>
            </a:extLst>
          </p:cNvPr>
          <p:cNvSpPr>
            <a:spLocks noGrp="1"/>
          </p:cNvSpPr>
          <p:nvPr>
            <p:ph type="title"/>
          </p:nvPr>
        </p:nvSpPr>
        <p:spPr>
          <a:xfrm>
            <a:off x="532597" y="32288"/>
            <a:ext cx="9993331" cy="1143000"/>
          </a:xfrm>
        </p:spPr>
        <p:txBody>
          <a:bodyPr/>
          <a:lstStyle/>
          <a:p>
            <a:r>
              <a:rPr lang="en-US" dirty="0"/>
              <a:t>Monitoring through Goals</a:t>
            </a:r>
          </a:p>
        </p:txBody>
      </p:sp>
      <p:sp>
        <p:nvSpPr>
          <p:cNvPr id="3" name="Content Placeholder 2">
            <a:extLst>
              <a:ext uri="{FF2B5EF4-FFF2-40B4-BE49-F238E27FC236}">
                <a16:creationId xmlns:a16="http://schemas.microsoft.com/office/drawing/2014/main" id="{0A1A0EA6-1B4C-1EBC-82CD-0AEFB7DDAEC4}"/>
              </a:ext>
            </a:extLst>
          </p:cNvPr>
          <p:cNvSpPr>
            <a:spLocks noGrp="1"/>
          </p:cNvSpPr>
          <p:nvPr>
            <p:ph sz="half" idx="1"/>
          </p:nvPr>
        </p:nvSpPr>
        <p:spPr>
          <a:xfrm>
            <a:off x="609600" y="1958641"/>
            <a:ext cx="10306050" cy="4624184"/>
          </a:xfrm>
        </p:spPr>
        <p:txBody>
          <a:bodyPr>
            <a:normAutofit/>
          </a:bodyPr>
          <a:lstStyle/>
          <a:p>
            <a:pPr marL="0" indent="0" defTabSz="914400" eaLnBrk="0" fontAlgn="base" hangingPunct="0">
              <a:lnSpc>
                <a:spcPct val="105000"/>
              </a:lnSpc>
              <a:spcBef>
                <a:spcPct val="0"/>
              </a:spcBef>
              <a:spcAft>
                <a:spcPct val="0"/>
              </a:spcAft>
              <a:buSzPct val="100000"/>
              <a:buNone/>
              <a:defRPr/>
            </a:pPr>
            <a:r>
              <a:rPr lang="en-US" sz="3200" kern="0" dirty="0">
                <a:solidFill>
                  <a:srgbClr val="000000"/>
                </a:solidFill>
              </a:rPr>
              <a:t>Key characteristics of well-constructed goals</a:t>
            </a:r>
            <a:endParaRPr lang="en-US" sz="600" kern="0" dirty="0">
              <a:solidFill>
                <a:srgbClr val="000000"/>
              </a:solidFill>
            </a:endParaRPr>
          </a:p>
          <a:p>
            <a:pPr fontAlgn="base">
              <a:lnSpc>
                <a:spcPct val="105000"/>
              </a:lnSpc>
              <a:spcAft>
                <a:spcPct val="0"/>
              </a:spcAft>
              <a:buSzPct val="100000"/>
              <a:defRPr/>
            </a:pPr>
            <a:r>
              <a:rPr lang="en-US" kern="0" dirty="0">
                <a:solidFill>
                  <a:srgbClr val="000000"/>
                </a:solidFill>
              </a:rPr>
              <a:t>Precise and measurable</a:t>
            </a:r>
          </a:p>
          <a:p>
            <a:pPr marL="1142986" lvl="1" indent="-609600" defTabSz="914400" eaLnBrk="0" fontAlgn="base" hangingPunct="0">
              <a:lnSpc>
                <a:spcPct val="105000"/>
              </a:lnSpc>
              <a:spcBef>
                <a:spcPct val="0"/>
              </a:spcBef>
              <a:spcAft>
                <a:spcPct val="0"/>
              </a:spcAft>
              <a:buSzPct val="100000"/>
              <a:defRPr/>
            </a:pPr>
            <a:r>
              <a:rPr lang="en-US" sz="2000" kern="0" dirty="0">
                <a:solidFill>
                  <a:srgbClr val="000000"/>
                </a:solidFill>
              </a:rPr>
              <a:t>To provide a yardstick or standard to judge performance </a:t>
            </a:r>
          </a:p>
          <a:p>
            <a:pPr marL="609600" indent="-609600" defTabSz="914400" eaLnBrk="0" fontAlgn="base" hangingPunct="0">
              <a:lnSpc>
                <a:spcPct val="105000"/>
              </a:lnSpc>
              <a:spcBef>
                <a:spcPct val="0"/>
              </a:spcBef>
              <a:spcAft>
                <a:spcPct val="0"/>
              </a:spcAft>
              <a:buSzPct val="100000"/>
              <a:defRPr/>
            </a:pPr>
            <a:r>
              <a:rPr lang="en-US" kern="0" dirty="0">
                <a:solidFill>
                  <a:srgbClr val="000000"/>
                </a:solidFill>
              </a:rPr>
              <a:t>Address crucial issues</a:t>
            </a:r>
          </a:p>
          <a:p>
            <a:pPr marL="1142986" lvl="1" indent="-609600" defTabSz="914400" eaLnBrk="0" fontAlgn="base" hangingPunct="0">
              <a:lnSpc>
                <a:spcPct val="105000"/>
              </a:lnSpc>
              <a:spcBef>
                <a:spcPct val="0"/>
              </a:spcBef>
              <a:spcAft>
                <a:spcPct val="0"/>
              </a:spcAft>
              <a:buSzPct val="100000"/>
              <a:defRPr/>
            </a:pPr>
            <a:r>
              <a:rPr lang="en-US" sz="2000" kern="0" dirty="0">
                <a:solidFill>
                  <a:srgbClr val="000000"/>
                </a:solidFill>
              </a:rPr>
              <a:t>With a limited number of key goals that help to maintain focus</a:t>
            </a:r>
          </a:p>
          <a:p>
            <a:pPr marL="609600" indent="-609600" defTabSz="914400" eaLnBrk="0" fontAlgn="base" hangingPunct="0">
              <a:lnSpc>
                <a:spcPct val="105000"/>
              </a:lnSpc>
              <a:spcBef>
                <a:spcPct val="0"/>
              </a:spcBef>
              <a:spcAft>
                <a:spcPct val="0"/>
              </a:spcAft>
              <a:buSzPct val="100000"/>
              <a:defRPr/>
            </a:pPr>
            <a:r>
              <a:rPr lang="en-US" kern="0" dirty="0">
                <a:solidFill>
                  <a:srgbClr val="000000"/>
                </a:solidFill>
              </a:rPr>
              <a:t>Challenging but realistic</a:t>
            </a:r>
          </a:p>
          <a:p>
            <a:pPr marL="1142986" lvl="1" indent="-609600" defTabSz="914400" eaLnBrk="0" fontAlgn="base" hangingPunct="0">
              <a:lnSpc>
                <a:spcPct val="105000"/>
              </a:lnSpc>
              <a:spcBef>
                <a:spcPct val="0"/>
              </a:spcBef>
              <a:spcAft>
                <a:spcPct val="0"/>
              </a:spcAft>
              <a:buSzPct val="100000"/>
              <a:defRPr/>
            </a:pPr>
            <a:r>
              <a:rPr lang="en-US" sz="2000" kern="0" dirty="0">
                <a:solidFill>
                  <a:srgbClr val="000000"/>
                </a:solidFill>
              </a:rPr>
              <a:t>To provide employees with incentive for improving</a:t>
            </a:r>
          </a:p>
          <a:p>
            <a:pPr marL="609600" indent="-609600" defTabSz="914400" eaLnBrk="0" fontAlgn="base" hangingPunct="0">
              <a:lnSpc>
                <a:spcPct val="105000"/>
              </a:lnSpc>
              <a:spcBef>
                <a:spcPct val="0"/>
              </a:spcBef>
              <a:spcAft>
                <a:spcPct val="0"/>
              </a:spcAft>
              <a:buSzPct val="100000"/>
              <a:defRPr/>
            </a:pPr>
            <a:r>
              <a:rPr lang="en-US" kern="0" dirty="0">
                <a:solidFill>
                  <a:srgbClr val="000000"/>
                </a:solidFill>
              </a:rPr>
              <a:t>Optional: Specify a time period</a:t>
            </a:r>
          </a:p>
          <a:p>
            <a:pPr marL="1142986" lvl="1" indent="-609600" defTabSz="914400" eaLnBrk="0" fontAlgn="base" hangingPunct="0">
              <a:lnSpc>
                <a:spcPct val="105000"/>
              </a:lnSpc>
              <a:spcBef>
                <a:spcPct val="0"/>
              </a:spcBef>
              <a:spcAft>
                <a:spcPct val="0"/>
              </a:spcAft>
              <a:buSzPct val="100000"/>
              <a:defRPr/>
            </a:pPr>
            <a:r>
              <a:rPr lang="en-US" sz="2000" kern="0" dirty="0">
                <a:solidFill>
                  <a:srgbClr val="000000"/>
                </a:solidFill>
              </a:rPr>
              <a:t>To motivate and inject a sense of urgency into goal attainment</a:t>
            </a:r>
          </a:p>
          <a:p>
            <a:endParaRPr lang="en-US" dirty="0"/>
          </a:p>
        </p:txBody>
      </p:sp>
      <p:sp>
        <p:nvSpPr>
          <p:cNvPr id="5" name="Text Box 5">
            <a:extLst>
              <a:ext uri="{FF2B5EF4-FFF2-40B4-BE49-F238E27FC236}">
                <a16:creationId xmlns:a16="http://schemas.microsoft.com/office/drawing/2014/main" id="{365551A7-E0AD-B8B4-2C8C-C9F88826ECF0}"/>
              </a:ext>
            </a:extLst>
          </p:cNvPr>
          <p:cNvSpPr txBox="1">
            <a:spLocks noChangeArrowheads="1"/>
          </p:cNvSpPr>
          <p:nvPr/>
        </p:nvSpPr>
        <p:spPr bwMode="auto">
          <a:xfrm>
            <a:off x="300037" y="1033299"/>
            <a:ext cx="10458450" cy="781752"/>
          </a:xfrm>
          <a:prstGeom prst="rect">
            <a:avLst/>
          </a:prstGeom>
          <a:noFill/>
          <a:ln w="9525">
            <a:noFill/>
            <a:miter lim="800000"/>
          </a:ln>
          <a:effectLst/>
        </p:spPr>
        <p:txBody>
          <a:bodyPr wrap="square">
            <a:spAutoFit/>
          </a:bodyPr>
          <a:lstStyle/>
          <a:p>
            <a:pPr algn="ctr" eaLnBrk="0" hangingPunct="0">
              <a:lnSpc>
                <a:spcPct val="80000"/>
              </a:lnSpc>
              <a:spcBef>
                <a:spcPct val="10000"/>
              </a:spcBef>
              <a:spcAft>
                <a:spcPct val="10000"/>
              </a:spcAft>
            </a:pPr>
            <a:r>
              <a:rPr lang="en-US" b="1" dirty="0">
                <a:solidFill>
                  <a:srgbClr val="006666"/>
                </a:solidFill>
                <a:latin typeface="Arial" panose="020B0604020202020204" pitchFamily="34" charset="0"/>
                <a:cs typeface="Arial" panose="020B0604020202020204" pitchFamily="34" charset="0"/>
              </a:rPr>
              <a:t>A goal is a precise and measurable desired future state that a company must realize if it is to attain its vision or mission.</a:t>
            </a:r>
            <a:r>
              <a:rPr lang="en-US" sz="3200" b="1" dirty="0">
                <a:solidFill>
                  <a:srgbClr val="4778A1"/>
                </a:solidFill>
                <a:latin typeface="Arial" panose="020B0604020202020204" pitchFamily="34" charset="0"/>
                <a:cs typeface="Arial" panose="020B0604020202020204" pitchFamily="34" charset="0"/>
              </a:rPr>
              <a:t>  </a:t>
            </a:r>
            <a:endParaRPr lang="en-US" sz="2600" b="1" dirty="0">
              <a:solidFill>
                <a:srgbClr val="4778A1"/>
              </a:solidFill>
              <a:latin typeface="Arial" panose="020B0604020202020204" pitchFamily="34" charset="0"/>
              <a:cs typeface="Arial" panose="020B0604020202020204" pitchFamily="34" charset="0"/>
            </a:endParaRPr>
          </a:p>
        </p:txBody>
      </p:sp>
      <p:sp>
        <p:nvSpPr>
          <p:cNvPr id="6" name="Line 6">
            <a:extLst>
              <a:ext uri="{FF2B5EF4-FFF2-40B4-BE49-F238E27FC236}">
                <a16:creationId xmlns:a16="http://schemas.microsoft.com/office/drawing/2014/main" id="{FF9E38CA-33A1-8155-234F-1B1E9A174DA1}"/>
              </a:ext>
            </a:extLst>
          </p:cNvPr>
          <p:cNvSpPr>
            <a:spLocks noChangeShapeType="1"/>
          </p:cNvSpPr>
          <p:nvPr/>
        </p:nvSpPr>
        <p:spPr bwMode="auto">
          <a:xfrm>
            <a:off x="532597" y="1886845"/>
            <a:ext cx="10306050" cy="0"/>
          </a:xfrm>
          <a:prstGeom prst="line">
            <a:avLst/>
          </a:prstGeom>
          <a:noFill/>
          <a:ln w="3175">
            <a:solidFill>
              <a:srgbClr val="006666"/>
            </a:solidFill>
            <a:round/>
          </a:ln>
          <a:effectLst/>
          <a:scene3d>
            <a:camera prst="legacyObliqueTopLeft"/>
            <a:lightRig rig="legacyFlat3" dir="t"/>
          </a:scene3d>
          <a:sp3d extrusionH="49200" prstMaterial="legacyMatte">
            <a:bevelT w="13500" h="13500" prst="angle"/>
            <a:bevelB w="13500" h="13500" prst="angle"/>
            <a:extrusionClr>
              <a:srgbClr val="006666"/>
            </a:extrusionClr>
          </a:sp3d>
        </p:spPr>
        <p:txBody>
          <a:bodyPr>
            <a:flatTx/>
          </a:bodyPr>
          <a:lstStyle/>
          <a:p>
            <a:endParaRPr lang="en-US"/>
          </a:p>
        </p:txBody>
      </p:sp>
      <p:pic>
        <p:nvPicPr>
          <p:cNvPr id="7" name="Picture 3" descr="MCj02308130000[1]">
            <a:extLst>
              <a:ext uri="{FF2B5EF4-FFF2-40B4-BE49-F238E27FC236}">
                <a16:creationId xmlns:a16="http://schemas.microsoft.com/office/drawing/2014/main" id="{C99F3A07-8C1A-080A-8F3C-F6E9963B3E73}"/>
              </a:ext>
            </a:extLst>
          </p:cNvPr>
          <p:cNvPicPr>
            <a:picLocks noChangeAspect="1" noChangeArrowheads="1"/>
          </p:cNvPicPr>
          <p:nvPr/>
        </p:nvPicPr>
        <p:blipFill>
          <a:blip r:embed="rId2" cstate="print"/>
          <a:srcRect/>
          <a:stretch>
            <a:fillRect/>
          </a:stretch>
        </p:blipFill>
        <p:spPr bwMode="auto">
          <a:xfrm>
            <a:off x="9644062" y="2285999"/>
            <a:ext cx="1938338" cy="2907507"/>
          </a:xfrm>
          <a:prstGeom prst="rect">
            <a:avLst/>
          </a:prstGeom>
          <a:noFill/>
        </p:spPr>
      </p:pic>
      <p:sp>
        <p:nvSpPr>
          <p:cNvPr id="8" name="Text Box 7">
            <a:extLst>
              <a:ext uri="{FF2B5EF4-FFF2-40B4-BE49-F238E27FC236}">
                <a16:creationId xmlns:a16="http://schemas.microsoft.com/office/drawing/2014/main" id="{1AD8DBB1-01A2-0235-93A4-C7476074B490}"/>
              </a:ext>
            </a:extLst>
          </p:cNvPr>
          <p:cNvSpPr txBox="1">
            <a:spLocks noChangeArrowheads="1"/>
          </p:cNvSpPr>
          <p:nvPr/>
        </p:nvSpPr>
        <p:spPr bwMode="auto">
          <a:xfrm>
            <a:off x="428625" y="5715000"/>
            <a:ext cx="9915525" cy="412421"/>
          </a:xfrm>
          <a:prstGeom prst="rect">
            <a:avLst/>
          </a:prstGeom>
          <a:noFill/>
          <a:ln w="9525">
            <a:solidFill>
              <a:srgbClr val="800000"/>
            </a:solidFill>
            <a:miter lim="800000"/>
          </a:ln>
          <a:effectLst/>
        </p:spPr>
        <p:txBody>
          <a:bodyPr wrap="square">
            <a:spAutoFit/>
          </a:bodyPr>
          <a:lstStyle/>
          <a:p>
            <a:pPr algn="ctr" eaLnBrk="0" hangingPunct="0">
              <a:lnSpc>
                <a:spcPct val="80000"/>
              </a:lnSpc>
            </a:pPr>
            <a:r>
              <a:rPr lang="en-US" sz="2600" b="1" dirty="0">
                <a:solidFill>
                  <a:srgbClr val="800000"/>
                </a:solidFill>
                <a:latin typeface="Arial" panose="020B0604020202020204" pitchFamily="34" charset="0"/>
                <a:cs typeface="Arial" panose="020B0604020202020204" pitchFamily="34" charset="0"/>
              </a:rPr>
              <a:t>Focus on long-run performance and competitiveness.</a:t>
            </a:r>
            <a:endParaRPr lang="en-US" sz="2600" dirty="0">
              <a:solidFill>
                <a:srgbClr val="8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36053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3D9AC-3520-4C15-803C-B7640D23102E}"/>
              </a:ext>
            </a:extLst>
          </p:cNvPr>
          <p:cNvSpPr>
            <a:spLocks noGrp="1"/>
          </p:cNvSpPr>
          <p:nvPr>
            <p:ph type="title"/>
          </p:nvPr>
        </p:nvSpPr>
        <p:spPr>
          <a:xfrm>
            <a:off x="223271" y="18747"/>
            <a:ext cx="10048125" cy="1143000"/>
          </a:xfrm>
        </p:spPr>
        <p:txBody>
          <a:bodyPr>
            <a:normAutofit/>
          </a:bodyPr>
          <a:lstStyle/>
          <a:p>
            <a:r>
              <a:rPr lang="en-US" altLang="zh-CN" dirty="0"/>
              <a:t>Step 3: Realize strategic outcomes</a:t>
            </a:r>
            <a:endParaRPr lang="zh-CN" altLang="en-US" dirty="0"/>
          </a:p>
        </p:txBody>
      </p:sp>
      <p:sp>
        <p:nvSpPr>
          <p:cNvPr id="3" name="Content Placeholder 2">
            <a:extLst>
              <a:ext uri="{FF2B5EF4-FFF2-40B4-BE49-F238E27FC236}">
                <a16:creationId xmlns:a16="http://schemas.microsoft.com/office/drawing/2014/main" id="{2AF44969-4A1C-4472-905E-3BF0EDA6F6F2}"/>
              </a:ext>
            </a:extLst>
          </p:cNvPr>
          <p:cNvSpPr>
            <a:spLocks noGrp="1"/>
          </p:cNvSpPr>
          <p:nvPr>
            <p:ph sz="quarter" idx="10"/>
          </p:nvPr>
        </p:nvSpPr>
        <p:spPr>
          <a:xfrm>
            <a:off x="223271" y="1561688"/>
            <a:ext cx="6663304" cy="5277565"/>
          </a:xfrm>
        </p:spPr>
        <p:txBody>
          <a:bodyPr/>
          <a:lstStyle/>
          <a:p>
            <a:pPr marL="0" indent="0" eaLnBrk="1" hangingPunct="1">
              <a:buNone/>
              <a:tabLst>
                <a:tab pos="-635" algn="l"/>
              </a:tabLst>
            </a:pPr>
            <a:r>
              <a:rPr lang="en-US" altLang="zh-CN" sz="2800" dirty="0"/>
              <a:t>Strategic leaders must </a:t>
            </a:r>
          </a:p>
          <a:p>
            <a:pPr eaLnBrk="1" hangingPunct="1">
              <a:tabLst>
                <a:tab pos="-635" algn="l"/>
              </a:tabLst>
            </a:pPr>
            <a:r>
              <a:rPr lang="en-US" altLang="zh-CN" sz="2800" dirty="0"/>
              <a:t>Predict the potential outcomes of their strategic decisions.</a:t>
            </a:r>
          </a:p>
          <a:p>
            <a:pPr>
              <a:tabLst>
                <a:tab pos="-635" algn="l"/>
              </a:tabLst>
            </a:pPr>
            <a:r>
              <a:rPr lang="en-US" sz="2800" dirty="0"/>
              <a:t>Monitor and re-evaluate strategy execution </a:t>
            </a:r>
          </a:p>
          <a:p>
            <a:pPr>
              <a:tabLst>
                <a:tab pos="-635" algn="l"/>
              </a:tabLst>
            </a:pPr>
            <a:r>
              <a:rPr lang="en-US" sz="2800" dirty="0"/>
              <a:t>Determine if strategic goals and objectives are being achieved</a:t>
            </a:r>
          </a:p>
          <a:p>
            <a:pPr marL="0" indent="0">
              <a:buNone/>
              <a:tabLst>
                <a:tab pos="-635" algn="l"/>
              </a:tabLst>
            </a:pPr>
            <a:endParaRPr lang="en-US" altLang="zh-CN" sz="2800" dirty="0"/>
          </a:p>
          <a:p>
            <a:pPr marL="0" indent="0">
              <a:buNone/>
              <a:tabLst>
                <a:tab pos="-635" algn="l"/>
              </a:tabLst>
            </a:pPr>
            <a:r>
              <a:rPr lang="en-US" sz="3067" i="1" dirty="0">
                <a:solidFill>
                  <a:srgbClr val="C00000"/>
                </a:solidFill>
              </a:rPr>
              <a:t>Strategic planning is ongoing.</a:t>
            </a:r>
          </a:p>
          <a:p>
            <a:pPr lvl="1">
              <a:tabLst>
                <a:tab pos="-635" algn="l"/>
              </a:tabLst>
            </a:pPr>
            <a:endParaRPr lang="en-US" altLang="zh-CN" sz="2533" dirty="0"/>
          </a:p>
        </p:txBody>
      </p:sp>
      <p:pic>
        <p:nvPicPr>
          <p:cNvPr id="4" name="Picture 6" descr="The Churchill Wilderness Years - History">
            <a:extLst>
              <a:ext uri="{FF2B5EF4-FFF2-40B4-BE49-F238E27FC236}">
                <a16:creationId xmlns:a16="http://schemas.microsoft.com/office/drawing/2014/main" id="{3ED04DE8-313C-B7FC-6DF1-D3151612E3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12502" y="1561688"/>
            <a:ext cx="4979498" cy="373462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60C75049-460C-B9C3-7D66-B2E56C87E7B2}"/>
              </a:ext>
            </a:extLst>
          </p:cNvPr>
          <p:cNvSpPr/>
          <p:nvPr/>
        </p:nvSpPr>
        <p:spPr>
          <a:xfrm>
            <a:off x="6768115" y="5726827"/>
            <a:ext cx="5200614" cy="1015663"/>
          </a:xfrm>
          <a:prstGeom prst="rect">
            <a:avLst/>
          </a:prstGeom>
          <a:noFill/>
        </p:spPr>
        <p:txBody>
          <a:bodyPr wrap="square" lIns="91440" tIns="45720" rIns="91440" bIns="45720">
            <a:spAutoFit/>
          </a:bodyPr>
          <a:lstStyle/>
          <a:p>
            <a:r>
              <a:rPr lang="en-US" sz="2000" i="1" dirty="0">
                <a:solidFill>
                  <a:srgbClr val="0070C0"/>
                </a:solidFill>
              </a:rPr>
              <a:t>“However beautiful the strategy, you should occasionally look at the results”</a:t>
            </a:r>
          </a:p>
          <a:p>
            <a:pPr algn="r"/>
            <a:r>
              <a:rPr lang="en-US" sz="2000" i="1" dirty="0">
                <a:solidFill>
                  <a:srgbClr val="0070C0"/>
                </a:solidFill>
              </a:rPr>
              <a:t>-Sir Winston Churchill</a:t>
            </a:r>
          </a:p>
        </p:txBody>
      </p:sp>
    </p:spTree>
    <p:extLst>
      <p:ext uri="{BB962C8B-B14F-4D97-AF65-F5344CB8AC3E}">
        <p14:creationId xmlns:p14="http://schemas.microsoft.com/office/powerpoint/2010/main" val="2037525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B5C4F-230C-6F6D-0640-B3D614AAADD2}"/>
              </a:ext>
            </a:extLst>
          </p:cNvPr>
          <p:cNvSpPr>
            <a:spLocks noGrp="1"/>
          </p:cNvSpPr>
          <p:nvPr>
            <p:ph type="title"/>
          </p:nvPr>
        </p:nvSpPr>
        <p:spPr>
          <a:xfrm>
            <a:off x="232228" y="0"/>
            <a:ext cx="10048125" cy="1143000"/>
          </a:xfrm>
        </p:spPr>
        <p:txBody>
          <a:bodyPr/>
          <a:lstStyle/>
          <a:p>
            <a:r>
              <a:rPr lang="en-US" altLang="zh-CN" dirty="0"/>
              <a:t>Step 3: Realize strategic outcomes</a:t>
            </a:r>
            <a:endParaRPr lang="en-US" dirty="0"/>
          </a:p>
        </p:txBody>
      </p:sp>
      <p:sp>
        <p:nvSpPr>
          <p:cNvPr id="3" name="Content Placeholder 2">
            <a:extLst>
              <a:ext uri="{FF2B5EF4-FFF2-40B4-BE49-F238E27FC236}">
                <a16:creationId xmlns:a16="http://schemas.microsoft.com/office/drawing/2014/main" id="{12FD6202-BE66-BBCF-DF63-4719B7A4A7FA}"/>
              </a:ext>
            </a:extLst>
          </p:cNvPr>
          <p:cNvSpPr>
            <a:spLocks noGrp="1"/>
          </p:cNvSpPr>
          <p:nvPr>
            <p:ph sz="quarter" idx="10"/>
          </p:nvPr>
        </p:nvSpPr>
        <p:spPr>
          <a:xfrm>
            <a:off x="232228" y="1143000"/>
            <a:ext cx="10048125" cy="5715000"/>
          </a:xfrm>
        </p:spPr>
        <p:txBody>
          <a:bodyPr/>
          <a:lstStyle/>
          <a:p>
            <a:r>
              <a:rPr lang="en-US" sz="2400" dirty="0"/>
              <a:t>How does strategic leaders make decisions during SMP?</a:t>
            </a:r>
          </a:p>
          <a:p>
            <a:pPr lvl="1"/>
            <a:r>
              <a:rPr lang="en-US" sz="2000" dirty="0"/>
              <a:t>Identify a strategic issue from analyzing strategic inputs (step 1)</a:t>
            </a:r>
            <a:endParaRPr lang="en-US" sz="2000" b="1" i="1" dirty="0">
              <a:latin typeface="+mn-lt"/>
            </a:endParaRPr>
          </a:p>
          <a:p>
            <a:pPr lvl="1"/>
            <a:r>
              <a:rPr lang="en-US" sz="2000" dirty="0"/>
              <a:t>Strategic issue: </a:t>
            </a:r>
          </a:p>
          <a:p>
            <a:pPr lvl="2"/>
            <a:r>
              <a:rPr lang="en-US" sz="2000" dirty="0"/>
              <a:t>Major problem affecting the organization toward its mission and vision. </a:t>
            </a:r>
          </a:p>
          <a:p>
            <a:pPr lvl="2"/>
            <a:r>
              <a:rPr lang="en-US" sz="2000" dirty="0"/>
              <a:t>Resolving it can have a major impact on the direction and success of the firm. </a:t>
            </a:r>
          </a:p>
          <a:p>
            <a:pPr lvl="2"/>
            <a:r>
              <a:rPr lang="en-US" sz="2000" dirty="0"/>
              <a:t>Can only be addressed by top executives</a:t>
            </a:r>
          </a:p>
          <a:p>
            <a:pPr lvl="2"/>
            <a:r>
              <a:rPr lang="en-US" sz="2000" dirty="0"/>
              <a:t>Different strategic leaders may perceive different strategic issues</a:t>
            </a:r>
          </a:p>
          <a:p>
            <a:pPr lvl="1"/>
            <a:r>
              <a:rPr lang="en-US" sz="2000" dirty="0"/>
              <a:t>Develop multiple alternative course of actions (Step 2)</a:t>
            </a:r>
          </a:p>
          <a:p>
            <a:pPr lvl="1"/>
            <a:r>
              <a:rPr lang="en-US" sz="2000" dirty="0"/>
              <a:t>Evaluate and select the final strategy (Step 3)</a:t>
            </a:r>
            <a:endParaRPr lang="en-US" dirty="0"/>
          </a:p>
          <a:p>
            <a:pPr>
              <a:tabLst>
                <a:tab pos="-635" algn="l"/>
              </a:tabLst>
            </a:pPr>
            <a:r>
              <a:rPr lang="en-US" sz="2400" dirty="0"/>
              <a:t>Limitations of decision making takes place during this process</a:t>
            </a:r>
          </a:p>
          <a:p>
            <a:pPr lvl="1">
              <a:tabLst>
                <a:tab pos="-635" algn="l"/>
              </a:tabLst>
            </a:pPr>
            <a:r>
              <a:rPr lang="en-US" altLang="zh-CN" sz="2000" dirty="0"/>
              <a:t>Corporate governance and leadership</a:t>
            </a:r>
          </a:p>
          <a:p>
            <a:pPr lvl="1">
              <a:tabLst>
                <a:tab pos="-635" algn="l"/>
              </a:tabLst>
            </a:pPr>
            <a:r>
              <a:rPr lang="en-US" altLang="zh-CN" sz="2000" dirty="0"/>
              <a:t>Organizational structure and controls</a:t>
            </a:r>
          </a:p>
          <a:p>
            <a:pPr>
              <a:tabLst>
                <a:tab pos="-635" algn="l"/>
              </a:tabLst>
            </a:pPr>
            <a:r>
              <a:rPr lang="en-US" sz="2400" dirty="0"/>
              <a:t>Our case analysis is to mimic the decision-making during SMP</a:t>
            </a:r>
            <a:endParaRPr lang="en-US" altLang="zh-CN" sz="2400" dirty="0"/>
          </a:p>
          <a:p>
            <a:endParaRPr lang="en-US" sz="2934" dirty="0"/>
          </a:p>
        </p:txBody>
      </p:sp>
    </p:spTree>
    <p:extLst>
      <p:ext uri="{BB962C8B-B14F-4D97-AF65-F5344CB8AC3E}">
        <p14:creationId xmlns:p14="http://schemas.microsoft.com/office/powerpoint/2010/main" val="2066775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9EFBDD-AA86-5D48-2636-5B9E879B5776}"/>
              </a:ext>
            </a:extLst>
          </p:cNvPr>
          <p:cNvSpPr>
            <a:spLocks noGrp="1"/>
          </p:cNvSpPr>
          <p:nvPr>
            <p:ph type="title"/>
          </p:nvPr>
        </p:nvSpPr>
        <p:spPr/>
        <p:txBody>
          <a:bodyPr>
            <a:normAutofit/>
          </a:bodyPr>
          <a:lstStyle/>
          <a:p>
            <a:r>
              <a:rPr lang="en-US" dirty="0"/>
              <a:t>Pros and Cons of Formal Strategy Process</a:t>
            </a:r>
          </a:p>
        </p:txBody>
      </p:sp>
      <p:sp>
        <p:nvSpPr>
          <p:cNvPr id="3" name="Content Placeholder 2">
            <a:extLst>
              <a:ext uri="{FF2B5EF4-FFF2-40B4-BE49-F238E27FC236}">
                <a16:creationId xmlns:a16="http://schemas.microsoft.com/office/drawing/2014/main" id="{010DD7DC-9ACD-E0D0-E930-3EBA89D2D469}"/>
              </a:ext>
            </a:extLst>
          </p:cNvPr>
          <p:cNvSpPr>
            <a:spLocks noGrp="1"/>
          </p:cNvSpPr>
          <p:nvPr>
            <p:ph sz="half" idx="1"/>
          </p:nvPr>
        </p:nvSpPr>
        <p:spPr/>
        <p:txBody>
          <a:bodyPr/>
          <a:lstStyle/>
          <a:p>
            <a:pPr marL="0" indent="0">
              <a:buNone/>
            </a:pPr>
            <a:r>
              <a:rPr lang="en-US" dirty="0"/>
              <a:t>Benefits:</a:t>
            </a:r>
          </a:p>
          <a:p>
            <a:pPr marL="0" indent="0">
              <a:buNone/>
            </a:pPr>
            <a:endParaRPr lang="en-US" dirty="0"/>
          </a:p>
          <a:p>
            <a:r>
              <a:rPr lang="en-US" kern="0" dirty="0">
                <a:solidFill>
                  <a:srgbClr val="000000"/>
                </a:solidFill>
              </a:rPr>
              <a:t>Reduces uncertainties of depending on luck or constraints of following history</a:t>
            </a:r>
          </a:p>
          <a:p>
            <a:r>
              <a:rPr lang="en-US" kern="0" dirty="0">
                <a:solidFill>
                  <a:srgbClr val="000000"/>
                </a:solidFill>
              </a:rPr>
              <a:t>Provides systematic method and improves probability of business success</a:t>
            </a:r>
          </a:p>
          <a:p>
            <a:r>
              <a:rPr lang="en-US" kern="0" dirty="0">
                <a:solidFill>
                  <a:srgbClr val="000000"/>
                </a:solidFill>
              </a:rPr>
              <a:t>Reduces the psychological biases inherent in human decision-making</a:t>
            </a:r>
            <a:endParaRPr lang="en-US" dirty="0"/>
          </a:p>
          <a:p>
            <a:endParaRPr lang="en-US" dirty="0"/>
          </a:p>
        </p:txBody>
      </p:sp>
      <p:sp>
        <p:nvSpPr>
          <p:cNvPr id="4" name="Content Placeholder 3">
            <a:extLst>
              <a:ext uri="{FF2B5EF4-FFF2-40B4-BE49-F238E27FC236}">
                <a16:creationId xmlns:a16="http://schemas.microsoft.com/office/drawing/2014/main" id="{CA2D50E8-D64D-86D2-4314-603EAD9EF490}"/>
              </a:ext>
            </a:extLst>
          </p:cNvPr>
          <p:cNvSpPr>
            <a:spLocks noGrp="1"/>
          </p:cNvSpPr>
          <p:nvPr>
            <p:ph sz="half" idx="2"/>
          </p:nvPr>
        </p:nvSpPr>
        <p:spPr/>
        <p:txBody>
          <a:bodyPr/>
          <a:lstStyle/>
          <a:p>
            <a:pPr marL="0" indent="0">
              <a:buNone/>
            </a:pPr>
            <a:r>
              <a:rPr lang="en-US" dirty="0"/>
              <a:t>Problems:</a:t>
            </a:r>
          </a:p>
          <a:p>
            <a:endParaRPr lang="en-US" dirty="0"/>
          </a:p>
          <a:p>
            <a:r>
              <a:rPr lang="en-US" kern="0" dirty="0">
                <a:solidFill>
                  <a:srgbClr val="000000"/>
                </a:solidFill>
              </a:rPr>
              <a:t>Could lead to rigidities (poor adaptation to new information)</a:t>
            </a:r>
          </a:p>
          <a:p>
            <a:r>
              <a:rPr lang="en-US" kern="0" dirty="0">
                <a:solidFill>
                  <a:srgbClr val="000000"/>
                </a:solidFill>
              </a:rPr>
              <a:t>Could be restrictive (low foresight or ambition)</a:t>
            </a:r>
          </a:p>
          <a:p>
            <a:r>
              <a:rPr lang="en-US" kern="0" dirty="0">
                <a:solidFill>
                  <a:srgbClr val="000000"/>
                </a:solidFill>
              </a:rPr>
              <a:t>Could be time consuming (counter-productive in dynamic environments)</a:t>
            </a:r>
          </a:p>
          <a:p>
            <a:endParaRPr lang="en-US" dirty="0"/>
          </a:p>
        </p:txBody>
      </p:sp>
    </p:spTree>
    <p:extLst>
      <p:ext uri="{BB962C8B-B14F-4D97-AF65-F5344CB8AC3E}">
        <p14:creationId xmlns:p14="http://schemas.microsoft.com/office/powerpoint/2010/main" val="2560538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E439D-62C2-445F-85AE-F4EA4C6D08F1}"/>
              </a:ext>
            </a:extLst>
          </p:cNvPr>
          <p:cNvSpPr>
            <a:spLocks noGrp="1"/>
          </p:cNvSpPr>
          <p:nvPr>
            <p:ph type="title"/>
          </p:nvPr>
        </p:nvSpPr>
        <p:spPr>
          <a:xfrm>
            <a:off x="609600" y="275167"/>
            <a:ext cx="10048125" cy="1143000"/>
          </a:xfrm>
        </p:spPr>
        <p:txBody>
          <a:bodyPr anchor="ctr">
            <a:normAutofit/>
          </a:bodyPr>
          <a:lstStyle/>
          <a:p>
            <a:r>
              <a:rPr lang="en-US" altLang="zh-CN" dirty="0"/>
              <a:t>Case Analysis: Alaska Gold Mine</a:t>
            </a:r>
            <a:endParaRPr lang="zh-CN" altLang="en-US" dirty="0"/>
          </a:p>
        </p:txBody>
      </p:sp>
      <p:pic>
        <p:nvPicPr>
          <p:cNvPr id="2050" name="Picture 2" descr="How record gold prices could undermine quality in gold mining stocks -  Citywire">
            <a:extLst>
              <a:ext uri="{FF2B5EF4-FFF2-40B4-BE49-F238E27FC236}">
                <a16:creationId xmlns:a16="http://schemas.microsoft.com/office/drawing/2014/main" id="{90AC884B-4733-4595-B463-BB30682C51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662" y="1418167"/>
            <a:ext cx="9906000" cy="4953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32958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A5B4D-70F5-4571-B613-301CAE49B783}"/>
              </a:ext>
            </a:extLst>
          </p:cNvPr>
          <p:cNvSpPr>
            <a:spLocks noGrp="1"/>
          </p:cNvSpPr>
          <p:nvPr>
            <p:ph type="title"/>
          </p:nvPr>
        </p:nvSpPr>
        <p:spPr>
          <a:xfrm>
            <a:off x="609600" y="0"/>
            <a:ext cx="10048125" cy="1143000"/>
          </a:xfrm>
        </p:spPr>
        <p:txBody>
          <a:bodyPr/>
          <a:lstStyle/>
          <a:p>
            <a:r>
              <a:rPr lang="en-US" altLang="zh-CN" dirty="0"/>
              <a:t>Case Analysis: Alaska Gold Mine</a:t>
            </a:r>
            <a:endParaRPr lang="zh-CN" altLang="en-US" dirty="0"/>
          </a:p>
        </p:txBody>
      </p:sp>
      <p:sp>
        <p:nvSpPr>
          <p:cNvPr id="3" name="Content Placeholder 2">
            <a:extLst>
              <a:ext uri="{FF2B5EF4-FFF2-40B4-BE49-F238E27FC236}">
                <a16:creationId xmlns:a16="http://schemas.microsoft.com/office/drawing/2014/main" id="{B50E11B6-BC93-4ACD-87BD-63BE41DCEC63}"/>
              </a:ext>
            </a:extLst>
          </p:cNvPr>
          <p:cNvSpPr>
            <a:spLocks noGrp="1"/>
          </p:cNvSpPr>
          <p:nvPr>
            <p:ph sz="quarter" idx="10"/>
          </p:nvPr>
        </p:nvSpPr>
        <p:spPr>
          <a:xfrm>
            <a:off x="0" y="1003722"/>
            <a:ext cx="11001375" cy="5854278"/>
          </a:xfrm>
        </p:spPr>
        <p:txBody>
          <a:bodyPr/>
          <a:lstStyle/>
          <a:p>
            <a:pPr eaLnBrk="1" hangingPunct="1">
              <a:lnSpc>
                <a:spcPct val="80000"/>
              </a:lnSpc>
            </a:pPr>
            <a:r>
              <a:rPr lang="en-US" altLang="en-US" dirty="0"/>
              <a:t>You have taken a 3-month option on a possible gold mine in Alaska</a:t>
            </a:r>
          </a:p>
          <a:p>
            <a:pPr eaLnBrk="1" hangingPunct="1">
              <a:lnSpc>
                <a:spcPct val="80000"/>
              </a:lnSpc>
            </a:pPr>
            <a:endParaRPr lang="en-US" altLang="en-US" sz="800" dirty="0"/>
          </a:p>
          <a:p>
            <a:pPr eaLnBrk="1" hangingPunct="1">
              <a:lnSpc>
                <a:spcPct val="80000"/>
              </a:lnSpc>
            </a:pPr>
            <a:r>
              <a:rPr lang="en-US" altLang="en-US" dirty="0"/>
              <a:t>During your trek and exploration, you have remained relatively healthy except for </a:t>
            </a:r>
            <a:r>
              <a:rPr lang="en-US" altLang="en-US" b="1" dirty="0"/>
              <a:t>an injured left hand </a:t>
            </a:r>
            <a:r>
              <a:rPr lang="en-US" altLang="en-US" dirty="0"/>
              <a:t>which </a:t>
            </a:r>
            <a:r>
              <a:rPr lang="en-US" altLang="en-US" b="1" dirty="0"/>
              <a:t>sometimes can suddenly become quite weak. </a:t>
            </a:r>
            <a:endParaRPr lang="en-US" altLang="en-US" dirty="0"/>
          </a:p>
          <a:p>
            <a:pPr eaLnBrk="1" hangingPunct="1">
              <a:lnSpc>
                <a:spcPct val="80000"/>
              </a:lnSpc>
            </a:pPr>
            <a:endParaRPr lang="en-US" altLang="en-US" sz="800" dirty="0"/>
          </a:p>
          <a:p>
            <a:pPr eaLnBrk="1" hangingPunct="1">
              <a:lnSpc>
                <a:spcPct val="80000"/>
              </a:lnSpc>
            </a:pPr>
            <a:r>
              <a:rPr lang="en-US" altLang="en-US" dirty="0"/>
              <a:t>With 2 weeks to go before your option expires, you have finally </a:t>
            </a:r>
            <a:r>
              <a:rPr lang="en-US" altLang="en-US" b="1" dirty="0"/>
              <a:t>discovered gold</a:t>
            </a:r>
            <a:r>
              <a:rPr lang="en-US" altLang="en-US" dirty="0"/>
              <a:t> in what appears to be good quantity. </a:t>
            </a:r>
          </a:p>
          <a:p>
            <a:pPr eaLnBrk="1" hangingPunct="1">
              <a:lnSpc>
                <a:spcPct val="80000"/>
              </a:lnSpc>
            </a:pPr>
            <a:endParaRPr lang="en-US" altLang="en-US" sz="800" dirty="0"/>
          </a:p>
          <a:p>
            <a:pPr eaLnBrk="1" hangingPunct="1">
              <a:lnSpc>
                <a:spcPct val="80000"/>
              </a:lnSpc>
            </a:pPr>
            <a:r>
              <a:rPr lang="en-US" altLang="en-US" dirty="0"/>
              <a:t>You have exactly </a:t>
            </a:r>
            <a:r>
              <a:rPr lang="en-US" altLang="en-US" b="1" dirty="0"/>
              <a:t>2 weeks </a:t>
            </a:r>
            <a:r>
              <a:rPr lang="en-US" altLang="en-US" dirty="0"/>
              <a:t>to get to the claims office. If you arrive late and attempt to secure the property with the owners knowing you have visited it, they will probably hold an auction, at which you, given your limited resources, could easily be outbid. </a:t>
            </a:r>
          </a:p>
          <a:p>
            <a:pPr eaLnBrk="1" hangingPunct="1">
              <a:lnSpc>
                <a:spcPct val="80000"/>
              </a:lnSpc>
            </a:pPr>
            <a:endParaRPr lang="en-US" altLang="en-US" sz="800" dirty="0"/>
          </a:p>
          <a:p>
            <a:pPr eaLnBrk="1" hangingPunct="1">
              <a:lnSpc>
                <a:spcPct val="80000"/>
              </a:lnSpc>
            </a:pPr>
            <a:r>
              <a:rPr lang="en-US" altLang="en-US" dirty="0"/>
              <a:t>The weather is only </a:t>
            </a:r>
            <a:r>
              <a:rPr lang="en-US" altLang="en-US" b="1" dirty="0"/>
              <a:t>moderately favorable</a:t>
            </a:r>
            <a:r>
              <a:rPr lang="en-US" altLang="en-US" dirty="0"/>
              <a:t>; a mountain storm may be brewing. You will know </a:t>
            </a:r>
            <a:r>
              <a:rPr lang="en-US" altLang="en-US" b="1" dirty="0"/>
              <a:t>within 48 hours </a:t>
            </a:r>
            <a:r>
              <a:rPr lang="en-US" altLang="en-US" dirty="0"/>
              <a:t>if the storm is coming and will know whether the mountain is passable (if the storm comes) about </a:t>
            </a:r>
            <a:r>
              <a:rPr lang="en-US" altLang="en-US" b="1" dirty="0"/>
              <a:t>one day later</a:t>
            </a:r>
            <a:r>
              <a:rPr lang="en-US" altLang="en-US" dirty="0"/>
              <a:t>.</a:t>
            </a:r>
          </a:p>
          <a:p>
            <a:endParaRPr lang="zh-CN" altLang="en-US" dirty="0"/>
          </a:p>
        </p:txBody>
      </p:sp>
    </p:spTree>
    <p:extLst>
      <p:ext uri="{BB962C8B-B14F-4D97-AF65-F5344CB8AC3E}">
        <p14:creationId xmlns:p14="http://schemas.microsoft.com/office/powerpoint/2010/main" val="20353461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37E47-DE76-4D3D-9B45-87593CB58026}"/>
              </a:ext>
            </a:extLst>
          </p:cNvPr>
          <p:cNvSpPr>
            <a:spLocks noGrp="1"/>
          </p:cNvSpPr>
          <p:nvPr>
            <p:ph type="title"/>
          </p:nvPr>
        </p:nvSpPr>
        <p:spPr>
          <a:xfrm>
            <a:off x="0" y="-24553"/>
            <a:ext cx="9993331" cy="1143000"/>
          </a:xfrm>
        </p:spPr>
        <p:txBody>
          <a:bodyPr anchor="ctr">
            <a:normAutofit/>
          </a:bodyPr>
          <a:lstStyle/>
          <a:p>
            <a:r>
              <a:rPr lang="en-US" altLang="en-US" dirty="0"/>
              <a:t>The Alaska Gold Mine</a:t>
            </a:r>
            <a:endParaRPr lang="zh-CN" altLang="en-US" dirty="0"/>
          </a:p>
        </p:txBody>
      </p:sp>
      <p:pic>
        <p:nvPicPr>
          <p:cNvPr id="4" name="Picture 7" descr="MCj02711760000[1]">
            <a:extLst>
              <a:ext uri="{FF2B5EF4-FFF2-40B4-BE49-F238E27FC236}">
                <a16:creationId xmlns:a16="http://schemas.microsoft.com/office/drawing/2014/main" id="{190F9247-4C40-43D4-907B-6D8DB17DD47F}"/>
              </a:ext>
            </a:extLst>
          </p:cNvPr>
          <p:cNvPicPr>
            <a:picLocks noGrp="1" noChangeAspect="1" noChangeArrowheads="1"/>
          </p:cNvPicPr>
          <p:nvPr>
            <p:ph sz="half" idx="1"/>
          </p:nvPr>
        </p:nvPicPr>
        <p:blipFill>
          <a:blip r:embed="rId2" cstate="print">
            <a:extLst>
              <a:ext uri="{28A0092B-C50C-407E-A947-70E740481C1C}">
                <a14:useLocalDpi xmlns:a14="http://schemas.microsoft.com/office/drawing/2010/main" val="0"/>
              </a:ext>
            </a:extLst>
          </a:blip>
          <a:stretch>
            <a:fillRect/>
          </a:stretch>
        </p:blipFill>
        <p:spPr bwMode="auto">
          <a:xfrm>
            <a:off x="1387609" y="971597"/>
            <a:ext cx="2656071" cy="2517956"/>
          </a:xfrm>
          <a:prstGeom prst="rect">
            <a:avLst/>
          </a:prstGeom>
          <a:noFill/>
          <a:ln w="0">
            <a:noFill/>
            <a:miter lim="800000"/>
            <a:headEnd/>
            <a:tailEnd/>
          </a:ln>
        </p:spPr>
      </p:pic>
      <p:sp>
        <p:nvSpPr>
          <p:cNvPr id="9" name="Content Placeholder 3">
            <a:extLst>
              <a:ext uri="{FF2B5EF4-FFF2-40B4-BE49-F238E27FC236}">
                <a16:creationId xmlns:a16="http://schemas.microsoft.com/office/drawing/2014/main" id="{50ADAEB1-CB1B-4B13-AA6C-431FF4B8DD92}"/>
              </a:ext>
            </a:extLst>
          </p:cNvPr>
          <p:cNvSpPr>
            <a:spLocks noGrp="1"/>
          </p:cNvSpPr>
          <p:nvPr>
            <p:ph sz="half" idx="2"/>
          </p:nvPr>
        </p:nvSpPr>
        <p:spPr>
          <a:xfrm>
            <a:off x="4866640" y="1264921"/>
            <a:ext cx="6552431" cy="5463540"/>
          </a:xfrm>
        </p:spPr>
        <p:txBody>
          <a:bodyPr>
            <a:normAutofit lnSpcReduction="10000"/>
          </a:bodyPr>
          <a:lstStyle/>
          <a:p>
            <a:r>
              <a:rPr lang="en-US" altLang="en-US" dirty="0"/>
              <a:t>Here are your alternatives:</a:t>
            </a:r>
          </a:p>
          <a:p>
            <a:endParaRPr lang="en-US" altLang="en-US" dirty="0"/>
          </a:p>
          <a:p>
            <a:pPr lvl="1"/>
            <a:r>
              <a:rPr lang="en-US" altLang="zh-CN" dirty="0"/>
              <a:t>1.</a:t>
            </a:r>
            <a:r>
              <a:rPr lang="zh-CN" altLang="en-US" dirty="0"/>
              <a:t> </a:t>
            </a:r>
            <a:r>
              <a:rPr lang="en-US" altLang="en-US" dirty="0"/>
              <a:t>Wait </a:t>
            </a:r>
            <a:r>
              <a:rPr lang="en-US" altLang="en-US" b="1" dirty="0"/>
              <a:t>3 or 4 weeks </a:t>
            </a:r>
            <a:r>
              <a:rPr lang="en-US" altLang="en-US" dirty="0"/>
              <a:t>until the weather warms up and enjoy a safe trip home</a:t>
            </a:r>
          </a:p>
          <a:p>
            <a:pPr marL="0" indent="0">
              <a:buNone/>
            </a:pPr>
            <a:endParaRPr lang="en-US" altLang="en-US" dirty="0"/>
          </a:p>
          <a:p>
            <a:pPr marL="0" indent="0">
              <a:buNone/>
            </a:pPr>
            <a:endParaRPr lang="en-US" altLang="en-US" dirty="0"/>
          </a:p>
          <a:p>
            <a:pPr lvl="1"/>
            <a:r>
              <a:rPr lang="en-US" altLang="en-US" dirty="0"/>
              <a:t>2. Go over the mountains. This is dangerous. It is sometimes impassible. It is quick, however (usually </a:t>
            </a:r>
            <a:r>
              <a:rPr lang="en-US" altLang="en-US" b="1" dirty="0"/>
              <a:t>7 to 10 days</a:t>
            </a:r>
            <a:r>
              <a:rPr lang="en-US" altLang="en-US" dirty="0"/>
              <a:t>), if you can make it without harm.  If you encounter storms or are injured before you reach the top, you will probably have to turn back.  In either case, you may perish, because the longest part of the journey is on the way over the top.</a:t>
            </a:r>
          </a:p>
          <a:p>
            <a:pPr lvl="1"/>
            <a:endParaRPr lang="en-US" altLang="en-US" dirty="0"/>
          </a:p>
          <a:p>
            <a:endParaRPr lang="en-US" dirty="0"/>
          </a:p>
        </p:txBody>
      </p:sp>
      <p:pic>
        <p:nvPicPr>
          <p:cNvPr id="6" name="Picture 13">
            <a:extLst>
              <a:ext uri="{FF2B5EF4-FFF2-40B4-BE49-F238E27FC236}">
                <a16:creationId xmlns:a16="http://schemas.microsoft.com/office/drawing/2014/main" id="{65DC9E65-6931-45B2-AF37-23F5C86207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772929" y="3840480"/>
            <a:ext cx="4355075" cy="2341880"/>
          </a:xfrm>
          <a:prstGeom prst="rect">
            <a:avLst/>
          </a:prstGeom>
        </p:spPr>
      </p:pic>
    </p:spTree>
    <p:extLst>
      <p:ext uri="{BB962C8B-B14F-4D97-AF65-F5344CB8AC3E}">
        <p14:creationId xmlns:p14="http://schemas.microsoft.com/office/powerpoint/2010/main" val="36987751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4C712-1135-4E05-B01E-FEAFD5E2C999}"/>
              </a:ext>
            </a:extLst>
          </p:cNvPr>
          <p:cNvSpPr>
            <a:spLocks noGrp="1"/>
          </p:cNvSpPr>
          <p:nvPr>
            <p:ph type="title"/>
          </p:nvPr>
        </p:nvSpPr>
        <p:spPr>
          <a:xfrm>
            <a:off x="457200" y="58420"/>
            <a:ext cx="9993331" cy="1143000"/>
          </a:xfrm>
        </p:spPr>
        <p:txBody>
          <a:bodyPr/>
          <a:lstStyle/>
          <a:p>
            <a:r>
              <a:rPr lang="en-US" altLang="en-US" dirty="0"/>
              <a:t>The Alaska Gold Mine</a:t>
            </a:r>
            <a:endParaRPr lang="zh-CN" altLang="en-US" dirty="0"/>
          </a:p>
        </p:txBody>
      </p:sp>
      <p:sp>
        <p:nvSpPr>
          <p:cNvPr id="3" name="Content Placeholder 2">
            <a:extLst>
              <a:ext uri="{FF2B5EF4-FFF2-40B4-BE49-F238E27FC236}">
                <a16:creationId xmlns:a16="http://schemas.microsoft.com/office/drawing/2014/main" id="{FF2968C0-C8E5-4641-AC76-581853168167}"/>
              </a:ext>
            </a:extLst>
          </p:cNvPr>
          <p:cNvSpPr>
            <a:spLocks noGrp="1"/>
          </p:cNvSpPr>
          <p:nvPr>
            <p:ph sz="half" idx="1"/>
          </p:nvPr>
        </p:nvSpPr>
        <p:spPr>
          <a:xfrm>
            <a:off x="609600" y="1321106"/>
            <a:ext cx="5593876" cy="4627879"/>
          </a:xfrm>
        </p:spPr>
        <p:txBody>
          <a:bodyPr/>
          <a:lstStyle/>
          <a:p>
            <a:r>
              <a:rPr lang="en-US" altLang="en-US" dirty="0"/>
              <a:t>3. Go through the valley passes.  This is less dangerous and is usually passable.  However, it is slow and tiring.  Most people can usually complete this journey in </a:t>
            </a:r>
            <a:r>
              <a:rPr lang="en-US" altLang="en-US" b="1" dirty="0"/>
              <a:t>2 to 3 weeks</a:t>
            </a:r>
          </a:p>
          <a:p>
            <a:endParaRPr lang="en-US" altLang="en-US" b="1" dirty="0"/>
          </a:p>
          <a:p>
            <a:r>
              <a:rPr lang="en-US" altLang="en-US" dirty="0"/>
              <a:t>4. Wait 2 to 4 days, take #2 if the weather permits; if not take #3.  (There is no advantage to waiting if you prefer #3 anyway, and waiting to take #1 = #1).</a:t>
            </a:r>
          </a:p>
          <a:p>
            <a:endParaRPr lang="zh-CN" altLang="en-US" dirty="0"/>
          </a:p>
        </p:txBody>
      </p:sp>
      <p:pic>
        <p:nvPicPr>
          <p:cNvPr id="5" name="Picture 5" descr="Palmer1">
            <a:extLst>
              <a:ext uri="{FF2B5EF4-FFF2-40B4-BE49-F238E27FC236}">
                <a16:creationId xmlns:a16="http://schemas.microsoft.com/office/drawing/2014/main" id="{D92B6186-8228-4D70-9CE4-2FA4A79BB5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57440" y="1151643"/>
            <a:ext cx="2916891" cy="2074157"/>
          </a:xfrm>
          <a:prstGeom prst="rect">
            <a:avLst/>
          </a:prstGeom>
          <a:noFill/>
          <a:ln w="0">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6" name="Picture 5" descr="MCj02901200000[1]">
            <a:extLst>
              <a:ext uri="{FF2B5EF4-FFF2-40B4-BE49-F238E27FC236}">
                <a16:creationId xmlns:a16="http://schemas.microsoft.com/office/drawing/2014/main" id="{8ED61901-445B-4FE6-9B4E-93FA81CF1F3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204200" y="3632201"/>
            <a:ext cx="1863725" cy="2067279"/>
          </a:xfrm>
          <a:prstGeom prst="rect">
            <a:avLst/>
          </a:prstGeom>
          <a:noFill/>
          <a:ln w="0">
            <a:noFill/>
            <a:miter lim="800000"/>
            <a:headEnd/>
            <a:tailEnd/>
          </a:ln>
        </p:spPr>
      </p:pic>
    </p:spTree>
    <p:extLst>
      <p:ext uri="{BB962C8B-B14F-4D97-AF65-F5344CB8AC3E}">
        <p14:creationId xmlns:p14="http://schemas.microsoft.com/office/powerpoint/2010/main" val="295918303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78403-B904-453A-A12C-714F3D6DACD2}"/>
              </a:ext>
            </a:extLst>
          </p:cNvPr>
          <p:cNvSpPr>
            <a:spLocks noGrp="1"/>
          </p:cNvSpPr>
          <p:nvPr>
            <p:ph type="title"/>
          </p:nvPr>
        </p:nvSpPr>
        <p:spPr/>
        <p:txBody>
          <a:bodyPr/>
          <a:lstStyle/>
          <a:p>
            <a:r>
              <a:rPr lang="en-US" altLang="en-US" dirty="0"/>
              <a:t>The Alaska Gold Mine</a:t>
            </a:r>
            <a:endParaRPr lang="zh-CN" altLang="en-US" dirty="0"/>
          </a:p>
        </p:txBody>
      </p:sp>
      <p:sp>
        <p:nvSpPr>
          <p:cNvPr id="3" name="Content Placeholder 2">
            <a:extLst>
              <a:ext uri="{FF2B5EF4-FFF2-40B4-BE49-F238E27FC236}">
                <a16:creationId xmlns:a16="http://schemas.microsoft.com/office/drawing/2014/main" id="{EDECEA43-78A6-4A84-AF75-DF5D16EB2A03}"/>
              </a:ext>
            </a:extLst>
          </p:cNvPr>
          <p:cNvSpPr>
            <a:spLocks noGrp="1"/>
          </p:cNvSpPr>
          <p:nvPr>
            <p:ph sz="half" idx="1"/>
          </p:nvPr>
        </p:nvSpPr>
        <p:spPr>
          <a:xfrm>
            <a:off x="609600" y="1503681"/>
            <a:ext cx="10276840" cy="4621954"/>
          </a:xfrm>
        </p:spPr>
        <p:txBody>
          <a:bodyPr/>
          <a:lstStyle/>
          <a:p>
            <a:r>
              <a:rPr lang="en-US" altLang="zh-CN" sz="3200" b="1" dirty="0"/>
              <a:t>Which alternative do you prefer? </a:t>
            </a:r>
          </a:p>
          <a:p>
            <a:pPr lvl="1"/>
            <a:r>
              <a:rPr lang="en-US" altLang="zh-CN" sz="2800" dirty="0"/>
              <a:t>Join the group representing your choice </a:t>
            </a:r>
          </a:p>
          <a:p>
            <a:pPr lvl="1"/>
            <a:r>
              <a:rPr lang="en-US" altLang="zh-CN" sz="2800" dirty="0"/>
              <a:t>Talk to your teammates for 10 minutes to develop your reasoning</a:t>
            </a:r>
          </a:p>
          <a:p>
            <a:pPr lvl="2"/>
            <a:r>
              <a:rPr lang="en-US" altLang="zh-CN" sz="2400" dirty="0"/>
              <a:t>Everyone needs to develop his/her arguments</a:t>
            </a:r>
          </a:p>
          <a:p>
            <a:pPr lvl="2"/>
            <a:endParaRPr lang="en-US" altLang="zh-CN" sz="2400" dirty="0"/>
          </a:p>
          <a:p>
            <a:pPr lvl="1"/>
            <a:r>
              <a:rPr lang="en-US" altLang="zh-CN" sz="2800" dirty="0"/>
              <a:t>Let’s debate!</a:t>
            </a:r>
          </a:p>
        </p:txBody>
      </p:sp>
    </p:spTree>
    <p:extLst>
      <p:ext uri="{BB962C8B-B14F-4D97-AF65-F5344CB8AC3E}">
        <p14:creationId xmlns:p14="http://schemas.microsoft.com/office/powerpoint/2010/main" val="21799561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F15D0-59CD-5FEF-84E2-BE5CB3FE08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B143E5-92BE-0174-61DB-B3686F3C30B8}"/>
              </a:ext>
            </a:extLst>
          </p:cNvPr>
          <p:cNvSpPr>
            <a:spLocks noGrp="1"/>
          </p:cNvSpPr>
          <p:nvPr>
            <p:ph type="title"/>
          </p:nvPr>
        </p:nvSpPr>
        <p:spPr>
          <a:xfrm>
            <a:off x="304800" y="71967"/>
            <a:ext cx="9993331" cy="1143000"/>
          </a:xfrm>
        </p:spPr>
        <p:txBody>
          <a:bodyPr/>
          <a:lstStyle/>
          <a:p>
            <a:r>
              <a:rPr lang="en-US" altLang="en-US" dirty="0"/>
              <a:t>The Alaska Gold Mine</a:t>
            </a:r>
            <a:endParaRPr lang="zh-CN" altLang="en-US" dirty="0"/>
          </a:p>
        </p:txBody>
      </p:sp>
      <p:sp>
        <p:nvSpPr>
          <p:cNvPr id="3" name="Content Placeholder 2">
            <a:extLst>
              <a:ext uri="{FF2B5EF4-FFF2-40B4-BE49-F238E27FC236}">
                <a16:creationId xmlns:a16="http://schemas.microsoft.com/office/drawing/2014/main" id="{799DEDA6-356D-4C54-9549-9C96547F6875}"/>
              </a:ext>
            </a:extLst>
          </p:cNvPr>
          <p:cNvSpPr>
            <a:spLocks noGrp="1"/>
          </p:cNvSpPr>
          <p:nvPr>
            <p:ph sz="half" idx="1"/>
          </p:nvPr>
        </p:nvSpPr>
        <p:spPr>
          <a:xfrm>
            <a:off x="457200" y="1046481"/>
            <a:ext cx="10058400" cy="909319"/>
          </a:xfrm>
        </p:spPr>
        <p:txBody>
          <a:bodyPr/>
          <a:lstStyle/>
          <a:p>
            <a:r>
              <a:rPr lang="en-US" altLang="zh-CN" dirty="0"/>
              <a:t>Only 14 days</a:t>
            </a:r>
            <a:endParaRPr lang="zh-CN" altLang="en-US" dirty="0"/>
          </a:p>
        </p:txBody>
      </p:sp>
      <p:graphicFrame>
        <p:nvGraphicFramePr>
          <p:cNvPr id="5" name="Table 4">
            <a:extLst>
              <a:ext uri="{FF2B5EF4-FFF2-40B4-BE49-F238E27FC236}">
                <a16:creationId xmlns:a16="http://schemas.microsoft.com/office/drawing/2014/main" id="{72A79B32-12D0-8A58-3A8E-DEBC31DBFB9A}"/>
              </a:ext>
            </a:extLst>
          </p:cNvPr>
          <p:cNvGraphicFramePr>
            <a:graphicFrameLocks noGrp="1"/>
          </p:cNvGraphicFramePr>
          <p:nvPr/>
        </p:nvGraphicFramePr>
        <p:xfrm>
          <a:off x="474980" y="1701800"/>
          <a:ext cx="11242040" cy="4451667"/>
        </p:xfrm>
        <a:graphic>
          <a:graphicData uri="http://schemas.openxmlformats.org/drawingml/2006/table">
            <a:tbl>
              <a:tblPr firstRow="1" bandRow="1">
                <a:tableStyleId>{5C22544A-7EE6-4342-B048-85BDC9FD1C3A}</a:tableStyleId>
              </a:tblPr>
              <a:tblGrid>
                <a:gridCol w="2248408">
                  <a:extLst>
                    <a:ext uri="{9D8B030D-6E8A-4147-A177-3AD203B41FA5}">
                      <a16:colId xmlns:a16="http://schemas.microsoft.com/office/drawing/2014/main" val="128801984"/>
                    </a:ext>
                  </a:extLst>
                </a:gridCol>
                <a:gridCol w="2248408">
                  <a:extLst>
                    <a:ext uri="{9D8B030D-6E8A-4147-A177-3AD203B41FA5}">
                      <a16:colId xmlns:a16="http://schemas.microsoft.com/office/drawing/2014/main" val="70224013"/>
                    </a:ext>
                  </a:extLst>
                </a:gridCol>
                <a:gridCol w="2248408">
                  <a:extLst>
                    <a:ext uri="{9D8B030D-6E8A-4147-A177-3AD203B41FA5}">
                      <a16:colId xmlns:a16="http://schemas.microsoft.com/office/drawing/2014/main" val="298611669"/>
                    </a:ext>
                  </a:extLst>
                </a:gridCol>
                <a:gridCol w="2248408">
                  <a:extLst>
                    <a:ext uri="{9D8B030D-6E8A-4147-A177-3AD203B41FA5}">
                      <a16:colId xmlns:a16="http://schemas.microsoft.com/office/drawing/2014/main" val="1556211439"/>
                    </a:ext>
                  </a:extLst>
                </a:gridCol>
                <a:gridCol w="2248408">
                  <a:extLst>
                    <a:ext uri="{9D8B030D-6E8A-4147-A177-3AD203B41FA5}">
                      <a16:colId xmlns:a16="http://schemas.microsoft.com/office/drawing/2014/main" val="3930856337"/>
                    </a:ext>
                  </a:extLst>
                </a:gridCol>
              </a:tblGrid>
              <a:tr h="832459">
                <a:tc>
                  <a:txBody>
                    <a:bodyPr/>
                    <a:lstStyle/>
                    <a:p>
                      <a:pPr algn="ctr"/>
                      <a:r>
                        <a:rPr lang="en-US" dirty="0"/>
                        <a:t>Option</a:t>
                      </a:r>
                    </a:p>
                  </a:txBody>
                  <a:tcPr anchor="ctr"/>
                </a:tc>
                <a:tc>
                  <a:txBody>
                    <a:bodyPr/>
                    <a:lstStyle/>
                    <a:p>
                      <a:pPr algn="ctr"/>
                      <a:r>
                        <a:rPr lang="en-US" dirty="0"/>
                        <a:t>Min Time</a:t>
                      </a:r>
                    </a:p>
                  </a:txBody>
                  <a:tcPr anchor="ctr"/>
                </a:tc>
                <a:tc>
                  <a:txBody>
                    <a:bodyPr/>
                    <a:lstStyle/>
                    <a:p>
                      <a:pPr algn="ctr"/>
                      <a:r>
                        <a:rPr lang="en-US" dirty="0"/>
                        <a:t>Max Time</a:t>
                      </a:r>
                    </a:p>
                  </a:txBody>
                  <a:tcPr anchor="ctr"/>
                </a:tc>
                <a:tc>
                  <a:txBody>
                    <a:bodyPr/>
                    <a:lstStyle/>
                    <a:p>
                      <a:pPr algn="ctr"/>
                      <a:r>
                        <a:rPr lang="en-US" dirty="0"/>
                        <a:t>Possible gain</a:t>
                      </a:r>
                    </a:p>
                  </a:txBody>
                  <a:tcPr anchor="ctr"/>
                </a:tc>
                <a:tc>
                  <a:txBody>
                    <a:bodyPr/>
                    <a:lstStyle/>
                    <a:p>
                      <a:pPr algn="ctr"/>
                      <a:r>
                        <a:rPr lang="en-US" dirty="0"/>
                        <a:t>Personal Risk</a:t>
                      </a:r>
                    </a:p>
                  </a:txBody>
                  <a:tcPr anchor="ctr"/>
                </a:tc>
                <a:extLst>
                  <a:ext uri="{0D108BD9-81ED-4DB2-BD59-A6C34878D82A}">
                    <a16:rowId xmlns:a16="http://schemas.microsoft.com/office/drawing/2014/main" val="3291681857"/>
                  </a:ext>
                </a:extLst>
              </a:tr>
              <a:tr h="832459">
                <a:tc>
                  <a:txBody>
                    <a:bodyPr/>
                    <a:lstStyle/>
                    <a:p>
                      <a:pPr algn="ctr"/>
                      <a:r>
                        <a:rPr lang="en-US" dirty="0"/>
                        <a:t>#1 Wait</a:t>
                      </a:r>
                      <a:r>
                        <a:rPr lang="en-US" baseline="0" dirty="0"/>
                        <a:t> 3-4 weeks</a:t>
                      </a: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r>
                        <a:rPr lang="en-US" dirty="0"/>
                        <a:t>None</a:t>
                      </a:r>
                    </a:p>
                  </a:txBody>
                  <a:tcPr anchor="ctr"/>
                </a:tc>
                <a:tc>
                  <a:txBody>
                    <a:bodyPr/>
                    <a:lstStyle/>
                    <a:p>
                      <a:pPr algn="ctr"/>
                      <a:r>
                        <a:rPr lang="en-US" dirty="0"/>
                        <a:t>None</a:t>
                      </a:r>
                    </a:p>
                  </a:txBody>
                  <a:tcPr anchor="ctr"/>
                </a:tc>
                <a:extLst>
                  <a:ext uri="{0D108BD9-81ED-4DB2-BD59-A6C34878D82A}">
                    <a16:rowId xmlns:a16="http://schemas.microsoft.com/office/drawing/2014/main" val="2391396887"/>
                  </a:ext>
                </a:extLst>
              </a:tr>
              <a:tr h="823788">
                <a:tc>
                  <a:txBody>
                    <a:bodyPr/>
                    <a:lstStyle/>
                    <a:p>
                      <a:pPr algn="ctr"/>
                      <a:r>
                        <a:rPr lang="en-US" dirty="0"/>
                        <a:t>#2 Over</a:t>
                      </a:r>
                      <a:r>
                        <a:rPr lang="en-US" baseline="0" dirty="0"/>
                        <a:t> top</a:t>
                      </a:r>
                      <a:endParaRPr lang="en-US" dirty="0"/>
                    </a:p>
                  </a:txBody>
                  <a:tcPr anchor="ctr"/>
                </a:tc>
                <a:tc>
                  <a:txBody>
                    <a:bodyPr/>
                    <a:lstStyle/>
                    <a:p>
                      <a:pPr algn="ctr"/>
                      <a:r>
                        <a:rPr lang="en-US" dirty="0"/>
                        <a:t>7 days</a:t>
                      </a:r>
                    </a:p>
                  </a:txBody>
                  <a:tcPr anchor="ctr"/>
                </a:tc>
                <a:tc>
                  <a:txBody>
                    <a:bodyPr/>
                    <a:lstStyle/>
                    <a:p>
                      <a:pPr algn="ctr"/>
                      <a:r>
                        <a:rPr lang="en-US" dirty="0"/>
                        <a:t>10 days</a:t>
                      </a:r>
                    </a:p>
                  </a:txBody>
                  <a:tcPr anchor="ctr"/>
                </a:tc>
                <a:tc>
                  <a:txBody>
                    <a:bodyPr/>
                    <a:lstStyle/>
                    <a:p>
                      <a:pPr algn="ctr"/>
                      <a:r>
                        <a:rPr lang="en-US" dirty="0"/>
                        <a:t>For sure $$$</a:t>
                      </a:r>
                    </a:p>
                  </a:txBody>
                  <a:tcPr anchor="ctr"/>
                </a:tc>
                <a:tc>
                  <a:txBody>
                    <a:bodyPr/>
                    <a:lstStyle/>
                    <a:p>
                      <a:pPr algn="ctr"/>
                      <a:r>
                        <a:rPr lang="en-US" dirty="0"/>
                        <a:t>Life</a:t>
                      </a:r>
                    </a:p>
                  </a:txBody>
                  <a:tcPr anchor="ctr"/>
                </a:tc>
                <a:extLst>
                  <a:ext uri="{0D108BD9-81ED-4DB2-BD59-A6C34878D82A}">
                    <a16:rowId xmlns:a16="http://schemas.microsoft.com/office/drawing/2014/main" val="3874135467"/>
                  </a:ext>
                </a:extLst>
              </a:tr>
              <a:tr h="823788">
                <a:tc>
                  <a:txBody>
                    <a:bodyPr/>
                    <a:lstStyle/>
                    <a:p>
                      <a:pPr algn="ctr"/>
                      <a:r>
                        <a:rPr lang="en-US" dirty="0"/>
                        <a:t>#3 Valley</a:t>
                      </a:r>
                    </a:p>
                  </a:txBody>
                  <a:tcPr anchor="ctr"/>
                </a:tc>
                <a:tc>
                  <a:txBody>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lang="en-US" altLang="zh-CN" dirty="0"/>
                        <a:t>14 days</a:t>
                      </a:r>
                    </a:p>
                  </a:txBody>
                  <a:tcPr anchor="ctr"/>
                </a:tc>
                <a:tc>
                  <a:txBody>
                    <a:bodyPr/>
                    <a:lstStyle/>
                    <a:p>
                      <a:pPr algn="ctr"/>
                      <a:r>
                        <a:rPr lang="en-US" dirty="0"/>
                        <a:t>21 days</a:t>
                      </a:r>
                    </a:p>
                  </a:txBody>
                  <a:tcPr anchor="ctr"/>
                </a:tc>
                <a:tc>
                  <a:txBody>
                    <a:bodyPr/>
                    <a:lstStyle/>
                    <a:p>
                      <a:pPr algn="ctr"/>
                      <a:r>
                        <a:rPr lang="en-US" dirty="0"/>
                        <a:t>For sure $$$</a:t>
                      </a:r>
                    </a:p>
                  </a:txBody>
                  <a:tcPr anchor="ctr"/>
                </a:tc>
                <a:tc>
                  <a:txBody>
                    <a:bodyPr/>
                    <a:lstStyle/>
                    <a:p>
                      <a:pPr algn="ctr"/>
                      <a:r>
                        <a:rPr lang="en-US" dirty="0"/>
                        <a:t>None</a:t>
                      </a:r>
                    </a:p>
                  </a:txBody>
                  <a:tcPr anchor="ctr"/>
                </a:tc>
                <a:extLst>
                  <a:ext uri="{0D108BD9-81ED-4DB2-BD59-A6C34878D82A}">
                    <a16:rowId xmlns:a16="http://schemas.microsoft.com/office/drawing/2014/main" val="3754201336"/>
                  </a:ext>
                </a:extLst>
              </a:tr>
              <a:tr h="1139173">
                <a:tc>
                  <a:txBody>
                    <a:bodyPr/>
                    <a:lstStyle/>
                    <a:p>
                      <a:pPr algn="ctr"/>
                      <a:r>
                        <a:rPr lang="en-US" dirty="0"/>
                        <a:t># Wait 2-4 days</a:t>
                      </a:r>
                    </a:p>
                  </a:txBody>
                  <a:tcPr anchor="ctr"/>
                </a:tc>
                <a:tc>
                  <a:txBody>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lang="en-US" altLang="zh-CN" dirty="0"/>
                        <a:t>9-14 days to top</a:t>
                      </a:r>
                    </a:p>
                  </a:txBody>
                  <a:tcPr anchor="ctr"/>
                </a:tc>
                <a:tc>
                  <a:txBody>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lang="en-US" altLang="zh-CN" dirty="0"/>
                        <a:t>16-25 days to Valley</a:t>
                      </a:r>
                    </a:p>
                  </a:txBody>
                  <a:tcPr anchor="ctr"/>
                </a:tc>
                <a:tc>
                  <a:txBody>
                    <a:bodyPr/>
                    <a:lstStyle/>
                    <a:p>
                      <a:r>
                        <a:rPr lang="en-US" altLang="zh-CN" dirty="0"/>
                        <a:t>$$$, if</a:t>
                      </a:r>
                      <a:r>
                        <a:rPr lang="en-US" altLang="zh-CN" baseline="0" dirty="0"/>
                        <a:t> top</a:t>
                      </a:r>
                    </a:p>
                    <a:p>
                      <a:r>
                        <a:rPr lang="en-US" altLang="zh-CN" baseline="0" dirty="0"/>
                        <a:t>Lose, if storm</a:t>
                      </a:r>
                      <a:endParaRPr lang="en-US" altLang="zh-CN" dirty="0"/>
                    </a:p>
                  </a:txBody>
                  <a:tcPr anchor="ctr"/>
                </a:tc>
                <a:tc>
                  <a:txBody>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lang="en-US" altLang="zh-CN" dirty="0"/>
                        <a:t>Win if</a:t>
                      </a:r>
                      <a:r>
                        <a:rPr lang="en-US" altLang="zh-CN" baseline="0" dirty="0"/>
                        <a:t> no storm; Lose if storm</a:t>
                      </a:r>
                      <a:endParaRPr lang="en-US" altLang="zh-CN" dirty="0"/>
                    </a:p>
                  </a:txBody>
                  <a:tcPr anchor="ctr"/>
                </a:tc>
                <a:extLst>
                  <a:ext uri="{0D108BD9-81ED-4DB2-BD59-A6C34878D82A}">
                    <a16:rowId xmlns:a16="http://schemas.microsoft.com/office/drawing/2014/main" val="3624047733"/>
                  </a:ext>
                </a:extLst>
              </a:tr>
            </a:tbl>
          </a:graphicData>
        </a:graphic>
      </p:graphicFrame>
    </p:spTree>
    <p:extLst>
      <p:ext uri="{BB962C8B-B14F-4D97-AF65-F5344CB8AC3E}">
        <p14:creationId xmlns:p14="http://schemas.microsoft.com/office/powerpoint/2010/main" val="331173421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7BD86-4151-7EDE-159D-956363EA78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D12C63-B05E-4A7A-BBEE-52EEE68E8303}"/>
              </a:ext>
            </a:extLst>
          </p:cNvPr>
          <p:cNvSpPr>
            <a:spLocks noGrp="1"/>
          </p:cNvSpPr>
          <p:nvPr>
            <p:ph type="title"/>
          </p:nvPr>
        </p:nvSpPr>
        <p:spPr>
          <a:xfrm>
            <a:off x="609600" y="275167"/>
            <a:ext cx="9993331" cy="1143000"/>
          </a:xfrm>
        </p:spPr>
        <p:txBody>
          <a:bodyPr anchor="ctr">
            <a:normAutofit/>
          </a:bodyPr>
          <a:lstStyle/>
          <a:p>
            <a:r>
              <a:rPr lang="en-US" altLang="en-US" dirty="0"/>
              <a:t>The Alaska Gold Mine</a:t>
            </a:r>
            <a:endParaRPr lang="zh-CN" altLang="en-US" dirty="0"/>
          </a:p>
        </p:txBody>
      </p:sp>
      <p:sp>
        <p:nvSpPr>
          <p:cNvPr id="3" name="Content Placeholder 2">
            <a:extLst>
              <a:ext uri="{FF2B5EF4-FFF2-40B4-BE49-F238E27FC236}">
                <a16:creationId xmlns:a16="http://schemas.microsoft.com/office/drawing/2014/main" id="{D211D180-4237-FD29-6B7F-190737D09568}"/>
              </a:ext>
            </a:extLst>
          </p:cNvPr>
          <p:cNvSpPr>
            <a:spLocks noGrp="1"/>
          </p:cNvSpPr>
          <p:nvPr>
            <p:ph sz="half" idx="1"/>
          </p:nvPr>
        </p:nvSpPr>
        <p:spPr>
          <a:xfrm>
            <a:off x="609600" y="1488441"/>
            <a:ext cx="6400800" cy="4414519"/>
          </a:xfrm>
        </p:spPr>
        <p:txBody>
          <a:bodyPr>
            <a:normAutofit/>
          </a:bodyPr>
          <a:lstStyle/>
          <a:p>
            <a:pPr eaLnBrk="1" hangingPunct="1"/>
            <a:r>
              <a:rPr lang="en-US" altLang="en-US" dirty="0"/>
              <a:t>Other options</a:t>
            </a:r>
          </a:p>
          <a:p>
            <a:pPr lvl="1" eaLnBrk="1" hangingPunct="1"/>
            <a:r>
              <a:rPr lang="en-US" altLang="en-US" sz="2400" dirty="0"/>
              <a:t>Valley 3 days, then re-assess </a:t>
            </a:r>
          </a:p>
          <a:p>
            <a:pPr lvl="1" eaLnBrk="1" hangingPunct="1"/>
            <a:r>
              <a:rPr lang="en-US" altLang="en-US" sz="2400" dirty="0"/>
              <a:t>Bluff</a:t>
            </a:r>
          </a:p>
          <a:p>
            <a:pPr lvl="1" eaLnBrk="1" hangingPunct="1"/>
            <a:r>
              <a:rPr lang="en-US" altLang="en-US" sz="2400" dirty="0"/>
              <a:t>Bring a sat phone next time so that you can order a helicopter</a:t>
            </a:r>
          </a:p>
          <a:p>
            <a:pPr lvl="1" eaLnBrk="1" hangingPunct="1"/>
            <a:endParaRPr lang="en-US" altLang="en-US" sz="2400" dirty="0"/>
          </a:p>
          <a:p>
            <a:pPr eaLnBrk="1" hangingPunct="1"/>
            <a:r>
              <a:rPr lang="en-US" altLang="en-US" dirty="0"/>
              <a:t>Anything else?</a:t>
            </a:r>
          </a:p>
        </p:txBody>
      </p:sp>
      <p:pic>
        <p:nvPicPr>
          <p:cNvPr id="1026" name="Picture 2" descr="Tim Kolodziej: We're swimming in information — and uncertainty | Columns |  ncnewsonline.com">
            <a:extLst>
              <a:ext uri="{FF2B5EF4-FFF2-40B4-BE49-F238E27FC236}">
                <a16:creationId xmlns:a16="http://schemas.microsoft.com/office/drawing/2014/main" id="{52402696-067C-B31A-A06C-C0312A0ABE1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216815" y="1767841"/>
            <a:ext cx="3439329" cy="4525433"/>
          </a:xfrm>
          <a:prstGeom prst="rect">
            <a:avLst/>
          </a:prstGeom>
          <a:solidFill>
            <a:srgbClr val="FFFFFF"/>
          </a:solidFill>
        </p:spPr>
      </p:pic>
    </p:spTree>
    <p:extLst>
      <p:ext uri="{BB962C8B-B14F-4D97-AF65-F5344CB8AC3E}">
        <p14:creationId xmlns:p14="http://schemas.microsoft.com/office/powerpoint/2010/main" val="1687692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77991-7319-4634-9F6C-319F2D6183FB}"/>
              </a:ext>
            </a:extLst>
          </p:cNvPr>
          <p:cNvSpPr>
            <a:spLocks noGrp="1"/>
          </p:cNvSpPr>
          <p:nvPr>
            <p:ph type="title"/>
          </p:nvPr>
        </p:nvSpPr>
        <p:spPr>
          <a:xfrm>
            <a:off x="2923664" y="642196"/>
            <a:ext cx="3008907" cy="1143000"/>
          </a:xfrm>
        </p:spPr>
        <p:txBody>
          <a:bodyPr>
            <a:noAutofit/>
          </a:bodyPr>
          <a:lstStyle/>
          <a:p>
            <a:pPr algn="ctr"/>
            <a:r>
              <a:rPr lang="en-US" altLang="zh-CN" sz="2400" dirty="0"/>
              <a:t>Step 1: Analyze strategic inputs</a:t>
            </a:r>
            <a:endParaRPr lang="zh-CN" altLang="en-US" sz="2400" dirty="0"/>
          </a:p>
        </p:txBody>
      </p:sp>
      <p:sp>
        <p:nvSpPr>
          <p:cNvPr id="7" name="Rectangle: Rounded Corners 4">
            <a:extLst>
              <a:ext uri="{FF2B5EF4-FFF2-40B4-BE49-F238E27FC236}">
                <a16:creationId xmlns:a16="http://schemas.microsoft.com/office/drawing/2014/main" id="{4A966560-D0B9-E63B-4B6A-F1C0A9DCDF72}"/>
              </a:ext>
            </a:extLst>
          </p:cNvPr>
          <p:cNvSpPr/>
          <p:nvPr/>
        </p:nvSpPr>
        <p:spPr>
          <a:xfrm>
            <a:off x="391518" y="1904998"/>
            <a:ext cx="3241040" cy="1143000"/>
          </a:xfrm>
          <a:prstGeom prst="round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dirty="0"/>
              <a:t>Environment</a:t>
            </a:r>
            <a:endParaRPr lang="zh-CN" altLang="en-US" dirty="0"/>
          </a:p>
        </p:txBody>
      </p:sp>
      <p:sp>
        <p:nvSpPr>
          <p:cNvPr id="9" name="Rectangle: Rounded Corners 5">
            <a:extLst>
              <a:ext uri="{FF2B5EF4-FFF2-40B4-BE49-F238E27FC236}">
                <a16:creationId xmlns:a16="http://schemas.microsoft.com/office/drawing/2014/main" id="{3B1B24F0-CD13-96D0-C000-E3507AAF8D9A}"/>
              </a:ext>
            </a:extLst>
          </p:cNvPr>
          <p:cNvSpPr/>
          <p:nvPr/>
        </p:nvSpPr>
        <p:spPr>
          <a:xfrm>
            <a:off x="332552" y="4765773"/>
            <a:ext cx="3241040" cy="1143000"/>
          </a:xfrm>
          <a:prstGeom prst="round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dirty="0"/>
              <a:t>Capabilities</a:t>
            </a:r>
            <a:endParaRPr lang="zh-CN" altLang="en-US" dirty="0"/>
          </a:p>
        </p:txBody>
      </p:sp>
      <p:sp>
        <p:nvSpPr>
          <p:cNvPr id="10" name="Rectangle: Rounded Corners 6">
            <a:extLst>
              <a:ext uri="{FF2B5EF4-FFF2-40B4-BE49-F238E27FC236}">
                <a16:creationId xmlns:a16="http://schemas.microsoft.com/office/drawing/2014/main" id="{EF301F4D-3A15-01C6-045E-DB2A29278A62}"/>
              </a:ext>
            </a:extLst>
          </p:cNvPr>
          <p:cNvSpPr/>
          <p:nvPr/>
        </p:nvSpPr>
        <p:spPr>
          <a:xfrm>
            <a:off x="353239" y="3329037"/>
            <a:ext cx="3241040" cy="1143000"/>
          </a:xfrm>
          <a:prstGeom prst="round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dirty="0"/>
              <a:t>Values</a:t>
            </a:r>
            <a:endParaRPr lang="zh-CN" altLang="en-US" dirty="0"/>
          </a:p>
        </p:txBody>
      </p:sp>
      <p:sp>
        <p:nvSpPr>
          <p:cNvPr id="11" name="Hexagon 10">
            <a:extLst>
              <a:ext uri="{FF2B5EF4-FFF2-40B4-BE49-F238E27FC236}">
                <a16:creationId xmlns:a16="http://schemas.microsoft.com/office/drawing/2014/main" id="{8789D9C2-786A-E11D-DA3A-01B5918FF1DC}"/>
              </a:ext>
            </a:extLst>
          </p:cNvPr>
          <p:cNvSpPr/>
          <p:nvPr/>
        </p:nvSpPr>
        <p:spPr>
          <a:xfrm>
            <a:off x="8572688" y="2741873"/>
            <a:ext cx="3286760" cy="2317326"/>
          </a:xfrm>
          <a:prstGeom prst="hexagon">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b="1" dirty="0"/>
              <a:t>Strategy</a:t>
            </a:r>
            <a:r>
              <a:rPr lang="zh-CN" altLang="en-US" b="1" dirty="0"/>
              <a:t> </a:t>
            </a:r>
            <a:r>
              <a:rPr lang="en-US" altLang="zh-CN" b="1" dirty="0"/>
              <a:t>Formulation</a:t>
            </a:r>
            <a:endParaRPr lang="zh-CN" altLang="en-US" b="1" dirty="0"/>
          </a:p>
        </p:txBody>
      </p:sp>
      <p:sp>
        <p:nvSpPr>
          <p:cNvPr id="12" name="Oval 11">
            <a:extLst>
              <a:ext uri="{FF2B5EF4-FFF2-40B4-BE49-F238E27FC236}">
                <a16:creationId xmlns:a16="http://schemas.microsoft.com/office/drawing/2014/main" id="{6DBBB9B1-A63E-DEC6-4D9B-84F4E07F1018}"/>
              </a:ext>
            </a:extLst>
          </p:cNvPr>
          <p:cNvSpPr/>
          <p:nvPr/>
        </p:nvSpPr>
        <p:spPr>
          <a:xfrm>
            <a:off x="5282645" y="3209233"/>
            <a:ext cx="2103120" cy="1382607"/>
          </a:xfrm>
          <a:prstGeom prst="ellipse">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dirty="0"/>
              <a:t>Goal</a:t>
            </a:r>
            <a:r>
              <a:rPr lang="zh-TW" altLang="en-US" dirty="0"/>
              <a:t> </a:t>
            </a:r>
            <a:r>
              <a:rPr lang="en-US" altLang="zh-TW" dirty="0"/>
              <a:t>&amp;</a:t>
            </a:r>
            <a:r>
              <a:rPr lang="zh-TW" altLang="en-US" dirty="0"/>
              <a:t> </a:t>
            </a:r>
            <a:r>
              <a:rPr lang="en-US" altLang="zh-CN" dirty="0"/>
              <a:t>Mission</a:t>
            </a:r>
            <a:endParaRPr lang="zh-CN" altLang="en-US" dirty="0"/>
          </a:p>
        </p:txBody>
      </p:sp>
      <p:cxnSp>
        <p:nvCxnSpPr>
          <p:cNvPr id="14" name="Straight Arrow Connector 13">
            <a:extLst>
              <a:ext uri="{FF2B5EF4-FFF2-40B4-BE49-F238E27FC236}">
                <a16:creationId xmlns:a16="http://schemas.microsoft.com/office/drawing/2014/main" id="{FE6D72BC-C48B-3DFE-EF11-6CD8BE98AE56}"/>
              </a:ext>
            </a:extLst>
          </p:cNvPr>
          <p:cNvCxnSpPr>
            <a:cxnSpLocks/>
            <a:stCxn id="7" idx="3"/>
            <a:endCxn id="12" idx="2"/>
          </p:cNvCxnSpPr>
          <p:nvPr/>
        </p:nvCxnSpPr>
        <p:spPr>
          <a:xfrm>
            <a:off x="3632558" y="2476498"/>
            <a:ext cx="1650087" cy="142403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BA8EF231-B7A2-99BC-DF45-C14E8DC62426}"/>
              </a:ext>
            </a:extLst>
          </p:cNvPr>
          <p:cNvCxnSpPr>
            <a:cxnSpLocks/>
            <a:stCxn id="10" idx="3"/>
            <a:endCxn id="12" idx="2"/>
          </p:cNvCxnSpPr>
          <p:nvPr/>
        </p:nvCxnSpPr>
        <p:spPr>
          <a:xfrm>
            <a:off x="3594279" y="3900537"/>
            <a:ext cx="168836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DEA92F70-6C8F-815E-B52A-F58D80AED50F}"/>
              </a:ext>
            </a:extLst>
          </p:cNvPr>
          <p:cNvCxnSpPr>
            <a:cxnSpLocks/>
            <a:stCxn id="9" idx="3"/>
            <a:endCxn id="12" idx="2"/>
          </p:cNvCxnSpPr>
          <p:nvPr/>
        </p:nvCxnSpPr>
        <p:spPr>
          <a:xfrm flipV="1">
            <a:off x="3573592" y="3900537"/>
            <a:ext cx="1709053" cy="14367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8A4F773B-D3F7-E7A6-5517-AA451515DF07}"/>
              </a:ext>
            </a:extLst>
          </p:cNvPr>
          <p:cNvCxnSpPr>
            <a:cxnSpLocks/>
            <a:stCxn id="12" idx="6"/>
            <a:endCxn id="11" idx="3"/>
          </p:cNvCxnSpPr>
          <p:nvPr/>
        </p:nvCxnSpPr>
        <p:spPr>
          <a:xfrm flipV="1">
            <a:off x="7385765" y="3900536"/>
            <a:ext cx="1186923"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5" name="Title 1">
            <a:extLst>
              <a:ext uri="{FF2B5EF4-FFF2-40B4-BE49-F238E27FC236}">
                <a16:creationId xmlns:a16="http://schemas.microsoft.com/office/drawing/2014/main" id="{89BA9F74-0CEB-C05E-68DE-3CA4966B9B24}"/>
              </a:ext>
            </a:extLst>
          </p:cNvPr>
          <p:cNvSpPr txBox="1">
            <a:spLocks/>
          </p:cNvSpPr>
          <p:nvPr/>
        </p:nvSpPr>
        <p:spPr>
          <a:xfrm>
            <a:off x="6874930" y="642196"/>
            <a:ext cx="2632789" cy="1143000"/>
          </a:xfrm>
          <a:prstGeom prst="rect">
            <a:avLst/>
          </a:prstGeom>
        </p:spPr>
        <p:txBody>
          <a:bodyPr vert="horz" lIns="91440" tIns="45720" rIns="91440" bIns="45720" rtlCol="0" anchor="ctr">
            <a:normAutofit/>
          </a:bodyPr>
          <a:lstStyle>
            <a:lvl1pPr algn="l" defTabSz="609585" rtl="0" eaLnBrk="1" latinLnBrk="0" hangingPunct="1">
              <a:spcBef>
                <a:spcPct val="0"/>
              </a:spcBef>
              <a:buNone/>
              <a:defRPr sz="3733" b="1" kern="1200">
                <a:solidFill>
                  <a:srgbClr val="331C58"/>
                </a:solidFill>
                <a:latin typeface="+mj-lt"/>
                <a:ea typeface="+mj-ea"/>
                <a:cs typeface="+mj-cs"/>
              </a:defRPr>
            </a:lvl1pPr>
          </a:lstStyle>
          <a:p>
            <a:pPr algn="ctr"/>
            <a:r>
              <a:rPr lang="en-US" altLang="zh-CN" sz="2400" dirty="0"/>
              <a:t>Step 2: Take Strategic Action</a:t>
            </a:r>
            <a:endParaRPr lang="zh-CN" altLang="en-US" sz="2400" dirty="0"/>
          </a:p>
        </p:txBody>
      </p:sp>
    </p:spTree>
    <p:extLst>
      <p:ext uri="{BB962C8B-B14F-4D97-AF65-F5344CB8AC3E}">
        <p14:creationId xmlns:p14="http://schemas.microsoft.com/office/powerpoint/2010/main" val="3623466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animBg="1"/>
      <p:bldP spid="9" grpId="0" animBg="1"/>
      <p:bldP spid="10" grpId="0" animBg="1"/>
      <p:bldP spid="11" grpId="0" animBg="1"/>
      <p:bldP spid="12" grpId="0" animBg="1"/>
      <p:bldP spid="35"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C9803-E2D0-4F6A-B638-B0562595F284}"/>
              </a:ext>
            </a:extLst>
          </p:cNvPr>
          <p:cNvSpPr>
            <a:spLocks noGrp="1"/>
          </p:cNvSpPr>
          <p:nvPr>
            <p:ph type="title"/>
          </p:nvPr>
        </p:nvSpPr>
        <p:spPr>
          <a:xfrm>
            <a:off x="609600" y="160865"/>
            <a:ext cx="9993331" cy="1143000"/>
          </a:xfrm>
        </p:spPr>
        <p:txBody>
          <a:bodyPr>
            <a:normAutofit fontScale="90000"/>
          </a:bodyPr>
          <a:lstStyle/>
          <a:p>
            <a:r>
              <a:rPr lang="en-US" altLang="en-US" dirty="0"/>
              <a:t>Part II Assume you chose the valley pass (#3)</a:t>
            </a:r>
            <a:endParaRPr lang="zh-CN" altLang="en-US" dirty="0"/>
          </a:p>
        </p:txBody>
      </p:sp>
      <p:sp>
        <p:nvSpPr>
          <p:cNvPr id="3" name="Content Placeholder 2">
            <a:extLst>
              <a:ext uri="{FF2B5EF4-FFF2-40B4-BE49-F238E27FC236}">
                <a16:creationId xmlns:a16="http://schemas.microsoft.com/office/drawing/2014/main" id="{DF6DB838-58C4-48B8-B800-CD8444711C16}"/>
              </a:ext>
            </a:extLst>
          </p:cNvPr>
          <p:cNvSpPr>
            <a:spLocks noGrp="1"/>
          </p:cNvSpPr>
          <p:nvPr>
            <p:ph sz="half" idx="1"/>
          </p:nvPr>
        </p:nvSpPr>
        <p:spPr>
          <a:xfrm>
            <a:off x="324168" y="1347895"/>
            <a:ext cx="10505758" cy="5349240"/>
          </a:xfrm>
        </p:spPr>
        <p:txBody>
          <a:bodyPr>
            <a:normAutofit fontScale="92500"/>
          </a:bodyPr>
          <a:lstStyle/>
          <a:p>
            <a:pPr eaLnBrk="1" hangingPunct="1">
              <a:lnSpc>
                <a:spcPct val="80000"/>
              </a:lnSpc>
            </a:pPr>
            <a:r>
              <a:rPr lang="en-US" altLang="en-US" b="1" dirty="0"/>
              <a:t>5 days later </a:t>
            </a:r>
            <a:r>
              <a:rPr lang="en-US" altLang="en-US" dirty="0"/>
              <a:t>you are halfway there. But, you may have pushed too hard as you sprained your ankle. Fortunately, you run into Pat, an old friend on a trapping expedition. Pat could get you to the claims office and offers to take you. </a:t>
            </a:r>
          </a:p>
          <a:p>
            <a:pPr eaLnBrk="1" hangingPunct="1">
              <a:lnSpc>
                <a:spcPct val="80000"/>
              </a:lnSpc>
            </a:pPr>
            <a:endParaRPr lang="en-US" altLang="en-US" sz="800" dirty="0"/>
          </a:p>
          <a:p>
            <a:pPr eaLnBrk="1" hangingPunct="1">
              <a:lnSpc>
                <a:spcPct val="80000"/>
              </a:lnSpc>
            </a:pPr>
            <a:r>
              <a:rPr lang="en-US" altLang="en-US" dirty="0"/>
              <a:t>1. If you were healthy, you could get there easily in </a:t>
            </a:r>
            <a:r>
              <a:rPr lang="en-US" altLang="en-US" b="1" dirty="0"/>
              <a:t>7 days</a:t>
            </a:r>
            <a:r>
              <a:rPr lang="en-US" altLang="en-US" dirty="0"/>
              <a:t>, but you cannot make it alone without a few days rest, and even then it could take </a:t>
            </a:r>
            <a:r>
              <a:rPr lang="en-US" altLang="en-US" b="1" dirty="0"/>
              <a:t>10 days or more</a:t>
            </a:r>
            <a:r>
              <a:rPr lang="en-US" altLang="en-US" dirty="0"/>
              <a:t>, depending on how your ankle holds up.  </a:t>
            </a:r>
          </a:p>
          <a:p>
            <a:pPr eaLnBrk="1" hangingPunct="1">
              <a:lnSpc>
                <a:spcPct val="80000"/>
              </a:lnSpc>
            </a:pPr>
            <a:endParaRPr lang="en-US" altLang="en-US" sz="800" dirty="0"/>
          </a:p>
          <a:p>
            <a:pPr eaLnBrk="1" hangingPunct="1">
              <a:lnSpc>
                <a:spcPct val="80000"/>
              </a:lnSpc>
            </a:pPr>
            <a:r>
              <a:rPr lang="en-US" altLang="en-US" dirty="0"/>
              <a:t>2. Traveling together, you might make it in </a:t>
            </a:r>
            <a:r>
              <a:rPr lang="en-US" altLang="en-US" b="1" dirty="0"/>
              <a:t>10 to 14 </a:t>
            </a:r>
            <a:r>
              <a:rPr lang="en-US" altLang="en-US" dirty="0"/>
              <a:t>days. </a:t>
            </a:r>
          </a:p>
          <a:p>
            <a:pPr eaLnBrk="1" hangingPunct="1">
              <a:lnSpc>
                <a:spcPct val="80000"/>
              </a:lnSpc>
            </a:pPr>
            <a:r>
              <a:rPr lang="en-US" altLang="en-US" sz="900" dirty="0"/>
              <a:t> </a:t>
            </a:r>
          </a:p>
          <a:p>
            <a:pPr eaLnBrk="1" hangingPunct="1">
              <a:lnSpc>
                <a:spcPct val="80000"/>
              </a:lnSpc>
            </a:pPr>
            <a:r>
              <a:rPr lang="en-US" altLang="en-US" dirty="0"/>
              <a:t>3. If you tell Pat about the gold and make a deal, Pat alone could get there in </a:t>
            </a:r>
            <a:r>
              <a:rPr lang="en-US" altLang="en-US" b="1" dirty="0"/>
              <a:t>8 to 10 days</a:t>
            </a:r>
            <a:r>
              <a:rPr lang="en-US" altLang="en-US" dirty="0"/>
              <a:t>.</a:t>
            </a:r>
          </a:p>
          <a:p>
            <a:pPr eaLnBrk="1" hangingPunct="1">
              <a:lnSpc>
                <a:spcPct val="80000"/>
              </a:lnSpc>
            </a:pPr>
            <a:endParaRPr lang="en-US" altLang="en-US" sz="900" dirty="0"/>
          </a:p>
          <a:p>
            <a:pPr eaLnBrk="1" hangingPunct="1">
              <a:lnSpc>
                <a:spcPct val="80000"/>
              </a:lnSpc>
            </a:pPr>
            <a:r>
              <a:rPr lang="en-US" altLang="en-US" dirty="0"/>
              <a:t>You are not sure whether Pat can exercise the option and file the claim correctly, because Pat is not bright, tends to drink in excess, and is not the single-minded hustler that you are. </a:t>
            </a:r>
          </a:p>
          <a:p>
            <a:pPr eaLnBrk="1" hangingPunct="1">
              <a:lnSpc>
                <a:spcPct val="80000"/>
              </a:lnSpc>
            </a:pPr>
            <a:endParaRPr lang="en-US" altLang="en-US" sz="900" dirty="0"/>
          </a:p>
          <a:p>
            <a:pPr eaLnBrk="1" hangingPunct="1">
              <a:lnSpc>
                <a:spcPct val="80000"/>
              </a:lnSpc>
            </a:pPr>
            <a:r>
              <a:rPr lang="en-US" altLang="en-US" dirty="0"/>
              <a:t>Pat is a simple, decent person who likes trapping but would, you suspect, both need and desire financial independence. You think you could trust Pat if you offer to split 50-50, because Pat would need your expertise to capitalize on the discovery.</a:t>
            </a:r>
          </a:p>
        </p:txBody>
      </p:sp>
    </p:spTree>
    <p:extLst>
      <p:ext uri="{BB962C8B-B14F-4D97-AF65-F5344CB8AC3E}">
        <p14:creationId xmlns:p14="http://schemas.microsoft.com/office/powerpoint/2010/main" val="131053464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78403-B904-453A-A12C-714F3D6DACD2}"/>
              </a:ext>
            </a:extLst>
          </p:cNvPr>
          <p:cNvSpPr>
            <a:spLocks noGrp="1"/>
          </p:cNvSpPr>
          <p:nvPr>
            <p:ph type="title"/>
          </p:nvPr>
        </p:nvSpPr>
        <p:spPr/>
        <p:txBody>
          <a:bodyPr/>
          <a:lstStyle/>
          <a:p>
            <a:r>
              <a:rPr lang="en-US" altLang="en-US" dirty="0"/>
              <a:t>The Alaska Gold Mine</a:t>
            </a:r>
            <a:endParaRPr lang="zh-CN" altLang="en-US" dirty="0"/>
          </a:p>
        </p:txBody>
      </p:sp>
      <p:sp>
        <p:nvSpPr>
          <p:cNvPr id="3" name="Content Placeholder 2">
            <a:extLst>
              <a:ext uri="{FF2B5EF4-FFF2-40B4-BE49-F238E27FC236}">
                <a16:creationId xmlns:a16="http://schemas.microsoft.com/office/drawing/2014/main" id="{EDECEA43-78A6-4A84-AF75-DF5D16EB2A03}"/>
              </a:ext>
            </a:extLst>
          </p:cNvPr>
          <p:cNvSpPr>
            <a:spLocks noGrp="1"/>
          </p:cNvSpPr>
          <p:nvPr>
            <p:ph sz="half" idx="1"/>
          </p:nvPr>
        </p:nvSpPr>
        <p:spPr>
          <a:xfrm>
            <a:off x="533400" y="1376680"/>
            <a:ext cx="10495280" cy="4952999"/>
          </a:xfrm>
        </p:spPr>
        <p:txBody>
          <a:bodyPr>
            <a:normAutofit/>
          </a:bodyPr>
          <a:lstStyle/>
          <a:p>
            <a:r>
              <a:rPr lang="en-US" altLang="zh-CN" sz="3200" b="1" dirty="0"/>
              <a:t>Which alternative do you prefer? </a:t>
            </a:r>
          </a:p>
          <a:p>
            <a:pPr lvl="1"/>
            <a:r>
              <a:rPr lang="en-US" altLang="en-US" sz="2933" b="1" dirty="0"/>
              <a:t>Go alone__ </a:t>
            </a:r>
            <a:r>
              <a:rPr lang="zh-CN" altLang="en-US" sz="2933" b="1" dirty="0"/>
              <a:t> </a:t>
            </a:r>
            <a:r>
              <a:rPr lang="en-US" altLang="en-US" sz="2933" b="1" dirty="0"/>
              <a:t>Go with Pat__ </a:t>
            </a:r>
            <a:r>
              <a:rPr lang="zh-CN" altLang="en-US" sz="2933" b="1" dirty="0"/>
              <a:t> </a:t>
            </a:r>
            <a:r>
              <a:rPr lang="en-US" altLang="en-US" sz="2933" b="1" dirty="0"/>
              <a:t>Send Pat__</a:t>
            </a:r>
            <a:endParaRPr lang="en-US" altLang="zh-CN" sz="2933" b="1" dirty="0"/>
          </a:p>
          <a:p>
            <a:pPr lvl="2"/>
            <a:r>
              <a:rPr lang="en-US" altLang="zh-CN" sz="2534" dirty="0"/>
              <a:t>Join the group representing your choice </a:t>
            </a:r>
          </a:p>
          <a:p>
            <a:pPr lvl="2"/>
            <a:r>
              <a:rPr lang="en-US" altLang="zh-CN" sz="2534" dirty="0"/>
              <a:t>Talk to your teammates for 10 minutes to develop your reasoning</a:t>
            </a:r>
          </a:p>
          <a:p>
            <a:pPr lvl="2"/>
            <a:r>
              <a:rPr lang="en-US" altLang="zh-CN" sz="2400" dirty="0"/>
              <a:t>Everyone needs to develop his/her arguments</a:t>
            </a:r>
          </a:p>
          <a:p>
            <a:pPr lvl="1"/>
            <a:r>
              <a:rPr lang="en-US" altLang="zh-CN" sz="2800" dirty="0"/>
              <a:t>Let’s debate!</a:t>
            </a:r>
          </a:p>
          <a:p>
            <a:r>
              <a:rPr lang="en-US" altLang="zh-CN" sz="3200" b="1" dirty="0"/>
              <a:t>Any other alternatives?</a:t>
            </a:r>
            <a:endParaRPr lang="en-US" altLang="zh-CN" sz="2933" dirty="0"/>
          </a:p>
          <a:p>
            <a:pPr lvl="1"/>
            <a:endParaRPr lang="zh-CN" altLang="en-US" dirty="0"/>
          </a:p>
        </p:txBody>
      </p:sp>
    </p:spTree>
    <p:extLst>
      <p:ext uri="{BB962C8B-B14F-4D97-AF65-F5344CB8AC3E}">
        <p14:creationId xmlns:p14="http://schemas.microsoft.com/office/powerpoint/2010/main" val="401215578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77991-7319-4634-9F6C-319F2D6183FB}"/>
              </a:ext>
            </a:extLst>
          </p:cNvPr>
          <p:cNvSpPr>
            <a:spLocks noGrp="1"/>
          </p:cNvSpPr>
          <p:nvPr>
            <p:ph type="title"/>
          </p:nvPr>
        </p:nvSpPr>
        <p:spPr>
          <a:xfrm>
            <a:off x="230970" y="73351"/>
            <a:ext cx="3008907" cy="1143000"/>
          </a:xfrm>
        </p:spPr>
        <p:txBody>
          <a:bodyPr>
            <a:noAutofit/>
          </a:bodyPr>
          <a:lstStyle/>
          <a:p>
            <a:pPr algn="ctr"/>
            <a:r>
              <a:rPr lang="en-US" altLang="zh-CN" sz="2400" dirty="0"/>
              <a:t>Step 1: Analyze strategic inputs</a:t>
            </a:r>
            <a:endParaRPr lang="zh-CN" altLang="en-US" sz="2400" dirty="0"/>
          </a:p>
        </p:txBody>
      </p:sp>
      <p:sp>
        <p:nvSpPr>
          <p:cNvPr id="7" name="Rectangle: Rounded Corners 4">
            <a:extLst>
              <a:ext uri="{FF2B5EF4-FFF2-40B4-BE49-F238E27FC236}">
                <a16:creationId xmlns:a16="http://schemas.microsoft.com/office/drawing/2014/main" id="{4A966560-D0B9-E63B-4B6A-F1C0A9DCDF72}"/>
              </a:ext>
            </a:extLst>
          </p:cNvPr>
          <p:cNvSpPr/>
          <p:nvPr/>
        </p:nvSpPr>
        <p:spPr>
          <a:xfrm>
            <a:off x="114903" y="1248102"/>
            <a:ext cx="3241040" cy="1143000"/>
          </a:xfrm>
          <a:prstGeom prst="round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dirty="0"/>
              <a:t>Environment</a:t>
            </a:r>
            <a:endParaRPr lang="zh-CN" altLang="en-US" dirty="0"/>
          </a:p>
        </p:txBody>
      </p:sp>
      <p:sp>
        <p:nvSpPr>
          <p:cNvPr id="9" name="Rectangle: Rounded Corners 5">
            <a:extLst>
              <a:ext uri="{FF2B5EF4-FFF2-40B4-BE49-F238E27FC236}">
                <a16:creationId xmlns:a16="http://schemas.microsoft.com/office/drawing/2014/main" id="{3B1B24F0-CD13-96D0-C000-E3507AAF8D9A}"/>
              </a:ext>
            </a:extLst>
          </p:cNvPr>
          <p:cNvSpPr/>
          <p:nvPr/>
        </p:nvSpPr>
        <p:spPr>
          <a:xfrm>
            <a:off x="114903" y="4023084"/>
            <a:ext cx="3241040" cy="1143000"/>
          </a:xfrm>
          <a:prstGeom prst="round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dirty="0"/>
              <a:t>Capabilities</a:t>
            </a:r>
            <a:endParaRPr lang="zh-CN" altLang="en-US" dirty="0"/>
          </a:p>
        </p:txBody>
      </p:sp>
      <p:sp>
        <p:nvSpPr>
          <p:cNvPr id="10" name="Rectangle: Rounded Corners 6">
            <a:extLst>
              <a:ext uri="{FF2B5EF4-FFF2-40B4-BE49-F238E27FC236}">
                <a16:creationId xmlns:a16="http://schemas.microsoft.com/office/drawing/2014/main" id="{EF301F4D-3A15-01C6-045E-DB2A29278A62}"/>
              </a:ext>
            </a:extLst>
          </p:cNvPr>
          <p:cNvSpPr/>
          <p:nvPr/>
        </p:nvSpPr>
        <p:spPr>
          <a:xfrm>
            <a:off x="114903" y="2635593"/>
            <a:ext cx="3241040" cy="1143000"/>
          </a:xfrm>
          <a:prstGeom prst="round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dirty="0"/>
              <a:t>Values</a:t>
            </a:r>
            <a:endParaRPr lang="zh-CN" altLang="en-US" dirty="0"/>
          </a:p>
        </p:txBody>
      </p:sp>
      <p:sp>
        <p:nvSpPr>
          <p:cNvPr id="11" name="Hexagon 10">
            <a:extLst>
              <a:ext uri="{FF2B5EF4-FFF2-40B4-BE49-F238E27FC236}">
                <a16:creationId xmlns:a16="http://schemas.microsoft.com/office/drawing/2014/main" id="{8789D9C2-786A-E11D-DA3A-01B5918FF1DC}"/>
              </a:ext>
            </a:extLst>
          </p:cNvPr>
          <p:cNvSpPr/>
          <p:nvPr/>
        </p:nvSpPr>
        <p:spPr>
          <a:xfrm>
            <a:off x="6117268" y="2065133"/>
            <a:ext cx="3089643" cy="2283918"/>
          </a:xfrm>
          <a:prstGeom prst="hexagon">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b="1" dirty="0"/>
              <a:t>Strategy</a:t>
            </a:r>
            <a:r>
              <a:rPr lang="zh-CN" altLang="en-US" b="1" dirty="0"/>
              <a:t> </a:t>
            </a:r>
            <a:r>
              <a:rPr lang="en-US" altLang="zh-CN" b="1" dirty="0"/>
              <a:t>Formulation</a:t>
            </a:r>
          </a:p>
          <a:p>
            <a:pPr marL="342900" indent="-342900">
              <a:buFont typeface="Wingdings" panose="05000000000000000000" pitchFamily="2" charset="2"/>
              <a:buChar char="Ø"/>
            </a:pPr>
            <a:r>
              <a:rPr lang="en-US" altLang="zh-CN" sz="2000" dirty="0">
                <a:latin typeface="Times New Roman" panose="02020603050405020304" pitchFamily="18" charset="0"/>
                <a:cs typeface="Times New Roman" panose="02020603050405020304" pitchFamily="18" charset="0"/>
              </a:rPr>
              <a:t>Intended</a:t>
            </a:r>
          </a:p>
          <a:p>
            <a:pPr marL="342900" indent="-342900">
              <a:buFont typeface="Wingdings" panose="05000000000000000000" pitchFamily="2" charset="2"/>
              <a:buChar char="Ø"/>
            </a:pPr>
            <a:r>
              <a:rPr lang="en-US" altLang="zh-CN" sz="2000" dirty="0">
                <a:latin typeface="Times New Roman" panose="02020603050405020304" pitchFamily="18" charset="0"/>
                <a:cs typeface="Times New Roman" panose="02020603050405020304" pitchFamily="18" charset="0"/>
              </a:rPr>
              <a:t>Emergent and realized</a:t>
            </a:r>
            <a:endParaRPr lang="zh-CN" altLang="en-US" sz="2000" dirty="0">
              <a:latin typeface="Times New Roman" panose="02020603050405020304" pitchFamily="18" charset="0"/>
              <a:cs typeface="Times New Roman" panose="02020603050405020304" pitchFamily="18" charset="0"/>
            </a:endParaRPr>
          </a:p>
        </p:txBody>
      </p:sp>
      <p:sp>
        <p:nvSpPr>
          <p:cNvPr id="12" name="Oval 11">
            <a:extLst>
              <a:ext uri="{FF2B5EF4-FFF2-40B4-BE49-F238E27FC236}">
                <a16:creationId xmlns:a16="http://schemas.microsoft.com/office/drawing/2014/main" id="{6DBBB9B1-A63E-DEC6-4D9B-84F4E07F1018}"/>
              </a:ext>
            </a:extLst>
          </p:cNvPr>
          <p:cNvSpPr/>
          <p:nvPr/>
        </p:nvSpPr>
        <p:spPr>
          <a:xfrm>
            <a:off x="3717539" y="2515788"/>
            <a:ext cx="2103120" cy="1382607"/>
          </a:xfrm>
          <a:prstGeom prst="ellipse">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dirty="0"/>
              <a:t>Goal</a:t>
            </a:r>
            <a:endParaRPr lang="zh-CN" altLang="en-US" dirty="0"/>
          </a:p>
        </p:txBody>
      </p:sp>
      <p:cxnSp>
        <p:nvCxnSpPr>
          <p:cNvPr id="14" name="Straight Arrow Connector 13">
            <a:extLst>
              <a:ext uri="{FF2B5EF4-FFF2-40B4-BE49-F238E27FC236}">
                <a16:creationId xmlns:a16="http://schemas.microsoft.com/office/drawing/2014/main" id="{FE6D72BC-C48B-3DFE-EF11-6CD8BE98AE56}"/>
              </a:ext>
            </a:extLst>
          </p:cNvPr>
          <p:cNvCxnSpPr>
            <a:cxnSpLocks/>
            <a:stCxn id="7" idx="3"/>
            <a:endCxn id="12" idx="2"/>
          </p:cNvCxnSpPr>
          <p:nvPr/>
        </p:nvCxnSpPr>
        <p:spPr>
          <a:xfrm>
            <a:off x="3355943" y="1819602"/>
            <a:ext cx="361596" cy="138749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BA8EF231-B7A2-99BC-DF45-C14E8DC62426}"/>
              </a:ext>
            </a:extLst>
          </p:cNvPr>
          <p:cNvCxnSpPr>
            <a:cxnSpLocks/>
            <a:stCxn id="10" idx="3"/>
            <a:endCxn id="12" idx="2"/>
          </p:cNvCxnSpPr>
          <p:nvPr/>
        </p:nvCxnSpPr>
        <p:spPr>
          <a:xfrm flipV="1">
            <a:off x="3355943" y="3207092"/>
            <a:ext cx="361596"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DEA92F70-6C8F-815E-B52A-F58D80AED50F}"/>
              </a:ext>
            </a:extLst>
          </p:cNvPr>
          <p:cNvCxnSpPr>
            <a:cxnSpLocks/>
            <a:stCxn id="9" idx="3"/>
            <a:endCxn id="12" idx="2"/>
          </p:cNvCxnSpPr>
          <p:nvPr/>
        </p:nvCxnSpPr>
        <p:spPr>
          <a:xfrm flipV="1">
            <a:off x="3355943" y="3207092"/>
            <a:ext cx="361596" cy="138749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8A4F773B-D3F7-E7A6-5517-AA451515DF07}"/>
              </a:ext>
            </a:extLst>
          </p:cNvPr>
          <p:cNvCxnSpPr>
            <a:cxnSpLocks/>
            <a:stCxn id="12" idx="6"/>
            <a:endCxn id="11" idx="3"/>
          </p:cNvCxnSpPr>
          <p:nvPr/>
        </p:nvCxnSpPr>
        <p:spPr>
          <a:xfrm>
            <a:off x="5820659" y="3207092"/>
            <a:ext cx="29660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5" name="Title 1">
            <a:extLst>
              <a:ext uri="{FF2B5EF4-FFF2-40B4-BE49-F238E27FC236}">
                <a16:creationId xmlns:a16="http://schemas.microsoft.com/office/drawing/2014/main" id="{89BA9F74-0CEB-C05E-68DE-3CA4966B9B24}"/>
              </a:ext>
            </a:extLst>
          </p:cNvPr>
          <p:cNvSpPr txBox="1">
            <a:spLocks/>
          </p:cNvSpPr>
          <p:nvPr/>
        </p:nvSpPr>
        <p:spPr>
          <a:xfrm>
            <a:off x="3738909" y="-430"/>
            <a:ext cx="2632789" cy="1143000"/>
          </a:xfrm>
          <a:prstGeom prst="rect">
            <a:avLst/>
          </a:prstGeom>
        </p:spPr>
        <p:txBody>
          <a:bodyPr vert="horz" lIns="91440" tIns="45720" rIns="91440" bIns="45720" rtlCol="0" anchor="ctr">
            <a:normAutofit/>
          </a:bodyPr>
          <a:lstStyle>
            <a:lvl1pPr algn="l" defTabSz="609585" rtl="0" eaLnBrk="1" latinLnBrk="0" hangingPunct="1">
              <a:spcBef>
                <a:spcPct val="0"/>
              </a:spcBef>
              <a:buNone/>
              <a:defRPr sz="3733" b="1" kern="1200">
                <a:solidFill>
                  <a:srgbClr val="331C58"/>
                </a:solidFill>
                <a:latin typeface="+mj-lt"/>
                <a:ea typeface="+mj-ea"/>
                <a:cs typeface="+mj-cs"/>
              </a:defRPr>
            </a:lvl1pPr>
          </a:lstStyle>
          <a:p>
            <a:pPr algn="ctr"/>
            <a:r>
              <a:rPr lang="en-US" altLang="zh-CN" sz="2400" dirty="0"/>
              <a:t>Step 2: Take Strategic Action</a:t>
            </a:r>
            <a:endParaRPr lang="zh-CN" altLang="en-US" sz="2400" dirty="0"/>
          </a:p>
        </p:txBody>
      </p:sp>
      <p:sp>
        <p:nvSpPr>
          <p:cNvPr id="36" name="Title 1">
            <a:extLst>
              <a:ext uri="{FF2B5EF4-FFF2-40B4-BE49-F238E27FC236}">
                <a16:creationId xmlns:a16="http://schemas.microsoft.com/office/drawing/2014/main" id="{226572E5-262D-C025-40D2-B18DF13AF76B}"/>
              </a:ext>
            </a:extLst>
          </p:cNvPr>
          <p:cNvSpPr txBox="1">
            <a:spLocks/>
          </p:cNvSpPr>
          <p:nvPr/>
        </p:nvSpPr>
        <p:spPr>
          <a:xfrm>
            <a:off x="7405337" y="-110648"/>
            <a:ext cx="3241041" cy="1143000"/>
          </a:xfrm>
          <a:prstGeom prst="rect">
            <a:avLst/>
          </a:prstGeom>
        </p:spPr>
        <p:txBody>
          <a:bodyPr vert="horz" lIns="91440" tIns="45720" rIns="91440" bIns="45720" rtlCol="0" anchor="ctr">
            <a:normAutofit/>
          </a:bodyPr>
          <a:lstStyle>
            <a:lvl1pPr algn="l" defTabSz="609585" rtl="0" eaLnBrk="1" latinLnBrk="0" hangingPunct="1">
              <a:spcBef>
                <a:spcPct val="0"/>
              </a:spcBef>
              <a:buNone/>
              <a:defRPr sz="3733" b="1" kern="1200">
                <a:solidFill>
                  <a:srgbClr val="331C58"/>
                </a:solidFill>
                <a:latin typeface="+mj-lt"/>
                <a:ea typeface="+mj-ea"/>
                <a:cs typeface="+mj-cs"/>
              </a:defRPr>
            </a:lvl1pPr>
          </a:lstStyle>
          <a:p>
            <a:pPr algn="ctr"/>
            <a:r>
              <a:rPr lang="en-US" altLang="zh-CN" sz="2400" dirty="0"/>
              <a:t>Step 3: Realize strategic outcomes</a:t>
            </a:r>
            <a:endParaRPr lang="zh-CN" altLang="en-US" sz="2400" dirty="0"/>
          </a:p>
        </p:txBody>
      </p:sp>
      <p:sp>
        <p:nvSpPr>
          <p:cNvPr id="20" name="Rectangle: Rounded Corners 30">
            <a:extLst>
              <a:ext uri="{FF2B5EF4-FFF2-40B4-BE49-F238E27FC236}">
                <a16:creationId xmlns:a16="http://schemas.microsoft.com/office/drawing/2014/main" id="{0E812E65-8830-85AA-BD38-D05A7948F20B}"/>
              </a:ext>
            </a:extLst>
          </p:cNvPr>
          <p:cNvSpPr/>
          <p:nvPr/>
        </p:nvSpPr>
        <p:spPr>
          <a:xfrm>
            <a:off x="9503520" y="872720"/>
            <a:ext cx="2598421" cy="4668742"/>
          </a:xfrm>
          <a:prstGeom prst="round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rtlCol="0" anchor="ctr"/>
          <a:lstStyle/>
          <a:p>
            <a:r>
              <a:rPr lang="en-US" altLang="en-US" dirty="0">
                <a:solidFill>
                  <a:schemeClr val="bg1"/>
                </a:solidFill>
                <a:latin typeface="Times New Roman" panose="02020603050405020304" pitchFamily="18" charset="0"/>
                <a:cs typeface="Times New Roman" panose="02020603050405020304" pitchFamily="18" charset="0"/>
              </a:rPr>
              <a:t>Implementation</a:t>
            </a:r>
          </a:p>
          <a:p>
            <a:pPr marL="342900" indent="-342900">
              <a:buFont typeface="Wingdings" panose="05000000000000000000" pitchFamily="2" charset="2"/>
              <a:buChar char="ü"/>
            </a:pPr>
            <a:r>
              <a:rPr lang="en-US" altLang="en-US" dirty="0">
                <a:solidFill>
                  <a:schemeClr val="bg1"/>
                </a:solidFill>
                <a:latin typeface="Times New Roman" panose="02020603050405020304" pitchFamily="18" charset="0"/>
                <a:cs typeface="Times New Roman" panose="02020603050405020304" pitchFamily="18" charset="0"/>
              </a:rPr>
              <a:t>Structure</a:t>
            </a:r>
          </a:p>
          <a:p>
            <a:pPr marL="342900" indent="-342900">
              <a:buFont typeface="Wingdings" panose="05000000000000000000" pitchFamily="2" charset="2"/>
              <a:buChar char="ü"/>
            </a:pPr>
            <a:r>
              <a:rPr lang="en-US" altLang="en-US" dirty="0">
                <a:solidFill>
                  <a:schemeClr val="bg1"/>
                </a:solidFill>
                <a:latin typeface="Times New Roman" panose="02020603050405020304" pitchFamily="18" charset="0"/>
                <a:cs typeface="Times New Roman" panose="02020603050405020304" pitchFamily="18" charset="0"/>
              </a:rPr>
              <a:t>Processes</a:t>
            </a:r>
          </a:p>
          <a:p>
            <a:pPr marL="342900" indent="-342900">
              <a:buFont typeface="Wingdings" panose="05000000000000000000" pitchFamily="2" charset="2"/>
              <a:buChar char="ü"/>
            </a:pPr>
            <a:r>
              <a:rPr lang="en-US" altLang="en-US" dirty="0">
                <a:solidFill>
                  <a:schemeClr val="bg1"/>
                </a:solidFill>
                <a:latin typeface="Times New Roman" panose="02020603050405020304" pitchFamily="18" charset="0"/>
                <a:cs typeface="Times New Roman" panose="02020603050405020304" pitchFamily="18" charset="0"/>
              </a:rPr>
              <a:t>Rewards</a:t>
            </a:r>
          </a:p>
          <a:p>
            <a:endParaRPr lang="en-US" altLang="en-US" dirty="0">
              <a:solidFill>
                <a:schemeClr val="bg1"/>
              </a:solidFill>
              <a:latin typeface="Times New Roman" panose="02020603050405020304" pitchFamily="18" charset="0"/>
              <a:cs typeface="Times New Roman" panose="02020603050405020304" pitchFamily="18" charset="0"/>
            </a:endParaRPr>
          </a:p>
          <a:p>
            <a:r>
              <a:rPr lang="en-US" altLang="en-US" dirty="0">
                <a:solidFill>
                  <a:schemeClr val="bg1"/>
                </a:solidFill>
                <a:latin typeface="Times New Roman" panose="02020603050405020304" pitchFamily="18" charset="0"/>
                <a:cs typeface="Times New Roman" panose="02020603050405020304" pitchFamily="18" charset="0"/>
              </a:rPr>
              <a:t>Leadership</a:t>
            </a:r>
          </a:p>
          <a:p>
            <a:pPr marL="342900" indent="-342900">
              <a:buFont typeface="Wingdings" panose="05000000000000000000" pitchFamily="2" charset="2"/>
              <a:buChar char="ü"/>
            </a:pPr>
            <a:r>
              <a:rPr lang="en-US" altLang="en-US" dirty="0">
                <a:solidFill>
                  <a:schemeClr val="bg1"/>
                </a:solidFill>
                <a:latin typeface="Times New Roman" panose="02020603050405020304" pitchFamily="18" charset="0"/>
                <a:cs typeface="Times New Roman" panose="02020603050405020304" pitchFamily="18" charset="0"/>
              </a:rPr>
              <a:t>R</a:t>
            </a:r>
            <a:r>
              <a:rPr lang="en-US" altLang="zh-CN" dirty="0">
                <a:solidFill>
                  <a:schemeClr val="bg1"/>
                </a:solidFill>
                <a:latin typeface="Times New Roman" panose="02020603050405020304" pitchFamily="18" charset="0"/>
                <a:cs typeface="Times New Roman" panose="02020603050405020304" pitchFamily="18" charset="0"/>
              </a:rPr>
              <a:t>esource allocation</a:t>
            </a:r>
          </a:p>
          <a:p>
            <a:pPr marL="342900" indent="-342900">
              <a:buFont typeface="Wingdings" panose="05000000000000000000" pitchFamily="2" charset="2"/>
              <a:buChar char="ü"/>
            </a:pPr>
            <a:r>
              <a:rPr lang="en-US" altLang="en-US" dirty="0">
                <a:solidFill>
                  <a:schemeClr val="bg1"/>
                </a:solidFill>
                <a:latin typeface="Times New Roman" panose="02020603050405020304" pitchFamily="18" charset="0"/>
                <a:cs typeface="Times New Roman" panose="02020603050405020304" pitchFamily="18" charset="0"/>
              </a:rPr>
              <a:t>Stakeholder support</a:t>
            </a:r>
          </a:p>
          <a:p>
            <a:pPr marL="342900" indent="-342900">
              <a:buFont typeface="Wingdings" panose="05000000000000000000" pitchFamily="2" charset="2"/>
              <a:buChar char="ü"/>
            </a:pPr>
            <a:endParaRPr lang="zh-CN" altLang="en-US" dirty="0">
              <a:latin typeface="Times New Roman" panose="02020603050405020304" pitchFamily="18" charset="0"/>
              <a:cs typeface="Times New Roman" panose="02020603050405020304" pitchFamily="18" charset="0"/>
            </a:endParaRPr>
          </a:p>
        </p:txBody>
      </p:sp>
      <p:cxnSp>
        <p:nvCxnSpPr>
          <p:cNvPr id="44" name="Straight Arrow Connector 43">
            <a:extLst>
              <a:ext uri="{FF2B5EF4-FFF2-40B4-BE49-F238E27FC236}">
                <a16:creationId xmlns:a16="http://schemas.microsoft.com/office/drawing/2014/main" id="{4BEB5290-2BF7-3EDF-08A6-40215B3364C3}"/>
              </a:ext>
            </a:extLst>
          </p:cNvPr>
          <p:cNvCxnSpPr>
            <a:cxnSpLocks/>
            <a:stCxn id="11" idx="0"/>
            <a:endCxn id="20" idx="1"/>
          </p:cNvCxnSpPr>
          <p:nvPr/>
        </p:nvCxnSpPr>
        <p:spPr>
          <a:xfrm flipV="1">
            <a:off x="9206911" y="3207091"/>
            <a:ext cx="296609"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1" name="Cloud 70">
            <a:extLst>
              <a:ext uri="{FF2B5EF4-FFF2-40B4-BE49-F238E27FC236}">
                <a16:creationId xmlns:a16="http://schemas.microsoft.com/office/drawing/2014/main" id="{BB0014F6-E6B4-746E-83EE-671C480BE123}"/>
              </a:ext>
            </a:extLst>
          </p:cNvPr>
          <p:cNvSpPr/>
          <p:nvPr/>
        </p:nvSpPr>
        <p:spPr>
          <a:xfrm>
            <a:off x="4215408" y="4910429"/>
            <a:ext cx="3089643" cy="1372397"/>
          </a:xfrm>
          <a:prstGeom prst="cloud">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Performance</a:t>
            </a:r>
          </a:p>
        </p:txBody>
      </p:sp>
      <p:cxnSp>
        <p:nvCxnSpPr>
          <p:cNvPr id="73" name="Elbow Connector 72">
            <a:extLst>
              <a:ext uri="{FF2B5EF4-FFF2-40B4-BE49-F238E27FC236}">
                <a16:creationId xmlns:a16="http://schemas.microsoft.com/office/drawing/2014/main" id="{D2463909-6698-39BE-1125-8D6DE0C29D10}"/>
              </a:ext>
            </a:extLst>
          </p:cNvPr>
          <p:cNvCxnSpPr>
            <a:cxnSpLocks/>
            <a:stCxn id="20" idx="2"/>
            <a:endCxn id="71" idx="1"/>
          </p:cNvCxnSpPr>
          <p:nvPr/>
        </p:nvCxnSpPr>
        <p:spPr>
          <a:xfrm rot="5400000">
            <a:off x="7911530" y="3390163"/>
            <a:ext cx="739903" cy="5042501"/>
          </a:xfrm>
          <a:prstGeom prst="bentConnector3">
            <a:avLst>
              <a:gd name="adj1" fmla="val 13109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6" name="Elbow Connector 125">
            <a:extLst>
              <a:ext uri="{FF2B5EF4-FFF2-40B4-BE49-F238E27FC236}">
                <a16:creationId xmlns:a16="http://schemas.microsoft.com/office/drawing/2014/main" id="{BB519F3B-82BB-296F-8B89-59BAA6BD9098}"/>
              </a:ext>
            </a:extLst>
          </p:cNvPr>
          <p:cNvCxnSpPr>
            <a:stCxn id="71" idx="3"/>
            <a:endCxn id="11" idx="2"/>
          </p:cNvCxnSpPr>
          <p:nvPr/>
        </p:nvCxnSpPr>
        <p:spPr>
          <a:xfrm rot="5400000" flipH="1" flipV="1">
            <a:off x="5904316" y="4204965"/>
            <a:ext cx="639847" cy="928018"/>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8569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7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7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animBg="1"/>
      <p:bldP spid="11" grpId="0" animBg="1"/>
      <p:bldP spid="12" grpId="0" animBg="1"/>
      <p:bldP spid="20" grpId="0" animBg="1"/>
      <p:bldP spid="71"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E3175-CBC6-0020-05C6-FF36C182ED16}"/>
            </a:ext>
          </a:extLst>
        </p:cNvPr>
        <p:cNvGrpSpPr/>
        <p:nvPr/>
      </p:nvGrpSpPr>
      <p:grpSpPr>
        <a:xfrm>
          <a:off x="0" y="0"/>
          <a:ext cx="0" cy="0"/>
          <a:chOff x="0" y="0"/>
          <a:chExt cx="0" cy="0"/>
        </a:xfrm>
      </p:grpSpPr>
      <p:pic>
        <p:nvPicPr>
          <p:cNvPr id="5" name="Online Media 4" title="&quot;Weird Al&quot; Yankovic - Mission Statement">
            <a:hlinkClick r:id="" action="ppaction://media"/>
            <a:extLst>
              <a:ext uri="{FF2B5EF4-FFF2-40B4-BE49-F238E27FC236}">
                <a16:creationId xmlns:a16="http://schemas.microsoft.com/office/drawing/2014/main" id="{86E153FD-7A09-F49B-5198-0A21B69E30D8}"/>
              </a:ext>
            </a:extLst>
          </p:cNvPr>
          <p:cNvPicPr>
            <a:picLocks noRot="1" noChangeAspect="1"/>
          </p:cNvPicPr>
          <p:nvPr>
            <a:videoFile r:link="rId1"/>
          </p:nvPr>
        </p:nvPicPr>
        <p:blipFill>
          <a:blip r:embed="rId3"/>
          <a:stretch>
            <a:fillRect/>
          </a:stretch>
        </p:blipFill>
        <p:spPr>
          <a:xfrm>
            <a:off x="0" y="0"/>
            <a:ext cx="12192000" cy="6845427"/>
          </a:xfrm>
          <a:prstGeom prst="rect">
            <a:avLst/>
          </a:prstGeom>
        </p:spPr>
      </p:pic>
    </p:spTree>
    <p:extLst>
      <p:ext uri="{BB962C8B-B14F-4D97-AF65-F5344CB8AC3E}">
        <p14:creationId xmlns:p14="http://schemas.microsoft.com/office/powerpoint/2010/main" val="1863709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16560" y="0"/>
            <a:ext cx="9993331" cy="1143000"/>
          </a:xfrm>
        </p:spPr>
        <p:txBody>
          <a:bodyPr anchor="ctr">
            <a:normAutofit/>
          </a:bodyPr>
          <a:lstStyle/>
          <a:p>
            <a:r>
              <a:rPr lang="en-GB" dirty="0"/>
              <a:t>Lyrics</a:t>
            </a:r>
          </a:p>
        </p:txBody>
      </p:sp>
      <p:sp>
        <p:nvSpPr>
          <p:cNvPr id="6" name="Content Placeholder 5"/>
          <p:cNvSpPr>
            <a:spLocks noGrp="1"/>
          </p:cNvSpPr>
          <p:nvPr>
            <p:ph sz="half" idx="1"/>
          </p:nvPr>
        </p:nvSpPr>
        <p:spPr>
          <a:xfrm>
            <a:off x="487680" y="1093046"/>
            <a:ext cx="10093960" cy="5551593"/>
          </a:xfrm>
        </p:spPr>
        <p:txBody>
          <a:bodyPr>
            <a:normAutofit fontScale="77500" lnSpcReduction="20000"/>
          </a:bodyPr>
          <a:lstStyle/>
          <a:p>
            <a:r>
              <a:rPr lang="en-US" altLang="zh-CN" dirty="0"/>
              <a:t>We must all efficiently operationalize our strategies. </a:t>
            </a:r>
          </a:p>
          <a:p>
            <a:r>
              <a:rPr lang="en-US" altLang="zh-CN" dirty="0"/>
              <a:t>Invest in world-class technology, and leverage our core competencies. </a:t>
            </a:r>
          </a:p>
          <a:p>
            <a:r>
              <a:rPr lang="en-US" altLang="zh-CN" dirty="0"/>
              <a:t>In order to holistically administrate exceptional synergy, we'll set a brand trajectory using management's philosophy (to) advance our market share vis-à-vis our proven methodology. </a:t>
            </a:r>
          </a:p>
          <a:p>
            <a:r>
              <a:rPr lang="en-US" altLang="zh-CN" dirty="0"/>
              <a:t>With strong commitment to quality, effectively enhancing corporate synergy, transitioning our company by awareness of functionality, promoting viability, providing our supply chain with diversity, we will distill our identity through client-centric solutions and synergy.</a:t>
            </a:r>
          </a:p>
          <a:p>
            <a:r>
              <a:rPr lang="en-US" altLang="zh-CN" dirty="0"/>
              <a:t>At the end of the day, we must monetize our assets, the fundamentals of change. Can you visualize a value-added experience? That will grow the business infrastructure and monetize our assets.</a:t>
            </a:r>
          </a:p>
          <a:p>
            <a:r>
              <a:rPr lang="en-US" altLang="zh-CN" dirty="0"/>
              <a:t>Bringing to the table, our capitalized reputation, proactively overseeing, day-to-day operations, services and deliverables with cross-platform innovation, networking, soon will bring, seamless integration robust and scalable, bleeding-edge and next-generation best of breed.</a:t>
            </a:r>
          </a:p>
          <a:p>
            <a:r>
              <a:rPr lang="en-US" altLang="zh-CN" dirty="0"/>
              <a:t>We'll succeed in achieving globalization and gaining traction with our resources in the marketplace.</a:t>
            </a:r>
          </a:p>
          <a:p>
            <a:r>
              <a:rPr lang="en-US" altLang="zh-CN" dirty="0"/>
              <a:t>It's mission-critical to stay incentivized. Against this purple-poster-flexible-solutions for our customer base if you can't think outside the box. You'll be downsized. It's a paradigm shift! </a:t>
            </a:r>
            <a:endParaRPr lang="en-GB" dirty="0"/>
          </a:p>
        </p:txBody>
      </p:sp>
    </p:spTree>
    <p:extLst>
      <p:ext uri="{BB962C8B-B14F-4D97-AF65-F5344CB8AC3E}">
        <p14:creationId xmlns:p14="http://schemas.microsoft.com/office/powerpoint/2010/main" val="3664206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urple Version (Single Colour Logo)">
  <a:themeElements>
    <a:clrScheme name="CUHKBSchool">
      <a:dk1>
        <a:srgbClr val="331C58"/>
      </a:dk1>
      <a:lt1>
        <a:srgbClr val="FFFFFF"/>
      </a:lt1>
      <a:dk2>
        <a:srgbClr val="646569"/>
      </a:dk2>
      <a:lt2>
        <a:srgbClr val="9FA0A0"/>
      </a:lt2>
      <a:accent1>
        <a:srgbClr val="4F2D7F"/>
      </a:accent1>
      <a:accent2>
        <a:srgbClr val="931163"/>
      </a:accent2>
      <a:accent3>
        <a:srgbClr val="ED6D0F"/>
      </a:accent3>
      <a:accent4>
        <a:srgbClr val="F0AB00"/>
      </a:accent4>
      <a:accent5>
        <a:srgbClr val="00693C"/>
      </a:accent5>
      <a:accent6>
        <a:srgbClr val="0095D8"/>
      </a:accent6>
      <a:hlink>
        <a:srgbClr val="9D7D93"/>
      </a:hlink>
      <a:folHlink>
        <a:srgbClr val="9FA0A0"/>
      </a:folHlink>
    </a:clrScheme>
    <a:fontScheme name="CUHKBSchool">
      <a:majorFont>
        <a:latin typeface="Arial"/>
        <a:ea typeface="Microsoft JhengHei"/>
        <a:cs typeface=""/>
      </a:majorFont>
      <a:minorFont>
        <a:latin typeface="Arial"/>
        <a:ea typeface="Microsoft Jheng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CCE8C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CCE8C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5935C4AE7BFA14D9FEA47E9D4F5D914" ma:contentTypeVersion="10" ma:contentTypeDescription="Create a new document." ma:contentTypeScope="" ma:versionID="9580cd91a103e7459dc0cd956d2ee7ed">
  <xsd:schema xmlns:xsd="http://www.w3.org/2001/XMLSchema" xmlns:xs="http://www.w3.org/2001/XMLSchema" xmlns:p="http://schemas.microsoft.com/office/2006/metadata/properties" xmlns:ns2="df2ba4ab-9b85-44d4-9782-eedd67c2414d" xmlns:ns3="8bc8151f-f9eb-4fd4-a284-b18c458832d3" targetNamespace="http://schemas.microsoft.com/office/2006/metadata/properties" ma:root="true" ma:fieldsID="f723c48471fdd26c66ea758e11aa05f4" ns2:_="" ns3:_="">
    <xsd:import namespace="df2ba4ab-9b85-44d4-9782-eedd67c2414d"/>
    <xsd:import namespace="8bc8151f-f9eb-4fd4-a284-b18c458832d3"/>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3:SharedWithUsers" minOccurs="0"/>
                <xsd:element ref="ns3:SharedWithDetails" minOccurs="0"/>
                <xsd:element ref="ns2:MediaServiceGenerationTime" minOccurs="0"/>
                <xsd:element ref="ns2:MediaServiceEventHashCode"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f2ba4ab-9b85-44d4-9782-eedd67c241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MediaServiceAutoTags" ma:internalName="MediaServiceAutoTags"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bc8151f-f9eb-4fd4-a284-b18c458832d3"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92FDE0E-C15B-457A-BC2A-2FA68C6B1FC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f2ba4ab-9b85-44d4-9782-eedd67c2414d"/>
    <ds:schemaRef ds:uri="8bc8151f-f9eb-4fd4-a284-b18c458832d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812DADE-8814-407B-95B5-C1B21089B28B}">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8415A20D-BD7A-48AF-9D7F-A22FF5259DA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890</TotalTime>
  <Words>2741</Words>
  <Application>Microsoft Macintosh PowerPoint</Application>
  <PresentationFormat>Widescreen</PresentationFormat>
  <Paragraphs>391</Paragraphs>
  <Slides>51</Slides>
  <Notes>7</Notes>
  <HiddenSlides>0</HiddenSlides>
  <MMClips>3</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51</vt:i4>
      </vt:variant>
    </vt:vector>
  </HeadingPairs>
  <TitlesOfParts>
    <vt:vector size="60" baseType="lpstr">
      <vt:lpstr>Arial</vt:lpstr>
      <vt:lpstr>Calibri</vt:lpstr>
      <vt:lpstr>Libre Franklin</vt:lpstr>
      <vt:lpstr>Open Sans</vt:lpstr>
      <vt:lpstr>Oswald</vt:lpstr>
      <vt:lpstr>Symbol</vt:lpstr>
      <vt:lpstr>Times New Roman</vt:lpstr>
      <vt:lpstr>Wingdings</vt:lpstr>
      <vt:lpstr>Purple Version (Single Colour Logo)</vt:lpstr>
      <vt:lpstr>MGNT 5506 Strategic Management for Competitive Advantage</vt:lpstr>
      <vt:lpstr>Jingyu li  李晶钰（鈺）  Sissi </vt:lpstr>
      <vt:lpstr>About me</vt:lpstr>
      <vt:lpstr>Texas</vt:lpstr>
      <vt:lpstr>Elephant Walk</vt:lpstr>
      <vt:lpstr>Midnight Yell</vt:lpstr>
      <vt:lpstr>The Aggie War Hymn</vt:lpstr>
      <vt:lpstr>PowerPoint Presentation</vt:lpstr>
      <vt:lpstr>Hong Kong</vt:lpstr>
      <vt:lpstr>CUHK and me：College system</vt:lpstr>
      <vt:lpstr>CUHK and me：Stunning Campus</vt:lpstr>
      <vt:lpstr>CUHK and me: On-campus Activities</vt:lpstr>
      <vt:lpstr>Teaching Philosophy</vt:lpstr>
      <vt:lpstr>What else do you want to know about me?</vt:lpstr>
      <vt:lpstr>What you can expect</vt:lpstr>
      <vt:lpstr>What you may gain</vt:lpstr>
      <vt:lpstr>Class Schedule</vt:lpstr>
      <vt:lpstr>Class Requirements and Syllabus</vt:lpstr>
      <vt:lpstr>Class Requirements</vt:lpstr>
      <vt:lpstr>Any Questions?</vt:lpstr>
      <vt:lpstr>NOW, it is your turn</vt:lpstr>
      <vt:lpstr>Ice Breaking Time</vt:lpstr>
      <vt:lpstr>PowerPoint Presentation</vt:lpstr>
      <vt:lpstr>Objectives for Today</vt:lpstr>
      <vt:lpstr>PowerPoint Presentation</vt:lpstr>
      <vt:lpstr>What is Strategy?</vt:lpstr>
      <vt:lpstr>Strategy in the Business Context</vt:lpstr>
      <vt:lpstr>The Strategic Management Process (SMP)</vt:lpstr>
      <vt:lpstr>Step 1: Analyze strategic inputs</vt:lpstr>
      <vt:lpstr>Mission</vt:lpstr>
      <vt:lpstr>Exercise: Mission Matching</vt:lpstr>
      <vt:lpstr>Vision</vt:lpstr>
      <vt:lpstr>Vision</vt:lpstr>
      <vt:lpstr>Step 2: Take Strategic Action</vt:lpstr>
      <vt:lpstr>Monitoring through Goals</vt:lpstr>
      <vt:lpstr>Step 3: Realize strategic outcomes</vt:lpstr>
      <vt:lpstr>Step 3: Realize strategic outcomes</vt:lpstr>
      <vt:lpstr>Pros and Cons of Formal Strategy Process</vt:lpstr>
      <vt:lpstr>Case Analysis: Alaska Gold Mine</vt:lpstr>
      <vt:lpstr>Case Analysis: Alaska Gold Mine</vt:lpstr>
      <vt:lpstr>The Alaska Gold Mine</vt:lpstr>
      <vt:lpstr>The Alaska Gold Mine</vt:lpstr>
      <vt:lpstr>The Alaska Gold Mine</vt:lpstr>
      <vt:lpstr>The Alaska Gold Mine</vt:lpstr>
      <vt:lpstr>The Alaska Gold Mine</vt:lpstr>
      <vt:lpstr>Step 1: Analyze strategic inputs</vt:lpstr>
      <vt:lpstr>Part II Assume you chose the valley pass (#3)</vt:lpstr>
      <vt:lpstr>The Alaska Gold Mine</vt:lpstr>
      <vt:lpstr>Step 1: Analyze strategic inputs</vt:lpstr>
      <vt:lpstr>PowerPoint Presentation</vt:lpstr>
      <vt:lpstr>Lyrics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MGNT 4010 Strategic Management</dc:title>
  <dc:creator>Jingyu Li (MGT)</dc:creator>
  <cp:lastModifiedBy>Jingyu Li (MGT)</cp:lastModifiedBy>
  <cp:revision>29</cp:revision>
  <dcterms:created xsi:type="dcterms:W3CDTF">2021-01-12T06:15:22Z</dcterms:created>
  <dcterms:modified xsi:type="dcterms:W3CDTF">2026-03-13T04:42:40Z</dcterms:modified>
</cp:coreProperties>
</file>