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88825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7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065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MGNT 5506GA  ·  Strategic Management  ·  CUHK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D1D1F"/>
                </a:solidFill>
              </a:rPr>
              <a:t>Digital</a:t>
            </a:r>
            <a:endParaRPr sz="7200" b="1" i="0">
              <a:solidFill>
                <a:srgbClr val="1D1D1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D1D1F"/>
                </a:solidFill>
              </a:rPr>
              <a:t>Blind Spots</a:t>
            </a:r>
            <a:endParaRPr sz="7200" b="1" i="0">
              <a:solidFill>
                <a:srgbClr val="1D1D1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</a:rPr>
              <a:t>A Strategic Analysis of HiTech Techno Limited —
Navigating the Digital Transformation Imperative</a:t>
            </a:r>
            <a:endParaRPr sz="1400" b="0" i="0">
              <a:solidFill>
                <a:srgbClr val="6E6E73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4160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</a:rPr>
              <a:t>Group:  Group 2 — Circuit Minds     Date: April 17, 2026     Duration: 8 Minutes</a:t>
            </a:r>
            <a:endParaRPr sz="1100" b="0" i="0">
              <a:solidFill>
                <a:srgbClr val="1D1D1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5840" y="4663440"/>
            <a:ext cx="10177272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00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</a:rPr>
              <a:t>TEAM   Daria Iudicheva  ·  Zhi Niu  ·  Qiaochu Huang  ·  Bhavya Jain  ·  Junqi Pu  ·  Zhilang Liu</a:t>
            </a:r>
            <a:endParaRPr sz="1000" b="0" i="0">
              <a:solidFill>
                <a:srgbClr val="6E6E73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686800" y="1188720"/>
            <a:ext cx="25603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13258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1D1F"/>
                </a:solidFill>
              </a:rPr>
              <a:t>HiTech Techno
Limited</a:t>
            </a:r>
            <a:endParaRPr sz="1800" b="1" i="0">
              <a:solidFill>
                <a:srgbClr val="1D1D1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32520" y="2743200"/>
            <a:ext cx="24688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6868B"/>
                </a:solidFill>
              </a:rPr>
              <a:t>B2B IT Component Distributor
Est. 201</a:t>
            </a:r>
            <a:r>
              <a:rPr lang="en-US" sz="900" b="0" i="0">
                <a:solidFill>
                  <a:srgbClr val="86868B"/>
                </a:solidFill>
              </a:rPr>
              <a:t>4</a:t>
            </a:r>
            <a:r>
              <a:rPr sz="900" b="0" i="0">
                <a:solidFill>
                  <a:srgbClr val="86868B"/>
                </a:solidFill>
              </a:rPr>
              <a:t>  ·  TST, Hong Kong</a:t>
            </a:r>
            <a:endParaRPr sz="900" b="0" i="0">
              <a:solidFill>
                <a:srgbClr val="86868B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705850" y="1242060"/>
            <a:ext cx="249555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01 — Business Introduction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8229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D1D1F"/>
                </a:solidFill>
              </a:rPr>
              <a:t>Getting Inside HiTech Techno</a:t>
            </a:r>
            <a:endParaRPr sz="3400" b="1" i="0">
              <a:solidFill>
                <a:srgbClr val="1D1D1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05840" y="1572768"/>
            <a:ext cx="10177272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691640"/>
            <a:ext cx="5029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COMPANY PROFILE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B2B IT component distributor, est. 2018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Headquartered in Tsim Sha Tsui, Kowloon, HK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" y="27066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Sources from tier-1 global manufacturers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Serves corporate IT buyers, system integrators &amp; resellers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" y="33101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~40 active accounts via personal referral networks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05840" y="4114800"/>
            <a:ext cx="50292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PRODUCT PORTFOLIO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" y="4572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SSDs &amp; NVMe Drives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" y="48737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RAM Modules (DDR3/4/5)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" y="517550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Flash Memory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66160" y="4572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CPUs &amp; Motherboards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66160" y="48737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Storage Devices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66160" y="517550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GPUs (Gaming / AI / HPC)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09360" y="1691640"/>
            <a:ext cx="4754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HOW WE GOT ACCESS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21031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Bhavya Jain (group member) has direct family ties to
HiTech Techno's ownership — a family business.
This enabled privileged access to management, operations
staff, and internal documents, allowing us to observe actual
workflows rather than relying on reported practices.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309360" y="3703320"/>
            <a:ext cx="10972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7307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1E3"/>
                </a:solidFill>
              </a:rPr>
              <a:t>2</a:t>
            </a:r>
            <a:endParaRPr sz="2600" b="1" i="0">
              <a:solidFill>
                <a:srgbClr val="0071E3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09360" y="4160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E73"/>
                </a:solidFill>
              </a:rPr>
              <a:t>On-site Visits</a:t>
            </a:r>
            <a:endParaRPr sz="800" b="0" i="0">
              <a:solidFill>
                <a:srgbClr val="6E6E73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498080" y="3703320"/>
            <a:ext cx="10972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0" y="37307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1E3"/>
                </a:solidFill>
              </a:rPr>
              <a:t>4</a:t>
            </a:r>
            <a:endParaRPr sz="2600" b="1" i="0">
              <a:solidFill>
                <a:srgbClr val="0071E3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98080" y="4160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E73"/>
                </a:solidFill>
              </a:rPr>
              <a:t>Staff Interviews</a:t>
            </a:r>
            <a:endParaRPr sz="800" b="0" i="0">
              <a:solidFill>
                <a:srgbClr val="6E6E73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686800" y="3703320"/>
            <a:ext cx="10972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37307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1E3"/>
                </a:solidFill>
              </a:rPr>
              <a:t>3</a:t>
            </a:r>
            <a:endParaRPr sz="2600" b="1" i="0">
              <a:solidFill>
                <a:srgbClr val="0071E3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686800" y="4160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E73"/>
                </a:solidFill>
              </a:rPr>
              <a:t>Docs Reviewed</a:t>
            </a:r>
            <a:endParaRPr sz="800" b="0" i="0">
              <a:solidFill>
                <a:srgbClr val="6E6E73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875520" y="3703320"/>
            <a:ext cx="10972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0" y="37307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1E3"/>
                </a:solidFill>
              </a:rPr>
              <a:t>5</a:t>
            </a:r>
            <a:endParaRPr sz="2600" b="1" i="0">
              <a:solidFill>
                <a:srgbClr val="0071E3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875520" y="4160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E73"/>
                </a:solidFill>
              </a:rPr>
              <a:t>Competitors</a:t>
            </a:r>
            <a:endParaRPr sz="800" b="0" i="0">
              <a:solidFill>
                <a:srgbClr val="6E6E7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02 — Field Observations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8229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D1D1F"/>
                </a:solidFill>
              </a:rPr>
              <a:t>What We Saw On the Ground</a:t>
            </a:r>
            <a:endParaRPr sz="3400" b="1" i="0">
              <a:solidFill>
                <a:srgbClr val="1D1D1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05840" y="1572768"/>
            <a:ext cx="10177272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691640"/>
            <a:ext cx="5029200" cy="256032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VISIT 1 — March 18, 2026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Full office walkthrough &amp; workflow observation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" y="25328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Orders managed via Microsoft Excel — no CRM or ERP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" y="291693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Client comms via WhatsApp &amp; email only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3300984"/>
            <a:ext cx="475488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Interviewed Mr. </a:t>
            </a:r>
            <a:r>
              <a:rPr lang="en-US" sz="1000" b="0" i="0">
                <a:solidFill>
                  <a:srgbClr val="1D1D1F"/>
                </a:solidFill>
              </a:rPr>
              <a:t>Nick</a:t>
            </a:r>
            <a:r>
              <a:rPr sz="1000" b="0" i="0">
                <a:solidFill>
                  <a:srgbClr val="1D1D1F"/>
                </a:solidFill>
              </a:rPr>
              <a:t> (Ops Manager) &amp; Sales Lead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" y="36850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No digital marketing assets or brand presence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09360" y="1691640"/>
            <a:ext cx="4754880" cy="256032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VISIT 2 — April 2, 2026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Observed a live client negotiation call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25328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Catalog distributed as static PDFs — no live pricing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0" y="29169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Zero live inventory system — tracked on paper &amp; Excel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330098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Interviewed Procurement Officer &amp; Admin Assistant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36850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Reviewed 3 internal docs: sales log, supplier list, templates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05840" y="4434840"/>
            <a:ext cx="2468880" cy="91440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1E3"/>
                </a:solidFill>
              </a:rPr>
              <a:t>120–150</a:t>
            </a:r>
            <a:endParaRPr sz="2800" b="1" i="0">
              <a:solidFill>
                <a:srgbClr val="0071E3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05840" y="5029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</a:rPr>
              <a:t>Orders/Month</a:t>
            </a:r>
            <a:endParaRPr sz="900" b="0" i="0">
              <a:solidFill>
                <a:srgbClr val="6E6E73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593592" y="4434840"/>
            <a:ext cx="2468880" cy="91440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3592" y="4480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1E3"/>
                </a:solidFill>
              </a:rPr>
              <a:t>80%</a:t>
            </a:r>
            <a:endParaRPr sz="2800" b="1" i="0">
              <a:solidFill>
                <a:srgbClr val="0071E3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93592" y="5029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</a:rPr>
              <a:t>Repeat Revenue</a:t>
            </a:r>
            <a:endParaRPr sz="900" b="0" i="0">
              <a:solidFill>
                <a:srgbClr val="6E6E73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181344" y="4434840"/>
            <a:ext cx="2468880" cy="91440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81344" y="4480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1E3"/>
                </a:solidFill>
              </a:rPr>
              <a:t>0</a:t>
            </a:r>
            <a:endParaRPr sz="2800" b="1" i="0">
              <a:solidFill>
                <a:srgbClr val="0071E3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81344" y="5029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</a:rPr>
              <a:t>Social Media</a:t>
            </a:r>
            <a:endParaRPr sz="900" b="0" i="0">
              <a:solidFill>
                <a:srgbClr val="6E6E73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769096" y="4434840"/>
            <a:ext cx="2468880" cy="91440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69096" y="4480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1E3"/>
                </a:solidFill>
              </a:rPr>
              <a:t>&lt;200</a:t>
            </a:r>
            <a:endParaRPr sz="2800" b="1" i="0">
              <a:solidFill>
                <a:srgbClr val="0071E3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69096" y="5029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6E73"/>
                </a:solidFill>
              </a:rPr>
              <a:t>Website Visits/Mo</a:t>
            </a:r>
            <a:endParaRPr sz="900" b="0" i="0">
              <a:solidFill>
                <a:srgbClr val="6E6E73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05840" y="55321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FIELDWORK TIMELINE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0584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Mar 18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05840" y="6053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Site Visit 1</a:t>
            </a:r>
            <a:endParaRPr sz="900" b="0" i="0">
              <a:solidFill>
                <a:srgbClr val="1D1D1F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20040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Mar 25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00400" y="6053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Analysis &amp; Benchmarking</a:t>
            </a:r>
            <a:endParaRPr sz="900" b="0" i="0">
              <a:solidFill>
                <a:srgbClr val="1D1D1F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39496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Apr 2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94960" y="6053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Site Visit 2</a:t>
            </a:r>
            <a:endParaRPr sz="900" b="0" i="0">
              <a:solidFill>
                <a:srgbClr val="1D1D1F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58952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Apr 10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589520" y="6053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Digital Audit</a:t>
            </a:r>
            <a:endParaRPr sz="900" b="0" i="0">
              <a:solidFill>
                <a:srgbClr val="1D1D1F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78408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Apr 17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784080" y="6053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Group Sharing</a:t>
            </a:r>
            <a:endParaRPr sz="900" b="0" i="0">
              <a:solidFill>
                <a:srgbClr val="1D1D1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03 — CORE PROBLEM IDENTIFIED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71323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0392B"/>
                </a:solidFill>
              </a:rPr>
              <a:t>Digital Invisibility</a:t>
            </a:r>
            <a:endParaRPr sz="3600" b="1" i="0">
              <a:solidFill>
                <a:srgbClr val="C0392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126187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D1D1F"/>
                </a:solidFill>
              </a:rPr>
              <a:t>in a Digitally-Driven B2B Market</a:t>
            </a:r>
            <a:endParaRPr sz="3200" b="1" i="0">
              <a:solidFill>
                <a:srgbClr val="1D1D1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" y="1920240"/>
            <a:ext cx="484632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</a:rPr>
              <a:t>△  KEY DEFICIENCIES</a:t>
            </a:r>
            <a:endParaRPr sz="800" b="1" i="0">
              <a:solidFill>
                <a:srgbClr val="C0392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43000" y="2532888"/>
            <a:ext cx="109728" cy="10972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450592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D1D1F"/>
                </a:solidFill>
              </a:rPr>
              <a:t>No social media presence</a:t>
            </a:r>
            <a:r>
              <a:rPr sz="1050" b="0">
                <a:solidFill>
                  <a:srgbClr val="1D1D1F"/>
                </a:solidFill>
              </a:rPr>
              <a:t> whatsoever — LinkedIn, Facebook, Instagram: all absent</a:t>
            </a:r>
            <a:endParaRPr sz="1050" b="0">
              <a:solidFill>
                <a:srgbClr val="1D1D1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43000" y="3282696"/>
            <a:ext cx="109728" cy="10972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200400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D1D1F"/>
                </a:solidFill>
              </a:rPr>
              <a:t>Static brochure-only website</a:t>
            </a:r>
            <a:r>
              <a:rPr sz="1050" b="0">
                <a:solidFill>
                  <a:srgbClr val="1D1D1F"/>
                </a:solidFill>
              </a:rPr>
              <a:t> — no pricing, no search, no live inventory, no contact form</a:t>
            </a:r>
            <a:endParaRPr sz="1050" b="0">
              <a:solidFill>
                <a:srgbClr val="1D1D1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43000" y="4032504"/>
            <a:ext cx="109728" cy="10972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950208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D1D1F"/>
                </a:solidFill>
              </a:rPr>
              <a:t>100% word-of-mouth acquisition</a:t>
            </a:r>
            <a:r>
              <a:rPr sz="1050" b="0">
                <a:solidFill>
                  <a:srgbClr val="1D1D1F"/>
                </a:solidFill>
              </a:rPr>
              <a:t> — zero inbound digital leads ever recorded</a:t>
            </a:r>
            <a:endParaRPr sz="1050" b="0">
              <a:solidFill>
                <a:srgbClr val="1D1D1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43000" y="4782312"/>
            <a:ext cx="109728" cy="10972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4700016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D1D1F"/>
                </a:solidFill>
              </a:rPr>
              <a:t>Zero digital marketing spend</a:t>
            </a:r>
            <a:r>
              <a:rPr sz="1050" b="0">
                <a:solidFill>
                  <a:srgbClr val="1D1D1F"/>
                </a:solidFill>
              </a:rPr>
              <a:t> — no Google Ads, no SEO, no content strategy</a:t>
            </a:r>
            <a:endParaRPr sz="1050" b="0">
              <a:solidFill>
                <a:srgbClr val="1D1D1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43000" y="5532120"/>
            <a:ext cx="109728" cy="10972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5449824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D1D1F"/>
                </a:solidFill>
              </a:rPr>
              <a:t>Invisible to new B2B buyers</a:t>
            </a:r>
            <a:r>
              <a:rPr sz="1050" b="0">
                <a:solidFill>
                  <a:srgbClr val="1D1D1F"/>
                </a:solidFill>
              </a:rPr>
              <a:t> — &lt;200 website visits/month vs. thousands for competitors</a:t>
            </a:r>
            <a:endParaRPr sz="1050" b="0">
              <a:solidFill>
                <a:srgbClr val="1D1D1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562356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201168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6868B"/>
                </a:solidFill>
              </a:rPr>
              <a:t>DIMENSION</a:t>
            </a:r>
            <a:endParaRPr sz="750" b="1" i="0">
              <a:solidFill>
                <a:srgbClr val="86868B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98664" y="201168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0392B"/>
                </a:solidFill>
              </a:rPr>
              <a:t>HITECH</a:t>
            </a:r>
            <a:endParaRPr sz="750" b="1" i="0">
              <a:solidFill>
                <a:srgbClr val="C0392B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67344" y="2011680"/>
            <a:ext cx="850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6868B"/>
                </a:solidFill>
              </a:rPr>
              <a:t>TECHDATA
HK</a:t>
            </a:r>
            <a:endParaRPr sz="750" b="1" i="0">
              <a:solidFill>
                <a:srgbClr val="86868B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17736" y="2011680"/>
            <a:ext cx="850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6868B"/>
                </a:solidFill>
              </a:rPr>
              <a:t>INGRAM
MICRO</a:t>
            </a:r>
            <a:endParaRPr sz="750" b="1" i="0">
              <a:solidFill>
                <a:srgbClr val="86868B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68128" y="2011680"/>
            <a:ext cx="850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6868B"/>
                </a:solidFill>
              </a:rPr>
              <a:t>ARROW
ELEC.</a:t>
            </a:r>
            <a:endParaRPr sz="750" b="1" i="0">
              <a:solidFill>
                <a:srgbClr val="86868B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72784" y="2432304"/>
            <a:ext cx="551383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2784" y="2560320"/>
            <a:ext cx="1325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LinkedIn
Presence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690104" y="2578608"/>
            <a:ext cx="685800" cy="54864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0104" y="257860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✕
None</a:t>
            </a:r>
            <a:endParaRPr sz="900" b="1" i="0">
              <a:solidFill>
                <a:srgbClr val="C0392B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549640" y="2578608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257860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Active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400032" y="2578608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00032" y="257860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Active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250424" y="2578608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50424" y="257860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Active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72784" y="3200400"/>
            <a:ext cx="5513832" cy="6350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2784" y="3328416"/>
            <a:ext cx="1325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E-Commerce
Portal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690104" y="3346704"/>
            <a:ext cx="685800" cy="54864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90104" y="3346704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✕
None</a:t>
            </a:r>
            <a:endParaRPr sz="900" b="1" i="0">
              <a:solidFill>
                <a:srgbClr val="C0392B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549640" y="3346704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3346704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Full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400032" y="3346704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00032" y="3346704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Full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0250424" y="3346704"/>
            <a:ext cx="685800" cy="548640"/>
          </a:xfrm>
          <a:prstGeom prst="rect">
            <a:avLst/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50424" y="3346704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36200"/>
                </a:solidFill>
              </a:rPr>
              <a:t>●
Partial</a:t>
            </a:r>
            <a:endParaRPr sz="900" b="1" i="0">
              <a:solidFill>
                <a:srgbClr val="B36200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272784" y="3968496"/>
            <a:ext cx="5513832" cy="6350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72784" y="4096512"/>
            <a:ext cx="1325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Live Inventory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690104" y="4114800"/>
            <a:ext cx="685800" cy="54864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90104" y="41148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✕
None</a:t>
            </a:r>
            <a:endParaRPr sz="900" b="1" i="0">
              <a:solidFill>
                <a:srgbClr val="C0392B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549640" y="4114800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9640" y="41148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Yes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9400032" y="4114800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00032" y="41148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Yes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0250424" y="4114800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50424" y="41148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Yes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272784" y="4736592"/>
            <a:ext cx="5513832" cy="6350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72784" y="4864608"/>
            <a:ext cx="1325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Digital
Marketing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7690104" y="4882896"/>
            <a:ext cx="685800" cy="54864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90104" y="4882896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✕
Zero</a:t>
            </a:r>
            <a:endParaRPr sz="900" b="1" i="0">
              <a:solidFill>
                <a:srgbClr val="C0392B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549640" y="4882896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49640" y="4882896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Active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9400032" y="4882896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00032" y="4882896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Active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0250424" y="4882896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50424" y="4882896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Active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272784" y="5504688"/>
            <a:ext cx="5513832" cy="6350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72784" y="5632704"/>
            <a:ext cx="13258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Discoverability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7690104" y="5650992"/>
            <a:ext cx="685800" cy="54864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90104" y="565099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</a:rPr>
              <a:t>✕
&lt;5%</a:t>
            </a:r>
            <a:endParaRPr sz="900" b="1" i="0">
              <a:solidFill>
                <a:srgbClr val="C0392B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8549640" y="5650992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49640" y="565099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High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400032" y="5650992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00032" y="565099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Very
High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0250424" y="5650992"/>
            <a:ext cx="685800" cy="548640"/>
          </a:xfrm>
          <a:prstGeom prst="rect">
            <a:avLst/>
          </a:prstGeom>
          <a:solidFill>
            <a:srgbClr val="E2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250424" y="565099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✓
High</a:t>
            </a:r>
            <a:endParaRPr sz="900" b="1" i="0">
              <a:solidFill>
                <a:srgbClr val="1A873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04 — Strategic Framing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8229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D1D1F"/>
                </a:solidFill>
              </a:rPr>
              <a:t>Why This Is Not Just a Marketing Problem</a:t>
            </a:r>
            <a:endParaRPr sz="3000" b="1" i="0">
              <a:solidFill>
                <a:srgbClr val="1D1D1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05840" y="1572768"/>
            <a:ext cx="10177272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PORTER'S FIVE FORCES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Competitive Rivalry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0480" y="20116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HIGH RISK ▲▲</a:t>
            </a:r>
            <a:endParaRPr sz="1000" b="1" i="0">
              <a:solidFill>
                <a:srgbClr val="C0392B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New Entrants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0480" y="25603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6200"/>
                </a:solidFill>
              </a:rPr>
              <a:t>Medium ↑</a:t>
            </a:r>
            <a:endParaRPr sz="1000" b="1" i="0">
              <a:solidFill>
                <a:srgbClr val="B362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Threat of Substitutes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0" y="31089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HIGH ▲▲</a:t>
            </a:r>
            <a:endParaRPr sz="1000" b="1" i="0">
              <a:solidFill>
                <a:srgbClr val="C0392B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Supplier Power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40480" y="36576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6200"/>
                </a:solidFill>
              </a:rPr>
              <a:t>Medium</a:t>
            </a:r>
            <a:endParaRPr sz="1000" b="1" i="0">
              <a:solidFill>
                <a:srgbClr val="B362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Buyer Power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0" y="42062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36200"/>
                </a:solidFill>
              </a:rPr>
              <a:t>Medium-High</a:t>
            </a:r>
            <a:endParaRPr sz="1000" b="1" i="0">
              <a:solidFill>
                <a:srgbClr val="B362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05840" y="4983480"/>
            <a:ext cx="5029200" cy="777240"/>
          </a:xfrm>
          <a:prstGeom prst="rect">
            <a:avLst/>
          </a:prstGeom>
          <a:solidFill>
            <a:srgbClr val="E8F2FF"/>
          </a:solidFill>
          <a:ln w="6350"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02920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D1D1F"/>
                </a:solidFill>
              </a:rPr>
              <a:t>"80% of B2B sales interactions will occur through digital
channels by 2025"  — Gartner, 2020 Future of Sales</a:t>
            </a:r>
            <a:endParaRPr sz="1000" b="0" i="1">
              <a:solidFill>
                <a:srgbClr val="1D1D1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1691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RESOURCE-BASED VIEW (RBV)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2057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8733"/>
                </a:solidFill>
              </a:rPr>
              <a:t>Strengths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00800" y="2377440"/>
            <a:ext cx="4754880" cy="530352"/>
          </a:xfrm>
          <a:prstGeom prst="rect">
            <a:avLst/>
          </a:prstGeom>
          <a:solidFill>
            <a:srgbClr val="EAF7EE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4048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8733"/>
                </a:solidFill>
              </a:rPr>
              <a:t>✓ Relationships</a:t>
            </a:r>
            <a:endParaRPr sz="1000" b="1" i="0">
              <a:solidFill>
                <a:srgbClr val="1A8733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2633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Deep trust-based network; 40+ clients; 80% repeat revenue</a:t>
            </a:r>
            <a:endParaRPr sz="900" b="0" i="0">
              <a:solidFill>
                <a:srgbClr val="1D1D1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400800" y="2971800"/>
            <a:ext cx="4754880" cy="530352"/>
          </a:xfrm>
          <a:prstGeom prst="rect">
            <a:avLst/>
          </a:prstGeom>
          <a:solidFill>
            <a:srgbClr val="EAF7EE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9992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8733"/>
                </a:solidFill>
              </a:rPr>
              <a:t>✓ Sourcing</a:t>
            </a:r>
            <a:endParaRPr sz="1000" b="1" i="0">
              <a:solidFill>
                <a:srgbClr val="1A8733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92240" y="32278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Established tier-1 manufacturer relationships; competitive pricing</a:t>
            </a:r>
            <a:endParaRPr sz="900" b="0" i="0">
              <a:solidFill>
                <a:srgbClr val="1D1D1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0" y="36210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Gaps</a:t>
            </a:r>
            <a:endParaRPr sz="900" b="1" i="0">
              <a:solidFill>
                <a:srgbClr val="C0392B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400800" y="3913632"/>
            <a:ext cx="4754880" cy="530352"/>
          </a:xfrm>
          <a:prstGeom prst="rect">
            <a:avLst/>
          </a:prstGeom>
          <a:solidFill>
            <a:srgbClr val="FFEEEC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94106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⚠ Digital Assets</a:t>
            </a:r>
            <a:endParaRPr sz="1000" b="1" i="0">
              <a:solidFill>
                <a:srgbClr val="C0392B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92240" y="416966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Advantages invisible online. New buyers cannot discover HiTech.</a:t>
            </a:r>
            <a:endParaRPr sz="900" b="0" i="0">
              <a:solidFill>
                <a:srgbClr val="1D1D1F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400800" y="4507992"/>
            <a:ext cx="4754880" cy="530352"/>
          </a:xfrm>
          <a:prstGeom prst="rect">
            <a:avLst/>
          </a:prstGeom>
          <a:solidFill>
            <a:srgbClr val="FFEEEC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5354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⚠ Scalability</a:t>
            </a:r>
            <a:endParaRPr sz="1000" b="1" i="0">
              <a:solidFill>
                <a:srgbClr val="C0392B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92240" y="47640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</a:rPr>
              <a:t>Non-digital resources cap growth at ~40 accounts.</a:t>
            </a:r>
            <a:endParaRPr sz="900" b="0" i="0">
              <a:solidFill>
                <a:srgbClr val="1D1D1F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00800" y="5074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</a:rPr>
              <a:t>STRATEGIC RISKS</a:t>
            </a:r>
            <a:endParaRPr sz="800" b="1" i="0">
              <a:solidFill>
                <a:srgbClr val="C0392B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00800" y="53949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Market share erosion to digital-native rivals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00800" y="56692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Revenue plateau — capped at ~40 accounts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00800" y="59436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• Relationship attrition with no digital backup</a:t>
            </a:r>
            <a:endParaRPr sz="1000" b="0" i="0">
              <a:solidFill>
                <a:srgbClr val="1D1D1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" y="56515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1E3"/>
                </a:solidFill>
              </a:rPr>
              <a:t>05 — Research Progress</a:t>
            </a:r>
            <a:endParaRPr sz="900" b="1" i="0">
              <a:solidFill>
                <a:srgbClr val="0071E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82296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D1D1F"/>
                </a:solidFill>
              </a:rPr>
              <a:t>What We Have Done So Far</a:t>
            </a:r>
            <a:endParaRPr sz="3400" b="1" i="0">
              <a:solidFill>
                <a:srgbClr val="1D1D1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05840" y="1572768"/>
            <a:ext cx="10177272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664208"/>
            <a:ext cx="1645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8733"/>
                </a:solidFill>
              </a:rPr>
              <a:t>5/8</a:t>
            </a:r>
            <a:endParaRPr sz="2400" b="1" i="0">
              <a:solidFill>
                <a:srgbClr val="1A873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E73"/>
                </a:solidFill>
              </a:rPr>
              <a:t>Tasks Done</a:t>
            </a:r>
            <a:endParaRPr sz="800" b="0" i="0">
              <a:solidFill>
                <a:srgbClr val="6E6E73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34640" y="1664208"/>
            <a:ext cx="1645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6916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36200"/>
                </a:solidFill>
              </a:rPr>
              <a:t>2</a:t>
            </a:r>
            <a:endParaRPr sz="2400" b="1" i="0">
              <a:solidFill>
                <a:srgbClr val="B362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34640" y="21031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E73"/>
                </a:solidFill>
              </a:rPr>
              <a:t>In Progress</a:t>
            </a:r>
            <a:endParaRPr sz="800" b="0" i="0">
              <a:solidFill>
                <a:srgbClr val="6E6E73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1664208"/>
            <a:ext cx="1645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6916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E6E73"/>
                </a:solidFill>
              </a:rPr>
              <a:t>1</a:t>
            </a:r>
            <a:endParaRPr sz="2400" b="1" i="0">
              <a:solidFill>
                <a:srgbClr val="6E6E73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63440" y="21031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6E73"/>
                </a:solidFill>
              </a:rPr>
              <a:t>Pending</a:t>
            </a:r>
            <a:endParaRPr sz="800" b="0" i="0">
              <a:solidFill>
                <a:srgbClr val="6E6E7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840" y="2514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TASK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792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PROGRESS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0" y="2514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1E3"/>
                </a:solidFill>
              </a:rPr>
              <a:t>STATUS</a:t>
            </a:r>
            <a:endParaRPr sz="800" b="1" i="0">
              <a:solidFill>
                <a:srgbClr val="0071E3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05840" y="2834640"/>
            <a:ext cx="9601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2898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Site Visits (2/2)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17920" y="2985516"/>
            <a:ext cx="1828800" cy="10972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985516"/>
            <a:ext cx="1828800" cy="109728"/>
          </a:xfrm>
          <a:prstGeom prst="rect">
            <a:avLst/>
          </a:prstGeom>
          <a:solidFill>
            <a:srgbClr val="1A8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880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100%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005840" y="3291840"/>
            <a:ext cx="9601200" cy="41148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3558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Staff Interviews (4/4)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217920" y="3442716"/>
            <a:ext cx="1828800" cy="10972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442716"/>
            <a:ext cx="1828800" cy="109728"/>
          </a:xfrm>
          <a:prstGeom prst="rect">
            <a:avLst/>
          </a:prstGeom>
          <a:solidFill>
            <a:srgbClr val="1A8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337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100%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005840" y="3749040"/>
            <a:ext cx="9601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8130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Competitor Benchmarking (5 firms)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217920" y="3899916"/>
            <a:ext cx="1828800" cy="10972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899916"/>
            <a:ext cx="1828800" cy="109728"/>
          </a:xfrm>
          <a:prstGeom prst="rect">
            <a:avLst/>
          </a:prstGeom>
          <a:solidFill>
            <a:srgbClr val="1A8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100%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005840" y="4206240"/>
            <a:ext cx="9601200" cy="41148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2702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Website Traffic Analysis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217920" y="4357116"/>
            <a:ext cx="1828800" cy="10972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357116"/>
            <a:ext cx="1828800" cy="109728"/>
          </a:xfrm>
          <a:prstGeom prst="rect">
            <a:avLst/>
          </a:prstGeom>
          <a:solidFill>
            <a:srgbClr val="1A8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4251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100%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005840" y="4663440"/>
            <a:ext cx="9601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47274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Digital Audit (SEO &amp; Social)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217920" y="4814316"/>
            <a:ext cx="1828800" cy="10972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4814316"/>
            <a:ext cx="1828800" cy="109728"/>
          </a:xfrm>
          <a:prstGeom prst="rect">
            <a:avLst/>
          </a:prstGeom>
          <a:solidFill>
            <a:srgbClr val="1A8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4709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8733"/>
                </a:solidFill>
              </a:rPr>
              <a:t>100%</a:t>
            </a:r>
            <a:endParaRPr sz="900" b="1" i="0">
              <a:solidFill>
                <a:srgbClr val="1A8733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005840" y="5120640"/>
            <a:ext cx="9601200" cy="41148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5184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Financial Impact Modeling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217920" y="5271516"/>
            <a:ext cx="1828800" cy="10972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5271516"/>
            <a:ext cx="731520" cy="109728"/>
          </a:xfrm>
          <a:prstGeom prst="rect">
            <a:avLst/>
          </a:prstGeom>
          <a:solidFill>
            <a:srgbClr val="B3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0" y="5166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36200"/>
                </a:solidFill>
              </a:rPr>
              <a:t>40%</a:t>
            </a:r>
            <a:endParaRPr sz="900" b="1" i="0">
              <a:solidFill>
                <a:srgbClr val="B36200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005840" y="5577840"/>
            <a:ext cx="9601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" y="56418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Client Survey (10 clients)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217920" y="5728716"/>
            <a:ext cx="1828800" cy="10972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5728716"/>
            <a:ext cx="548640" cy="109728"/>
          </a:xfrm>
          <a:prstGeom prst="rect">
            <a:avLst/>
          </a:prstGeom>
          <a:solidFill>
            <a:srgbClr val="B3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0" y="5623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36200"/>
                </a:solidFill>
              </a:rPr>
              <a:t>30%</a:t>
            </a:r>
            <a:endParaRPr sz="900" b="1" i="0">
              <a:solidFill>
                <a:srgbClr val="B36200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005840" y="6035040"/>
            <a:ext cx="9601200" cy="411480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7280" y="60990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</a:rPr>
              <a:t>Final Report &amp; Recommendations</a:t>
            </a:r>
            <a:endParaRPr sz="1000" b="0" i="0">
              <a:solidFill>
                <a:srgbClr val="1D1D1F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217920" y="6185916"/>
            <a:ext cx="1828800" cy="109728"/>
          </a:xfrm>
          <a:prstGeom prst="rect">
            <a:avLst/>
          </a:prstGeom>
          <a:solidFill>
            <a:srgbClr val="E8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6080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E6E73"/>
                </a:solidFill>
              </a:rPr>
              <a:t>0%</a:t>
            </a:r>
            <a:endParaRPr sz="900" b="1" i="0">
              <a:solidFill>
                <a:srgbClr val="6E6E73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749790" y="2514600"/>
            <a:ext cx="210312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1" i="0">
                <a:solidFill>
                  <a:srgbClr val="0071E3"/>
                </a:solidFill>
              </a:rPr>
              <a:t>Date</a:t>
            </a:r>
            <a:endParaRPr lang="en-US" sz="800" b="1" i="0">
              <a:solidFill>
                <a:srgbClr val="0071E3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875520" y="2880360"/>
            <a:ext cx="77724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1" i="0">
                <a:solidFill>
                  <a:srgbClr val="0071E3"/>
                </a:solidFill>
              </a:rPr>
              <a:t>Apr 2</a:t>
            </a:r>
            <a:endParaRPr lang="en-US" sz="800" b="1" i="0">
              <a:solidFill>
                <a:srgbClr val="0071E3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875520" y="3337560"/>
            <a:ext cx="77724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1" i="0">
                <a:solidFill>
                  <a:srgbClr val="0071E3"/>
                </a:solidFill>
              </a:rPr>
              <a:t>APr 2</a:t>
            </a:r>
            <a:endParaRPr lang="en-US" sz="800" b="1" i="0">
              <a:solidFill>
                <a:srgbClr val="0071E3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875520" y="3794760"/>
            <a:ext cx="77724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1" i="0">
                <a:solidFill>
                  <a:srgbClr val="0071E3"/>
                </a:solidFill>
              </a:rPr>
              <a:t>Apr 10</a:t>
            </a:r>
            <a:endParaRPr lang="en-US" sz="800" b="1" i="0">
              <a:solidFill>
                <a:srgbClr val="0071E3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875520" y="4251960"/>
            <a:ext cx="77724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1" i="0">
                <a:solidFill>
                  <a:srgbClr val="0071E3"/>
                </a:solidFill>
              </a:rPr>
              <a:t>Apr 10</a:t>
            </a:r>
            <a:endParaRPr lang="en-US" sz="800" b="1" i="0">
              <a:solidFill>
                <a:srgbClr val="0071E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D1D1F"/>
                </a:solidFill>
              </a:rPr>
              <a:t>Thank You</a:t>
            </a:r>
            <a:endParaRPr sz="7200" b="1" i="0">
              <a:solidFill>
                <a:srgbClr val="1D1D1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E6E73"/>
                </a:solidFill>
              </a:rPr>
              <a:t>We welcome your questions &amp; feedback</a:t>
            </a:r>
            <a:endParaRPr sz="1800" b="0" i="0">
              <a:solidFill>
                <a:srgbClr val="6E6E73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5840" y="3931920"/>
            <a:ext cx="10177272" cy="127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160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1E3"/>
                </a:solidFill>
              </a:rPr>
              <a:t>Circuit Minds  ·  Group 2  ·  MGNT 5506GA  ·  CUHK</a:t>
            </a:r>
            <a:endParaRPr sz="1100" b="1" i="0">
              <a:solidFill>
                <a:srgbClr val="0071E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4617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E6E73"/>
                </a:solidFill>
              </a:rPr>
              <a:t>hitechtechnoltd@gmail.com   |   TST, Kowloon, Hong Kong   |   April 17, 2026</a:t>
            </a:r>
            <a:endParaRPr sz="1000" b="0" i="0">
              <a:solidFill>
                <a:srgbClr val="6E6E73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4071</Words>
  <Application>WPS 文字</Application>
  <PresentationFormat>On-screen Show (4:3)</PresentationFormat>
  <Paragraphs>340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Arial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Ll、</cp:lastModifiedBy>
  <cp:revision>4</cp:revision>
  <dcterms:created xsi:type="dcterms:W3CDTF">2026-04-15T00:26:38Z</dcterms:created>
  <dcterms:modified xsi:type="dcterms:W3CDTF">2026-04-15T00:26:38Z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4DCDB1122DE12D169BFFDD6911E3E020_42</vt:lpwstr>
  </property>
  <property fmtid="{D5CDD505-2E9C-101B-9397-08002B2CF9AE}" pid="3" name="KSOProductBuildVer">
    <vt:lpwstr>2052-6.8.2.8850</vt:lpwstr>
  </property>
</Properties>
</file>