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0"/>
  </p:notesMasterIdLst>
  <p:handoutMasterIdLst>
    <p:handoutMasterId r:id="rId51"/>
  </p:handoutMasterIdLst>
  <p:sldIdLst>
    <p:sldId id="359" r:id="rId5"/>
    <p:sldId id="258" r:id="rId6"/>
    <p:sldId id="259" r:id="rId7"/>
    <p:sldId id="285" r:id="rId8"/>
    <p:sldId id="323" r:id="rId9"/>
    <p:sldId id="297" r:id="rId10"/>
    <p:sldId id="261" r:id="rId11"/>
    <p:sldId id="264" r:id="rId12"/>
    <p:sldId id="298" r:id="rId13"/>
    <p:sldId id="381" r:id="rId14"/>
    <p:sldId id="300" r:id="rId15"/>
    <p:sldId id="299" r:id="rId16"/>
    <p:sldId id="301" r:id="rId17"/>
    <p:sldId id="268" r:id="rId18"/>
    <p:sldId id="269" r:id="rId19"/>
    <p:sldId id="270" r:id="rId20"/>
    <p:sldId id="303" r:id="rId21"/>
    <p:sldId id="305" r:id="rId22"/>
    <p:sldId id="307" r:id="rId23"/>
    <p:sldId id="364" r:id="rId24"/>
    <p:sldId id="308" r:id="rId25"/>
    <p:sldId id="309" r:id="rId26"/>
    <p:sldId id="362" r:id="rId27"/>
    <p:sldId id="311" r:id="rId28"/>
    <p:sldId id="363" r:id="rId29"/>
    <p:sldId id="310" r:id="rId30"/>
    <p:sldId id="322" r:id="rId31"/>
    <p:sldId id="361" r:id="rId32"/>
    <p:sldId id="365" r:id="rId33"/>
    <p:sldId id="366" r:id="rId34"/>
    <p:sldId id="370" r:id="rId35"/>
    <p:sldId id="373" r:id="rId36"/>
    <p:sldId id="375" r:id="rId37"/>
    <p:sldId id="374" r:id="rId38"/>
    <p:sldId id="350" r:id="rId39"/>
    <p:sldId id="355" r:id="rId40"/>
    <p:sldId id="325" r:id="rId41"/>
    <p:sldId id="327" r:id="rId42"/>
    <p:sldId id="329" r:id="rId43"/>
    <p:sldId id="330" r:id="rId44"/>
    <p:sldId id="331" r:id="rId45"/>
    <p:sldId id="334" r:id="rId46"/>
    <p:sldId id="335" r:id="rId47"/>
    <p:sldId id="337" r:id="rId48"/>
    <p:sldId id="338" r:id="rId49"/>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827"/>
    <a:srgbClr val="DEBDD4"/>
    <a:srgbClr val="7E499D"/>
    <a:srgbClr val="BEAF9B"/>
    <a:srgbClr val="9D7D93"/>
    <a:srgbClr val="7E039D"/>
    <a:srgbClr val="4F2D7F"/>
    <a:srgbClr val="331C58"/>
    <a:srgbClr val="F0AB00"/>
    <a:srgbClr val="EEA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99" autoAdjust="0"/>
    <p:restoredTop sz="90754"/>
  </p:normalViewPr>
  <p:slideViewPr>
    <p:cSldViewPr snapToGrid="0" snapToObjects="1">
      <p:cViewPr varScale="1">
        <p:scale>
          <a:sx n="72" d="100"/>
          <a:sy n="72" d="100"/>
        </p:scale>
        <p:origin x="248" y="488"/>
      </p:cViewPr>
      <p:guideLst>
        <p:guide orient="horz" pos="2160"/>
        <p:guide pos="3840"/>
      </p:guideLst>
    </p:cSldViewPr>
  </p:slideViewPr>
  <p:notesTextViewPr>
    <p:cViewPr>
      <p:scale>
        <a:sx n="100" d="100"/>
        <a:sy n="100" d="100"/>
      </p:scale>
      <p:origin x="0" y="0"/>
    </p:cViewPr>
  </p:notesTextViewPr>
  <p:notesViewPr>
    <p:cSldViewPr snapToGrid="0" snapToObjects="1">
      <p:cViewPr varScale="1">
        <p:scale>
          <a:sx n="70" d="100"/>
          <a:sy n="70" d="100"/>
        </p:scale>
        <p:origin x="2304"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7DA08B-8C12-9A4B-8EA1-9BA90FFABE56}" type="doc">
      <dgm:prSet loTypeId="urn:microsoft.com/office/officeart/2005/8/layout/hChevron3" loCatId="" qsTypeId="urn:microsoft.com/office/officeart/2005/8/quickstyle/simple1" qsCatId="simple" csTypeId="urn:microsoft.com/office/officeart/2005/8/colors/accent1_2" csCatId="accent1" phldr="1"/>
      <dgm:spPr/>
    </dgm:pt>
    <dgm:pt modelId="{970BD716-A2B9-E942-B95E-0967387A1311}">
      <dgm:prSet phldrT="[Text]"/>
      <dgm:spPr/>
      <dgm:t>
        <a:bodyPr/>
        <a:lstStyle/>
        <a:p>
          <a:r>
            <a:rPr lang="en-US" dirty="0"/>
            <a:t>Production of inputs</a:t>
          </a:r>
        </a:p>
      </dgm:t>
    </dgm:pt>
    <dgm:pt modelId="{E841B4E7-8AFC-4E4B-9BC3-3B4DF7BDBAB1}" type="parTrans" cxnId="{03CE64F4-7152-3744-8D3E-C07C962E9288}">
      <dgm:prSet/>
      <dgm:spPr/>
      <dgm:t>
        <a:bodyPr/>
        <a:lstStyle/>
        <a:p>
          <a:endParaRPr lang="en-US"/>
        </a:p>
      </dgm:t>
    </dgm:pt>
    <dgm:pt modelId="{010BC92F-ADF9-744B-82A3-0CAC1EF63410}" type="sibTrans" cxnId="{03CE64F4-7152-3744-8D3E-C07C962E9288}">
      <dgm:prSet/>
      <dgm:spPr/>
      <dgm:t>
        <a:bodyPr/>
        <a:lstStyle/>
        <a:p>
          <a:endParaRPr lang="en-US"/>
        </a:p>
      </dgm:t>
    </dgm:pt>
    <dgm:pt modelId="{1151EB20-BCFA-DF48-A666-E6CFB26ED990}">
      <dgm:prSet phldrT="[Text]"/>
      <dgm:spPr/>
      <dgm:t>
        <a:bodyPr/>
        <a:lstStyle/>
        <a:p>
          <a:r>
            <a:rPr lang="en-US" dirty="0"/>
            <a:t>R&amp;D</a:t>
          </a:r>
        </a:p>
      </dgm:t>
    </dgm:pt>
    <dgm:pt modelId="{22D3F09C-1C4F-204B-A192-22F0748B2697}" type="parTrans" cxnId="{6ACF72A1-07DB-ED4B-B938-FD4F2822D390}">
      <dgm:prSet/>
      <dgm:spPr/>
      <dgm:t>
        <a:bodyPr/>
        <a:lstStyle/>
        <a:p>
          <a:endParaRPr lang="en-US"/>
        </a:p>
      </dgm:t>
    </dgm:pt>
    <dgm:pt modelId="{7654FC45-AC57-514E-9CFA-CF1B87FB85D6}" type="sibTrans" cxnId="{6ACF72A1-07DB-ED4B-B938-FD4F2822D390}">
      <dgm:prSet/>
      <dgm:spPr/>
      <dgm:t>
        <a:bodyPr/>
        <a:lstStyle/>
        <a:p>
          <a:endParaRPr lang="en-US"/>
        </a:p>
      </dgm:t>
    </dgm:pt>
    <dgm:pt modelId="{9228B1B2-0BCB-504C-A7E6-E0EB886E6799}">
      <dgm:prSet phldrT="[Text]"/>
      <dgm:spPr/>
      <dgm:t>
        <a:bodyPr/>
        <a:lstStyle/>
        <a:p>
          <a:r>
            <a:rPr lang="en-US" dirty="0"/>
            <a:t>Drug Production</a:t>
          </a:r>
        </a:p>
      </dgm:t>
    </dgm:pt>
    <dgm:pt modelId="{CD24F88F-1814-144B-B229-CD3581EE537A}" type="parTrans" cxnId="{ACBA7CDF-7B93-684F-8A53-EAB8209C3150}">
      <dgm:prSet/>
      <dgm:spPr/>
      <dgm:t>
        <a:bodyPr/>
        <a:lstStyle/>
        <a:p>
          <a:endParaRPr lang="en-US"/>
        </a:p>
      </dgm:t>
    </dgm:pt>
    <dgm:pt modelId="{9512A7F7-6495-B849-A991-BCC8646F2B43}" type="sibTrans" cxnId="{ACBA7CDF-7B93-684F-8A53-EAB8209C3150}">
      <dgm:prSet/>
      <dgm:spPr/>
      <dgm:t>
        <a:bodyPr/>
        <a:lstStyle/>
        <a:p>
          <a:endParaRPr lang="en-US"/>
        </a:p>
      </dgm:t>
    </dgm:pt>
    <dgm:pt modelId="{9CE8C562-6559-184E-9C0F-3B77780823A9}">
      <dgm:prSet phldrT="[Text]"/>
      <dgm:spPr/>
      <dgm:t>
        <a:bodyPr/>
        <a:lstStyle/>
        <a:p>
          <a:r>
            <a:rPr lang="en-US" dirty="0"/>
            <a:t>Marketing/sales</a:t>
          </a:r>
        </a:p>
      </dgm:t>
    </dgm:pt>
    <dgm:pt modelId="{639CD234-D1E0-9D4C-9E70-631360FE7453}" type="parTrans" cxnId="{C26B44A6-E5E4-1B4A-B374-9EDF61BBAFF8}">
      <dgm:prSet/>
      <dgm:spPr/>
      <dgm:t>
        <a:bodyPr/>
        <a:lstStyle/>
        <a:p>
          <a:endParaRPr lang="en-US"/>
        </a:p>
      </dgm:t>
    </dgm:pt>
    <dgm:pt modelId="{89D351C8-0AC6-CD4D-A7C2-01119A5ED9B3}" type="sibTrans" cxnId="{C26B44A6-E5E4-1B4A-B374-9EDF61BBAFF8}">
      <dgm:prSet/>
      <dgm:spPr/>
      <dgm:t>
        <a:bodyPr/>
        <a:lstStyle/>
        <a:p>
          <a:endParaRPr lang="en-US"/>
        </a:p>
      </dgm:t>
    </dgm:pt>
    <dgm:pt modelId="{0FB97698-2AC9-2242-8486-AABE7E4F22B0}">
      <dgm:prSet phldrT="[Text]"/>
      <dgm:spPr/>
      <dgm:t>
        <a:bodyPr/>
        <a:lstStyle/>
        <a:p>
          <a:r>
            <a:rPr lang="en-US" dirty="0"/>
            <a:t>Drug distribution: wholesalers, pharmacies, hospitals</a:t>
          </a:r>
        </a:p>
      </dgm:t>
    </dgm:pt>
    <dgm:pt modelId="{F5625E14-7D12-644E-BAF5-01C66B74410D}" type="parTrans" cxnId="{986C1E97-2637-B84A-891F-6EF694441630}">
      <dgm:prSet/>
      <dgm:spPr/>
      <dgm:t>
        <a:bodyPr/>
        <a:lstStyle/>
        <a:p>
          <a:endParaRPr lang="en-US"/>
        </a:p>
      </dgm:t>
    </dgm:pt>
    <dgm:pt modelId="{DAA4DAF7-0148-F940-A2EA-ED311BDCD01C}" type="sibTrans" cxnId="{986C1E97-2637-B84A-891F-6EF694441630}">
      <dgm:prSet/>
      <dgm:spPr/>
      <dgm:t>
        <a:bodyPr/>
        <a:lstStyle/>
        <a:p>
          <a:endParaRPr lang="en-US"/>
        </a:p>
      </dgm:t>
    </dgm:pt>
    <dgm:pt modelId="{F498F7BB-AACB-B74A-9B25-8791E2215A21}">
      <dgm:prSet phldrT="[Text]"/>
      <dgm:spPr/>
      <dgm:t>
        <a:bodyPr/>
        <a:lstStyle/>
        <a:p>
          <a:r>
            <a:rPr lang="en-US" dirty="0"/>
            <a:t>Drug consumption</a:t>
          </a:r>
        </a:p>
      </dgm:t>
    </dgm:pt>
    <dgm:pt modelId="{93CC0663-EBD9-1D40-B931-C1460B4EFCE4}" type="parTrans" cxnId="{BB7398D8-DA6E-D743-A368-B88E32CDBEFE}">
      <dgm:prSet/>
      <dgm:spPr/>
      <dgm:t>
        <a:bodyPr/>
        <a:lstStyle/>
        <a:p>
          <a:endParaRPr lang="en-US"/>
        </a:p>
      </dgm:t>
    </dgm:pt>
    <dgm:pt modelId="{B0485970-21A4-E04B-8A24-3A90D072F3E7}" type="sibTrans" cxnId="{BB7398D8-DA6E-D743-A368-B88E32CDBEFE}">
      <dgm:prSet/>
      <dgm:spPr/>
      <dgm:t>
        <a:bodyPr/>
        <a:lstStyle/>
        <a:p>
          <a:endParaRPr lang="en-US"/>
        </a:p>
      </dgm:t>
    </dgm:pt>
    <dgm:pt modelId="{018C17A1-4AAF-4D47-9D4C-E75A1073B79C}" type="pres">
      <dgm:prSet presAssocID="{537DA08B-8C12-9A4B-8EA1-9BA90FFABE56}" presName="Name0" presStyleCnt="0">
        <dgm:presLayoutVars>
          <dgm:dir/>
          <dgm:resizeHandles val="exact"/>
        </dgm:presLayoutVars>
      </dgm:prSet>
      <dgm:spPr/>
    </dgm:pt>
    <dgm:pt modelId="{CC5B3935-CFC4-604B-B4DC-319A92A4EECB}" type="pres">
      <dgm:prSet presAssocID="{970BD716-A2B9-E942-B95E-0967387A1311}" presName="parTxOnly" presStyleLbl="node1" presStyleIdx="0" presStyleCnt="6">
        <dgm:presLayoutVars>
          <dgm:bulletEnabled val="1"/>
        </dgm:presLayoutVars>
      </dgm:prSet>
      <dgm:spPr/>
    </dgm:pt>
    <dgm:pt modelId="{F13A4856-3302-C645-8472-35E6C080705A}" type="pres">
      <dgm:prSet presAssocID="{010BC92F-ADF9-744B-82A3-0CAC1EF63410}" presName="parSpace" presStyleCnt="0"/>
      <dgm:spPr/>
    </dgm:pt>
    <dgm:pt modelId="{8580B704-E99C-6544-925E-8F5CAED63901}" type="pres">
      <dgm:prSet presAssocID="{1151EB20-BCFA-DF48-A666-E6CFB26ED990}" presName="parTxOnly" presStyleLbl="node1" presStyleIdx="1" presStyleCnt="6">
        <dgm:presLayoutVars>
          <dgm:bulletEnabled val="1"/>
        </dgm:presLayoutVars>
      </dgm:prSet>
      <dgm:spPr/>
    </dgm:pt>
    <dgm:pt modelId="{E94BE2E7-DB80-7D4F-BDBE-D0720469CE49}" type="pres">
      <dgm:prSet presAssocID="{7654FC45-AC57-514E-9CFA-CF1B87FB85D6}" presName="parSpace" presStyleCnt="0"/>
      <dgm:spPr/>
    </dgm:pt>
    <dgm:pt modelId="{4D42572A-8FC7-2844-B574-E821A0087EC7}" type="pres">
      <dgm:prSet presAssocID="{9228B1B2-0BCB-504C-A7E6-E0EB886E6799}" presName="parTxOnly" presStyleLbl="node1" presStyleIdx="2" presStyleCnt="6">
        <dgm:presLayoutVars>
          <dgm:bulletEnabled val="1"/>
        </dgm:presLayoutVars>
      </dgm:prSet>
      <dgm:spPr/>
    </dgm:pt>
    <dgm:pt modelId="{9E609F94-1106-9B4B-AC66-200CC0D360F4}" type="pres">
      <dgm:prSet presAssocID="{9512A7F7-6495-B849-A991-BCC8646F2B43}" presName="parSpace" presStyleCnt="0"/>
      <dgm:spPr/>
    </dgm:pt>
    <dgm:pt modelId="{506262AA-7734-6B46-BBCA-C058BC3F2DC9}" type="pres">
      <dgm:prSet presAssocID="{9CE8C562-6559-184E-9C0F-3B77780823A9}" presName="parTxOnly" presStyleLbl="node1" presStyleIdx="3" presStyleCnt="6">
        <dgm:presLayoutVars>
          <dgm:bulletEnabled val="1"/>
        </dgm:presLayoutVars>
      </dgm:prSet>
      <dgm:spPr/>
    </dgm:pt>
    <dgm:pt modelId="{7C86D77C-BC10-E841-B574-00C1EE812A2B}" type="pres">
      <dgm:prSet presAssocID="{89D351C8-0AC6-CD4D-A7C2-01119A5ED9B3}" presName="parSpace" presStyleCnt="0"/>
      <dgm:spPr/>
    </dgm:pt>
    <dgm:pt modelId="{2E27739A-2F72-AC46-98DE-BBDE66FA9DB9}" type="pres">
      <dgm:prSet presAssocID="{0FB97698-2AC9-2242-8486-AABE7E4F22B0}" presName="parTxOnly" presStyleLbl="node1" presStyleIdx="4" presStyleCnt="6">
        <dgm:presLayoutVars>
          <dgm:bulletEnabled val="1"/>
        </dgm:presLayoutVars>
      </dgm:prSet>
      <dgm:spPr/>
    </dgm:pt>
    <dgm:pt modelId="{D2D57AFF-3AB8-0A4F-992A-A3F9AF614B18}" type="pres">
      <dgm:prSet presAssocID="{DAA4DAF7-0148-F940-A2EA-ED311BDCD01C}" presName="parSpace" presStyleCnt="0"/>
      <dgm:spPr/>
    </dgm:pt>
    <dgm:pt modelId="{10AA4FB6-754F-6F4C-B045-FBF6929B2784}" type="pres">
      <dgm:prSet presAssocID="{F498F7BB-AACB-B74A-9B25-8791E2215A21}" presName="parTxOnly" presStyleLbl="node1" presStyleIdx="5" presStyleCnt="6">
        <dgm:presLayoutVars>
          <dgm:bulletEnabled val="1"/>
        </dgm:presLayoutVars>
      </dgm:prSet>
      <dgm:spPr/>
    </dgm:pt>
  </dgm:ptLst>
  <dgm:cxnLst>
    <dgm:cxn modelId="{04C8600A-6301-D14E-82FD-C2B6D2FAE0EA}" type="presOf" srcId="{970BD716-A2B9-E942-B95E-0967387A1311}" destId="{CC5B3935-CFC4-604B-B4DC-319A92A4EECB}" srcOrd="0" destOrd="0" presId="urn:microsoft.com/office/officeart/2005/8/layout/hChevron3"/>
    <dgm:cxn modelId="{B8ED741C-7882-904A-ADAF-FB23301EE5CF}" type="presOf" srcId="{9228B1B2-0BCB-504C-A7E6-E0EB886E6799}" destId="{4D42572A-8FC7-2844-B574-E821A0087EC7}" srcOrd="0" destOrd="0" presId="urn:microsoft.com/office/officeart/2005/8/layout/hChevron3"/>
    <dgm:cxn modelId="{F9D14833-02D1-1840-8A8B-46C5E677C674}" type="presOf" srcId="{F498F7BB-AACB-B74A-9B25-8791E2215A21}" destId="{10AA4FB6-754F-6F4C-B045-FBF6929B2784}" srcOrd="0" destOrd="0" presId="urn:microsoft.com/office/officeart/2005/8/layout/hChevron3"/>
    <dgm:cxn modelId="{917E6263-D859-EB47-820B-BC85ACD1C31F}" type="presOf" srcId="{1151EB20-BCFA-DF48-A666-E6CFB26ED990}" destId="{8580B704-E99C-6544-925E-8F5CAED63901}" srcOrd="0" destOrd="0" presId="urn:microsoft.com/office/officeart/2005/8/layout/hChevron3"/>
    <dgm:cxn modelId="{5D8FC47D-7F0A-D345-A101-243EFDD0823B}" type="presOf" srcId="{9CE8C562-6559-184E-9C0F-3B77780823A9}" destId="{506262AA-7734-6B46-BBCA-C058BC3F2DC9}" srcOrd="0" destOrd="0" presId="urn:microsoft.com/office/officeart/2005/8/layout/hChevron3"/>
    <dgm:cxn modelId="{986C1E97-2637-B84A-891F-6EF694441630}" srcId="{537DA08B-8C12-9A4B-8EA1-9BA90FFABE56}" destId="{0FB97698-2AC9-2242-8486-AABE7E4F22B0}" srcOrd="4" destOrd="0" parTransId="{F5625E14-7D12-644E-BAF5-01C66B74410D}" sibTransId="{DAA4DAF7-0148-F940-A2EA-ED311BDCD01C}"/>
    <dgm:cxn modelId="{822FE79B-FDB0-5F42-B69C-C06F2453A772}" type="presOf" srcId="{0FB97698-2AC9-2242-8486-AABE7E4F22B0}" destId="{2E27739A-2F72-AC46-98DE-BBDE66FA9DB9}" srcOrd="0" destOrd="0" presId="urn:microsoft.com/office/officeart/2005/8/layout/hChevron3"/>
    <dgm:cxn modelId="{6ACF72A1-07DB-ED4B-B938-FD4F2822D390}" srcId="{537DA08B-8C12-9A4B-8EA1-9BA90FFABE56}" destId="{1151EB20-BCFA-DF48-A666-E6CFB26ED990}" srcOrd="1" destOrd="0" parTransId="{22D3F09C-1C4F-204B-A192-22F0748B2697}" sibTransId="{7654FC45-AC57-514E-9CFA-CF1B87FB85D6}"/>
    <dgm:cxn modelId="{C26B44A6-E5E4-1B4A-B374-9EDF61BBAFF8}" srcId="{537DA08B-8C12-9A4B-8EA1-9BA90FFABE56}" destId="{9CE8C562-6559-184E-9C0F-3B77780823A9}" srcOrd="3" destOrd="0" parTransId="{639CD234-D1E0-9D4C-9E70-631360FE7453}" sibTransId="{89D351C8-0AC6-CD4D-A7C2-01119A5ED9B3}"/>
    <dgm:cxn modelId="{6695DBB4-E9EF-9D44-9792-4DF6A16A28C8}" type="presOf" srcId="{537DA08B-8C12-9A4B-8EA1-9BA90FFABE56}" destId="{018C17A1-4AAF-4D47-9D4C-E75A1073B79C}" srcOrd="0" destOrd="0" presId="urn:microsoft.com/office/officeart/2005/8/layout/hChevron3"/>
    <dgm:cxn modelId="{BB7398D8-DA6E-D743-A368-B88E32CDBEFE}" srcId="{537DA08B-8C12-9A4B-8EA1-9BA90FFABE56}" destId="{F498F7BB-AACB-B74A-9B25-8791E2215A21}" srcOrd="5" destOrd="0" parTransId="{93CC0663-EBD9-1D40-B931-C1460B4EFCE4}" sibTransId="{B0485970-21A4-E04B-8A24-3A90D072F3E7}"/>
    <dgm:cxn modelId="{ACBA7CDF-7B93-684F-8A53-EAB8209C3150}" srcId="{537DA08B-8C12-9A4B-8EA1-9BA90FFABE56}" destId="{9228B1B2-0BCB-504C-A7E6-E0EB886E6799}" srcOrd="2" destOrd="0" parTransId="{CD24F88F-1814-144B-B229-CD3581EE537A}" sibTransId="{9512A7F7-6495-B849-A991-BCC8646F2B43}"/>
    <dgm:cxn modelId="{03CE64F4-7152-3744-8D3E-C07C962E9288}" srcId="{537DA08B-8C12-9A4B-8EA1-9BA90FFABE56}" destId="{970BD716-A2B9-E942-B95E-0967387A1311}" srcOrd="0" destOrd="0" parTransId="{E841B4E7-8AFC-4E4B-9BC3-3B4DF7BDBAB1}" sibTransId="{010BC92F-ADF9-744B-82A3-0CAC1EF63410}"/>
    <dgm:cxn modelId="{4F2A339A-B43E-424C-9D1E-E2B7DC4C7C6C}" type="presParOf" srcId="{018C17A1-4AAF-4D47-9D4C-E75A1073B79C}" destId="{CC5B3935-CFC4-604B-B4DC-319A92A4EECB}" srcOrd="0" destOrd="0" presId="urn:microsoft.com/office/officeart/2005/8/layout/hChevron3"/>
    <dgm:cxn modelId="{5FEC29A1-1C02-9A4B-8DC3-29F448C6F428}" type="presParOf" srcId="{018C17A1-4AAF-4D47-9D4C-E75A1073B79C}" destId="{F13A4856-3302-C645-8472-35E6C080705A}" srcOrd="1" destOrd="0" presId="urn:microsoft.com/office/officeart/2005/8/layout/hChevron3"/>
    <dgm:cxn modelId="{C250F855-1E6C-3B41-8705-71FE9B55AF0E}" type="presParOf" srcId="{018C17A1-4AAF-4D47-9D4C-E75A1073B79C}" destId="{8580B704-E99C-6544-925E-8F5CAED63901}" srcOrd="2" destOrd="0" presId="urn:microsoft.com/office/officeart/2005/8/layout/hChevron3"/>
    <dgm:cxn modelId="{FC4D0EFF-AD14-7142-BA73-9AF96DC50C96}" type="presParOf" srcId="{018C17A1-4AAF-4D47-9D4C-E75A1073B79C}" destId="{E94BE2E7-DB80-7D4F-BDBE-D0720469CE49}" srcOrd="3" destOrd="0" presId="urn:microsoft.com/office/officeart/2005/8/layout/hChevron3"/>
    <dgm:cxn modelId="{5606C934-700F-0049-BD8A-768BBC8818FF}" type="presParOf" srcId="{018C17A1-4AAF-4D47-9D4C-E75A1073B79C}" destId="{4D42572A-8FC7-2844-B574-E821A0087EC7}" srcOrd="4" destOrd="0" presId="urn:microsoft.com/office/officeart/2005/8/layout/hChevron3"/>
    <dgm:cxn modelId="{E8AC2F86-3593-9D49-83BC-214E04C8F586}" type="presParOf" srcId="{018C17A1-4AAF-4D47-9D4C-E75A1073B79C}" destId="{9E609F94-1106-9B4B-AC66-200CC0D360F4}" srcOrd="5" destOrd="0" presId="urn:microsoft.com/office/officeart/2005/8/layout/hChevron3"/>
    <dgm:cxn modelId="{20EA2DB2-15F2-C94F-BE8A-EA609C4D737E}" type="presParOf" srcId="{018C17A1-4AAF-4D47-9D4C-E75A1073B79C}" destId="{506262AA-7734-6B46-BBCA-C058BC3F2DC9}" srcOrd="6" destOrd="0" presId="urn:microsoft.com/office/officeart/2005/8/layout/hChevron3"/>
    <dgm:cxn modelId="{C6B91503-114E-544A-AD8F-18C7CD3255F0}" type="presParOf" srcId="{018C17A1-4AAF-4D47-9D4C-E75A1073B79C}" destId="{7C86D77C-BC10-E841-B574-00C1EE812A2B}" srcOrd="7" destOrd="0" presId="urn:microsoft.com/office/officeart/2005/8/layout/hChevron3"/>
    <dgm:cxn modelId="{84CF373A-4D91-7D4C-B4DE-030E9F2E20EB}" type="presParOf" srcId="{018C17A1-4AAF-4D47-9D4C-E75A1073B79C}" destId="{2E27739A-2F72-AC46-98DE-BBDE66FA9DB9}" srcOrd="8" destOrd="0" presId="urn:microsoft.com/office/officeart/2005/8/layout/hChevron3"/>
    <dgm:cxn modelId="{A14EFCDF-4805-CF46-93E2-7D5F0C2A647F}" type="presParOf" srcId="{018C17A1-4AAF-4D47-9D4C-E75A1073B79C}" destId="{D2D57AFF-3AB8-0A4F-992A-A3F9AF614B18}" srcOrd="9" destOrd="0" presId="urn:microsoft.com/office/officeart/2005/8/layout/hChevron3"/>
    <dgm:cxn modelId="{D7CBB817-0994-0E4E-A2E8-14EF12BF7AFD}" type="presParOf" srcId="{018C17A1-4AAF-4D47-9D4C-E75A1073B79C}" destId="{10AA4FB6-754F-6F4C-B045-FBF6929B2784}"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B3935-CFC4-604B-B4DC-319A92A4EECB}">
      <dsp:nvSpPr>
        <dsp:cNvPr id="0" name=""/>
        <dsp:cNvSpPr/>
      </dsp:nvSpPr>
      <dsp:spPr>
        <a:xfrm>
          <a:off x="1435" y="502005"/>
          <a:ext cx="2351620" cy="940648"/>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Production of inputs</a:t>
          </a:r>
        </a:p>
      </dsp:txBody>
      <dsp:txXfrm>
        <a:off x="1435" y="502005"/>
        <a:ext cx="2116458" cy="940648"/>
      </dsp:txXfrm>
    </dsp:sp>
    <dsp:sp modelId="{8580B704-E99C-6544-925E-8F5CAED63901}">
      <dsp:nvSpPr>
        <dsp:cNvPr id="0" name=""/>
        <dsp:cNvSpPr/>
      </dsp:nvSpPr>
      <dsp:spPr>
        <a:xfrm>
          <a:off x="1882731" y="502005"/>
          <a:ext cx="2351620" cy="94064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R&amp;D</a:t>
          </a:r>
        </a:p>
      </dsp:txBody>
      <dsp:txXfrm>
        <a:off x="2353055" y="502005"/>
        <a:ext cx="1410972" cy="940648"/>
      </dsp:txXfrm>
    </dsp:sp>
    <dsp:sp modelId="{4D42572A-8FC7-2844-B574-E821A0087EC7}">
      <dsp:nvSpPr>
        <dsp:cNvPr id="0" name=""/>
        <dsp:cNvSpPr/>
      </dsp:nvSpPr>
      <dsp:spPr>
        <a:xfrm>
          <a:off x="3764028" y="502005"/>
          <a:ext cx="2351620" cy="94064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Drug Production</a:t>
          </a:r>
        </a:p>
      </dsp:txBody>
      <dsp:txXfrm>
        <a:off x="4234352" y="502005"/>
        <a:ext cx="1410972" cy="940648"/>
      </dsp:txXfrm>
    </dsp:sp>
    <dsp:sp modelId="{506262AA-7734-6B46-BBCA-C058BC3F2DC9}">
      <dsp:nvSpPr>
        <dsp:cNvPr id="0" name=""/>
        <dsp:cNvSpPr/>
      </dsp:nvSpPr>
      <dsp:spPr>
        <a:xfrm>
          <a:off x="5645324" y="502005"/>
          <a:ext cx="2351620" cy="94064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Marketing/sales</a:t>
          </a:r>
        </a:p>
      </dsp:txBody>
      <dsp:txXfrm>
        <a:off x="6115648" y="502005"/>
        <a:ext cx="1410972" cy="940648"/>
      </dsp:txXfrm>
    </dsp:sp>
    <dsp:sp modelId="{2E27739A-2F72-AC46-98DE-BBDE66FA9DB9}">
      <dsp:nvSpPr>
        <dsp:cNvPr id="0" name=""/>
        <dsp:cNvSpPr/>
      </dsp:nvSpPr>
      <dsp:spPr>
        <a:xfrm>
          <a:off x="7526620" y="502005"/>
          <a:ext cx="2351620" cy="94064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Drug distribution: wholesalers, pharmacies, hospitals</a:t>
          </a:r>
        </a:p>
      </dsp:txBody>
      <dsp:txXfrm>
        <a:off x="7996944" y="502005"/>
        <a:ext cx="1410972" cy="940648"/>
      </dsp:txXfrm>
    </dsp:sp>
    <dsp:sp modelId="{10AA4FB6-754F-6F4C-B045-FBF6929B2784}">
      <dsp:nvSpPr>
        <dsp:cNvPr id="0" name=""/>
        <dsp:cNvSpPr/>
      </dsp:nvSpPr>
      <dsp:spPr>
        <a:xfrm>
          <a:off x="9407917" y="502005"/>
          <a:ext cx="2351620" cy="940648"/>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Drug consumption</a:t>
          </a:r>
        </a:p>
      </dsp:txBody>
      <dsp:txXfrm>
        <a:off x="9878241" y="502005"/>
        <a:ext cx="1410972" cy="940648"/>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91CD98B-DB93-A444-B339-AFA43F1B7091}" type="datetimeFigureOut">
              <a:rPr lang="en-US" smtClean="0"/>
              <a:t>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BAD0A96-F412-2847-B350-2F07A409CC2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81B7E0-9D4F-354F-813F-0DA73ADCE65A}" type="datetimeFigureOut">
              <a:rPr lang="en-US" smtClean="0"/>
              <a:t>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EA9514-9494-884D-8088-2187CF26A72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A5D9B8-1922-42D3-A42C-525A2D7FD949}" type="slidenum">
              <a:rPr lang="en-US"/>
              <a:pPr/>
              <a:t>6</a:t>
            </a:fld>
            <a:endParaRPr lang="en-US"/>
          </a:p>
        </p:txBody>
      </p:sp>
      <p:sp>
        <p:nvSpPr>
          <p:cNvPr id="235522" name="Rectangle 2"/>
          <p:cNvSpPr>
            <a:spLocks noGrp="1" noRot="1" noChangeAspect="1" noChangeArrowheads="1" noTextEdit="1"/>
          </p:cNvSpPr>
          <p:nvPr>
            <p:ph type="sldImg"/>
          </p:nvPr>
        </p:nvSpPr>
        <p:spPr>
          <a:ln/>
        </p:spPr>
      </p:sp>
      <p:sp>
        <p:nvSpPr>
          <p:cNvPr id="235523" name="Rectangle 3"/>
          <p:cNvSpPr>
            <a:spLocks noGrp="1" noChangeArrowheads="1"/>
          </p:cNvSpPr>
          <p:nvPr>
            <p:ph type="body" idx="1"/>
          </p:nvPr>
        </p:nvSpPr>
        <p:spPr>
          <a:xfrm>
            <a:off x="708660" y="4452626"/>
            <a:ext cx="5669280" cy="4217351"/>
          </a:xfrm>
        </p:spPr>
        <p:txBody>
          <a:bodyPr/>
          <a:lstStyle/>
          <a:p>
            <a:endParaRPr lang="en-US"/>
          </a:p>
        </p:txBody>
      </p:sp>
    </p:spTree>
    <p:extLst>
      <p:ext uri="{BB962C8B-B14F-4D97-AF65-F5344CB8AC3E}">
        <p14:creationId xmlns:p14="http://schemas.microsoft.com/office/powerpoint/2010/main" val="524023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16</a:t>
            </a:fld>
            <a:endParaRPr lang="en-US"/>
          </a:p>
        </p:txBody>
      </p:sp>
    </p:spTree>
    <p:extLst>
      <p:ext uri="{BB962C8B-B14F-4D97-AF65-F5344CB8AC3E}">
        <p14:creationId xmlns:p14="http://schemas.microsoft.com/office/powerpoint/2010/main" val="2112264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dirty="0"/>
              <a:t>The story of Fengshui in the building design of HSBC and Bank of China in Hong Kong is noteworthy. Both buildings, situated prominently on the Hong Kong skyline, adopted different approaches to incorporate Fengshui principles.</a:t>
            </a:r>
          </a:p>
          <a:p>
            <a:endParaRPr lang="en-US" dirty="0"/>
          </a:p>
          <a:p>
            <a:r>
              <a:rPr lang="en-US" dirty="0"/>
              <a:t>The HSBC Building, designed by architect Sir Norman Foster, embraced Fengshui considerations. The structure features an open atrium at its base, allowing the free flow of energy (Qi). The bank consulted with Fengshui experts during the design phase, showcasing a blend of modern architecture with traditional Chinese principles.</a:t>
            </a:r>
          </a:p>
          <a:p>
            <a:endParaRPr lang="en-US" dirty="0"/>
          </a:p>
          <a:p>
            <a:r>
              <a:rPr lang="en-US" dirty="0"/>
              <a:t>In contrast, the Bank of China Tower, designed by I. M. Pei, took a more contemporary stance. The building's distinctive angular design has been interpreted by some as conflicting with Fengshui principles. Its sharp angles are believed to direct negative energy (Shar Chi) towards neighboring structures, leading to controversy and discussions about the impact on the financial district's energy balance.</a:t>
            </a:r>
          </a:p>
          <a:p>
            <a:endParaRPr lang="en-US" dirty="0"/>
          </a:p>
          <a:p>
            <a:r>
              <a:rPr lang="en-US" dirty="0"/>
              <a:t>One notable incident occurred in response to the Bank of China Tower's angular design.</a:t>
            </a:r>
          </a:p>
          <a:p>
            <a:endParaRPr lang="en-US" dirty="0"/>
          </a:p>
          <a:p>
            <a:r>
              <a:rPr lang="en-US" dirty="0"/>
              <a:t>As a symbolic gesture, HSBC placed two cannon-like structures on the roof of its Hong Kong headquarters, aiming in the direction of the Bank of China Tower. This move was widely interpreted as a Fengshui countermeasure to deflect negative energy directed towards HSBC by the sharp angles of the Bank of China building.</a:t>
            </a:r>
          </a:p>
          <a:p>
            <a:endParaRPr lang="en-US" dirty="0"/>
          </a:p>
          <a:p>
            <a:r>
              <a:rPr lang="en-US" dirty="0"/>
              <a:t>The installation of these structures was seen as a strategic response, emphasizing the significance of Fengshui in the cultural and business landscape of Hong Kong. </a:t>
            </a:r>
          </a:p>
          <a:p>
            <a:endParaRPr lang="en-US" dirty="0"/>
          </a:p>
          <a:p>
            <a:r>
              <a:rPr lang="en-US" dirty="0"/>
              <a:t>The building located between the HSBC and Bank of China towers is known as the Cheung Kong Center. In the context of the Fengshui controversy between HSBC and Bank of China, the Cheung Kong Center is often considered a mediator.</a:t>
            </a:r>
          </a:p>
          <a:p>
            <a:endParaRPr lang="en-US" dirty="0"/>
          </a:p>
          <a:p>
            <a:r>
              <a:rPr lang="en-US" dirty="0"/>
              <a:t>Designed by Cesar </a:t>
            </a:r>
            <a:r>
              <a:rPr lang="en-US" dirty="0" err="1"/>
              <a:t>Pelli</a:t>
            </a:r>
            <a:r>
              <a:rPr lang="en-US" dirty="0"/>
              <a:t>, the Cheung Kong Center adopts a more neutral and conventional architectural style. Its design incorporates rounded edges and a less imposing structure compared to its angular neighbors. This deliberate effort to maintain a harmonious aesthetic is thought to mitigate any negative energy flow between the HSBC and Bank of China buildings.</a:t>
            </a:r>
          </a:p>
          <a:p>
            <a:endParaRPr lang="en-US" dirty="0"/>
          </a:p>
          <a:p>
            <a:r>
              <a:rPr lang="en-US" dirty="0"/>
              <a:t>The Cheung Kong Center's design is seen as a compromise, serving as a buffer and promoting a balanced energy flow within the vicinity. Its presence reflects a nuanced approach to architectural harmony, attempting to bridge the contrasting styles of the neighboring iconic structures in the heart of Hong Kong's financial district.</a:t>
            </a:r>
          </a:p>
        </p:txBody>
      </p:sp>
      <p:sp>
        <p:nvSpPr>
          <p:cNvPr id="4" name="Slide Number Placeholder 3"/>
          <p:cNvSpPr>
            <a:spLocks noGrp="1"/>
          </p:cNvSpPr>
          <p:nvPr>
            <p:ph type="sldNum" sz="quarter" idx="5"/>
          </p:nvPr>
        </p:nvSpPr>
        <p:spPr/>
        <p:txBody>
          <a:bodyPr/>
          <a:lstStyle/>
          <a:p>
            <a:fld id="{59EA9514-9494-884D-8088-2187CF26A723}" type="slidenum">
              <a:rPr lang="en-US" smtClean="0"/>
              <a:t>19</a:t>
            </a:fld>
            <a:endParaRPr lang="en-US"/>
          </a:p>
        </p:txBody>
      </p:sp>
    </p:spTree>
    <p:extLst>
      <p:ext uri="{BB962C8B-B14F-4D97-AF65-F5344CB8AC3E}">
        <p14:creationId xmlns:p14="http://schemas.microsoft.com/office/powerpoint/2010/main" val="487768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21</a:t>
            </a:fld>
            <a:endParaRPr lang="en-US"/>
          </a:p>
        </p:txBody>
      </p:sp>
    </p:spTree>
    <p:extLst>
      <p:ext uri="{BB962C8B-B14F-4D97-AF65-F5344CB8AC3E}">
        <p14:creationId xmlns:p14="http://schemas.microsoft.com/office/powerpoint/2010/main" val="22991565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29</a:t>
            </a:fld>
            <a:endParaRPr lang="en-US"/>
          </a:p>
        </p:txBody>
      </p:sp>
    </p:spTree>
    <p:extLst>
      <p:ext uri="{BB962C8B-B14F-4D97-AF65-F5344CB8AC3E}">
        <p14:creationId xmlns:p14="http://schemas.microsoft.com/office/powerpoint/2010/main" val="50684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30</a:t>
            </a:fld>
            <a:endParaRPr lang="en-US"/>
          </a:p>
        </p:txBody>
      </p:sp>
    </p:spTree>
    <p:extLst>
      <p:ext uri="{BB962C8B-B14F-4D97-AF65-F5344CB8AC3E}">
        <p14:creationId xmlns:p14="http://schemas.microsoft.com/office/powerpoint/2010/main" val="226197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A9514-9494-884D-8088-2187CF26A723}" type="slidenum">
              <a:rPr lang="en-US" smtClean="0"/>
              <a:t>37</a:t>
            </a:fld>
            <a:endParaRPr lang="en-US"/>
          </a:p>
        </p:txBody>
      </p:sp>
    </p:spTree>
    <p:extLst>
      <p:ext uri="{BB962C8B-B14F-4D97-AF65-F5344CB8AC3E}">
        <p14:creationId xmlns:p14="http://schemas.microsoft.com/office/powerpoint/2010/main" val="23875341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33867" y="-33867"/>
            <a:ext cx="12310533" cy="6934307"/>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8" name="Picture 7" descr="Artboard 1.png"/>
          <p:cNvPicPr>
            <a:picLocks noChangeAspect="1"/>
          </p:cNvPicPr>
          <p:nvPr userDrawn="1"/>
        </p:nvPicPr>
        <p:blipFill>
          <a:blip r:embed="rId2"/>
          <a:stretch>
            <a:fillRect/>
          </a:stretch>
        </p:blipFill>
        <p:spPr>
          <a:xfrm>
            <a:off x="-33867" y="-33864"/>
            <a:ext cx="12310533" cy="6934304"/>
          </a:xfrm>
          <a:prstGeom prst="rect">
            <a:avLst/>
          </a:prstGeom>
        </p:spPr>
      </p:pic>
      <p:pic>
        <p:nvPicPr>
          <p:cNvPr id="9" name="Picture 8" descr="Artboard 5.png"/>
          <p:cNvPicPr>
            <a:picLocks noChangeAspect="1"/>
          </p:cNvPicPr>
          <p:nvPr userDrawn="1"/>
        </p:nvPicPr>
        <p:blipFill>
          <a:blip r:embed="rId3"/>
          <a:stretch>
            <a:fillRect/>
          </a:stretch>
        </p:blipFill>
        <p:spPr>
          <a:xfrm>
            <a:off x="10559181" y="182879"/>
            <a:ext cx="1497371" cy="1082887"/>
          </a:xfrm>
          <a:prstGeom prst="rect">
            <a:avLst/>
          </a:prstGeom>
        </p:spPr>
      </p:pic>
      <p:sp>
        <p:nvSpPr>
          <p:cNvPr id="6" name="Title 1"/>
          <p:cNvSpPr>
            <a:spLocks noGrp="1"/>
          </p:cNvSpPr>
          <p:nvPr>
            <p:ph type="title"/>
          </p:nvPr>
        </p:nvSpPr>
        <p:spPr>
          <a:xfrm>
            <a:off x="1285192" y="1512276"/>
            <a:ext cx="8954021" cy="2442072"/>
          </a:xfrm>
        </p:spPr>
        <p:txBody>
          <a:bodyPr anchor="ctr">
            <a:normAutofit/>
          </a:bodyPr>
          <a:lstStyle>
            <a:lvl1pPr algn="l">
              <a:defRPr sz="5067" b="1" cap="all">
                <a:solidFill>
                  <a:srgbClr val="F0AB00"/>
                </a:solidFill>
                <a:latin typeface="+mj-lt"/>
              </a:defRPr>
            </a:lvl1pPr>
          </a:lstStyle>
          <a:p>
            <a:r>
              <a:rPr lang="en-US" dirty="0"/>
              <a:t>Click to edit Master title style</a:t>
            </a:r>
          </a:p>
        </p:txBody>
      </p:sp>
      <p:pic>
        <p:nvPicPr>
          <p:cNvPr id="15" name="Picture 14"/>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617464" y="5130800"/>
            <a:ext cx="1431729" cy="1524000"/>
          </a:xfrm>
          <a:prstGeom prst="rect">
            <a:avLst/>
          </a:prstGeom>
        </p:spPr>
      </p:pic>
      <p:sp>
        <p:nvSpPr>
          <p:cNvPr id="5" name="Text Placeholder 4"/>
          <p:cNvSpPr>
            <a:spLocks noGrp="1"/>
          </p:cNvSpPr>
          <p:nvPr>
            <p:ph type="body" sz="quarter" idx="10" hasCustomPrompt="1"/>
          </p:nvPr>
        </p:nvSpPr>
        <p:spPr>
          <a:xfrm>
            <a:off x="1284817" y="4236680"/>
            <a:ext cx="8954396" cy="836083"/>
          </a:xfrm>
          <a:prstGeom prst="rect">
            <a:avLst/>
          </a:prstGeom>
        </p:spPr>
        <p:txBody>
          <a:bodyPr/>
          <a:lstStyle>
            <a:lvl1pPr marL="0" indent="0">
              <a:buNone/>
              <a:defRPr sz="2667">
                <a:solidFill>
                  <a:schemeClr val="bg1"/>
                </a:solidFill>
              </a:defRPr>
            </a:lvl1pPr>
          </a:lstStyle>
          <a:p>
            <a:pPr lvl="0"/>
            <a:r>
              <a:rPr lang="en-US" dirty="0"/>
              <a:t>Click to edit master text styles</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descr="Artboard 2.png"/>
          <p:cNvPicPr>
            <a:picLocks noChangeAspect="1"/>
          </p:cNvPicPr>
          <p:nvPr userDrawn="1"/>
        </p:nvPicPr>
        <p:blipFill>
          <a:blip r:embed="rId2"/>
          <a:stretch>
            <a:fillRect/>
          </a:stretch>
        </p:blipFill>
        <p:spPr>
          <a:xfrm>
            <a:off x="8467" y="0"/>
            <a:ext cx="12183533" cy="6858000"/>
          </a:xfrm>
          <a:prstGeom prst="rect">
            <a:avLst/>
          </a:prstGeom>
        </p:spPr>
      </p:pic>
      <p:pic>
        <p:nvPicPr>
          <p:cNvPr id="7" name="Picture 6" descr="Artboard 7.png"/>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22579" y="-1"/>
            <a:ext cx="12214579" cy="6858001"/>
          </a:xfrm>
          <a:prstGeom prst="rect">
            <a:avLst/>
          </a:prstGeom>
          <a:solidFill>
            <a:schemeClr val="bg1">
              <a:lumMod val="85000"/>
              <a:alpha val="73000"/>
            </a:schemeClr>
          </a:solidFill>
        </p:spPr>
      </p:pic>
      <p:sp>
        <p:nvSpPr>
          <p:cNvPr id="14" name="Title 1"/>
          <p:cNvSpPr>
            <a:spLocks noGrp="1"/>
          </p:cNvSpPr>
          <p:nvPr>
            <p:ph type="title"/>
          </p:nvPr>
        </p:nvSpPr>
        <p:spPr>
          <a:xfrm>
            <a:off x="620184" y="1407836"/>
            <a:ext cx="4917016" cy="2465664"/>
          </a:xfrm>
        </p:spPr>
        <p:txBody>
          <a:bodyPr anchor="t">
            <a:normAutofit/>
          </a:bodyPr>
          <a:lstStyle>
            <a:lvl1pPr algn="l">
              <a:defRPr sz="5067" b="1" cap="all">
                <a:latin typeface="+mj-lt"/>
              </a:defRPr>
            </a:lvl1pPr>
          </a:lstStyle>
          <a:p>
            <a:r>
              <a:rPr lang="en-US" dirty="0"/>
              <a:t>Click to edit Master title style</a:t>
            </a:r>
          </a:p>
        </p:txBody>
      </p:sp>
      <p:sp>
        <p:nvSpPr>
          <p:cNvPr id="15" name="Text Placeholder 2"/>
          <p:cNvSpPr>
            <a:spLocks noGrp="1"/>
          </p:cNvSpPr>
          <p:nvPr>
            <p:ph type="body" idx="1"/>
          </p:nvPr>
        </p:nvSpPr>
        <p:spPr>
          <a:xfrm>
            <a:off x="620184" y="4111725"/>
            <a:ext cx="4917016" cy="1500716"/>
          </a:xfrm>
          <a:prstGeom prst="rect">
            <a:avLst/>
          </a:prstGeom>
        </p:spPr>
        <p:txBody>
          <a:bodyPr anchor="t"/>
          <a:lstStyle>
            <a:lvl1pPr marL="0" indent="0">
              <a:buNone/>
              <a:defRPr sz="2667">
                <a:solidFill>
                  <a:schemeClr val="tx1">
                    <a:tint val="75000"/>
                  </a:schemeClr>
                </a:solidFill>
                <a:latin typeface="+mj-lt"/>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dirty="0"/>
              <a:t>Click to edit Master text styles</a:t>
            </a:r>
          </a:p>
        </p:txBody>
      </p:sp>
      <p:pic>
        <p:nvPicPr>
          <p:cNvPr id="4" name="Picture 3"/>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normAutofit/>
          </a:bodyPr>
          <a:lstStyle>
            <a:lvl1pPr>
              <a:defRPr sz="3733"/>
            </a:lvl1pPr>
          </a:lstStyle>
          <a:p>
            <a:r>
              <a:rPr lang="en-US" dirty="0"/>
              <a:t>Click to edit Master title style</a:t>
            </a:r>
          </a:p>
        </p:txBody>
      </p:sp>
      <p:pic>
        <p:nvPicPr>
          <p:cNvPr id="7" name="Picture 6"/>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Horizontal Text">
    <p:spTree>
      <p:nvGrpSpPr>
        <p:cNvPr id="1" name=""/>
        <p:cNvGrpSpPr/>
        <p:nvPr/>
      </p:nvGrpSpPr>
      <p:grpSpPr>
        <a:xfrm>
          <a:off x="0" y="0"/>
          <a:ext cx="0" cy="0"/>
          <a:chOff x="0" y="0"/>
          <a:chExt cx="0" cy="0"/>
        </a:xfrm>
      </p:grpSpPr>
      <p:pic>
        <p:nvPicPr>
          <p:cNvPr id="5" name="Picture 4"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8" name="Content Placeholder 7"/>
          <p:cNvSpPr>
            <a:spLocks noGrp="1"/>
          </p:cNvSpPr>
          <p:nvPr>
            <p:ph sz="quarter" idx="10"/>
          </p:nvPr>
        </p:nvSpPr>
        <p:spPr>
          <a:xfrm>
            <a:off x="609601" y="1682751"/>
            <a:ext cx="10047817" cy="4548716"/>
          </a:xfrm>
          <a:prstGeom prst="rect">
            <a:avLst/>
          </a:prstGeom>
        </p:spPr>
        <p:txBody>
          <a:bodyPr/>
          <a:lstStyle>
            <a:lvl1pPr marL="457189" indent="-457189">
              <a:buSzPct val="100000"/>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7" name="Picture 6"/>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0731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Title 1"/>
          <p:cNvSpPr>
            <a:spLocks noGrp="1"/>
          </p:cNvSpPr>
          <p:nvPr>
            <p:ph type="title"/>
          </p:nvPr>
        </p:nvSpPr>
        <p:spPr>
          <a:xfrm>
            <a:off x="609601" y="275167"/>
            <a:ext cx="10061825" cy="1143000"/>
          </a:xfrm>
        </p:spPr>
        <p:txBody>
          <a:bodyPr/>
          <a:lstStyle/>
          <a:p>
            <a:r>
              <a:rPr lang="en-US" dirty="0"/>
              <a:t>Click to edit Master title style</a:t>
            </a:r>
          </a:p>
        </p:txBody>
      </p:sp>
      <p:sp>
        <p:nvSpPr>
          <p:cNvPr id="11" name="Vertical Text Placeholder 2"/>
          <p:cNvSpPr>
            <a:spLocks noGrp="1"/>
          </p:cNvSpPr>
          <p:nvPr>
            <p:ph type="body" orient="vert" idx="1"/>
          </p:nvPr>
        </p:nvSpPr>
        <p:spPr>
          <a:xfrm>
            <a:off x="609600" y="1600201"/>
            <a:ext cx="10972800" cy="4525433"/>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34403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0" y="275167"/>
            <a:ext cx="9993331" cy="1143000"/>
          </a:xfrm>
        </p:spPr>
        <p:txBody>
          <a:bodyPr/>
          <a:lstStyle/>
          <a:p>
            <a:r>
              <a:rPr lang="en-US" dirty="0"/>
              <a:t>Click to edit Master title style</a:t>
            </a:r>
          </a:p>
        </p:txBody>
      </p:sp>
      <p:sp>
        <p:nvSpPr>
          <p:cNvPr id="12" name="Content Placeholder 2"/>
          <p:cNvSpPr>
            <a:spLocks noGrp="1"/>
          </p:cNvSpPr>
          <p:nvPr>
            <p:ph sz="half" idx="1"/>
          </p:nvPr>
        </p:nvSpPr>
        <p:spPr>
          <a:xfrm>
            <a:off x="609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3"/>
          <p:cNvSpPr>
            <a:spLocks noGrp="1"/>
          </p:cNvSpPr>
          <p:nvPr>
            <p:ph sz="half" idx="2"/>
          </p:nvPr>
        </p:nvSpPr>
        <p:spPr>
          <a:xfrm>
            <a:off x="6197600" y="1600201"/>
            <a:ext cx="5384800" cy="4525433"/>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607749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0" name="Picture 9"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3" name="Title 1"/>
          <p:cNvSpPr>
            <a:spLocks noGrp="1"/>
          </p:cNvSpPr>
          <p:nvPr>
            <p:ph type="title"/>
          </p:nvPr>
        </p:nvSpPr>
        <p:spPr>
          <a:xfrm>
            <a:off x="609600" y="275167"/>
            <a:ext cx="10048125" cy="1143000"/>
          </a:xfrm>
        </p:spPr>
        <p:txBody>
          <a:bodyPr/>
          <a:lstStyle>
            <a:lvl1pPr>
              <a:defRPr/>
            </a:lvl1pPr>
          </a:lstStyle>
          <a:p>
            <a:r>
              <a:rPr lang="en-US" dirty="0"/>
              <a:t>Click to edit Master title style</a:t>
            </a:r>
          </a:p>
        </p:txBody>
      </p:sp>
      <p:sp>
        <p:nvSpPr>
          <p:cNvPr id="14" name="Text Placeholder 2"/>
          <p:cNvSpPr>
            <a:spLocks noGrp="1"/>
          </p:cNvSpPr>
          <p:nvPr>
            <p:ph type="body" idx="1"/>
          </p:nvPr>
        </p:nvSpPr>
        <p:spPr>
          <a:xfrm>
            <a:off x="609600" y="1534584"/>
            <a:ext cx="5386917"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5" name="Content Placeholder 3"/>
          <p:cNvSpPr>
            <a:spLocks noGrp="1"/>
          </p:cNvSpPr>
          <p:nvPr>
            <p:ph sz="half" idx="2"/>
          </p:nvPr>
        </p:nvSpPr>
        <p:spPr>
          <a:xfrm>
            <a:off x="609600" y="2175934"/>
            <a:ext cx="5386917"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p:cNvSpPr>
            <a:spLocks noGrp="1"/>
          </p:cNvSpPr>
          <p:nvPr>
            <p:ph type="body" sz="quarter" idx="3"/>
          </p:nvPr>
        </p:nvSpPr>
        <p:spPr>
          <a:xfrm>
            <a:off x="6193368" y="1534584"/>
            <a:ext cx="5389033" cy="641349"/>
          </a:xfrm>
          <a:prstGeom prst="rect">
            <a:avLst/>
          </a:prstGeom>
        </p:spPr>
        <p:txBody>
          <a:bodyPr anchor="b">
            <a:normAutofit/>
          </a:bodyPr>
          <a:lstStyle>
            <a:lvl1pPr marL="0" indent="0">
              <a:buNone/>
              <a:defRPr sz="2400" b="1">
                <a:solidFill>
                  <a:schemeClr val="tx2">
                    <a:lumMod val="5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17" name="Content Placeholder 5"/>
          <p:cNvSpPr>
            <a:spLocks noGrp="1"/>
          </p:cNvSpPr>
          <p:nvPr>
            <p:ph sz="quarter" idx="4"/>
          </p:nvPr>
        </p:nvSpPr>
        <p:spPr>
          <a:xfrm>
            <a:off x="6193368" y="2175934"/>
            <a:ext cx="5389033" cy="3949700"/>
          </a:xfrm>
          <a:prstGeom prst="rect">
            <a:avLst/>
          </a:prstGeom>
        </p:spPr>
        <p:txBody>
          <a:bodyPr>
            <a:normAutofit/>
          </a:bodyPr>
          <a:lstStyle>
            <a:lvl1pPr marL="457189" indent="-457189">
              <a:buFontTx/>
              <a:buBlip>
                <a:blip r:embed="rId3"/>
              </a:buBlip>
              <a:defRPr sz="2400">
                <a:solidFill>
                  <a:schemeClr val="tx2">
                    <a:lumMod val="50000"/>
                  </a:schemeClr>
                </a:solidFill>
              </a:defRPr>
            </a:lvl1pPr>
            <a:lvl2pPr>
              <a:defRPr sz="2133">
                <a:solidFill>
                  <a:schemeClr val="tx2">
                    <a:lumMod val="50000"/>
                  </a:schemeClr>
                </a:solidFill>
              </a:defRPr>
            </a:lvl2pPr>
            <a:lvl3pPr>
              <a:defRPr sz="1867">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2133"/>
            </a:lvl6pPr>
            <a:lvl7pPr>
              <a:defRPr sz="2133"/>
            </a:lvl7pPr>
            <a:lvl8pPr>
              <a:defRPr sz="2133"/>
            </a:lvl8pPr>
            <a:lvl9pPr>
              <a:defRPr sz="2133"/>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4251845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609601" y="273052"/>
            <a:ext cx="4011084" cy="1162049"/>
          </a:xfrm>
        </p:spPr>
        <p:txBody>
          <a:bodyPr anchor="b"/>
          <a:lstStyle>
            <a:lvl1pPr algn="l">
              <a:defRPr sz="2667" b="1"/>
            </a:lvl1pPr>
          </a:lstStyle>
          <a:p>
            <a:r>
              <a:rPr lang="en-US" dirty="0"/>
              <a:t>Click to edit Master title style</a:t>
            </a:r>
          </a:p>
        </p:txBody>
      </p:sp>
      <p:sp>
        <p:nvSpPr>
          <p:cNvPr id="12" name="Content Placeholder 2"/>
          <p:cNvSpPr>
            <a:spLocks noGrp="1"/>
          </p:cNvSpPr>
          <p:nvPr>
            <p:ph idx="1"/>
          </p:nvPr>
        </p:nvSpPr>
        <p:spPr>
          <a:xfrm>
            <a:off x="4766733" y="273051"/>
            <a:ext cx="6815667" cy="5852583"/>
          </a:xfrm>
          <a:prstGeom prst="rect">
            <a:avLst/>
          </a:prstGeom>
        </p:spPr>
        <p:txBody>
          <a:bodyPr>
            <a:normAutofit/>
          </a:bodyPr>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1867">
                <a:solidFill>
                  <a:schemeClr val="tx2">
                    <a:lumMod val="50000"/>
                  </a:schemeClr>
                </a:solidFill>
              </a:defRPr>
            </a:lvl4pPr>
            <a:lvl5pPr>
              <a:defRPr sz="1867">
                <a:solidFill>
                  <a:schemeClr val="tx2">
                    <a:lumMod val="50000"/>
                  </a:schemeClr>
                </a:solidFill>
              </a:defRPr>
            </a:lvl5pPr>
            <a:lvl6pPr>
              <a:defRPr sz="2667"/>
            </a:lvl6pPr>
            <a:lvl7pPr>
              <a:defRPr sz="2667"/>
            </a:lvl7pPr>
            <a:lvl8pPr>
              <a:defRPr sz="2667"/>
            </a:lvl8pPr>
            <a:lvl9pPr>
              <a:defRPr sz="2667"/>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3"/>
          <p:cNvSpPr>
            <a:spLocks noGrp="1"/>
          </p:cNvSpPr>
          <p:nvPr>
            <p:ph type="body" sz="half" idx="2"/>
          </p:nvPr>
        </p:nvSpPr>
        <p:spPr>
          <a:xfrm>
            <a:off x="609601" y="1435100"/>
            <a:ext cx="4011084" cy="46905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sp>
        <p:nvSpPr>
          <p:cNvPr id="17" name="Date Placeholder 3"/>
          <p:cNvSpPr>
            <a:spLocks noGrp="1"/>
          </p:cNvSpPr>
          <p:nvPr>
            <p:ph type="dt" sz="half" idx="10"/>
          </p:nvPr>
        </p:nvSpPr>
        <p:spPr>
          <a:xfrm>
            <a:off x="609600" y="6542618"/>
            <a:ext cx="2844800" cy="365125"/>
          </a:xfrm>
          <a:prstGeom prst="rect">
            <a:avLst/>
          </a:prstGeom>
        </p:spPr>
        <p:txBody>
          <a:bodyPr vert="horz" lIns="91440" tIns="45720" rIns="91440" bIns="45720" rtlCol="0" anchor="ctr"/>
          <a:lstStyle>
            <a:lvl1pPr algn="l">
              <a:defRPr sz="1467" b="0">
                <a:solidFill>
                  <a:srgbClr val="4F2D7F"/>
                </a:solidFill>
                <a:latin typeface="Arial" panose="020B0604020202020204" pitchFamily="34" charset="0"/>
                <a:cs typeface="Arial" panose="020B0604020202020204" pitchFamily="34" charset="0"/>
              </a:defRPr>
            </a:lvl1pPr>
          </a:lstStyle>
          <a:p>
            <a:endParaRPr lang="en-US" dirty="0"/>
          </a:p>
        </p:txBody>
      </p:sp>
      <p:pic>
        <p:nvPicPr>
          <p:cNvPr id="10" name="Picture 9"/>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80326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1" name="Title 1"/>
          <p:cNvSpPr>
            <a:spLocks noGrp="1"/>
          </p:cNvSpPr>
          <p:nvPr>
            <p:ph type="title"/>
          </p:nvPr>
        </p:nvSpPr>
        <p:spPr>
          <a:xfrm>
            <a:off x="2389717" y="4800600"/>
            <a:ext cx="7315200" cy="567267"/>
          </a:xfrm>
        </p:spPr>
        <p:txBody>
          <a:bodyPr anchor="b"/>
          <a:lstStyle>
            <a:lvl1pPr algn="l">
              <a:defRPr sz="2667" b="1"/>
            </a:lvl1pPr>
          </a:lstStyle>
          <a:p>
            <a:r>
              <a:rPr lang="en-US" dirty="0"/>
              <a:t>Click to edit Master title style</a:t>
            </a:r>
          </a:p>
        </p:txBody>
      </p:sp>
      <p:sp>
        <p:nvSpPr>
          <p:cNvPr id="12" name="Picture Placeholder 2"/>
          <p:cNvSpPr>
            <a:spLocks noGrp="1"/>
          </p:cNvSpPr>
          <p:nvPr>
            <p:ph type="pic" idx="1"/>
          </p:nvPr>
        </p:nvSpPr>
        <p:spPr>
          <a:xfrm>
            <a:off x="2389717" y="613833"/>
            <a:ext cx="7315200" cy="4114800"/>
          </a:xfrm>
          <a:prstGeom prst="rect">
            <a:avLst/>
          </a:prstGeo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13" name="Text Placeholder 3"/>
          <p:cNvSpPr>
            <a:spLocks noGrp="1"/>
          </p:cNvSpPr>
          <p:nvPr>
            <p:ph type="body" sz="half" idx="2"/>
          </p:nvPr>
        </p:nvSpPr>
        <p:spPr>
          <a:xfrm>
            <a:off x="2389717" y="5367867"/>
            <a:ext cx="7315200" cy="804333"/>
          </a:xfrm>
          <a:prstGeom prst="rect">
            <a:avLst/>
          </a:prstGeom>
        </p:spPr>
        <p:txBody>
          <a:bodyPr/>
          <a:lstStyle>
            <a:lvl1pPr marL="0" indent="0">
              <a:buNone/>
              <a:defRPr sz="1867">
                <a:solidFill>
                  <a:schemeClr val="tx2">
                    <a:lumMod val="50000"/>
                  </a:schemeClr>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dirty="0"/>
              <a:t>Click to edit Master text styles</a:t>
            </a:r>
          </a:p>
        </p:txBody>
      </p:sp>
      <p:pic>
        <p:nvPicPr>
          <p:cNvPr id="10" name="Picture 9"/>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649021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7" name="Picture 6" descr="Artboard 3.png"/>
          <p:cNvPicPr>
            <a:picLocks noChangeAspect="1"/>
          </p:cNvPicPr>
          <p:nvPr userDrawn="1"/>
        </p:nvPicPr>
        <p:blipFill>
          <a:blip r:embed="rId2"/>
          <a:stretch>
            <a:fillRect/>
          </a:stretch>
        </p:blipFill>
        <p:spPr>
          <a:xfrm>
            <a:off x="0" y="0"/>
            <a:ext cx="12175067" cy="6858000"/>
          </a:xfrm>
          <a:prstGeom prst="rect">
            <a:avLst/>
          </a:prstGeom>
        </p:spPr>
      </p:pic>
      <p:sp>
        <p:nvSpPr>
          <p:cNvPr id="10" name="Vertical Title 1"/>
          <p:cNvSpPr>
            <a:spLocks noGrp="1"/>
          </p:cNvSpPr>
          <p:nvPr>
            <p:ph type="title" orient="vert"/>
          </p:nvPr>
        </p:nvSpPr>
        <p:spPr>
          <a:xfrm>
            <a:off x="8839200" y="275167"/>
            <a:ext cx="2194560" cy="5850467"/>
          </a:xfrm>
        </p:spPr>
        <p:txBody>
          <a:bodyPr vert="eaVert"/>
          <a:lstStyle/>
          <a:p>
            <a:r>
              <a:rPr lang="en-US" dirty="0"/>
              <a:t>Click to edit Master title style</a:t>
            </a:r>
          </a:p>
        </p:txBody>
      </p:sp>
      <p:sp>
        <p:nvSpPr>
          <p:cNvPr id="11" name="Vertical Text Placeholder 2"/>
          <p:cNvSpPr>
            <a:spLocks noGrp="1"/>
          </p:cNvSpPr>
          <p:nvPr>
            <p:ph type="body" orient="vert" idx="1"/>
          </p:nvPr>
        </p:nvSpPr>
        <p:spPr>
          <a:xfrm>
            <a:off x="609600" y="275167"/>
            <a:ext cx="8026400" cy="5850467"/>
          </a:xfrm>
          <a:prstGeom prst="rect">
            <a:avLst/>
          </a:prstGeom>
        </p:spPr>
        <p:txBody>
          <a:bodyPr vert="eaVert"/>
          <a:lstStyle>
            <a:lvl1pPr marL="457189" indent="-457189">
              <a:buFontTx/>
              <a:buBlip>
                <a:blip r:embed="rId3"/>
              </a:buBlip>
              <a:defRPr sz="2667">
                <a:solidFill>
                  <a:schemeClr val="tx2">
                    <a:lumMod val="50000"/>
                  </a:schemeClr>
                </a:solidFill>
              </a:defRPr>
            </a:lvl1pPr>
            <a:lvl2pPr>
              <a:defRPr sz="2400">
                <a:solidFill>
                  <a:schemeClr val="tx2">
                    <a:lumMod val="50000"/>
                  </a:schemeClr>
                </a:solidFill>
              </a:defRPr>
            </a:lvl2pPr>
            <a:lvl3pPr>
              <a:defRPr sz="2133">
                <a:solidFill>
                  <a:schemeClr val="tx2">
                    <a:lumMod val="50000"/>
                  </a:schemeClr>
                </a:solidFill>
              </a:defRPr>
            </a:lvl3pPr>
            <a:lvl4pPr>
              <a:defRPr sz="2133">
                <a:solidFill>
                  <a:schemeClr val="tx2">
                    <a:lumMod val="50000"/>
                  </a:schemeClr>
                </a:solidFill>
              </a:defRPr>
            </a:lvl4pPr>
            <a:lvl5pPr>
              <a:defRPr sz="2133">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0766730" y="1"/>
            <a:ext cx="1425271" cy="1518833"/>
          </a:xfrm>
          <a:prstGeom prst="rect">
            <a:avLst/>
          </a:prstGeom>
        </p:spPr>
      </p:pic>
    </p:spTree>
    <p:extLst>
      <p:ext uri="{BB962C8B-B14F-4D97-AF65-F5344CB8AC3E}">
        <p14:creationId xmlns:p14="http://schemas.microsoft.com/office/powerpoint/2010/main" val="1418019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smtClean="0"/>
            </a:lvl1pPr>
          </a:lstStyle>
          <a:p>
            <a:pPr>
              <a:defRPr/>
            </a:pPr>
            <a:fld id="{AB770071-1224-47AB-8BF1-A661B1A5B8CC}" type="slidenum">
              <a:rPr lang="en-US"/>
              <a:pPr>
                <a:defRPr/>
              </a:pPr>
              <a:t>‹#›</a:t>
            </a:fld>
            <a:endParaRPr lang="en-US"/>
          </a:p>
        </p:txBody>
      </p:sp>
      <p:sp>
        <p:nvSpPr>
          <p:cNvPr id="4" name="Footer Placeholder 3"/>
          <p:cNvSpPr>
            <a:spLocks noGrp="1"/>
          </p:cNvSpPr>
          <p:nvPr>
            <p:ph type="ftr" sz="quarter" idx="11"/>
          </p:nvPr>
        </p:nvSpPr>
        <p:spPr/>
        <p:txBody>
          <a:bodyPr/>
          <a:lstStyle>
            <a:lvl1pPr>
              <a:defRPr smtClean="0"/>
            </a:lvl1pPr>
          </a:lstStyle>
          <a:p>
            <a:pPr>
              <a:defRPr/>
            </a:pPr>
            <a:endParaRPr lang="en-US"/>
          </a:p>
        </p:txBody>
      </p:sp>
      <p:sp>
        <p:nvSpPr>
          <p:cNvPr id="5" name="Date Placeholder 4"/>
          <p:cNvSpPr>
            <a:spLocks noGrp="1"/>
          </p:cNvSpPr>
          <p:nvPr>
            <p:ph type="dt" sz="half" idx="12"/>
          </p:nvPr>
        </p:nvSpPr>
        <p:spPr/>
        <p:txBody>
          <a:bodyPr/>
          <a:lstStyle>
            <a:lvl1pPr>
              <a:defRPr smtClean="0"/>
            </a:lvl1pPr>
          </a:lstStyle>
          <a:p>
            <a:pPr>
              <a:defRPr/>
            </a:pPr>
            <a:endParaRPr lang="de-DE"/>
          </a:p>
        </p:txBody>
      </p:sp>
      <p:pic>
        <p:nvPicPr>
          <p:cNvPr id="6" name="Picture 5">
            <a:extLst>
              <a:ext uri="{FF2B5EF4-FFF2-40B4-BE49-F238E27FC236}">
                <a16:creationId xmlns:a16="http://schemas.microsoft.com/office/drawing/2014/main" id="{DCE2DE31-A343-41E5-8E3C-CB70BB05F406}"/>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724445" y="3"/>
            <a:ext cx="1481103" cy="1183748"/>
          </a:xfrm>
          <a:prstGeom prst="rect">
            <a:avLst/>
          </a:prstGeom>
        </p:spPr>
      </p:pic>
    </p:spTree>
    <p:extLst>
      <p:ext uri="{BB962C8B-B14F-4D97-AF65-F5344CB8AC3E}">
        <p14:creationId xmlns:p14="http://schemas.microsoft.com/office/powerpoint/2010/main" val="3243649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9" name="Date Placeholder 8"/>
          <p:cNvSpPr>
            <a:spLocks noGrp="1"/>
          </p:cNvSpPr>
          <p:nvPr>
            <p:ph type="dt" sz="half" idx="2"/>
          </p:nvPr>
        </p:nvSpPr>
        <p:spPr>
          <a:xfrm>
            <a:off x="838200" y="6439007"/>
            <a:ext cx="2743200" cy="366183"/>
          </a:xfrm>
          <a:prstGeom prst="rect">
            <a:avLst/>
          </a:prstGeom>
        </p:spPr>
        <p:txBody>
          <a:bodyPr vert="horz" lIns="91440" tIns="45720" rIns="91440" bIns="45720" rtlCol="0" anchor="ctr"/>
          <a:lstStyle>
            <a:lvl1pPr algn="l">
              <a:defRPr sz="1333">
                <a:solidFill>
                  <a:schemeClr val="tx1">
                    <a:tint val="75000"/>
                  </a:schemeClr>
                </a:solidFill>
                <a:latin typeface="Arial" panose="020B0604020202020204" pitchFamily="34" charset="0"/>
                <a:cs typeface="Arial" panose="020B0604020202020204" pitchFamily="34" charset="0"/>
              </a:defRPr>
            </a:lvl1pPr>
          </a:lstStyle>
          <a:p>
            <a:endParaRPr lang="en-GB"/>
          </a:p>
        </p:txBody>
      </p:sp>
      <p:sp>
        <p:nvSpPr>
          <p:cNvPr id="10" name="Footer Placeholder 9"/>
          <p:cNvSpPr>
            <a:spLocks noGrp="1"/>
          </p:cNvSpPr>
          <p:nvPr>
            <p:ph type="ftr" sz="quarter" idx="3"/>
          </p:nvPr>
        </p:nvSpPr>
        <p:spPr>
          <a:xfrm>
            <a:off x="4038600" y="6439007"/>
            <a:ext cx="4114800" cy="366183"/>
          </a:xfrm>
          <a:prstGeom prst="rect">
            <a:avLst/>
          </a:prstGeom>
        </p:spPr>
        <p:txBody>
          <a:bodyPr vert="horz" lIns="91440" tIns="45720" rIns="91440" bIns="45720" rtlCol="0" anchor="ctr"/>
          <a:lstStyle>
            <a:lvl1pPr algn="ctr">
              <a:defRPr sz="1333">
                <a:solidFill>
                  <a:schemeClr val="tx1">
                    <a:tint val="75000"/>
                  </a:schemeClr>
                </a:solidFill>
                <a:latin typeface="Arial" panose="020B0604020202020204" pitchFamily="34" charset="0"/>
                <a:cs typeface="Arial" panose="020B0604020202020204" pitchFamily="34" charset="0"/>
              </a:defRPr>
            </a:lvl1p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79" r:id="rId4"/>
    <p:sldLayoutId id="2147483680" r:id="rId5"/>
    <p:sldLayoutId id="2147483682" r:id="rId6"/>
    <p:sldLayoutId id="2147483683" r:id="rId7"/>
    <p:sldLayoutId id="2147483684" r:id="rId8"/>
    <p:sldLayoutId id="2147483685" r:id="rId9"/>
    <p:sldLayoutId id="2147483686" r:id="rId10"/>
    <p:sldLayoutId id="2147483687" r:id="rId11"/>
  </p:sldLayoutIdLst>
  <p:hf hdr="0" ftr="0" dt="0"/>
  <p:txStyles>
    <p:titleStyle>
      <a:lvl1pPr algn="l" defTabSz="609585" rtl="0" eaLnBrk="1" latinLnBrk="0" hangingPunct="1">
        <a:spcBef>
          <a:spcPct val="0"/>
        </a:spcBef>
        <a:buNone/>
        <a:defRPr sz="3733" b="1" kern="1200">
          <a:solidFill>
            <a:srgbClr val="331C58"/>
          </a:solidFill>
          <a:latin typeface="+mj-lt"/>
          <a:ea typeface="+mj-ea"/>
          <a:cs typeface="+mj-cs"/>
        </a:defRPr>
      </a:lvl1pPr>
    </p:titleStyle>
    <p:bodyStyle>
      <a:lvl1pPr marL="457189" indent="-457189" algn="l" defTabSz="609585" rtl="0" eaLnBrk="1" latinLnBrk="0" hangingPunct="1">
        <a:spcBef>
          <a:spcPct val="20000"/>
        </a:spcBef>
        <a:buFont typeface="Arial"/>
        <a:buChar char="•"/>
        <a:defRPr sz="3733" kern="1200">
          <a:solidFill>
            <a:schemeClr val="tx1"/>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3200" kern="1200">
          <a:solidFill>
            <a:schemeClr val="tx1"/>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2667" kern="1200">
          <a:solidFill>
            <a:schemeClr val="tx1"/>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8" Type="http://schemas.openxmlformats.org/officeDocument/2006/relationships/hyperlink" Target="https://www.researchworld.com/top-10-global-consumer-trends-2020/" TargetMode="External"/><Relationship Id="rId3" Type="http://schemas.openxmlformats.org/officeDocument/2006/relationships/hyperlink" Target="https://www.cnbc.com/2020/09/19/trump-says-he-has-approved-tiktok-oracle-deal-in-concept.html" TargetMode="External"/><Relationship Id="rId7" Type="http://schemas.openxmlformats.org/officeDocument/2006/relationships/hyperlink" Target="https://www.youtube.com/watch?v=5iZuffHPDAw" TargetMode="External"/><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hyperlink" Target="https://www.independent.co.uk/life-style/tarte-cosmetics-foundations-white-people-mlk-martin-luther-king-day-a8163026.html" TargetMode="External"/><Relationship Id="rId5" Type="http://schemas.openxmlformats.org/officeDocument/2006/relationships/hyperlink" Target="https://en.wikipedia.org/wiki/Kosher_foods" TargetMode="External"/><Relationship Id="rId4" Type="http://schemas.openxmlformats.org/officeDocument/2006/relationships/hyperlink" Target="https://edition.cnn.com/2021/01/24/business/godiva-closing-us-stores/index.html" TargetMode="External"/><Relationship Id="rId9" Type="http://schemas.openxmlformats.org/officeDocument/2006/relationships/hyperlink" Target="https://www.theguardian.com/environment/2015/jul/02/bp-will-pay-largest-environmental-fine-in-us-history-for-gulf-oil-spil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4.xml"/><Relationship Id="rId1" Type="http://schemas.openxmlformats.org/officeDocument/2006/relationships/video" Target="https://www.youtube.com/embed/MNRAdrB9TSs?feature=oembed"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s://technews.tw/2021/01/26/chips-for-automotive-use-up-again/"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slideLayout" Target="../slideLayouts/slideLayout6.xml"/><Relationship Id="rId6" Type="http://schemas.openxmlformats.org/officeDocument/2006/relationships/image" Target="../media/image21.wmf"/><Relationship Id="rId5" Type="http://schemas.openxmlformats.org/officeDocument/2006/relationships/image" Target="../media/image20.png"/><Relationship Id="rId4" Type="http://schemas.openxmlformats.org/officeDocument/2006/relationships/image" Target="../media/image19.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4817" y="1116035"/>
            <a:ext cx="9426726" cy="2672193"/>
          </a:xfrm>
        </p:spPr>
        <p:txBody>
          <a:bodyPr>
            <a:normAutofit fontScale="90000"/>
          </a:bodyPr>
          <a:lstStyle/>
          <a:p>
            <a:pPr algn="ctr"/>
            <a:r>
              <a:rPr lang="en-GB" altLang="zh-CN" sz="4900" dirty="0"/>
              <a:t>MGNT 5506G</a:t>
            </a:r>
            <a:br>
              <a:rPr lang="en-GB" altLang="zh-CN" sz="4900" dirty="0"/>
            </a:br>
            <a:r>
              <a:rPr lang="en-GB" altLang="zh-CN" sz="1200" dirty="0">
                <a:solidFill>
                  <a:schemeClr val="accent1"/>
                </a:solidFill>
              </a:rPr>
              <a:t>f</a:t>
            </a:r>
            <a:br>
              <a:rPr lang="en-GB" altLang="zh-CN" dirty="0"/>
            </a:br>
            <a:r>
              <a:rPr lang="en-US" sz="4900" dirty="0">
                <a:solidFill>
                  <a:schemeClr val="bg1"/>
                </a:solidFill>
              </a:rPr>
              <a:t>Strategic Management for Competitive Advantage</a:t>
            </a:r>
            <a:endParaRPr lang="en-GB" sz="4900" dirty="0">
              <a:solidFill>
                <a:schemeClr val="bg1"/>
              </a:solidFill>
            </a:endParaRPr>
          </a:p>
        </p:txBody>
      </p:sp>
      <p:sp>
        <p:nvSpPr>
          <p:cNvPr id="3" name="Text Placeholder 2"/>
          <p:cNvSpPr>
            <a:spLocks noGrp="1"/>
          </p:cNvSpPr>
          <p:nvPr>
            <p:ph type="body" sz="quarter" idx="10"/>
          </p:nvPr>
        </p:nvSpPr>
        <p:spPr>
          <a:xfrm>
            <a:off x="1284817" y="4572582"/>
            <a:ext cx="8954396" cy="836083"/>
          </a:xfrm>
        </p:spPr>
        <p:txBody>
          <a:bodyPr/>
          <a:lstStyle/>
          <a:p>
            <a:pPr algn="ctr"/>
            <a:r>
              <a:rPr lang="en-GB" altLang="zh-CN" dirty="0"/>
              <a:t>J</a:t>
            </a:r>
            <a:r>
              <a:rPr lang="en-US" altLang="zh-CN" dirty="0" err="1"/>
              <a:t>ingyu</a:t>
            </a:r>
            <a:r>
              <a:rPr lang="en-US" altLang="zh-CN" dirty="0"/>
              <a:t> (Sissi) Li</a:t>
            </a:r>
            <a:endParaRPr lang="en-GB" altLang="zh-CN" dirty="0"/>
          </a:p>
          <a:p>
            <a:endParaRPr lang="en-GB" dirty="0"/>
          </a:p>
        </p:txBody>
      </p:sp>
    </p:spTree>
    <p:extLst>
      <p:ext uri="{BB962C8B-B14F-4D97-AF65-F5344CB8AC3E}">
        <p14:creationId xmlns:p14="http://schemas.microsoft.com/office/powerpoint/2010/main" val="376028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63880" y="219287"/>
            <a:ext cx="9993331" cy="1143000"/>
          </a:xfrm>
        </p:spPr>
        <p:txBody>
          <a:bodyPr anchor="ctr">
            <a:normAutofit/>
          </a:bodyPr>
          <a:lstStyle/>
          <a:p>
            <a:r>
              <a:rPr lang="en-US" altLang="zh-CN" sz="4000" dirty="0"/>
              <a:t>Objectives for Today</a:t>
            </a:r>
            <a:endParaRPr lang="en-GB" dirty="0"/>
          </a:p>
        </p:txBody>
      </p:sp>
      <p:sp>
        <p:nvSpPr>
          <p:cNvPr id="6" name="Content Placeholder 5"/>
          <p:cNvSpPr>
            <a:spLocks noGrp="1"/>
          </p:cNvSpPr>
          <p:nvPr>
            <p:ph sz="half" idx="1"/>
          </p:nvPr>
        </p:nvSpPr>
        <p:spPr>
          <a:xfrm>
            <a:off x="682792" y="1614740"/>
            <a:ext cx="10115550" cy="4219574"/>
          </a:xfrm>
        </p:spPr>
        <p:txBody>
          <a:bodyPr>
            <a:normAutofit/>
          </a:bodyPr>
          <a:lstStyle/>
          <a:p>
            <a:pPr marL="0" indent="0">
              <a:buNone/>
            </a:pPr>
            <a:r>
              <a:rPr lang="en-US" altLang="zh-CN" sz="2800" kern="0" dirty="0"/>
              <a:t>1. Which macroeconomic environment factors to examine?</a:t>
            </a:r>
          </a:p>
          <a:p>
            <a:pPr marL="0" indent="0">
              <a:buNone/>
            </a:pPr>
            <a:endParaRPr lang="en-US" altLang="zh-CN" sz="2800" kern="0" dirty="0"/>
          </a:p>
          <a:p>
            <a:pPr marL="0" indent="0">
              <a:buNone/>
            </a:pPr>
            <a:r>
              <a:rPr lang="en-US" altLang="zh-CN" sz="2800" kern="0" dirty="0"/>
              <a:t>2. How does industry structure affect firms’ profitability?</a:t>
            </a:r>
          </a:p>
          <a:p>
            <a:pPr marL="0" indent="0">
              <a:buNone/>
            </a:pPr>
            <a:endParaRPr lang="en-US" altLang="zh-CN" sz="2800" kern="0" dirty="0"/>
          </a:p>
          <a:p>
            <a:pPr marL="0" indent="0">
              <a:buNone/>
            </a:pPr>
            <a:r>
              <a:rPr lang="en-US" altLang="zh-CN" sz="2800" kern="0" dirty="0"/>
              <a:t>3. What determines the strength of industry forces acting on firms?</a:t>
            </a:r>
          </a:p>
          <a:p>
            <a:pPr marL="0" indent="0">
              <a:buNone/>
            </a:pPr>
            <a:endParaRPr lang="en-US" altLang="zh-CN" sz="2800" kern="0" dirty="0"/>
          </a:p>
          <a:p>
            <a:pPr marL="0" indent="0">
              <a:buNone/>
            </a:pPr>
            <a:r>
              <a:rPr lang="en-US" altLang="zh-CN" sz="2800" kern="0" dirty="0"/>
              <a:t>4.</a:t>
            </a:r>
            <a:r>
              <a:rPr lang="zh-CN" altLang="en-US" sz="2800" kern="0" dirty="0"/>
              <a:t> </a:t>
            </a:r>
            <a:r>
              <a:rPr lang="en-US" altLang="zh-CN" sz="2800" kern="0" dirty="0"/>
              <a:t>Practice</a:t>
            </a:r>
            <a:r>
              <a:rPr lang="zh-CN" altLang="en-US" sz="2800" kern="0" dirty="0"/>
              <a:t> </a:t>
            </a:r>
            <a:r>
              <a:rPr lang="en-US" altLang="zh-CN" sz="2800" kern="0" dirty="0"/>
              <a:t>the</a:t>
            </a:r>
            <a:r>
              <a:rPr lang="zh-CN" altLang="en-US" sz="2800" kern="0" dirty="0"/>
              <a:t> </a:t>
            </a:r>
            <a:r>
              <a:rPr lang="en-US" altLang="zh-CN" sz="2800" kern="0" dirty="0"/>
              <a:t>Five</a:t>
            </a:r>
            <a:r>
              <a:rPr lang="zh-CN" altLang="en-US" sz="2800" kern="0" dirty="0"/>
              <a:t> </a:t>
            </a:r>
            <a:r>
              <a:rPr lang="en-US" altLang="zh-CN" sz="2800" kern="0" dirty="0"/>
              <a:t>forces</a:t>
            </a:r>
            <a:r>
              <a:rPr lang="zh-CN" altLang="en-US" sz="2800" kern="0" dirty="0"/>
              <a:t> </a:t>
            </a:r>
            <a:r>
              <a:rPr lang="en-US" altLang="zh-CN" sz="2800" kern="0" dirty="0"/>
              <a:t>analysis</a:t>
            </a:r>
          </a:p>
          <a:p>
            <a:pPr marL="0" indent="0">
              <a:buNone/>
            </a:pPr>
            <a:endParaRPr lang="en-US" altLang="zh-CN" sz="2800" kern="0" dirty="0"/>
          </a:p>
        </p:txBody>
      </p:sp>
    </p:spTree>
    <p:extLst>
      <p:ext uri="{BB962C8B-B14F-4D97-AF65-F5344CB8AC3E}">
        <p14:creationId xmlns:p14="http://schemas.microsoft.com/office/powerpoint/2010/main" val="405698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028" descr="skd283458sdc checkers">
            <a:extLst>
              <a:ext uri="{FF2B5EF4-FFF2-40B4-BE49-F238E27FC236}">
                <a16:creationId xmlns:a16="http://schemas.microsoft.com/office/drawing/2014/main" id="{6FAE7691-4947-4FB0-B31F-C59EBB5BEB4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400200" y="990600"/>
            <a:ext cx="6290160" cy="4568865"/>
          </a:xfrm>
          <a:prstGeom prst="rect">
            <a:avLst/>
          </a:prstGeom>
          <a:noFill/>
          <a:ln w="28575">
            <a:solidFill>
              <a:srgbClr val="006666"/>
            </a:solidFill>
            <a:miter lim="800000"/>
            <a:headEnd/>
            <a:tailEnd/>
          </a:ln>
        </p:spPr>
      </p:pic>
      <p:sp>
        <p:nvSpPr>
          <p:cNvPr id="21" name="Content Placeholder 3">
            <a:extLst>
              <a:ext uri="{FF2B5EF4-FFF2-40B4-BE49-F238E27FC236}">
                <a16:creationId xmlns:a16="http://schemas.microsoft.com/office/drawing/2014/main" id="{04B89E21-0F05-4EF9-BC37-0B36292E0645}"/>
              </a:ext>
            </a:extLst>
          </p:cNvPr>
          <p:cNvSpPr>
            <a:spLocks noGrp="1"/>
          </p:cNvSpPr>
          <p:nvPr>
            <p:ph sz="half" idx="2"/>
          </p:nvPr>
        </p:nvSpPr>
        <p:spPr>
          <a:xfrm>
            <a:off x="7406640" y="4716357"/>
            <a:ext cx="3774440" cy="1933363"/>
          </a:xfrm>
        </p:spPr>
        <p:txBody>
          <a:bodyPr/>
          <a:lstStyle/>
          <a:p>
            <a:pPr marL="0" indent="0">
              <a:buNone/>
            </a:pPr>
            <a:r>
              <a:rPr kumimoji="0" lang="en-US" altLang="zh-CN" sz="2400" b="0" i="1" u="none" strike="noStrike" kern="0" cap="none" spc="0" normalizeH="0" baseline="0" noProof="0" dirty="0">
                <a:ln>
                  <a:noFill/>
                </a:ln>
                <a:solidFill>
                  <a:srgbClr val="006666"/>
                </a:solidFill>
                <a:effectLst/>
                <a:uLnTx/>
                <a:uFillTx/>
                <a:latin typeface="+mj-lt"/>
                <a:ea typeface="+mj-ea"/>
                <a:cs typeface="+mj-cs"/>
              </a:rPr>
              <a:t>“To assure victory, always carefully survey the field before battle.”</a:t>
            </a:r>
            <a:endParaRPr kumimoji="0" lang="en-US" altLang="zh-CN" sz="2400" b="0" i="0" u="none" strike="noStrike" kern="0" cap="none" spc="0" normalizeH="0" baseline="0" noProof="0" dirty="0">
              <a:ln>
                <a:noFill/>
              </a:ln>
              <a:solidFill>
                <a:srgbClr val="006666"/>
              </a:solidFill>
              <a:effectLst/>
              <a:uLnTx/>
              <a:uFillTx/>
              <a:latin typeface="+mj-lt"/>
              <a:ea typeface="+mj-ea"/>
              <a:cs typeface="+mj-cs"/>
            </a:endParaRPr>
          </a:p>
          <a:p>
            <a:pPr marL="0" indent="0" algn="r">
              <a:buNone/>
            </a:pPr>
            <a:r>
              <a:rPr lang="en-US" altLang="zh-CN" sz="1800" dirty="0">
                <a:solidFill>
                  <a:srgbClr val="A50021"/>
                </a:solidFill>
              </a:rPr>
              <a:t> </a:t>
            </a:r>
            <a:r>
              <a:rPr lang="en-US" altLang="zh-CN" sz="2400" dirty="0">
                <a:solidFill>
                  <a:srgbClr val="006666"/>
                </a:solidFill>
              </a:rPr>
              <a:t>-</a:t>
            </a:r>
            <a:r>
              <a:rPr lang="en-US" altLang="zh-CN" sz="2400" dirty="0">
                <a:solidFill>
                  <a:srgbClr val="006666"/>
                </a:solidFill>
                <a:effectLst>
                  <a:outerShdw blurRad="38100" dist="38100" dir="2700000" algn="tl">
                    <a:srgbClr val="C0C0C0"/>
                  </a:outerShdw>
                </a:effectLst>
              </a:rPr>
              <a:t> </a:t>
            </a:r>
            <a:r>
              <a:rPr lang="en-US" altLang="zh-CN" sz="2400" dirty="0">
                <a:solidFill>
                  <a:srgbClr val="006666"/>
                </a:solidFill>
              </a:rPr>
              <a:t>Sun Tzu</a:t>
            </a:r>
          </a:p>
          <a:p>
            <a:pPr marL="0" indent="0">
              <a:buNone/>
            </a:pPr>
            <a:endParaRPr lang="en-US" dirty="0"/>
          </a:p>
        </p:txBody>
      </p:sp>
    </p:spTree>
    <p:extLst>
      <p:ext uri="{BB962C8B-B14F-4D97-AF65-F5344CB8AC3E}">
        <p14:creationId xmlns:p14="http://schemas.microsoft.com/office/powerpoint/2010/main" val="4217714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2D45DFC-C161-48CE-813E-00BEAECF0117}"/>
              </a:ext>
            </a:extLst>
          </p:cNvPr>
          <p:cNvGrpSpPr>
            <a:grpSpLocks/>
          </p:cNvGrpSpPr>
          <p:nvPr/>
        </p:nvGrpSpPr>
        <p:grpSpPr bwMode="auto">
          <a:xfrm>
            <a:off x="1412240" y="1625600"/>
            <a:ext cx="8686800" cy="4566920"/>
            <a:chOff x="552" y="1511"/>
            <a:chExt cx="4848" cy="2496"/>
          </a:xfrm>
        </p:grpSpPr>
        <p:sp>
          <p:nvSpPr>
            <p:cNvPr id="4" name="Oval 4">
              <a:extLst>
                <a:ext uri="{FF2B5EF4-FFF2-40B4-BE49-F238E27FC236}">
                  <a16:creationId xmlns:a16="http://schemas.microsoft.com/office/drawing/2014/main" id="{7AAA8478-5903-4005-BA5E-88AC54495DDF}"/>
                </a:ext>
              </a:extLst>
            </p:cNvPr>
            <p:cNvSpPr>
              <a:spLocks noChangeArrowheads="1"/>
            </p:cNvSpPr>
            <p:nvPr/>
          </p:nvSpPr>
          <p:spPr bwMode="auto">
            <a:xfrm>
              <a:off x="552" y="1511"/>
              <a:ext cx="4848" cy="2496"/>
            </a:xfrm>
            <a:prstGeom prst="ellipse">
              <a:avLst/>
            </a:prstGeom>
            <a:noFill/>
            <a:ln w="12700">
              <a:solidFill>
                <a:schemeClr val="tx1"/>
              </a:solidFill>
              <a:round/>
              <a:headEnd/>
              <a:tailEnd/>
            </a:ln>
            <a:effectLst/>
          </p:spPr>
          <p:txBody>
            <a:bodyPr wrap="none" anchor="ctr"/>
            <a:lstStyle/>
            <a:p>
              <a:endParaRPr lang="en-US"/>
            </a:p>
          </p:txBody>
        </p:sp>
        <p:sp>
          <p:nvSpPr>
            <p:cNvPr id="6" name="Oval 5">
              <a:extLst>
                <a:ext uri="{FF2B5EF4-FFF2-40B4-BE49-F238E27FC236}">
                  <a16:creationId xmlns:a16="http://schemas.microsoft.com/office/drawing/2014/main" id="{D6CEDFDE-93D5-4C26-9038-3A88247DAD36}"/>
                </a:ext>
              </a:extLst>
            </p:cNvPr>
            <p:cNvSpPr>
              <a:spLocks noChangeArrowheads="1"/>
            </p:cNvSpPr>
            <p:nvPr/>
          </p:nvSpPr>
          <p:spPr bwMode="auto">
            <a:xfrm>
              <a:off x="1200" y="2064"/>
              <a:ext cx="3552" cy="1824"/>
            </a:xfrm>
            <a:prstGeom prst="ellipse">
              <a:avLst/>
            </a:prstGeom>
            <a:noFill/>
            <a:ln w="12700">
              <a:solidFill>
                <a:schemeClr val="tx1"/>
              </a:solidFill>
              <a:round/>
              <a:headEnd/>
              <a:tailEnd/>
            </a:ln>
            <a:effectLst/>
          </p:spPr>
          <p:txBody>
            <a:bodyPr wrap="none" anchor="ctr"/>
            <a:lstStyle/>
            <a:p>
              <a:endParaRPr lang="en-US"/>
            </a:p>
          </p:txBody>
        </p:sp>
        <p:sp>
          <p:nvSpPr>
            <p:cNvPr id="7" name="Oval 6">
              <a:extLst>
                <a:ext uri="{FF2B5EF4-FFF2-40B4-BE49-F238E27FC236}">
                  <a16:creationId xmlns:a16="http://schemas.microsoft.com/office/drawing/2014/main" id="{29F4F802-DB10-408F-AE12-7E27C94F8A0C}"/>
                </a:ext>
              </a:extLst>
            </p:cNvPr>
            <p:cNvSpPr>
              <a:spLocks noChangeArrowheads="1"/>
            </p:cNvSpPr>
            <p:nvPr/>
          </p:nvSpPr>
          <p:spPr bwMode="auto">
            <a:xfrm>
              <a:off x="1632" y="2496"/>
              <a:ext cx="2640" cy="1344"/>
            </a:xfrm>
            <a:prstGeom prst="ellipse">
              <a:avLst/>
            </a:prstGeom>
            <a:noFill/>
            <a:ln w="12700">
              <a:solidFill>
                <a:schemeClr val="tx1"/>
              </a:solidFill>
              <a:round/>
              <a:headEnd/>
              <a:tailEnd/>
            </a:ln>
            <a:effectLst/>
          </p:spPr>
          <p:txBody>
            <a:bodyPr wrap="none" anchor="ctr"/>
            <a:lstStyle/>
            <a:p>
              <a:endParaRPr lang="en-US"/>
            </a:p>
          </p:txBody>
        </p:sp>
        <p:sp>
          <p:nvSpPr>
            <p:cNvPr id="8" name="Oval 7">
              <a:extLst>
                <a:ext uri="{FF2B5EF4-FFF2-40B4-BE49-F238E27FC236}">
                  <a16:creationId xmlns:a16="http://schemas.microsoft.com/office/drawing/2014/main" id="{A8273F64-4A4B-4A61-947E-C2D3FF5E81E1}"/>
                </a:ext>
              </a:extLst>
            </p:cNvPr>
            <p:cNvSpPr>
              <a:spLocks noChangeArrowheads="1"/>
            </p:cNvSpPr>
            <p:nvPr/>
          </p:nvSpPr>
          <p:spPr bwMode="auto">
            <a:xfrm>
              <a:off x="2592" y="3168"/>
              <a:ext cx="576" cy="576"/>
            </a:xfrm>
            <a:prstGeom prst="ellipse">
              <a:avLst/>
            </a:prstGeom>
            <a:solidFill>
              <a:schemeClr val="bg1"/>
            </a:solidFill>
            <a:ln w="12700">
              <a:solidFill>
                <a:schemeClr val="tx1"/>
              </a:solidFill>
              <a:round/>
              <a:headEnd/>
              <a:tailEnd/>
            </a:ln>
            <a:effectLst/>
          </p:spPr>
          <p:txBody>
            <a:bodyPr wrap="none" anchor="ctr"/>
            <a:lstStyle/>
            <a:p>
              <a:pPr algn="ctr" eaLnBrk="0" hangingPunct="0"/>
              <a:r>
                <a:rPr lang="en-US" sz="2400" dirty="0">
                  <a:latin typeface="Times New Roman" pitchFamily="18" charset="0"/>
                </a:rPr>
                <a:t>Firm</a:t>
              </a:r>
            </a:p>
          </p:txBody>
        </p:sp>
        <p:sp>
          <p:nvSpPr>
            <p:cNvPr id="9" name="Text Box 8">
              <a:extLst>
                <a:ext uri="{FF2B5EF4-FFF2-40B4-BE49-F238E27FC236}">
                  <a16:creationId xmlns:a16="http://schemas.microsoft.com/office/drawing/2014/main" id="{B91882D2-452C-4328-92C1-D8E8F48B0969}"/>
                </a:ext>
              </a:extLst>
            </p:cNvPr>
            <p:cNvSpPr txBox="1">
              <a:spLocks noChangeArrowheads="1"/>
            </p:cNvSpPr>
            <p:nvPr/>
          </p:nvSpPr>
          <p:spPr bwMode="auto">
            <a:xfrm>
              <a:off x="2520" y="1709"/>
              <a:ext cx="646" cy="252"/>
            </a:xfrm>
            <a:prstGeom prst="rect">
              <a:avLst/>
            </a:prstGeom>
            <a:noFill/>
            <a:ln w="9525">
              <a:noFill/>
              <a:miter lim="800000"/>
              <a:headEnd/>
              <a:tailEnd/>
            </a:ln>
            <a:effectLst/>
          </p:spPr>
          <p:txBody>
            <a:bodyPr wrap="none">
              <a:spAutoFit/>
            </a:bodyPr>
            <a:lstStyle/>
            <a:p>
              <a:pPr eaLnBrk="0" hangingPunct="0"/>
              <a:r>
                <a:rPr lang="en-US" dirty="0">
                  <a:latin typeface="Times New Roman" pitchFamily="18" charset="0"/>
                </a:rPr>
                <a:t>General</a:t>
              </a:r>
            </a:p>
          </p:txBody>
        </p:sp>
        <p:sp>
          <p:nvSpPr>
            <p:cNvPr id="10" name="Text Box 9">
              <a:extLst>
                <a:ext uri="{FF2B5EF4-FFF2-40B4-BE49-F238E27FC236}">
                  <a16:creationId xmlns:a16="http://schemas.microsoft.com/office/drawing/2014/main" id="{87291DC9-9FE1-499D-9282-2830D726DACE}"/>
                </a:ext>
              </a:extLst>
            </p:cNvPr>
            <p:cNvSpPr txBox="1">
              <a:spLocks noChangeArrowheads="1"/>
            </p:cNvSpPr>
            <p:nvPr/>
          </p:nvSpPr>
          <p:spPr bwMode="auto">
            <a:xfrm>
              <a:off x="2544" y="2160"/>
              <a:ext cx="756" cy="288"/>
            </a:xfrm>
            <a:prstGeom prst="rect">
              <a:avLst/>
            </a:prstGeom>
            <a:noFill/>
            <a:ln w="9525">
              <a:noFill/>
              <a:miter lim="800000"/>
              <a:headEnd/>
              <a:tailEnd/>
            </a:ln>
            <a:effectLst/>
          </p:spPr>
          <p:txBody>
            <a:bodyPr wrap="none">
              <a:spAutoFit/>
            </a:bodyPr>
            <a:lstStyle/>
            <a:p>
              <a:pPr eaLnBrk="0" hangingPunct="0"/>
              <a:r>
                <a:rPr lang="en-US" sz="2400" dirty="0">
                  <a:latin typeface="Times New Roman" pitchFamily="18" charset="0"/>
                </a:rPr>
                <a:t>Industry</a:t>
              </a:r>
            </a:p>
          </p:txBody>
        </p:sp>
        <p:sp>
          <p:nvSpPr>
            <p:cNvPr id="11" name="Text Box 10">
              <a:extLst>
                <a:ext uri="{FF2B5EF4-FFF2-40B4-BE49-F238E27FC236}">
                  <a16:creationId xmlns:a16="http://schemas.microsoft.com/office/drawing/2014/main" id="{E857555E-30C9-4D0D-B3AD-46F4C17C23BB}"/>
                </a:ext>
              </a:extLst>
            </p:cNvPr>
            <p:cNvSpPr txBox="1">
              <a:spLocks noChangeArrowheads="1"/>
            </p:cNvSpPr>
            <p:nvPr/>
          </p:nvSpPr>
          <p:spPr bwMode="auto">
            <a:xfrm>
              <a:off x="2342" y="2714"/>
              <a:ext cx="1063" cy="288"/>
            </a:xfrm>
            <a:prstGeom prst="rect">
              <a:avLst/>
            </a:prstGeom>
            <a:noFill/>
            <a:ln w="9525">
              <a:noFill/>
              <a:miter lim="800000"/>
              <a:headEnd/>
              <a:tailEnd/>
            </a:ln>
            <a:effectLst/>
          </p:spPr>
          <p:txBody>
            <a:bodyPr wrap="none">
              <a:spAutoFit/>
            </a:bodyPr>
            <a:lstStyle/>
            <a:p>
              <a:pPr eaLnBrk="0" hangingPunct="0"/>
              <a:r>
                <a:rPr lang="en-US" sz="2400" dirty="0">
                  <a:latin typeface="Times New Roman" pitchFamily="18" charset="0"/>
                </a:rPr>
                <a:t>Competitive</a:t>
              </a:r>
            </a:p>
          </p:txBody>
        </p:sp>
        <p:sp>
          <p:nvSpPr>
            <p:cNvPr id="12" name="AutoShape 11">
              <a:extLst>
                <a:ext uri="{FF2B5EF4-FFF2-40B4-BE49-F238E27FC236}">
                  <a16:creationId xmlns:a16="http://schemas.microsoft.com/office/drawing/2014/main" id="{179FD0AD-4AF3-4166-8BD6-E9086993E574}"/>
                </a:ext>
              </a:extLst>
            </p:cNvPr>
            <p:cNvSpPr>
              <a:spLocks noChangeArrowheads="1"/>
            </p:cNvSpPr>
            <p:nvPr/>
          </p:nvSpPr>
          <p:spPr bwMode="auto">
            <a:xfrm>
              <a:off x="1968" y="1776"/>
              <a:ext cx="336" cy="672"/>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3" name="AutoShape 12">
              <a:extLst>
                <a:ext uri="{FF2B5EF4-FFF2-40B4-BE49-F238E27FC236}">
                  <a16:creationId xmlns:a16="http://schemas.microsoft.com/office/drawing/2014/main" id="{C96340C7-2E1A-4268-B20E-9D38362AD771}"/>
                </a:ext>
              </a:extLst>
            </p:cNvPr>
            <p:cNvSpPr>
              <a:spLocks noChangeArrowheads="1"/>
            </p:cNvSpPr>
            <p:nvPr/>
          </p:nvSpPr>
          <p:spPr bwMode="auto">
            <a:xfrm>
              <a:off x="3456" y="2256"/>
              <a:ext cx="384" cy="1056"/>
            </a:xfrm>
            <a:prstGeom prst="curvedLeftArrow">
              <a:avLst>
                <a:gd name="adj1" fmla="val 55000"/>
                <a:gd name="adj2" fmla="val 11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4" name="AutoShape 13">
              <a:extLst>
                <a:ext uri="{FF2B5EF4-FFF2-40B4-BE49-F238E27FC236}">
                  <a16:creationId xmlns:a16="http://schemas.microsoft.com/office/drawing/2014/main" id="{94901D7B-EAD4-45C4-8D6D-FC28ACE735A3}"/>
                </a:ext>
              </a:extLst>
            </p:cNvPr>
            <p:cNvSpPr>
              <a:spLocks noChangeArrowheads="1"/>
            </p:cNvSpPr>
            <p:nvPr/>
          </p:nvSpPr>
          <p:spPr bwMode="auto">
            <a:xfrm rot="10664528">
              <a:off x="2044" y="2552"/>
              <a:ext cx="384" cy="960"/>
            </a:xfrm>
            <a:prstGeom prst="curvedLeftArrow">
              <a:avLst>
                <a:gd name="adj1" fmla="val 50000"/>
                <a:gd name="adj2" fmla="val 10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5" name="AutoShape 14">
              <a:extLst>
                <a:ext uri="{FF2B5EF4-FFF2-40B4-BE49-F238E27FC236}">
                  <a16:creationId xmlns:a16="http://schemas.microsoft.com/office/drawing/2014/main" id="{53DBB3F7-0EE4-4F37-B616-98FF2D93AB9D}"/>
                </a:ext>
              </a:extLst>
            </p:cNvPr>
            <p:cNvSpPr>
              <a:spLocks noChangeArrowheads="1"/>
            </p:cNvSpPr>
            <p:nvPr/>
          </p:nvSpPr>
          <p:spPr bwMode="auto">
            <a:xfrm rot="-10935472">
              <a:off x="1680" y="2304"/>
              <a:ext cx="336" cy="1104"/>
            </a:xfrm>
            <a:prstGeom prst="curvedLeftArrow">
              <a:avLst>
                <a:gd name="adj1" fmla="val 65714"/>
                <a:gd name="adj2" fmla="val 131429"/>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6" name="AutoShape 15">
              <a:extLst>
                <a:ext uri="{FF2B5EF4-FFF2-40B4-BE49-F238E27FC236}">
                  <a16:creationId xmlns:a16="http://schemas.microsoft.com/office/drawing/2014/main" id="{32425012-789A-461F-9B47-93765FAB2FCE}"/>
                </a:ext>
              </a:extLst>
            </p:cNvPr>
            <p:cNvSpPr>
              <a:spLocks noChangeArrowheads="1"/>
            </p:cNvSpPr>
            <p:nvPr/>
          </p:nvSpPr>
          <p:spPr bwMode="auto">
            <a:xfrm rot="-10935472">
              <a:off x="1296" y="1968"/>
              <a:ext cx="384" cy="960"/>
            </a:xfrm>
            <a:prstGeom prst="curvedLeftArrow">
              <a:avLst>
                <a:gd name="adj1" fmla="val 50000"/>
                <a:gd name="adj2" fmla="val 10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17" name="Rectangle 2">
            <a:extLst>
              <a:ext uri="{FF2B5EF4-FFF2-40B4-BE49-F238E27FC236}">
                <a16:creationId xmlns:a16="http://schemas.microsoft.com/office/drawing/2014/main" id="{ACFE7806-D7AD-4E2E-AD7A-957B3ABB8297}"/>
              </a:ext>
            </a:extLst>
          </p:cNvPr>
          <p:cNvSpPr>
            <a:spLocks noGrp="1" noChangeArrowheads="1"/>
          </p:cNvSpPr>
          <p:nvPr>
            <p:ph type="title"/>
          </p:nvPr>
        </p:nvSpPr>
        <p:spPr>
          <a:xfrm>
            <a:off x="504819" y="0"/>
            <a:ext cx="8229600" cy="1143000"/>
          </a:xfrm>
        </p:spPr>
        <p:txBody>
          <a:bodyPr>
            <a:normAutofit/>
          </a:bodyPr>
          <a:lstStyle/>
          <a:p>
            <a:r>
              <a:rPr lang="en-US" sz="4000" dirty="0"/>
              <a:t>Environments of a Firm</a:t>
            </a:r>
          </a:p>
        </p:txBody>
      </p:sp>
    </p:spTree>
    <p:extLst>
      <p:ext uri="{BB962C8B-B14F-4D97-AF65-F5344CB8AC3E}">
        <p14:creationId xmlns:p14="http://schemas.microsoft.com/office/powerpoint/2010/main" val="53412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8D290-FE48-4DCA-4466-52A0F492F617}"/>
              </a:ext>
            </a:extLst>
          </p:cNvPr>
          <p:cNvSpPr>
            <a:spLocks noGrp="1"/>
          </p:cNvSpPr>
          <p:nvPr>
            <p:ph type="title"/>
          </p:nvPr>
        </p:nvSpPr>
        <p:spPr>
          <a:xfrm>
            <a:off x="1295703" y="1828800"/>
            <a:ext cx="9971011" cy="2122714"/>
          </a:xfrm>
        </p:spPr>
        <p:txBody>
          <a:bodyPr>
            <a:normAutofit/>
          </a:bodyPr>
          <a:lstStyle/>
          <a:p>
            <a:r>
              <a:rPr lang="en-US" dirty="0"/>
              <a:t>What environmental </a:t>
            </a:r>
            <a:r>
              <a:rPr lang="en-US" sz="2800" dirty="0"/>
              <a:t>analyses</a:t>
            </a:r>
            <a:r>
              <a:rPr lang="en-US" dirty="0"/>
              <a:t> have you studied thus far?</a:t>
            </a:r>
          </a:p>
        </p:txBody>
      </p:sp>
    </p:spTree>
    <p:extLst>
      <p:ext uri="{BB962C8B-B14F-4D97-AF65-F5344CB8AC3E}">
        <p14:creationId xmlns:p14="http://schemas.microsoft.com/office/powerpoint/2010/main" val="2214807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1076960" y="170598"/>
            <a:ext cx="8854440" cy="905301"/>
          </a:xfrm>
        </p:spPr>
        <p:txBody>
          <a:bodyPr>
            <a:normAutofit fontScale="90000"/>
          </a:bodyPr>
          <a:lstStyle/>
          <a:p>
            <a:r>
              <a:rPr lang="en-US" sz="4400" dirty="0"/>
              <a:t>The Macroeconomic Environment</a:t>
            </a:r>
          </a:p>
        </p:txBody>
      </p:sp>
      <p:sp>
        <p:nvSpPr>
          <p:cNvPr id="234500" name="Rectangle 4"/>
          <p:cNvSpPr>
            <a:spLocks noChangeArrowheads="1"/>
          </p:cNvSpPr>
          <p:nvPr/>
        </p:nvSpPr>
        <p:spPr bwMode="auto">
          <a:xfrm>
            <a:off x="8671560" y="3282746"/>
            <a:ext cx="1905000" cy="609600"/>
          </a:xfrm>
          <a:prstGeom prst="rect">
            <a:avLst/>
          </a:prstGeom>
          <a:noFill/>
          <a:ln w="12700">
            <a:noFill/>
            <a:miter lim="800000"/>
            <a:headEnd/>
            <a:tailEnd/>
          </a:ln>
          <a:effectLst/>
        </p:spPr>
        <p:txBody>
          <a:bodyPr lIns="90488" tIns="44450" rIns="90488" bIns="44450"/>
          <a:lstStyle/>
          <a:p>
            <a:pPr marL="342900" indent="-342900" eaLnBrk="0" hangingPunct="0">
              <a:spcBef>
                <a:spcPct val="20000"/>
              </a:spcBef>
              <a:buClr>
                <a:srgbClr val="FF6633"/>
              </a:buClr>
            </a:pPr>
            <a:r>
              <a:rPr lang="en-US" sz="2800" dirty="0">
                <a:effectLst>
                  <a:outerShdw blurRad="38100" dist="38100" dir="2700000" algn="tl">
                    <a:srgbClr val="C0C0C0"/>
                  </a:outerShdw>
                </a:effectLst>
                <a:latin typeface="Arial Rounded MT Bold" pitchFamily="34" charset="0"/>
              </a:rPr>
              <a:t>Economic</a:t>
            </a:r>
          </a:p>
        </p:txBody>
      </p:sp>
      <p:sp>
        <p:nvSpPr>
          <p:cNvPr id="234501" name="Rectangle 5"/>
          <p:cNvSpPr>
            <a:spLocks noChangeArrowheads="1"/>
          </p:cNvSpPr>
          <p:nvPr/>
        </p:nvSpPr>
        <p:spPr bwMode="auto">
          <a:xfrm>
            <a:off x="8190076" y="1896473"/>
            <a:ext cx="2981007" cy="533400"/>
          </a:xfrm>
          <a:prstGeom prst="rect">
            <a:avLst/>
          </a:prstGeom>
          <a:noFill/>
          <a:ln w="12700">
            <a:noFill/>
            <a:miter lim="800000"/>
            <a:headEnd/>
            <a:tailEnd/>
          </a:ln>
          <a:effectLst/>
        </p:spPr>
        <p:txBody>
          <a:bodyPr lIns="90488" tIns="44450" rIns="90488" bIns="44450"/>
          <a:lstStyle/>
          <a:p>
            <a:pPr marL="342900" indent="-342900" eaLnBrk="0" hangingPunct="0">
              <a:spcBef>
                <a:spcPct val="20000"/>
              </a:spcBef>
              <a:buClr>
                <a:srgbClr val="FF6633"/>
              </a:buClr>
            </a:pPr>
            <a:r>
              <a:rPr lang="en-US" sz="2800" dirty="0">
                <a:latin typeface="Arial Rounded MT Bold" pitchFamily="34" charset="0"/>
              </a:rPr>
              <a:t>Political-Legal</a:t>
            </a:r>
          </a:p>
        </p:txBody>
      </p:sp>
      <p:sp>
        <p:nvSpPr>
          <p:cNvPr id="234502" name="Rectangle 6"/>
          <p:cNvSpPr>
            <a:spLocks noChangeArrowheads="1"/>
          </p:cNvSpPr>
          <p:nvPr/>
        </p:nvSpPr>
        <p:spPr bwMode="auto">
          <a:xfrm>
            <a:off x="884236" y="1729098"/>
            <a:ext cx="2590800" cy="685800"/>
          </a:xfrm>
          <a:prstGeom prst="rect">
            <a:avLst/>
          </a:prstGeom>
          <a:noFill/>
          <a:ln w="12700">
            <a:noFill/>
            <a:miter lim="800000"/>
            <a:headEnd/>
            <a:tailEnd/>
          </a:ln>
          <a:effectLst/>
        </p:spPr>
        <p:txBody>
          <a:bodyPr lIns="90488" tIns="44450" rIns="90488" bIns="44450"/>
          <a:lstStyle/>
          <a:p>
            <a:pPr marL="342900" indent="-342900" eaLnBrk="0" hangingPunct="0">
              <a:spcBef>
                <a:spcPct val="20000"/>
              </a:spcBef>
              <a:buClr>
                <a:srgbClr val="FF6633"/>
              </a:buClr>
            </a:pPr>
            <a:r>
              <a:rPr lang="en-US" sz="2800" dirty="0">
                <a:latin typeface="Arial Rounded MT Bold" pitchFamily="34" charset="0"/>
              </a:rPr>
              <a:t>Demographic</a:t>
            </a:r>
          </a:p>
        </p:txBody>
      </p:sp>
      <p:sp>
        <p:nvSpPr>
          <p:cNvPr id="234503" name="Rectangle 7"/>
          <p:cNvSpPr>
            <a:spLocks noChangeArrowheads="1"/>
          </p:cNvSpPr>
          <p:nvPr/>
        </p:nvSpPr>
        <p:spPr bwMode="auto">
          <a:xfrm>
            <a:off x="884236" y="3183038"/>
            <a:ext cx="2514600" cy="685800"/>
          </a:xfrm>
          <a:prstGeom prst="rect">
            <a:avLst/>
          </a:prstGeom>
          <a:noFill/>
          <a:ln w="12700">
            <a:noFill/>
            <a:miter lim="800000"/>
            <a:headEnd/>
            <a:tailEnd/>
          </a:ln>
          <a:effectLst/>
        </p:spPr>
        <p:txBody>
          <a:bodyPr lIns="90488" tIns="44450" rIns="90488" bIns="44450"/>
          <a:lstStyle/>
          <a:p>
            <a:pPr marL="342900" indent="-342900" eaLnBrk="0" hangingPunct="0">
              <a:spcBef>
                <a:spcPct val="20000"/>
              </a:spcBef>
              <a:buClr>
                <a:srgbClr val="FF6633"/>
              </a:buClr>
            </a:pPr>
            <a:r>
              <a:rPr lang="en-US" sz="2800" dirty="0">
                <a:latin typeface="Arial Rounded MT Bold" pitchFamily="34" charset="0"/>
              </a:rPr>
              <a:t>Sociocultural</a:t>
            </a:r>
          </a:p>
        </p:txBody>
      </p:sp>
      <p:sp>
        <p:nvSpPr>
          <p:cNvPr id="234504" name="Rectangle 8"/>
          <p:cNvSpPr>
            <a:spLocks noChangeArrowheads="1"/>
          </p:cNvSpPr>
          <p:nvPr/>
        </p:nvSpPr>
        <p:spPr bwMode="auto">
          <a:xfrm>
            <a:off x="884236" y="4800600"/>
            <a:ext cx="2743200" cy="533400"/>
          </a:xfrm>
          <a:prstGeom prst="rect">
            <a:avLst/>
          </a:prstGeom>
          <a:noFill/>
          <a:ln w="12700">
            <a:noFill/>
            <a:miter lim="800000"/>
            <a:headEnd/>
            <a:tailEnd/>
          </a:ln>
          <a:effectLst/>
        </p:spPr>
        <p:txBody>
          <a:bodyPr lIns="90488" tIns="44450" rIns="90488" bIns="44450"/>
          <a:lstStyle/>
          <a:p>
            <a:pPr marL="342900" indent="-342900">
              <a:spcBef>
                <a:spcPct val="20000"/>
              </a:spcBef>
              <a:buClr>
                <a:schemeClr val="tx2"/>
              </a:buClr>
              <a:buSzPct val="70000"/>
            </a:pPr>
            <a:r>
              <a:rPr lang="en-US" sz="2800" dirty="0">
                <a:latin typeface="Arial Rounded MT Bold" pitchFamily="34" charset="0"/>
                <a:cs typeface="Arial" charset="0"/>
              </a:rPr>
              <a:t>Technologica</a:t>
            </a:r>
            <a:r>
              <a:rPr lang="en-US" sz="3000" dirty="0">
                <a:latin typeface="Arial Rounded MT Bold" pitchFamily="34" charset="0"/>
                <a:cs typeface="Arial" charset="0"/>
              </a:rPr>
              <a:t>l</a:t>
            </a:r>
          </a:p>
        </p:txBody>
      </p:sp>
      <p:sp>
        <p:nvSpPr>
          <p:cNvPr id="234505" name="Rectangle 9"/>
          <p:cNvSpPr>
            <a:spLocks noChangeArrowheads="1"/>
          </p:cNvSpPr>
          <p:nvPr/>
        </p:nvSpPr>
        <p:spPr bwMode="auto">
          <a:xfrm>
            <a:off x="8996843" y="4745219"/>
            <a:ext cx="2133600" cy="533400"/>
          </a:xfrm>
          <a:prstGeom prst="rect">
            <a:avLst/>
          </a:prstGeom>
          <a:noFill/>
          <a:ln w="12700">
            <a:noFill/>
            <a:miter lim="800000"/>
            <a:headEnd/>
            <a:tailEnd/>
          </a:ln>
          <a:effectLst/>
        </p:spPr>
        <p:txBody>
          <a:bodyPr lIns="90488" tIns="44450" rIns="90488" bIns="44450"/>
          <a:lstStyle/>
          <a:p>
            <a:pPr marL="342900" indent="-342900">
              <a:spcBef>
                <a:spcPct val="20000"/>
              </a:spcBef>
              <a:buClr>
                <a:schemeClr val="tx2"/>
              </a:buClr>
              <a:buSzPct val="70000"/>
            </a:pPr>
            <a:r>
              <a:rPr lang="en-US" sz="2800" dirty="0">
                <a:latin typeface="Arial Rounded MT Bold" pitchFamily="34" charset="0"/>
                <a:cs typeface="Arial" charset="0"/>
              </a:rPr>
              <a:t>Global</a:t>
            </a:r>
          </a:p>
        </p:txBody>
      </p:sp>
      <p:sp>
        <p:nvSpPr>
          <p:cNvPr id="12" name="Rectangle 9"/>
          <p:cNvSpPr>
            <a:spLocks noChangeArrowheads="1"/>
          </p:cNvSpPr>
          <p:nvPr/>
        </p:nvSpPr>
        <p:spPr bwMode="auto">
          <a:xfrm>
            <a:off x="4958080" y="5481963"/>
            <a:ext cx="2133600" cy="533400"/>
          </a:xfrm>
          <a:prstGeom prst="rect">
            <a:avLst/>
          </a:prstGeom>
          <a:noFill/>
          <a:ln w="12700">
            <a:noFill/>
            <a:miter lim="800000"/>
            <a:headEnd/>
            <a:tailEnd/>
          </a:ln>
          <a:effectLst/>
        </p:spPr>
        <p:txBody>
          <a:bodyPr lIns="90488" tIns="44450" rIns="90488" bIns="44450"/>
          <a:lstStyle/>
          <a:p>
            <a:pPr marL="342900" indent="-342900">
              <a:spcBef>
                <a:spcPct val="20000"/>
              </a:spcBef>
              <a:buClr>
                <a:schemeClr val="tx2"/>
              </a:buClr>
              <a:buSzPct val="70000"/>
            </a:pPr>
            <a:r>
              <a:rPr lang="en-US" sz="2800" dirty="0">
                <a:latin typeface="Arial Rounded MT Bold" pitchFamily="34" charset="0"/>
                <a:cs typeface="Arial" charset="0"/>
              </a:rPr>
              <a:t>Physical</a:t>
            </a:r>
          </a:p>
        </p:txBody>
      </p:sp>
      <p:pic>
        <p:nvPicPr>
          <p:cNvPr id="3074" name="Picture 2" descr="Earth globe isolated on white background Vector Image">
            <a:extLst>
              <a:ext uri="{FF2B5EF4-FFF2-40B4-BE49-F238E27FC236}">
                <a16:creationId xmlns:a16="http://schemas.microsoft.com/office/drawing/2014/main" id="{7B985402-ABB0-48C9-A4ED-5D08018958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53" t="11777" r="11680" b="19556"/>
          <a:stretch/>
        </p:blipFill>
        <p:spPr bwMode="auto">
          <a:xfrm>
            <a:off x="3743485" y="1424999"/>
            <a:ext cx="4101942" cy="38536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39467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5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45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45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450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450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45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0" grpId="0"/>
      <p:bldP spid="234501" grpId="0"/>
      <p:bldP spid="234502" grpId="0"/>
      <p:bldP spid="234503" grpId="0"/>
      <p:bldP spid="234504" grpId="0"/>
      <p:bldP spid="234505"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6560" y="0"/>
            <a:ext cx="9993331" cy="1143000"/>
          </a:xfrm>
        </p:spPr>
        <p:txBody>
          <a:bodyPr anchor="ctr">
            <a:normAutofit/>
          </a:bodyPr>
          <a:lstStyle/>
          <a:p>
            <a:r>
              <a:rPr lang="en-US" altLang="zh-CN" sz="4000" dirty="0"/>
              <a:t>Aspects of the General Environment</a:t>
            </a:r>
            <a:endParaRPr lang="en-GB" sz="4000" dirty="0"/>
          </a:p>
        </p:txBody>
      </p:sp>
      <p:sp>
        <p:nvSpPr>
          <p:cNvPr id="7" name="Rectangle 3">
            <a:extLst>
              <a:ext uri="{FF2B5EF4-FFF2-40B4-BE49-F238E27FC236}">
                <a16:creationId xmlns:a16="http://schemas.microsoft.com/office/drawing/2014/main" id="{DD20F450-46D4-4F3B-9367-8A9241D24ACD}"/>
              </a:ext>
            </a:extLst>
          </p:cNvPr>
          <p:cNvSpPr txBox="1">
            <a:spLocks noChangeArrowheads="1"/>
          </p:cNvSpPr>
          <p:nvPr/>
        </p:nvSpPr>
        <p:spPr>
          <a:xfrm>
            <a:off x="542726" y="1229056"/>
            <a:ext cx="4953834" cy="5385103"/>
          </a:xfrm>
          <a:prstGeom prst="rect">
            <a:avLst/>
          </a:prstGeom>
        </p:spPr>
        <p:txBody>
          <a:bodyPr>
            <a:normAutofit fontScale="92500"/>
          </a:bodyPr>
          <a:lstStyle>
            <a:lvl1pPr marL="457189" indent="-457189" algn="l" defTabSz="609585" rtl="0" eaLnBrk="1" latinLnBrk="0" hangingPunct="1">
              <a:spcBef>
                <a:spcPct val="20000"/>
              </a:spcBef>
              <a:buFontTx/>
              <a:buBlip>
                <a:blip r:embed="rId2"/>
              </a:buBlip>
              <a:defRPr sz="2400" kern="1200">
                <a:solidFill>
                  <a:schemeClr val="tx2">
                    <a:lumMod val="50000"/>
                  </a:schemeClr>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1867" kern="1200">
                <a:solidFill>
                  <a:schemeClr val="tx2">
                    <a:lumMod val="50000"/>
                  </a:schemeClr>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a:lnSpc>
                <a:spcPct val="90000"/>
              </a:lnSpc>
            </a:pPr>
            <a:r>
              <a:rPr lang="en-US" sz="2600" i="1" dirty="0">
                <a:hlinkClick r:id="rId3"/>
              </a:rPr>
              <a:t>Political/legal</a:t>
            </a:r>
            <a:endParaRPr lang="en-US" sz="2600" i="1" dirty="0"/>
          </a:p>
          <a:p>
            <a:pPr lvl="1">
              <a:lnSpc>
                <a:spcPct val="90000"/>
              </a:lnSpc>
            </a:pPr>
            <a:r>
              <a:rPr lang="en-US" sz="2200" dirty="0"/>
              <a:t>Attention and resources from government</a:t>
            </a:r>
          </a:p>
          <a:p>
            <a:pPr lvl="1">
              <a:lnSpc>
                <a:spcPct val="90000"/>
              </a:lnSpc>
            </a:pPr>
            <a:r>
              <a:rPr lang="en-US" sz="2200" dirty="0"/>
              <a:t>Law and regulations guiding competition</a:t>
            </a:r>
          </a:p>
          <a:p>
            <a:pPr>
              <a:lnSpc>
                <a:spcPct val="90000"/>
              </a:lnSpc>
            </a:pPr>
            <a:r>
              <a:rPr lang="en-US" sz="2600" i="1" dirty="0">
                <a:hlinkClick r:id="rId4"/>
              </a:rPr>
              <a:t>Economic</a:t>
            </a:r>
            <a:endParaRPr lang="en-US" sz="2600" i="1" dirty="0"/>
          </a:p>
          <a:p>
            <a:pPr lvl="1">
              <a:lnSpc>
                <a:spcPct val="90000"/>
              </a:lnSpc>
            </a:pPr>
            <a:r>
              <a:rPr lang="en-US" sz="2200" dirty="0"/>
              <a:t>Nature and direction of macroeconomy</a:t>
            </a:r>
            <a:endParaRPr lang="en-US" sz="2600" i="1" dirty="0">
              <a:hlinkClick r:id="rId5"/>
            </a:endParaRPr>
          </a:p>
          <a:p>
            <a:pPr>
              <a:lnSpc>
                <a:spcPct val="90000"/>
              </a:lnSpc>
            </a:pPr>
            <a:r>
              <a:rPr lang="en-US" sz="2600" i="1" dirty="0">
                <a:hlinkClick r:id="rId6"/>
              </a:rPr>
              <a:t>Sociocultural</a:t>
            </a:r>
            <a:endParaRPr lang="en-US" sz="2600" i="1" dirty="0"/>
          </a:p>
          <a:p>
            <a:pPr lvl="1">
              <a:lnSpc>
                <a:spcPct val="90000"/>
              </a:lnSpc>
            </a:pPr>
            <a:r>
              <a:rPr lang="en-US" sz="2200" dirty="0"/>
              <a:t>Social attitudes, cultural values</a:t>
            </a:r>
          </a:p>
          <a:p>
            <a:pPr>
              <a:lnSpc>
                <a:spcPct val="90000"/>
              </a:lnSpc>
            </a:pPr>
            <a:r>
              <a:rPr lang="en-US" sz="2600" i="1" dirty="0">
                <a:hlinkClick r:id="rId7"/>
              </a:rPr>
              <a:t>Technological</a:t>
            </a:r>
            <a:endParaRPr lang="en-US" sz="2600" i="1" dirty="0"/>
          </a:p>
          <a:p>
            <a:pPr lvl="1">
              <a:lnSpc>
                <a:spcPct val="90000"/>
              </a:lnSpc>
            </a:pPr>
            <a:r>
              <a:rPr lang="en-US" sz="2200" dirty="0"/>
              <a:t>Institutions and activities that effect knowledge creation</a:t>
            </a:r>
          </a:p>
          <a:p>
            <a:pPr lvl="1">
              <a:lnSpc>
                <a:spcPct val="90000"/>
              </a:lnSpc>
            </a:pPr>
            <a:r>
              <a:rPr lang="en-US" sz="2200" dirty="0"/>
              <a:t>Translation of new knowledge into new products and processes</a:t>
            </a:r>
          </a:p>
          <a:p>
            <a:pPr lvl="1">
              <a:lnSpc>
                <a:spcPct val="90000"/>
              </a:lnSpc>
            </a:pPr>
            <a:endParaRPr lang="en-US" sz="2200" dirty="0"/>
          </a:p>
        </p:txBody>
      </p:sp>
      <p:sp>
        <p:nvSpPr>
          <p:cNvPr id="8" name="Rectangle 4">
            <a:extLst>
              <a:ext uri="{FF2B5EF4-FFF2-40B4-BE49-F238E27FC236}">
                <a16:creationId xmlns:a16="http://schemas.microsoft.com/office/drawing/2014/main" id="{0A2FBE29-AB24-45E0-8324-027CB76D50E5}"/>
              </a:ext>
            </a:extLst>
          </p:cNvPr>
          <p:cNvSpPr txBox="1">
            <a:spLocks noChangeArrowheads="1"/>
          </p:cNvSpPr>
          <p:nvPr/>
        </p:nvSpPr>
        <p:spPr>
          <a:xfrm>
            <a:off x="5892800" y="1331035"/>
            <a:ext cx="4953834" cy="5384724"/>
          </a:xfrm>
          <a:prstGeom prst="rect">
            <a:avLst/>
          </a:prstGeom>
        </p:spPr>
        <p:txBody>
          <a:bodyPr>
            <a:normAutofit/>
          </a:bodyPr>
          <a:lstStyle>
            <a:lvl1pPr marL="457189" indent="-457189" algn="l" defTabSz="609585" rtl="0" eaLnBrk="1" latinLnBrk="0" hangingPunct="1">
              <a:spcBef>
                <a:spcPct val="20000"/>
              </a:spcBef>
              <a:buFontTx/>
              <a:buBlip>
                <a:blip r:embed="rId2"/>
              </a:buBlip>
              <a:defRPr sz="2400" kern="1200">
                <a:solidFill>
                  <a:schemeClr val="tx2">
                    <a:lumMod val="50000"/>
                  </a:schemeClr>
                </a:solidFill>
                <a:latin typeface="Arial" panose="020B0604020202020204" pitchFamily="34" charset="0"/>
                <a:ea typeface="+mn-ea"/>
                <a:cs typeface="Arial" panose="020B0604020202020204" pitchFamily="34" charset="0"/>
              </a:defRPr>
            </a:lvl1pPr>
            <a:lvl2pPr marL="990575" indent="-380990" algn="l" defTabSz="609585" rtl="0" eaLnBrk="1" latinLnBrk="0" hangingPunct="1">
              <a:spcBef>
                <a:spcPct val="20000"/>
              </a:spcBef>
              <a:buFont typeface="Arial"/>
              <a:buChar char="–"/>
              <a:defRPr sz="2133" kern="1200">
                <a:solidFill>
                  <a:schemeClr val="tx2">
                    <a:lumMod val="50000"/>
                  </a:schemeClr>
                </a:solidFill>
                <a:latin typeface="Arial" panose="020B0604020202020204" pitchFamily="34" charset="0"/>
                <a:ea typeface="+mn-ea"/>
                <a:cs typeface="Arial" panose="020B0604020202020204" pitchFamily="34" charset="0"/>
              </a:defRPr>
            </a:lvl2pPr>
            <a:lvl3pPr marL="1523962" indent="-304792" algn="l" defTabSz="609585" rtl="0" eaLnBrk="1" latinLnBrk="0" hangingPunct="1">
              <a:spcBef>
                <a:spcPct val="20000"/>
              </a:spcBef>
              <a:buFont typeface="Arial"/>
              <a:buChar char="•"/>
              <a:defRPr sz="1867" kern="1200">
                <a:solidFill>
                  <a:schemeClr val="tx2">
                    <a:lumMod val="50000"/>
                  </a:schemeClr>
                </a:solidFill>
                <a:latin typeface="Arial" panose="020B0604020202020204" pitchFamily="34" charset="0"/>
                <a:ea typeface="+mn-ea"/>
                <a:cs typeface="Arial" panose="020B0604020202020204" pitchFamily="34" charset="0"/>
              </a:defRPr>
            </a:lvl3pPr>
            <a:lvl4pPr marL="2133547"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743131" indent="-304792" algn="l" defTabSz="609585" rtl="0" eaLnBrk="1" latinLnBrk="0" hangingPunct="1">
              <a:spcBef>
                <a:spcPct val="20000"/>
              </a:spcBef>
              <a:buFont typeface="Arial"/>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a:lnSpc>
                <a:spcPct val="90000"/>
              </a:lnSpc>
            </a:pPr>
            <a:r>
              <a:rPr lang="en-US" sz="2600" i="1" dirty="0">
                <a:hlinkClick r:id="rId5"/>
              </a:rPr>
              <a:t>Demographic</a:t>
            </a:r>
            <a:endParaRPr lang="en-US" sz="2600" i="1" dirty="0"/>
          </a:p>
          <a:p>
            <a:pPr lvl="1">
              <a:lnSpc>
                <a:spcPct val="90000"/>
              </a:lnSpc>
            </a:pPr>
            <a:r>
              <a:rPr lang="en-US" sz="2200" dirty="0"/>
              <a:t>Population size, age structure, geographic mix, ethnicity, income distribution</a:t>
            </a:r>
            <a:endParaRPr lang="en-US" sz="2600" i="1" dirty="0">
              <a:hlinkClick r:id="rId8"/>
            </a:endParaRPr>
          </a:p>
          <a:p>
            <a:pPr>
              <a:lnSpc>
                <a:spcPct val="90000"/>
              </a:lnSpc>
            </a:pPr>
            <a:r>
              <a:rPr lang="en-US" sz="2600" i="1" dirty="0">
                <a:hlinkClick r:id="rId8"/>
              </a:rPr>
              <a:t>Global</a:t>
            </a:r>
            <a:endParaRPr lang="en-US" sz="2600" i="1" dirty="0"/>
          </a:p>
          <a:p>
            <a:pPr lvl="1">
              <a:lnSpc>
                <a:spcPct val="90000"/>
              </a:lnSpc>
            </a:pPr>
            <a:r>
              <a:rPr lang="en-US" sz="2200" dirty="0"/>
              <a:t>Trends and events in other 6 segments that are international in scope</a:t>
            </a:r>
          </a:p>
          <a:p>
            <a:pPr>
              <a:lnSpc>
                <a:spcPct val="90000"/>
              </a:lnSpc>
            </a:pPr>
            <a:r>
              <a:rPr lang="en-US" sz="2600" i="1" dirty="0">
                <a:hlinkClick r:id="rId9"/>
              </a:rPr>
              <a:t>Physical</a:t>
            </a:r>
            <a:endParaRPr lang="en-US" sz="2600" i="1" dirty="0"/>
          </a:p>
          <a:p>
            <a:pPr lvl="1">
              <a:lnSpc>
                <a:spcPct val="90000"/>
              </a:lnSpc>
            </a:pPr>
            <a:r>
              <a:rPr lang="en-US" sz="2200" dirty="0"/>
              <a:t>Impact of business activities on the ecological environment</a:t>
            </a:r>
          </a:p>
          <a:p>
            <a:pPr lvl="1">
              <a:lnSpc>
                <a:spcPct val="90000"/>
              </a:lnSpc>
            </a:pPr>
            <a:endParaRPr lang="en-US" sz="2200" dirty="0"/>
          </a:p>
        </p:txBody>
      </p:sp>
    </p:spTree>
    <p:extLst>
      <p:ext uri="{BB962C8B-B14F-4D97-AF65-F5344CB8AC3E}">
        <p14:creationId xmlns:p14="http://schemas.microsoft.com/office/powerpoint/2010/main" val="41355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7">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8">
                                            <p:txEl>
                                              <p:pRg st="2" end="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499"/>
                                          </p:stCondLst>
                                        </p:cTn>
                                        <p:tgtEl>
                                          <p:spTgt spid="8">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499"/>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8"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77991-7319-4634-9F6C-319F2D6183FB}"/>
              </a:ext>
            </a:extLst>
          </p:cNvPr>
          <p:cNvSpPr>
            <a:spLocks noGrp="1"/>
          </p:cNvSpPr>
          <p:nvPr>
            <p:ph type="title"/>
          </p:nvPr>
        </p:nvSpPr>
        <p:spPr>
          <a:xfrm>
            <a:off x="609600" y="275167"/>
            <a:ext cx="9993331" cy="1143000"/>
          </a:xfrm>
        </p:spPr>
        <p:txBody>
          <a:bodyPr anchor="ctr">
            <a:normAutofit/>
          </a:bodyPr>
          <a:lstStyle/>
          <a:p>
            <a:r>
              <a:rPr lang="en-US" altLang="zh-CN"/>
              <a:t>The Role of the Macro Environment</a:t>
            </a:r>
            <a:endParaRPr lang="zh-CN" altLang="en-US"/>
          </a:p>
        </p:txBody>
      </p:sp>
      <p:sp>
        <p:nvSpPr>
          <p:cNvPr id="3" name="Content Placeholder 2">
            <a:extLst>
              <a:ext uri="{FF2B5EF4-FFF2-40B4-BE49-F238E27FC236}">
                <a16:creationId xmlns:a16="http://schemas.microsoft.com/office/drawing/2014/main" id="{509EF230-7D1D-4EA3-91EC-DF16BB0716C2}"/>
              </a:ext>
            </a:extLst>
          </p:cNvPr>
          <p:cNvSpPr>
            <a:spLocks noGrp="1"/>
          </p:cNvSpPr>
          <p:nvPr>
            <p:ph sz="half" idx="1"/>
          </p:nvPr>
        </p:nvSpPr>
        <p:spPr>
          <a:xfrm>
            <a:off x="5823170" y="1665164"/>
            <a:ext cx="5943260" cy="4865299"/>
          </a:xfrm>
        </p:spPr>
        <p:txBody>
          <a:bodyPr>
            <a:normAutofit/>
          </a:bodyPr>
          <a:lstStyle/>
          <a:p>
            <a:pPr marL="0" indent="0">
              <a:buNone/>
            </a:pPr>
            <a:r>
              <a:rPr lang="en-US" altLang="zh-CN" sz="2800" dirty="0"/>
              <a:t>Changes in one or more aspects of the macro environment </a:t>
            </a:r>
            <a:r>
              <a:rPr lang="en-US" altLang="zh-CN" sz="2800" b="1" dirty="0"/>
              <a:t>can</a:t>
            </a:r>
            <a:r>
              <a:rPr lang="en-US" altLang="zh-CN" sz="2800" dirty="0"/>
              <a:t> affect:</a:t>
            </a:r>
          </a:p>
          <a:p>
            <a:pPr marL="0" indent="0">
              <a:buNone/>
            </a:pPr>
            <a:endParaRPr lang="en-US" altLang="zh-CN" sz="2800" dirty="0"/>
          </a:p>
          <a:p>
            <a:r>
              <a:rPr lang="en-US" altLang="zh-CN" sz="2800" dirty="0"/>
              <a:t>The performance of </a:t>
            </a:r>
            <a:r>
              <a:rPr lang="en-US" altLang="zh-CN" sz="2800" u="sng" dirty="0"/>
              <a:t>all</a:t>
            </a:r>
            <a:r>
              <a:rPr lang="en-US" altLang="zh-CN" sz="2800" dirty="0"/>
              <a:t> industries in a country</a:t>
            </a:r>
          </a:p>
          <a:p>
            <a:r>
              <a:rPr lang="en-US" altLang="zh-CN" sz="2800" dirty="0"/>
              <a:t>The competitiveness of </a:t>
            </a:r>
            <a:r>
              <a:rPr lang="en-US" altLang="zh-CN" sz="2800" u="sng" dirty="0"/>
              <a:t>certain industries </a:t>
            </a:r>
            <a:r>
              <a:rPr lang="en-US" altLang="zh-CN" sz="2800" dirty="0"/>
              <a:t>more than others</a:t>
            </a:r>
          </a:p>
        </p:txBody>
      </p:sp>
      <p:grpSp>
        <p:nvGrpSpPr>
          <p:cNvPr id="5" name="Group 3">
            <a:extLst>
              <a:ext uri="{FF2B5EF4-FFF2-40B4-BE49-F238E27FC236}">
                <a16:creationId xmlns:a16="http://schemas.microsoft.com/office/drawing/2014/main" id="{047169BB-BBA9-9F4D-973B-6F8BBE2F52DA}"/>
              </a:ext>
            </a:extLst>
          </p:cNvPr>
          <p:cNvGrpSpPr>
            <a:grpSpLocks/>
          </p:cNvGrpSpPr>
          <p:nvPr/>
        </p:nvGrpSpPr>
        <p:grpSpPr bwMode="auto">
          <a:xfrm>
            <a:off x="609600" y="2217255"/>
            <a:ext cx="4598869" cy="4040446"/>
            <a:chOff x="552" y="1511"/>
            <a:chExt cx="4848" cy="2496"/>
          </a:xfrm>
        </p:grpSpPr>
        <p:sp>
          <p:nvSpPr>
            <p:cNvPr id="6" name="Oval 4">
              <a:extLst>
                <a:ext uri="{FF2B5EF4-FFF2-40B4-BE49-F238E27FC236}">
                  <a16:creationId xmlns:a16="http://schemas.microsoft.com/office/drawing/2014/main" id="{261CF7DD-399F-B34C-A554-55EC1992B74D}"/>
                </a:ext>
              </a:extLst>
            </p:cNvPr>
            <p:cNvSpPr>
              <a:spLocks noChangeArrowheads="1"/>
            </p:cNvSpPr>
            <p:nvPr/>
          </p:nvSpPr>
          <p:spPr bwMode="auto">
            <a:xfrm>
              <a:off x="552" y="1511"/>
              <a:ext cx="4848" cy="2496"/>
            </a:xfrm>
            <a:prstGeom prst="ellipse">
              <a:avLst/>
            </a:prstGeom>
            <a:noFill/>
            <a:ln w="12700">
              <a:solidFill>
                <a:schemeClr val="tx1"/>
              </a:solidFill>
              <a:round/>
              <a:headEnd/>
              <a:tailEnd/>
            </a:ln>
            <a:effectLst/>
          </p:spPr>
          <p:txBody>
            <a:bodyPr wrap="none" anchor="ctr"/>
            <a:lstStyle/>
            <a:p>
              <a:endParaRPr lang="en-US"/>
            </a:p>
          </p:txBody>
        </p:sp>
        <p:sp>
          <p:nvSpPr>
            <p:cNvPr id="7" name="Oval 6">
              <a:extLst>
                <a:ext uri="{FF2B5EF4-FFF2-40B4-BE49-F238E27FC236}">
                  <a16:creationId xmlns:a16="http://schemas.microsoft.com/office/drawing/2014/main" id="{32B3FD2C-14E4-9B4E-9EC4-50740D59E2BF}"/>
                </a:ext>
              </a:extLst>
            </p:cNvPr>
            <p:cNvSpPr>
              <a:spLocks noChangeArrowheads="1"/>
            </p:cNvSpPr>
            <p:nvPr/>
          </p:nvSpPr>
          <p:spPr bwMode="auto">
            <a:xfrm>
              <a:off x="1200" y="2064"/>
              <a:ext cx="3552" cy="1824"/>
            </a:xfrm>
            <a:prstGeom prst="ellipse">
              <a:avLst/>
            </a:prstGeom>
            <a:noFill/>
            <a:ln w="12700">
              <a:solidFill>
                <a:schemeClr val="tx1"/>
              </a:solidFill>
              <a:round/>
              <a:headEnd/>
              <a:tailEnd/>
            </a:ln>
            <a:effectLst/>
          </p:spPr>
          <p:txBody>
            <a:bodyPr wrap="none" anchor="ctr"/>
            <a:lstStyle/>
            <a:p>
              <a:endParaRPr lang="en-US"/>
            </a:p>
          </p:txBody>
        </p:sp>
        <p:sp>
          <p:nvSpPr>
            <p:cNvPr id="8" name="Oval 7">
              <a:extLst>
                <a:ext uri="{FF2B5EF4-FFF2-40B4-BE49-F238E27FC236}">
                  <a16:creationId xmlns:a16="http://schemas.microsoft.com/office/drawing/2014/main" id="{906FCFA7-1989-C841-BDDF-4C8931ABC5E8}"/>
                </a:ext>
              </a:extLst>
            </p:cNvPr>
            <p:cNvSpPr>
              <a:spLocks noChangeArrowheads="1"/>
            </p:cNvSpPr>
            <p:nvPr/>
          </p:nvSpPr>
          <p:spPr bwMode="auto">
            <a:xfrm>
              <a:off x="1632" y="2496"/>
              <a:ext cx="2640" cy="1344"/>
            </a:xfrm>
            <a:prstGeom prst="ellipse">
              <a:avLst/>
            </a:prstGeom>
            <a:noFill/>
            <a:ln w="12700">
              <a:solidFill>
                <a:schemeClr val="tx1"/>
              </a:solidFill>
              <a:round/>
              <a:headEnd/>
              <a:tailEnd/>
            </a:ln>
            <a:effectLst/>
          </p:spPr>
          <p:txBody>
            <a:bodyPr wrap="none" anchor="ctr"/>
            <a:lstStyle/>
            <a:p>
              <a:endParaRPr lang="en-US"/>
            </a:p>
          </p:txBody>
        </p:sp>
        <p:sp>
          <p:nvSpPr>
            <p:cNvPr id="9" name="Oval 8">
              <a:extLst>
                <a:ext uri="{FF2B5EF4-FFF2-40B4-BE49-F238E27FC236}">
                  <a16:creationId xmlns:a16="http://schemas.microsoft.com/office/drawing/2014/main" id="{F5ECB06B-3056-7E42-9A41-B281FE5F619A}"/>
                </a:ext>
              </a:extLst>
            </p:cNvPr>
            <p:cNvSpPr>
              <a:spLocks noChangeArrowheads="1"/>
            </p:cNvSpPr>
            <p:nvPr/>
          </p:nvSpPr>
          <p:spPr bwMode="auto">
            <a:xfrm>
              <a:off x="2592" y="3168"/>
              <a:ext cx="1063" cy="576"/>
            </a:xfrm>
            <a:prstGeom prst="ellipse">
              <a:avLst/>
            </a:prstGeom>
            <a:solidFill>
              <a:schemeClr val="bg1"/>
            </a:solidFill>
            <a:ln w="12700">
              <a:solidFill>
                <a:schemeClr val="tx1"/>
              </a:solidFill>
              <a:round/>
              <a:headEnd/>
              <a:tailEnd/>
            </a:ln>
            <a:effectLst/>
          </p:spPr>
          <p:txBody>
            <a:bodyPr wrap="none" anchor="ctr"/>
            <a:lstStyle/>
            <a:p>
              <a:pPr algn="ctr" eaLnBrk="0" hangingPunct="0"/>
              <a:r>
                <a:rPr lang="en-US" sz="2400" dirty="0">
                  <a:latin typeface="Times New Roman" pitchFamily="18" charset="0"/>
                </a:rPr>
                <a:t>Firm</a:t>
              </a:r>
            </a:p>
          </p:txBody>
        </p:sp>
        <p:sp>
          <p:nvSpPr>
            <p:cNvPr id="10" name="Text Box 8">
              <a:extLst>
                <a:ext uri="{FF2B5EF4-FFF2-40B4-BE49-F238E27FC236}">
                  <a16:creationId xmlns:a16="http://schemas.microsoft.com/office/drawing/2014/main" id="{7592EB82-7CB6-E545-87B4-E5DF931C779C}"/>
                </a:ext>
              </a:extLst>
            </p:cNvPr>
            <p:cNvSpPr txBox="1">
              <a:spLocks noChangeArrowheads="1"/>
            </p:cNvSpPr>
            <p:nvPr/>
          </p:nvSpPr>
          <p:spPr bwMode="auto">
            <a:xfrm>
              <a:off x="2197" y="1719"/>
              <a:ext cx="1597" cy="337"/>
            </a:xfrm>
            <a:prstGeom prst="rect">
              <a:avLst/>
            </a:prstGeom>
            <a:noFill/>
            <a:ln w="9525">
              <a:noFill/>
              <a:miter lim="800000"/>
              <a:headEnd/>
              <a:tailEnd/>
            </a:ln>
            <a:effectLst/>
          </p:spPr>
          <p:txBody>
            <a:bodyPr wrap="none">
              <a:spAutoFit/>
            </a:bodyPr>
            <a:lstStyle/>
            <a:p>
              <a:pPr eaLnBrk="0" hangingPunct="0"/>
              <a:r>
                <a:rPr lang="en-US" b="1" dirty="0">
                  <a:latin typeface="Times New Roman" pitchFamily="18" charset="0"/>
                </a:rPr>
                <a:t>General</a:t>
              </a:r>
            </a:p>
          </p:txBody>
        </p:sp>
        <p:sp>
          <p:nvSpPr>
            <p:cNvPr id="11" name="Text Box 9">
              <a:extLst>
                <a:ext uri="{FF2B5EF4-FFF2-40B4-BE49-F238E27FC236}">
                  <a16:creationId xmlns:a16="http://schemas.microsoft.com/office/drawing/2014/main" id="{CAB3D8E3-8914-B647-B72E-7BB5C3D46B30}"/>
                </a:ext>
              </a:extLst>
            </p:cNvPr>
            <p:cNvSpPr txBox="1">
              <a:spLocks noChangeArrowheads="1"/>
            </p:cNvSpPr>
            <p:nvPr/>
          </p:nvSpPr>
          <p:spPr bwMode="auto">
            <a:xfrm>
              <a:off x="2142" y="2196"/>
              <a:ext cx="756" cy="288"/>
            </a:xfrm>
            <a:prstGeom prst="rect">
              <a:avLst/>
            </a:prstGeom>
            <a:noFill/>
            <a:ln w="9525">
              <a:noFill/>
              <a:miter lim="800000"/>
              <a:headEnd/>
              <a:tailEnd/>
            </a:ln>
            <a:effectLst/>
          </p:spPr>
          <p:txBody>
            <a:bodyPr wrap="none">
              <a:spAutoFit/>
            </a:bodyPr>
            <a:lstStyle/>
            <a:p>
              <a:pPr eaLnBrk="0" hangingPunct="0"/>
              <a:r>
                <a:rPr lang="en-US" sz="2400" dirty="0">
                  <a:latin typeface="Times New Roman" pitchFamily="18" charset="0"/>
                </a:rPr>
                <a:t>Industry</a:t>
              </a:r>
            </a:p>
          </p:txBody>
        </p:sp>
        <p:sp>
          <p:nvSpPr>
            <p:cNvPr id="12" name="Text Box 10">
              <a:extLst>
                <a:ext uri="{FF2B5EF4-FFF2-40B4-BE49-F238E27FC236}">
                  <a16:creationId xmlns:a16="http://schemas.microsoft.com/office/drawing/2014/main" id="{BDAB26AA-58A6-4244-AF5F-266943AB1F6C}"/>
                </a:ext>
              </a:extLst>
            </p:cNvPr>
            <p:cNvSpPr txBox="1">
              <a:spLocks noChangeArrowheads="1"/>
            </p:cNvSpPr>
            <p:nvPr/>
          </p:nvSpPr>
          <p:spPr bwMode="auto">
            <a:xfrm>
              <a:off x="1889" y="2761"/>
              <a:ext cx="1063" cy="288"/>
            </a:xfrm>
            <a:prstGeom prst="rect">
              <a:avLst/>
            </a:prstGeom>
            <a:noFill/>
            <a:ln w="9525">
              <a:noFill/>
              <a:miter lim="800000"/>
              <a:headEnd/>
              <a:tailEnd/>
            </a:ln>
            <a:effectLst/>
          </p:spPr>
          <p:txBody>
            <a:bodyPr wrap="none">
              <a:spAutoFit/>
            </a:bodyPr>
            <a:lstStyle/>
            <a:p>
              <a:pPr eaLnBrk="0" hangingPunct="0"/>
              <a:r>
                <a:rPr lang="en-US" sz="2400" dirty="0">
                  <a:latin typeface="Times New Roman" pitchFamily="18" charset="0"/>
                </a:rPr>
                <a:t>Competitive</a:t>
              </a:r>
            </a:p>
          </p:txBody>
        </p:sp>
      </p:grpSp>
    </p:spTree>
    <p:extLst>
      <p:ext uri="{BB962C8B-B14F-4D97-AF65-F5344CB8AC3E}">
        <p14:creationId xmlns:p14="http://schemas.microsoft.com/office/powerpoint/2010/main" val="6701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F812-9ED1-DA6B-619E-7D9DE97634AF}"/>
            </a:ext>
          </a:extLst>
        </p:cNvPr>
        <p:cNvGrpSpPr/>
        <p:nvPr/>
      </p:nvGrpSpPr>
      <p:grpSpPr>
        <a:xfrm>
          <a:off x="0" y="0"/>
          <a:ext cx="0" cy="0"/>
          <a:chOff x="0" y="0"/>
          <a:chExt cx="0" cy="0"/>
        </a:xfrm>
      </p:grpSpPr>
      <p:pic>
        <p:nvPicPr>
          <p:cNvPr id="1026" name="Picture 2" descr="Creme Cycles - Creme">
            <a:extLst>
              <a:ext uri="{FF2B5EF4-FFF2-40B4-BE49-F238E27FC236}">
                <a16:creationId xmlns:a16="http://schemas.microsoft.com/office/drawing/2014/main" id="{43163CCE-7FEE-16E9-C4AB-6A77DB04A1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4669" y="4099560"/>
            <a:ext cx="4293991" cy="26771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E4B9E7D-7AFB-326B-69A7-1B8A8D2AF53F}"/>
              </a:ext>
            </a:extLst>
          </p:cNvPr>
          <p:cNvSpPr>
            <a:spLocks noGrp="1"/>
          </p:cNvSpPr>
          <p:nvPr>
            <p:ph type="title"/>
          </p:nvPr>
        </p:nvSpPr>
        <p:spPr>
          <a:xfrm>
            <a:off x="482600" y="81280"/>
            <a:ext cx="9993331" cy="1143000"/>
          </a:xfrm>
        </p:spPr>
        <p:txBody>
          <a:bodyPr anchor="ctr">
            <a:normAutofit fontScale="90000"/>
          </a:bodyPr>
          <a:lstStyle/>
          <a:p>
            <a:r>
              <a:rPr lang="en-US" altLang="zh-CN" dirty="0"/>
              <a:t>Exercise: interpreting environmental statistics </a:t>
            </a:r>
            <a:endParaRPr lang="zh-CN" altLang="en-US" dirty="0"/>
          </a:p>
        </p:txBody>
      </p:sp>
      <p:pic>
        <p:nvPicPr>
          <p:cNvPr id="5" name="Picture 2" descr="cphelps1">
            <a:extLst>
              <a:ext uri="{FF2B5EF4-FFF2-40B4-BE49-F238E27FC236}">
                <a16:creationId xmlns:a16="http://schemas.microsoft.com/office/drawing/2014/main" id="{86FDF72F-7E6D-F2CB-1286-FAA19B02B6E4}"/>
              </a:ext>
            </a:extLst>
          </p:cNvPr>
          <p:cNvPicPr>
            <a:picLocks noGrp="1" noChangeAspect="1" noChangeArrowheads="1"/>
          </p:cNvPicPr>
          <p:nvPr>
            <p:ph sz="half" idx="1"/>
          </p:nvPr>
        </p:nvPicPr>
        <p:blipFill>
          <a:blip r:embed="rId3" cstate="email">
            <a:extLst>
              <a:ext uri="{28A0092B-C50C-407E-A947-70E740481C1C}">
                <a14:useLocalDpi xmlns:a14="http://schemas.microsoft.com/office/drawing/2010/main"/>
              </a:ext>
            </a:extLst>
          </a:blip>
          <a:stretch>
            <a:fillRect/>
          </a:stretch>
        </p:blipFill>
        <p:spPr bwMode="auto">
          <a:xfrm>
            <a:off x="274320" y="1371600"/>
            <a:ext cx="6715760" cy="4659020"/>
          </a:xfrm>
          <a:prstGeom prst="rect">
            <a:avLst/>
          </a:prstGeom>
          <a:noFill/>
        </p:spPr>
      </p:pic>
      <p:sp>
        <p:nvSpPr>
          <p:cNvPr id="10" name="Content Placeholder 3">
            <a:extLst>
              <a:ext uri="{FF2B5EF4-FFF2-40B4-BE49-F238E27FC236}">
                <a16:creationId xmlns:a16="http://schemas.microsoft.com/office/drawing/2014/main" id="{1BE3A693-849C-E51E-702F-D4E906BE9B09}"/>
              </a:ext>
            </a:extLst>
          </p:cNvPr>
          <p:cNvSpPr>
            <a:spLocks noGrp="1"/>
          </p:cNvSpPr>
          <p:nvPr>
            <p:ph sz="half" idx="2"/>
          </p:nvPr>
        </p:nvSpPr>
        <p:spPr>
          <a:xfrm>
            <a:off x="7167880" y="1564640"/>
            <a:ext cx="4638040" cy="2819401"/>
          </a:xfrm>
        </p:spPr>
        <p:txBody>
          <a:bodyPr>
            <a:normAutofit/>
          </a:bodyPr>
          <a:lstStyle/>
          <a:p>
            <a:pPr marL="0" indent="0">
              <a:buNone/>
            </a:pPr>
            <a:r>
              <a:rPr lang="en-US" sz="2800" dirty="0"/>
              <a:t>If you were the CEO of a bicycle producer</a:t>
            </a:r>
          </a:p>
          <a:p>
            <a:r>
              <a:rPr lang="en-US" sz="2800" dirty="0"/>
              <a:t>Which age group shall you focus</a:t>
            </a:r>
            <a:r>
              <a:rPr lang="zh-CN" altLang="en-US" sz="2800" dirty="0"/>
              <a:t> </a:t>
            </a:r>
            <a:r>
              <a:rPr lang="en-US" altLang="zh-CN" sz="2800" dirty="0"/>
              <a:t>on</a:t>
            </a:r>
            <a:r>
              <a:rPr lang="en-US" sz="2800" dirty="0"/>
              <a:t>? </a:t>
            </a:r>
          </a:p>
          <a:p>
            <a:r>
              <a:rPr lang="en-US" sz="2800" dirty="0"/>
              <a:t>Why?</a:t>
            </a:r>
          </a:p>
        </p:txBody>
      </p:sp>
    </p:spTree>
    <p:extLst>
      <p:ext uri="{BB962C8B-B14F-4D97-AF65-F5344CB8AC3E}">
        <p14:creationId xmlns:p14="http://schemas.microsoft.com/office/powerpoint/2010/main" val="137581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4276-60B2-7148-4089-1E7A3E36980A}"/>
              </a:ext>
            </a:extLst>
          </p:cNvPr>
          <p:cNvSpPr>
            <a:spLocks noGrp="1"/>
          </p:cNvSpPr>
          <p:nvPr>
            <p:ph type="title"/>
          </p:nvPr>
        </p:nvSpPr>
        <p:spPr/>
        <p:txBody>
          <a:bodyPr>
            <a:normAutofit fontScale="90000"/>
          </a:bodyPr>
          <a:lstStyle/>
          <a:p>
            <a:r>
              <a:rPr lang="en-US" dirty="0"/>
              <a:t>Exercise</a:t>
            </a:r>
            <a:r>
              <a:rPr lang="en-US" b="1" dirty="0"/>
              <a:t>: "TikTok Refugees"</a:t>
            </a:r>
            <a:br>
              <a:rPr lang="en-US" b="1" dirty="0"/>
            </a:br>
            <a:endParaRPr lang="en-US" dirty="0"/>
          </a:p>
        </p:txBody>
      </p:sp>
      <p:sp>
        <p:nvSpPr>
          <p:cNvPr id="3" name="Content Placeholder 2">
            <a:extLst>
              <a:ext uri="{FF2B5EF4-FFF2-40B4-BE49-F238E27FC236}">
                <a16:creationId xmlns:a16="http://schemas.microsoft.com/office/drawing/2014/main" id="{AF5C7B77-117C-90F9-B4D0-A386638E2373}"/>
              </a:ext>
            </a:extLst>
          </p:cNvPr>
          <p:cNvSpPr>
            <a:spLocks noGrp="1"/>
          </p:cNvSpPr>
          <p:nvPr>
            <p:ph sz="half" idx="1"/>
          </p:nvPr>
        </p:nvSpPr>
        <p:spPr>
          <a:xfrm>
            <a:off x="609601" y="1214203"/>
            <a:ext cx="9993330" cy="5091313"/>
          </a:xfrm>
        </p:spPr>
        <p:txBody>
          <a:bodyPr>
            <a:normAutofit/>
          </a:bodyPr>
          <a:lstStyle/>
          <a:p>
            <a:r>
              <a:rPr lang="en-US" dirty="0"/>
              <a:t>In early 2025, the Biden administration intensified its scrutiny of TikTok due to national security concerns. </a:t>
            </a:r>
          </a:p>
          <a:p>
            <a:r>
              <a:rPr lang="en-US" dirty="0"/>
              <a:t>Facing the threat of an imminent U.S. ban, millions of American TikTok users who label themselves “TikTok refugees” began to migrate many other social media platforms, including a Chinese social media platform, </a:t>
            </a:r>
            <a:r>
              <a:rPr lang="en-US" dirty="0" err="1"/>
              <a:t>RedNote</a:t>
            </a:r>
            <a:r>
              <a:rPr lang="en-US" dirty="0"/>
              <a:t>.</a:t>
            </a:r>
          </a:p>
          <a:p>
            <a:r>
              <a:rPr lang="en-US" dirty="0" err="1"/>
              <a:t>RedNote</a:t>
            </a:r>
            <a:r>
              <a:rPr lang="zh-CN" altLang="en-US" dirty="0"/>
              <a:t> </a:t>
            </a:r>
            <a:r>
              <a:rPr lang="en-US" dirty="0"/>
              <a:t>suddenly saw a surge in its user base. In response to the unexpected influx, </a:t>
            </a:r>
            <a:r>
              <a:rPr lang="en-US" dirty="0" err="1"/>
              <a:t>Rednote</a:t>
            </a:r>
            <a:r>
              <a:rPr lang="en-US" dirty="0"/>
              <a:t> rapidly updated its platform features.</a:t>
            </a:r>
          </a:p>
          <a:p>
            <a:pPr marL="0" indent="0">
              <a:buNone/>
            </a:pPr>
            <a:endParaRPr lang="en-US" dirty="0"/>
          </a:p>
          <a:p>
            <a:pPr marL="0" indent="0">
              <a:buNone/>
            </a:pPr>
            <a:r>
              <a:rPr lang="en-US" dirty="0"/>
              <a:t>From above facts, how do macro-environmental factors play a role  to impact global social media industry?</a:t>
            </a:r>
          </a:p>
          <a:p>
            <a:endParaRPr lang="en-US" dirty="0"/>
          </a:p>
        </p:txBody>
      </p:sp>
    </p:spTree>
    <p:extLst>
      <p:ext uri="{BB962C8B-B14F-4D97-AF65-F5344CB8AC3E}">
        <p14:creationId xmlns:p14="http://schemas.microsoft.com/office/powerpoint/2010/main" val="20120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2D45DFC-C161-48CE-813E-00BEAECF0117}"/>
              </a:ext>
            </a:extLst>
          </p:cNvPr>
          <p:cNvGrpSpPr>
            <a:grpSpLocks/>
          </p:cNvGrpSpPr>
          <p:nvPr/>
        </p:nvGrpSpPr>
        <p:grpSpPr bwMode="auto">
          <a:xfrm>
            <a:off x="1752600" y="1790199"/>
            <a:ext cx="8686800" cy="4566920"/>
            <a:chOff x="552" y="1511"/>
            <a:chExt cx="4848" cy="2496"/>
          </a:xfrm>
        </p:grpSpPr>
        <p:sp>
          <p:nvSpPr>
            <p:cNvPr id="4" name="Oval 4">
              <a:extLst>
                <a:ext uri="{FF2B5EF4-FFF2-40B4-BE49-F238E27FC236}">
                  <a16:creationId xmlns:a16="http://schemas.microsoft.com/office/drawing/2014/main" id="{7AAA8478-5903-4005-BA5E-88AC54495DDF}"/>
                </a:ext>
              </a:extLst>
            </p:cNvPr>
            <p:cNvSpPr>
              <a:spLocks noChangeArrowheads="1"/>
            </p:cNvSpPr>
            <p:nvPr/>
          </p:nvSpPr>
          <p:spPr bwMode="auto">
            <a:xfrm>
              <a:off x="552" y="1511"/>
              <a:ext cx="4848" cy="2496"/>
            </a:xfrm>
            <a:prstGeom prst="ellipse">
              <a:avLst/>
            </a:prstGeom>
            <a:noFill/>
            <a:ln w="12700">
              <a:solidFill>
                <a:schemeClr val="tx1"/>
              </a:solidFill>
              <a:round/>
              <a:headEnd/>
              <a:tailEnd/>
            </a:ln>
            <a:effectLst/>
          </p:spPr>
          <p:txBody>
            <a:bodyPr wrap="none" anchor="ctr"/>
            <a:lstStyle/>
            <a:p>
              <a:endParaRPr lang="en-US"/>
            </a:p>
          </p:txBody>
        </p:sp>
        <p:sp>
          <p:nvSpPr>
            <p:cNvPr id="6" name="Oval 5">
              <a:extLst>
                <a:ext uri="{FF2B5EF4-FFF2-40B4-BE49-F238E27FC236}">
                  <a16:creationId xmlns:a16="http://schemas.microsoft.com/office/drawing/2014/main" id="{D6CEDFDE-93D5-4C26-9038-3A88247DAD36}"/>
                </a:ext>
              </a:extLst>
            </p:cNvPr>
            <p:cNvSpPr>
              <a:spLocks noChangeArrowheads="1"/>
            </p:cNvSpPr>
            <p:nvPr/>
          </p:nvSpPr>
          <p:spPr bwMode="auto">
            <a:xfrm>
              <a:off x="1200" y="2064"/>
              <a:ext cx="3552" cy="1824"/>
            </a:xfrm>
            <a:prstGeom prst="ellipse">
              <a:avLst/>
            </a:prstGeom>
            <a:noFill/>
            <a:ln w="12700">
              <a:solidFill>
                <a:schemeClr val="tx1"/>
              </a:solidFill>
              <a:round/>
              <a:headEnd/>
              <a:tailEnd/>
            </a:ln>
            <a:effectLst/>
          </p:spPr>
          <p:txBody>
            <a:bodyPr wrap="none" anchor="ctr"/>
            <a:lstStyle/>
            <a:p>
              <a:endParaRPr lang="en-US"/>
            </a:p>
          </p:txBody>
        </p:sp>
        <p:sp>
          <p:nvSpPr>
            <p:cNvPr id="7" name="Oval 6">
              <a:extLst>
                <a:ext uri="{FF2B5EF4-FFF2-40B4-BE49-F238E27FC236}">
                  <a16:creationId xmlns:a16="http://schemas.microsoft.com/office/drawing/2014/main" id="{29F4F802-DB10-408F-AE12-7E27C94F8A0C}"/>
                </a:ext>
              </a:extLst>
            </p:cNvPr>
            <p:cNvSpPr>
              <a:spLocks noChangeArrowheads="1"/>
            </p:cNvSpPr>
            <p:nvPr/>
          </p:nvSpPr>
          <p:spPr bwMode="auto">
            <a:xfrm>
              <a:off x="1632" y="2496"/>
              <a:ext cx="2640" cy="1344"/>
            </a:xfrm>
            <a:prstGeom prst="ellipse">
              <a:avLst/>
            </a:prstGeom>
            <a:noFill/>
            <a:ln w="12700">
              <a:solidFill>
                <a:schemeClr val="tx1"/>
              </a:solidFill>
              <a:round/>
              <a:headEnd/>
              <a:tailEnd/>
            </a:ln>
            <a:effectLst/>
          </p:spPr>
          <p:txBody>
            <a:bodyPr wrap="none" anchor="ctr"/>
            <a:lstStyle/>
            <a:p>
              <a:endParaRPr lang="en-US"/>
            </a:p>
          </p:txBody>
        </p:sp>
        <p:sp>
          <p:nvSpPr>
            <p:cNvPr id="8" name="Oval 7">
              <a:extLst>
                <a:ext uri="{FF2B5EF4-FFF2-40B4-BE49-F238E27FC236}">
                  <a16:creationId xmlns:a16="http://schemas.microsoft.com/office/drawing/2014/main" id="{A8273F64-4A4B-4A61-947E-C2D3FF5E81E1}"/>
                </a:ext>
              </a:extLst>
            </p:cNvPr>
            <p:cNvSpPr>
              <a:spLocks noChangeArrowheads="1"/>
            </p:cNvSpPr>
            <p:nvPr/>
          </p:nvSpPr>
          <p:spPr bwMode="auto">
            <a:xfrm>
              <a:off x="2592" y="3168"/>
              <a:ext cx="576" cy="576"/>
            </a:xfrm>
            <a:prstGeom prst="ellipse">
              <a:avLst/>
            </a:prstGeom>
            <a:solidFill>
              <a:schemeClr val="bg1"/>
            </a:solidFill>
            <a:ln w="12700">
              <a:solidFill>
                <a:schemeClr val="tx1"/>
              </a:solidFill>
              <a:round/>
              <a:headEnd/>
              <a:tailEnd/>
            </a:ln>
            <a:effectLst/>
          </p:spPr>
          <p:txBody>
            <a:bodyPr wrap="none" anchor="ctr"/>
            <a:lstStyle/>
            <a:p>
              <a:pPr algn="ctr" eaLnBrk="0" hangingPunct="0"/>
              <a:r>
                <a:rPr lang="en-US" sz="2400" dirty="0">
                  <a:latin typeface="Times New Roman" pitchFamily="18" charset="0"/>
                </a:rPr>
                <a:t>Firm</a:t>
              </a:r>
            </a:p>
          </p:txBody>
        </p:sp>
        <p:sp>
          <p:nvSpPr>
            <p:cNvPr id="9" name="Text Box 8">
              <a:extLst>
                <a:ext uri="{FF2B5EF4-FFF2-40B4-BE49-F238E27FC236}">
                  <a16:creationId xmlns:a16="http://schemas.microsoft.com/office/drawing/2014/main" id="{B91882D2-452C-4328-92C1-D8E8F48B0969}"/>
                </a:ext>
              </a:extLst>
            </p:cNvPr>
            <p:cNvSpPr txBox="1">
              <a:spLocks noChangeArrowheads="1"/>
            </p:cNvSpPr>
            <p:nvPr/>
          </p:nvSpPr>
          <p:spPr bwMode="auto">
            <a:xfrm>
              <a:off x="2400" y="1680"/>
              <a:ext cx="646" cy="252"/>
            </a:xfrm>
            <a:prstGeom prst="rect">
              <a:avLst/>
            </a:prstGeom>
            <a:noFill/>
            <a:ln w="9525">
              <a:noFill/>
              <a:miter lim="800000"/>
              <a:headEnd/>
              <a:tailEnd/>
            </a:ln>
            <a:effectLst/>
          </p:spPr>
          <p:txBody>
            <a:bodyPr wrap="none">
              <a:spAutoFit/>
            </a:bodyPr>
            <a:lstStyle/>
            <a:p>
              <a:pPr eaLnBrk="0" hangingPunct="0"/>
              <a:r>
                <a:rPr lang="en-US" dirty="0">
                  <a:latin typeface="Times New Roman" pitchFamily="18" charset="0"/>
                </a:rPr>
                <a:t>General</a:t>
              </a:r>
            </a:p>
          </p:txBody>
        </p:sp>
        <p:sp>
          <p:nvSpPr>
            <p:cNvPr id="10" name="Text Box 9">
              <a:extLst>
                <a:ext uri="{FF2B5EF4-FFF2-40B4-BE49-F238E27FC236}">
                  <a16:creationId xmlns:a16="http://schemas.microsoft.com/office/drawing/2014/main" id="{87291DC9-9FE1-499D-9282-2830D726DACE}"/>
                </a:ext>
              </a:extLst>
            </p:cNvPr>
            <p:cNvSpPr txBox="1">
              <a:spLocks noChangeArrowheads="1"/>
            </p:cNvSpPr>
            <p:nvPr/>
          </p:nvSpPr>
          <p:spPr bwMode="auto">
            <a:xfrm>
              <a:off x="2498" y="2172"/>
              <a:ext cx="850" cy="286"/>
            </a:xfrm>
            <a:prstGeom prst="rect">
              <a:avLst/>
            </a:prstGeom>
            <a:noFill/>
            <a:ln w="9525">
              <a:noFill/>
              <a:miter lim="800000"/>
              <a:headEnd/>
              <a:tailEnd/>
            </a:ln>
            <a:effectLst/>
          </p:spPr>
          <p:txBody>
            <a:bodyPr wrap="none">
              <a:spAutoFit/>
            </a:bodyPr>
            <a:lstStyle/>
            <a:p>
              <a:pPr eaLnBrk="0" hangingPunct="0"/>
              <a:r>
                <a:rPr lang="en-US" sz="2800" b="1" dirty="0">
                  <a:solidFill>
                    <a:schemeClr val="accent6">
                      <a:lumMod val="75000"/>
                    </a:schemeClr>
                  </a:solidFill>
                  <a:latin typeface="Times New Roman" pitchFamily="18" charset="0"/>
                </a:rPr>
                <a:t>Industry</a:t>
              </a:r>
            </a:p>
          </p:txBody>
        </p:sp>
        <p:sp>
          <p:nvSpPr>
            <p:cNvPr id="11" name="Text Box 10">
              <a:extLst>
                <a:ext uri="{FF2B5EF4-FFF2-40B4-BE49-F238E27FC236}">
                  <a16:creationId xmlns:a16="http://schemas.microsoft.com/office/drawing/2014/main" id="{E857555E-30C9-4D0D-B3AD-46F4C17C23BB}"/>
                </a:ext>
              </a:extLst>
            </p:cNvPr>
            <p:cNvSpPr txBox="1">
              <a:spLocks noChangeArrowheads="1"/>
            </p:cNvSpPr>
            <p:nvPr/>
          </p:nvSpPr>
          <p:spPr bwMode="auto">
            <a:xfrm>
              <a:off x="2342" y="2714"/>
              <a:ext cx="1063" cy="288"/>
            </a:xfrm>
            <a:prstGeom prst="rect">
              <a:avLst/>
            </a:prstGeom>
            <a:noFill/>
            <a:ln w="9525">
              <a:noFill/>
              <a:miter lim="800000"/>
              <a:headEnd/>
              <a:tailEnd/>
            </a:ln>
            <a:effectLst/>
          </p:spPr>
          <p:txBody>
            <a:bodyPr wrap="none">
              <a:spAutoFit/>
            </a:bodyPr>
            <a:lstStyle/>
            <a:p>
              <a:pPr eaLnBrk="0" hangingPunct="0"/>
              <a:r>
                <a:rPr lang="en-US" sz="2400" dirty="0">
                  <a:latin typeface="Times New Roman" pitchFamily="18" charset="0"/>
                </a:rPr>
                <a:t>Competitive</a:t>
              </a:r>
            </a:p>
          </p:txBody>
        </p:sp>
        <p:sp>
          <p:nvSpPr>
            <p:cNvPr id="12" name="AutoShape 11">
              <a:extLst>
                <a:ext uri="{FF2B5EF4-FFF2-40B4-BE49-F238E27FC236}">
                  <a16:creationId xmlns:a16="http://schemas.microsoft.com/office/drawing/2014/main" id="{179FD0AD-4AF3-4166-8BD6-E9086993E574}"/>
                </a:ext>
              </a:extLst>
            </p:cNvPr>
            <p:cNvSpPr>
              <a:spLocks noChangeArrowheads="1"/>
            </p:cNvSpPr>
            <p:nvPr/>
          </p:nvSpPr>
          <p:spPr bwMode="auto">
            <a:xfrm>
              <a:off x="1968" y="1776"/>
              <a:ext cx="336" cy="672"/>
            </a:xfrm>
            <a:prstGeom prst="curvedRightArrow">
              <a:avLst>
                <a:gd name="adj1" fmla="val 40000"/>
                <a:gd name="adj2" fmla="val 8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3" name="AutoShape 12">
              <a:extLst>
                <a:ext uri="{FF2B5EF4-FFF2-40B4-BE49-F238E27FC236}">
                  <a16:creationId xmlns:a16="http://schemas.microsoft.com/office/drawing/2014/main" id="{C96340C7-2E1A-4268-B20E-9D38362AD771}"/>
                </a:ext>
              </a:extLst>
            </p:cNvPr>
            <p:cNvSpPr>
              <a:spLocks noChangeArrowheads="1"/>
            </p:cNvSpPr>
            <p:nvPr/>
          </p:nvSpPr>
          <p:spPr bwMode="auto">
            <a:xfrm>
              <a:off x="3456" y="2256"/>
              <a:ext cx="384" cy="1056"/>
            </a:xfrm>
            <a:prstGeom prst="curvedLeftArrow">
              <a:avLst>
                <a:gd name="adj1" fmla="val 55000"/>
                <a:gd name="adj2" fmla="val 11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4" name="AutoShape 13">
              <a:extLst>
                <a:ext uri="{FF2B5EF4-FFF2-40B4-BE49-F238E27FC236}">
                  <a16:creationId xmlns:a16="http://schemas.microsoft.com/office/drawing/2014/main" id="{94901D7B-EAD4-45C4-8D6D-FC28ACE735A3}"/>
                </a:ext>
              </a:extLst>
            </p:cNvPr>
            <p:cNvSpPr>
              <a:spLocks noChangeArrowheads="1"/>
            </p:cNvSpPr>
            <p:nvPr/>
          </p:nvSpPr>
          <p:spPr bwMode="auto">
            <a:xfrm rot="10664528">
              <a:off x="2044" y="2552"/>
              <a:ext cx="384" cy="960"/>
            </a:xfrm>
            <a:prstGeom prst="curvedLeftArrow">
              <a:avLst>
                <a:gd name="adj1" fmla="val 50000"/>
                <a:gd name="adj2" fmla="val 10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5" name="AutoShape 14">
              <a:extLst>
                <a:ext uri="{FF2B5EF4-FFF2-40B4-BE49-F238E27FC236}">
                  <a16:creationId xmlns:a16="http://schemas.microsoft.com/office/drawing/2014/main" id="{53DBB3F7-0EE4-4F37-B616-98FF2D93AB9D}"/>
                </a:ext>
              </a:extLst>
            </p:cNvPr>
            <p:cNvSpPr>
              <a:spLocks noChangeArrowheads="1"/>
            </p:cNvSpPr>
            <p:nvPr/>
          </p:nvSpPr>
          <p:spPr bwMode="auto">
            <a:xfrm rot="-10935472">
              <a:off x="1680" y="2304"/>
              <a:ext cx="336" cy="1104"/>
            </a:xfrm>
            <a:prstGeom prst="curvedLeftArrow">
              <a:avLst>
                <a:gd name="adj1" fmla="val 65714"/>
                <a:gd name="adj2" fmla="val 131429"/>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sp>
          <p:nvSpPr>
            <p:cNvPr id="16" name="AutoShape 15">
              <a:extLst>
                <a:ext uri="{FF2B5EF4-FFF2-40B4-BE49-F238E27FC236}">
                  <a16:creationId xmlns:a16="http://schemas.microsoft.com/office/drawing/2014/main" id="{32425012-789A-461F-9B47-93765FAB2FCE}"/>
                </a:ext>
              </a:extLst>
            </p:cNvPr>
            <p:cNvSpPr>
              <a:spLocks noChangeArrowheads="1"/>
            </p:cNvSpPr>
            <p:nvPr/>
          </p:nvSpPr>
          <p:spPr bwMode="auto">
            <a:xfrm rot="-10935472">
              <a:off x="1296" y="1968"/>
              <a:ext cx="384" cy="960"/>
            </a:xfrm>
            <a:prstGeom prst="curvedLeftArrow">
              <a:avLst>
                <a:gd name="adj1" fmla="val 50000"/>
                <a:gd name="adj2" fmla="val 100000"/>
                <a:gd name="adj3" fmla="val 33333"/>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17" name="Rectangle 2">
            <a:extLst>
              <a:ext uri="{FF2B5EF4-FFF2-40B4-BE49-F238E27FC236}">
                <a16:creationId xmlns:a16="http://schemas.microsoft.com/office/drawing/2014/main" id="{ACFE7806-D7AD-4E2E-AD7A-957B3ABB8297}"/>
              </a:ext>
            </a:extLst>
          </p:cNvPr>
          <p:cNvSpPr>
            <a:spLocks noGrp="1" noChangeArrowheads="1"/>
          </p:cNvSpPr>
          <p:nvPr>
            <p:ph type="title"/>
          </p:nvPr>
        </p:nvSpPr>
        <p:spPr>
          <a:xfrm>
            <a:off x="608745" y="34354"/>
            <a:ext cx="8229600" cy="1143000"/>
          </a:xfrm>
        </p:spPr>
        <p:txBody>
          <a:bodyPr>
            <a:normAutofit/>
          </a:bodyPr>
          <a:lstStyle/>
          <a:p>
            <a:r>
              <a:rPr lang="en-US" sz="4000" dirty="0"/>
              <a:t>Environments of a Firm</a:t>
            </a:r>
          </a:p>
        </p:txBody>
      </p:sp>
    </p:spTree>
    <p:extLst>
      <p:ext uri="{BB962C8B-B14F-4D97-AF65-F5344CB8AC3E}">
        <p14:creationId xmlns:p14="http://schemas.microsoft.com/office/powerpoint/2010/main" val="366610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D619A-8914-4A04-B58D-DD01D793D0EC}"/>
              </a:ext>
            </a:extLst>
          </p:cNvPr>
          <p:cNvSpPr>
            <a:spLocks noGrp="1"/>
          </p:cNvSpPr>
          <p:nvPr>
            <p:ph type="title"/>
          </p:nvPr>
        </p:nvSpPr>
        <p:spPr>
          <a:xfrm>
            <a:off x="447040" y="0"/>
            <a:ext cx="9993331" cy="1143000"/>
          </a:xfrm>
        </p:spPr>
        <p:txBody>
          <a:bodyPr>
            <a:normAutofit/>
          </a:bodyPr>
          <a:lstStyle/>
          <a:p>
            <a:r>
              <a:rPr lang="en-US" altLang="zh-CN" sz="4000" dirty="0"/>
              <a:t>Defining an Industry</a:t>
            </a:r>
            <a:endParaRPr lang="zh-CN" altLang="en-US" sz="4000" dirty="0"/>
          </a:p>
        </p:txBody>
      </p:sp>
      <p:sp>
        <p:nvSpPr>
          <p:cNvPr id="3" name="Content Placeholder 2">
            <a:extLst>
              <a:ext uri="{FF2B5EF4-FFF2-40B4-BE49-F238E27FC236}">
                <a16:creationId xmlns:a16="http://schemas.microsoft.com/office/drawing/2014/main" id="{2EB1D5CE-D44E-4869-9189-E726953BC61A}"/>
              </a:ext>
            </a:extLst>
          </p:cNvPr>
          <p:cNvSpPr>
            <a:spLocks noGrp="1"/>
          </p:cNvSpPr>
          <p:nvPr>
            <p:ph sz="half" idx="1"/>
          </p:nvPr>
        </p:nvSpPr>
        <p:spPr>
          <a:xfrm>
            <a:off x="609600" y="1143001"/>
            <a:ext cx="10078720" cy="4937760"/>
          </a:xfrm>
        </p:spPr>
        <p:txBody>
          <a:bodyPr>
            <a:normAutofit fontScale="92500" lnSpcReduction="20000"/>
          </a:bodyPr>
          <a:lstStyle/>
          <a:p>
            <a:pPr>
              <a:spcAft>
                <a:spcPct val="5000"/>
              </a:spcAft>
              <a:buClr>
                <a:schemeClr val="tx1"/>
              </a:buClr>
            </a:pPr>
            <a:r>
              <a:rPr lang="en-US" altLang="zh-CN" dirty="0"/>
              <a:t>Market Segments</a:t>
            </a:r>
          </a:p>
          <a:p>
            <a:pPr lvl="1">
              <a:spcAft>
                <a:spcPct val="5000"/>
              </a:spcAft>
              <a:buClr>
                <a:schemeClr val="tx1"/>
              </a:buClr>
            </a:pPr>
            <a:r>
              <a:rPr lang="en-US" altLang="zh-CN" sz="2400" dirty="0"/>
              <a:t>Distinct groups of customers of an industry</a:t>
            </a:r>
          </a:p>
          <a:p>
            <a:pPr lvl="1">
              <a:spcAft>
                <a:spcPct val="5000"/>
              </a:spcAft>
              <a:buClr>
                <a:schemeClr val="tx1"/>
              </a:buClr>
            </a:pPr>
            <a:r>
              <a:rPr lang="en-US" altLang="zh-CN" sz="2400" dirty="0"/>
              <a:t>Can be differentiated from each other with distinct attributes and specific demands</a:t>
            </a:r>
          </a:p>
          <a:p>
            <a:pPr marL="0" indent="0">
              <a:spcAft>
                <a:spcPct val="5000"/>
              </a:spcAft>
              <a:buNone/>
            </a:pPr>
            <a:endParaRPr lang="en-US" altLang="zh-CN" sz="2400" dirty="0"/>
          </a:p>
          <a:p>
            <a:pPr>
              <a:spcAft>
                <a:spcPct val="5000"/>
              </a:spcAft>
            </a:pPr>
            <a:r>
              <a:rPr lang="en-US" altLang="zh-CN" sz="2400" dirty="0"/>
              <a:t>Industry</a:t>
            </a:r>
          </a:p>
          <a:p>
            <a:pPr lvl="1">
              <a:spcAft>
                <a:spcPct val="5000"/>
              </a:spcAft>
            </a:pPr>
            <a:r>
              <a:rPr lang="en-US" altLang="zh-CN" sz="2400" dirty="0"/>
              <a:t>A group of companies offering products or services that are close substitutes for each other and that satisfy the same basic customer needs</a:t>
            </a:r>
          </a:p>
          <a:p>
            <a:pPr lvl="1">
              <a:spcAft>
                <a:spcPct val="5000"/>
              </a:spcAft>
            </a:pPr>
            <a:r>
              <a:rPr lang="en-US" altLang="zh-CN" sz="2400" dirty="0"/>
              <a:t>Industry boundaries may change as customer needs evolve and technology changes</a:t>
            </a:r>
          </a:p>
          <a:p>
            <a:pPr lvl="1">
              <a:spcAft>
                <a:spcPct val="5000"/>
              </a:spcAft>
            </a:pPr>
            <a:endParaRPr lang="en-US" altLang="zh-CN" sz="2400" dirty="0"/>
          </a:p>
          <a:p>
            <a:pPr>
              <a:spcAft>
                <a:spcPct val="5000"/>
              </a:spcAft>
              <a:buClr>
                <a:schemeClr val="tx1"/>
              </a:buClr>
            </a:pPr>
            <a:r>
              <a:rPr lang="en-US" altLang="zh-CN" sz="2400" dirty="0"/>
              <a:t> Sector</a:t>
            </a:r>
          </a:p>
          <a:p>
            <a:pPr lvl="1">
              <a:spcAft>
                <a:spcPct val="5000"/>
              </a:spcAft>
              <a:buClr>
                <a:schemeClr val="tx1"/>
              </a:buClr>
            </a:pPr>
            <a:r>
              <a:rPr lang="en-US" altLang="zh-CN" sz="2400" dirty="0"/>
              <a:t>A group of closely related industries</a:t>
            </a:r>
          </a:p>
          <a:p>
            <a:pPr marL="0" indent="0">
              <a:spcAft>
                <a:spcPct val="5000"/>
              </a:spcAft>
              <a:buClr>
                <a:schemeClr val="tx1"/>
              </a:buClr>
              <a:buNone/>
            </a:pPr>
            <a:endParaRPr lang="zh-CN" altLang="en-US" dirty="0"/>
          </a:p>
        </p:txBody>
      </p:sp>
    </p:spTree>
    <p:extLst>
      <p:ext uri="{BB962C8B-B14F-4D97-AF65-F5344CB8AC3E}">
        <p14:creationId xmlns:p14="http://schemas.microsoft.com/office/powerpoint/2010/main" val="278870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25C38E1-D0C7-481B-B8D4-B3F7E416B104}"/>
              </a:ext>
            </a:extLst>
          </p:cNvPr>
          <p:cNvSpPr>
            <a:spLocks noGrp="1"/>
          </p:cNvSpPr>
          <p:nvPr>
            <p:ph type="title"/>
          </p:nvPr>
        </p:nvSpPr>
        <p:spPr>
          <a:xfrm>
            <a:off x="0" y="10161"/>
            <a:ext cx="10728960" cy="1214120"/>
          </a:xfrm>
        </p:spPr>
        <p:txBody>
          <a:bodyPr>
            <a:normAutofit fontScale="90000"/>
          </a:bodyPr>
          <a:lstStyle/>
          <a:p>
            <a:r>
              <a:rPr lang="en-US" altLang="zh-CN" dirty="0"/>
              <a:t>The Computer Sector, Industries and Segments</a:t>
            </a:r>
            <a:endParaRPr lang="en-US" dirty="0"/>
          </a:p>
        </p:txBody>
      </p:sp>
      <p:pic>
        <p:nvPicPr>
          <p:cNvPr id="4" name="Picture 3" descr="la0201 computer sector">
            <a:extLst>
              <a:ext uri="{FF2B5EF4-FFF2-40B4-BE49-F238E27FC236}">
                <a16:creationId xmlns:a16="http://schemas.microsoft.com/office/drawing/2014/main" id="{3458771F-B3F8-4810-8001-E1BC16001433}"/>
              </a:ext>
            </a:extLst>
          </p:cNvPr>
          <p:cNvPicPr>
            <a:picLocks noChangeAspect="1" noChangeArrowheads="1"/>
          </p:cNvPicPr>
          <p:nvPr/>
        </p:nvPicPr>
        <p:blipFill>
          <a:blip r:embed="rId2" cstate="email">
            <a:extLst>
              <a:ext uri="{28A0092B-C50C-407E-A947-70E740481C1C}">
                <a14:useLocalDpi xmlns:a14="http://schemas.microsoft.com/office/drawing/2010/main"/>
              </a:ext>
            </a:extLst>
          </a:blip>
          <a:stretch>
            <a:fillRect/>
          </a:stretch>
        </p:blipFill>
        <p:spPr bwMode="auto">
          <a:xfrm>
            <a:off x="833120" y="1172882"/>
            <a:ext cx="9824720" cy="5698339"/>
          </a:xfrm>
          <a:prstGeom prst="rect">
            <a:avLst/>
          </a:prstGeom>
          <a:noFill/>
        </p:spPr>
      </p:pic>
    </p:spTree>
    <p:extLst>
      <p:ext uri="{BB962C8B-B14F-4D97-AF65-F5344CB8AC3E}">
        <p14:creationId xmlns:p14="http://schemas.microsoft.com/office/powerpoint/2010/main" val="121809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D9AC-3520-4C15-803C-B7640D23102E}"/>
              </a:ext>
            </a:extLst>
          </p:cNvPr>
          <p:cNvSpPr>
            <a:spLocks noGrp="1"/>
          </p:cNvSpPr>
          <p:nvPr>
            <p:ph type="title"/>
          </p:nvPr>
        </p:nvSpPr>
        <p:spPr>
          <a:xfrm>
            <a:off x="533400" y="0"/>
            <a:ext cx="10048125" cy="1143000"/>
          </a:xfrm>
        </p:spPr>
        <p:txBody>
          <a:bodyPr>
            <a:normAutofit/>
          </a:bodyPr>
          <a:lstStyle/>
          <a:p>
            <a:r>
              <a:rPr lang="en-US" altLang="zh-CN" sz="4000" dirty="0"/>
              <a:t>Challenges of Industry Definition</a:t>
            </a:r>
            <a:endParaRPr lang="zh-CN" altLang="en-US" sz="4000" dirty="0"/>
          </a:p>
        </p:txBody>
      </p:sp>
      <p:sp>
        <p:nvSpPr>
          <p:cNvPr id="3" name="Content Placeholder 2">
            <a:extLst>
              <a:ext uri="{FF2B5EF4-FFF2-40B4-BE49-F238E27FC236}">
                <a16:creationId xmlns:a16="http://schemas.microsoft.com/office/drawing/2014/main" id="{2AF44969-4A1C-4472-905E-3BF0EDA6F6F2}"/>
              </a:ext>
            </a:extLst>
          </p:cNvPr>
          <p:cNvSpPr>
            <a:spLocks noGrp="1"/>
          </p:cNvSpPr>
          <p:nvPr>
            <p:ph sz="quarter" idx="10"/>
          </p:nvPr>
        </p:nvSpPr>
        <p:spPr>
          <a:xfrm>
            <a:off x="614682" y="1143001"/>
            <a:ext cx="10048126" cy="5257800"/>
          </a:xfrm>
        </p:spPr>
        <p:txBody>
          <a:bodyPr/>
          <a:lstStyle/>
          <a:p>
            <a:pPr>
              <a:tabLst>
                <a:tab pos="-635" algn="l"/>
              </a:tabLst>
            </a:pPr>
            <a:r>
              <a:rPr lang="en-US" altLang="zh-CN" sz="2000" dirty="0"/>
              <a:t>Multiple levels of aggregation possible</a:t>
            </a:r>
          </a:p>
          <a:p>
            <a:pPr lvl="1">
              <a:tabLst>
                <a:tab pos="-635" algn="l"/>
              </a:tabLst>
            </a:pPr>
            <a:r>
              <a:rPr lang="en-US" altLang="zh-CN" sz="2000" dirty="0"/>
              <a:t>Restaurants vs. Fine Dining</a:t>
            </a:r>
          </a:p>
          <a:p>
            <a:pPr>
              <a:tabLst>
                <a:tab pos="-635" algn="l"/>
              </a:tabLst>
            </a:pPr>
            <a:r>
              <a:rPr lang="en-US" altLang="zh-CN" sz="2000" dirty="0"/>
              <a:t>New industries emerge from existing industries</a:t>
            </a:r>
          </a:p>
          <a:p>
            <a:pPr lvl="1">
              <a:tabLst>
                <a:tab pos="-635" algn="l"/>
              </a:tabLst>
            </a:pPr>
            <a:r>
              <a:rPr lang="en-US" altLang="zh-CN" sz="2000" dirty="0"/>
              <a:t>e.g., social media industry from high-tech industry</a:t>
            </a:r>
          </a:p>
          <a:p>
            <a:pPr>
              <a:tabLst>
                <a:tab pos="-635" algn="l"/>
              </a:tabLst>
            </a:pPr>
            <a:r>
              <a:rPr lang="en-US" altLang="zh-CN" sz="2000" dirty="0"/>
              <a:t>Domestic versus global perspective</a:t>
            </a:r>
          </a:p>
          <a:p>
            <a:pPr lvl="1">
              <a:tabLst>
                <a:tab pos="-635" algn="l"/>
              </a:tabLst>
            </a:pPr>
            <a:r>
              <a:rPr lang="en-US" altLang="zh-CN" sz="2067" dirty="0"/>
              <a:t>Domestic fashion industry vs global fashion industry</a:t>
            </a:r>
            <a:endParaRPr lang="en-US" altLang="zh-CN" sz="2000" dirty="0"/>
          </a:p>
          <a:p>
            <a:pPr>
              <a:tabLst>
                <a:tab pos="-635" algn="l"/>
              </a:tabLst>
            </a:pPr>
            <a:r>
              <a:rPr lang="en-US" altLang="zh-CN" sz="2000" dirty="0"/>
              <a:t>Widely different business models </a:t>
            </a:r>
          </a:p>
          <a:p>
            <a:pPr lvl="1">
              <a:tabLst>
                <a:tab pos="-635" algn="l"/>
              </a:tabLst>
            </a:pPr>
            <a:r>
              <a:rPr lang="en-US" altLang="zh-CN" sz="2000" dirty="0"/>
              <a:t>Online retail stores vs physical department stores</a:t>
            </a:r>
          </a:p>
          <a:p>
            <a:pPr>
              <a:tabLst>
                <a:tab pos="-635" algn="l"/>
              </a:tabLst>
            </a:pPr>
            <a:r>
              <a:rPr lang="en-US" altLang="zh-CN" sz="2000" b="1" dirty="0"/>
              <a:t>Identify the relevant industry</a:t>
            </a:r>
            <a:r>
              <a:rPr lang="en-US" altLang="zh-CN" sz="2000" dirty="0"/>
              <a:t>: </a:t>
            </a:r>
            <a:r>
              <a:rPr lang="en-US" altLang="en-US" sz="2000" b="1" dirty="0"/>
              <a:t>SUBSTITUTABILITY</a:t>
            </a:r>
          </a:p>
          <a:p>
            <a:pPr lvl="1"/>
            <a:r>
              <a:rPr lang="en-US" altLang="en-US" sz="1800" dirty="0"/>
              <a:t>On the demand side: are buyers willing to substitute between various products and across countries</a:t>
            </a:r>
          </a:p>
          <a:p>
            <a:pPr lvl="1"/>
            <a:r>
              <a:rPr lang="en-US" altLang="en-US" sz="1800" dirty="0"/>
              <a:t>On the supply side: are suppliers able to switch between manufacturers  and across countries</a:t>
            </a:r>
          </a:p>
          <a:p>
            <a:r>
              <a:rPr lang="en-US" altLang="en-US" sz="2000" dirty="0"/>
              <a:t>May need to analyze industry at different levels for different types of decision</a:t>
            </a:r>
          </a:p>
          <a:p>
            <a:pPr marL="0" indent="0">
              <a:buNone/>
              <a:tabLst>
                <a:tab pos="-635" algn="l"/>
              </a:tabLst>
            </a:pPr>
            <a:endParaRPr lang="en-US" altLang="zh-CN" sz="2800" dirty="0"/>
          </a:p>
        </p:txBody>
      </p:sp>
    </p:spTree>
    <p:extLst>
      <p:ext uri="{BB962C8B-B14F-4D97-AF65-F5344CB8AC3E}">
        <p14:creationId xmlns:p14="http://schemas.microsoft.com/office/powerpoint/2010/main" val="343250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4DAAA8C-EA56-48D7-B9F7-670067102FD0}"/>
              </a:ext>
            </a:extLst>
          </p:cNvPr>
          <p:cNvSpPr/>
          <p:nvPr/>
        </p:nvSpPr>
        <p:spPr>
          <a:xfrm>
            <a:off x="1393861" y="3295142"/>
            <a:ext cx="10048125" cy="1143000"/>
          </a:xfrm>
          <a:prstGeom prst="rect">
            <a:avLst/>
          </a:prstGeom>
        </p:spPr>
        <p:txBody>
          <a:bodyPr vert="horz" lIns="91440" tIns="45720" rIns="91440" bIns="45720" rtlCol="0" anchor="ctr">
            <a:prstTxWarp prst="textArchUp">
              <a:avLst/>
            </a:prstTxWarp>
            <a:normAutofit/>
            <a:scene3d>
              <a:camera prst="orthographicFront"/>
              <a:lightRig rig="harsh" dir="t"/>
            </a:scene3d>
            <a:sp3d extrusionH="57150" prstMaterial="matte">
              <a:bevelT w="63500" h="12700" prst="angle"/>
              <a:contourClr>
                <a:schemeClr val="bg1">
                  <a:lumMod val="65000"/>
                </a:schemeClr>
              </a:contourClr>
            </a:sp3d>
          </a:bodyPr>
          <a:lstStyle/>
          <a:p>
            <a:pPr>
              <a:spcBef>
                <a:spcPct val="0"/>
              </a:spcBef>
              <a:spcAft>
                <a:spcPts val="600"/>
              </a:spcAft>
            </a:pPr>
            <a:r>
              <a:rPr lang="en-US" altLang="zh-CN" sz="3733" b="1" kern="1200" dirty="0">
                <a:ln/>
                <a:solidFill>
                  <a:srgbClr val="331C58"/>
                </a:solidFill>
                <a:effectLst>
                  <a:outerShdw blurRad="60007" dist="310007" dir="7680000" sy="30000" kx="1300200" algn="ctr" rotWithShape="0">
                    <a:prstClr val="black">
                      <a:alpha val="32000"/>
                    </a:prstClr>
                  </a:outerShdw>
                </a:effectLst>
                <a:latin typeface="+mj-lt"/>
                <a:ea typeface="+mj-ea"/>
                <a:cs typeface="+mj-cs"/>
              </a:rPr>
              <a:t>Always Define the industries You focus on!</a:t>
            </a:r>
          </a:p>
        </p:txBody>
      </p:sp>
    </p:spTree>
    <p:extLst>
      <p:ext uri="{BB962C8B-B14F-4D97-AF65-F5344CB8AC3E}">
        <p14:creationId xmlns:p14="http://schemas.microsoft.com/office/powerpoint/2010/main" val="249329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5B4D-70F5-4571-B613-301CAE49B783}"/>
              </a:ext>
            </a:extLst>
          </p:cNvPr>
          <p:cNvSpPr>
            <a:spLocks noGrp="1"/>
          </p:cNvSpPr>
          <p:nvPr>
            <p:ph type="title"/>
          </p:nvPr>
        </p:nvSpPr>
        <p:spPr>
          <a:xfrm>
            <a:off x="289560" y="0"/>
            <a:ext cx="10368165" cy="1248836"/>
          </a:xfrm>
        </p:spPr>
        <p:txBody>
          <a:bodyPr>
            <a:normAutofit/>
          </a:bodyPr>
          <a:lstStyle/>
          <a:p>
            <a:r>
              <a:rPr lang="en-US" altLang="zh-CN" sz="4000" dirty="0"/>
              <a:t>Industry Analysis: The Five Forces Model</a:t>
            </a:r>
          </a:p>
        </p:txBody>
      </p:sp>
      <p:sp>
        <p:nvSpPr>
          <p:cNvPr id="5" name="Content Placeholder 4">
            <a:extLst>
              <a:ext uri="{FF2B5EF4-FFF2-40B4-BE49-F238E27FC236}">
                <a16:creationId xmlns:a16="http://schemas.microsoft.com/office/drawing/2014/main" id="{A718B1DD-C2C8-47C8-9BF4-8A54B4689178}"/>
              </a:ext>
            </a:extLst>
          </p:cNvPr>
          <p:cNvSpPr>
            <a:spLocks noGrp="1"/>
          </p:cNvSpPr>
          <p:nvPr>
            <p:ph sz="quarter" idx="10"/>
          </p:nvPr>
        </p:nvSpPr>
        <p:spPr>
          <a:xfrm>
            <a:off x="301891" y="1319827"/>
            <a:ext cx="4460497" cy="4879783"/>
          </a:xfrm>
        </p:spPr>
        <p:txBody>
          <a:bodyPr/>
          <a:lstStyle/>
          <a:p>
            <a:r>
              <a:rPr lang="en-US" altLang="zh-CN" kern="0" dirty="0"/>
              <a:t>Why do we need an industry analysis?</a:t>
            </a:r>
          </a:p>
          <a:p>
            <a:pPr lvl="1"/>
            <a:r>
              <a:rPr lang="en-US" altLang="zh-CN" kern="0" dirty="0"/>
              <a:t>Identify threats to your existing business</a:t>
            </a:r>
          </a:p>
          <a:p>
            <a:pPr lvl="1"/>
            <a:r>
              <a:rPr lang="en-US" altLang="zh-CN" kern="0" dirty="0"/>
              <a:t>Identify opportunities that will allow you to transform your business</a:t>
            </a:r>
          </a:p>
          <a:p>
            <a:r>
              <a:rPr lang="en-US" altLang="zh-CN" kern="0" dirty="0"/>
              <a:t>Level of analysis: industry level!!!</a:t>
            </a:r>
          </a:p>
        </p:txBody>
      </p:sp>
      <p:grpSp>
        <p:nvGrpSpPr>
          <p:cNvPr id="6" name="Group 3">
            <a:extLst>
              <a:ext uri="{FF2B5EF4-FFF2-40B4-BE49-F238E27FC236}">
                <a16:creationId xmlns:a16="http://schemas.microsoft.com/office/drawing/2014/main" id="{09322046-52A2-45E6-8FE2-FE4687AF5480}"/>
              </a:ext>
            </a:extLst>
          </p:cNvPr>
          <p:cNvGrpSpPr>
            <a:grpSpLocks/>
          </p:cNvGrpSpPr>
          <p:nvPr/>
        </p:nvGrpSpPr>
        <p:grpSpPr bwMode="auto">
          <a:xfrm>
            <a:off x="5331125" y="1406316"/>
            <a:ext cx="5806061" cy="4706808"/>
            <a:chOff x="934" y="984"/>
            <a:chExt cx="3933" cy="2832"/>
          </a:xfrm>
        </p:grpSpPr>
        <p:sp>
          <p:nvSpPr>
            <p:cNvPr id="7" name="Line 4">
              <a:extLst>
                <a:ext uri="{FF2B5EF4-FFF2-40B4-BE49-F238E27FC236}">
                  <a16:creationId xmlns:a16="http://schemas.microsoft.com/office/drawing/2014/main" id="{CC74F46C-4BFF-45B2-BB49-1F5707D0C8F7}"/>
                </a:ext>
              </a:extLst>
            </p:cNvPr>
            <p:cNvSpPr>
              <a:spLocks noChangeShapeType="1"/>
            </p:cNvSpPr>
            <p:nvPr/>
          </p:nvSpPr>
          <p:spPr bwMode="auto">
            <a:xfrm flipV="1">
              <a:off x="2890" y="2824"/>
              <a:ext cx="0" cy="399"/>
            </a:xfrm>
            <a:prstGeom prst="line">
              <a:avLst/>
            </a:prstGeom>
            <a:noFill/>
            <a:ln w="50800">
              <a:solidFill>
                <a:schemeClr val="tx1"/>
              </a:solidFill>
              <a:round/>
              <a:headEnd/>
              <a:tailEnd type="triangle" w="med" len="med"/>
            </a:ln>
            <a:effectLst/>
          </p:spPr>
          <p:txBody>
            <a:bodyPr wrap="none" anchor="ctr"/>
            <a:lstStyle/>
            <a:p>
              <a:endParaRPr lang="en-US" sz="1400">
                <a:solidFill>
                  <a:srgbClr val="262827"/>
                </a:solidFill>
              </a:endParaRPr>
            </a:p>
          </p:txBody>
        </p:sp>
        <p:sp>
          <p:nvSpPr>
            <p:cNvPr id="8" name="Line 5">
              <a:extLst>
                <a:ext uri="{FF2B5EF4-FFF2-40B4-BE49-F238E27FC236}">
                  <a16:creationId xmlns:a16="http://schemas.microsoft.com/office/drawing/2014/main" id="{5B3169E0-7260-4441-89B5-0C1D3AD66CEE}"/>
                </a:ext>
              </a:extLst>
            </p:cNvPr>
            <p:cNvSpPr>
              <a:spLocks noChangeShapeType="1"/>
            </p:cNvSpPr>
            <p:nvPr/>
          </p:nvSpPr>
          <p:spPr bwMode="auto">
            <a:xfrm>
              <a:off x="1937" y="2385"/>
              <a:ext cx="295" cy="2"/>
            </a:xfrm>
            <a:prstGeom prst="line">
              <a:avLst/>
            </a:prstGeom>
            <a:noFill/>
            <a:ln w="50800">
              <a:solidFill>
                <a:schemeClr val="tx1"/>
              </a:solidFill>
              <a:round/>
              <a:headEnd/>
              <a:tailEnd type="triangle" w="med" len="med"/>
            </a:ln>
            <a:effectLst/>
          </p:spPr>
          <p:txBody>
            <a:bodyPr wrap="none" anchor="ctr"/>
            <a:lstStyle/>
            <a:p>
              <a:endParaRPr lang="en-US" sz="1400">
                <a:solidFill>
                  <a:srgbClr val="262827"/>
                </a:solidFill>
              </a:endParaRPr>
            </a:p>
          </p:txBody>
        </p:sp>
        <p:sp>
          <p:nvSpPr>
            <p:cNvPr id="9" name="Line 6">
              <a:extLst>
                <a:ext uri="{FF2B5EF4-FFF2-40B4-BE49-F238E27FC236}">
                  <a16:creationId xmlns:a16="http://schemas.microsoft.com/office/drawing/2014/main" id="{5140FE44-F365-4956-B989-640800ACCA4F}"/>
                </a:ext>
              </a:extLst>
            </p:cNvPr>
            <p:cNvSpPr>
              <a:spLocks noChangeShapeType="1"/>
            </p:cNvSpPr>
            <p:nvPr/>
          </p:nvSpPr>
          <p:spPr bwMode="auto">
            <a:xfrm flipH="1">
              <a:off x="3473" y="2400"/>
              <a:ext cx="399" cy="0"/>
            </a:xfrm>
            <a:prstGeom prst="line">
              <a:avLst/>
            </a:prstGeom>
            <a:noFill/>
            <a:ln w="50800">
              <a:solidFill>
                <a:schemeClr val="tx1"/>
              </a:solidFill>
              <a:round/>
              <a:headEnd/>
              <a:tailEnd type="triangle" w="med" len="med"/>
            </a:ln>
            <a:effectLst/>
          </p:spPr>
          <p:txBody>
            <a:bodyPr wrap="none" anchor="ctr"/>
            <a:lstStyle/>
            <a:p>
              <a:endParaRPr lang="en-US" sz="1400">
                <a:solidFill>
                  <a:srgbClr val="262827"/>
                </a:solidFill>
              </a:endParaRPr>
            </a:p>
          </p:txBody>
        </p:sp>
        <p:grpSp>
          <p:nvGrpSpPr>
            <p:cNvPr id="10" name="Group 7">
              <a:extLst>
                <a:ext uri="{FF2B5EF4-FFF2-40B4-BE49-F238E27FC236}">
                  <a16:creationId xmlns:a16="http://schemas.microsoft.com/office/drawing/2014/main" id="{6AEFA154-380A-4E83-B1A2-880F036C3E06}"/>
                </a:ext>
              </a:extLst>
            </p:cNvPr>
            <p:cNvGrpSpPr>
              <a:grpSpLocks/>
            </p:cNvGrpSpPr>
            <p:nvPr/>
          </p:nvGrpSpPr>
          <p:grpSpPr bwMode="auto">
            <a:xfrm>
              <a:off x="934" y="984"/>
              <a:ext cx="2487" cy="2832"/>
              <a:chOff x="934" y="984"/>
              <a:chExt cx="2487" cy="2832"/>
            </a:xfrm>
          </p:grpSpPr>
          <p:sp>
            <p:nvSpPr>
              <p:cNvPr id="13" name="Rectangle 8">
                <a:extLst>
                  <a:ext uri="{FF2B5EF4-FFF2-40B4-BE49-F238E27FC236}">
                    <a16:creationId xmlns:a16="http://schemas.microsoft.com/office/drawing/2014/main" id="{1FC632ED-2EE8-4FD0-81D0-7A0682A68202}"/>
                  </a:ext>
                </a:extLst>
              </p:cNvPr>
              <p:cNvSpPr>
                <a:spLocks noChangeArrowheads="1"/>
              </p:cNvSpPr>
              <p:nvPr/>
            </p:nvSpPr>
            <p:spPr bwMode="auto">
              <a:xfrm>
                <a:off x="2317" y="984"/>
                <a:ext cx="1104" cy="624"/>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 Risk of entry</a:t>
                </a:r>
              </a:p>
              <a:p>
                <a:pPr algn="ctr" defTabSz="836613" eaLnBrk="0" hangingPunct="0"/>
                <a:r>
                  <a:rPr lang="en-US" sz="1400" b="1" dirty="0">
                    <a:solidFill>
                      <a:srgbClr val="262827"/>
                    </a:solidFill>
                    <a:latin typeface="Arial" charset="0"/>
                  </a:rPr>
                  <a:t> by potential </a:t>
                </a:r>
              </a:p>
              <a:p>
                <a:pPr algn="ctr" defTabSz="836613" eaLnBrk="0" hangingPunct="0"/>
                <a:r>
                  <a:rPr lang="en-US" sz="1400" b="1" dirty="0">
                    <a:solidFill>
                      <a:srgbClr val="262827"/>
                    </a:solidFill>
                    <a:latin typeface="Arial" charset="0"/>
                  </a:rPr>
                  <a:t> competitors</a:t>
                </a:r>
              </a:p>
            </p:txBody>
          </p:sp>
          <p:sp>
            <p:nvSpPr>
              <p:cNvPr id="14" name="Rectangle 9">
                <a:extLst>
                  <a:ext uri="{FF2B5EF4-FFF2-40B4-BE49-F238E27FC236}">
                    <a16:creationId xmlns:a16="http://schemas.microsoft.com/office/drawing/2014/main" id="{9903FA65-99E5-429C-8219-ED37DB85D670}"/>
                  </a:ext>
                </a:extLst>
              </p:cNvPr>
              <p:cNvSpPr>
                <a:spLocks noChangeArrowheads="1"/>
              </p:cNvSpPr>
              <p:nvPr/>
            </p:nvSpPr>
            <p:spPr bwMode="auto">
              <a:xfrm>
                <a:off x="2344" y="1992"/>
                <a:ext cx="1077" cy="816"/>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Rivalry</a:t>
                </a:r>
              </a:p>
              <a:p>
                <a:pPr algn="ctr" defTabSz="836613" eaLnBrk="0" hangingPunct="0"/>
                <a:r>
                  <a:rPr lang="en-US" sz="1400" b="1" dirty="0">
                    <a:solidFill>
                      <a:srgbClr val="262827"/>
                    </a:solidFill>
                    <a:latin typeface="Arial" charset="0"/>
                  </a:rPr>
                  <a:t>Among</a:t>
                </a:r>
              </a:p>
              <a:p>
                <a:pPr algn="ctr" defTabSz="836613" eaLnBrk="0" hangingPunct="0"/>
                <a:r>
                  <a:rPr lang="en-US" sz="1400" b="1" dirty="0">
                    <a:solidFill>
                      <a:srgbClr val="262827"/>
                    </a:solidFill>
                    <a:latin typeface="Arial" charset="0"/>
                  </a:rPr>
                  <a:t>Established </a:t>
                </a:r>
              </a:p>
              <a:p>
                <a:pPr algn="ctr" defTabSz="836613" eaLnBrk="0" hangingPunct="0"/>
                <a:r>
                  <a:rPr lang="en-US" sz="1400" b="1" dirty="0">
                    <a:solidFill>
                      <a:srgbClr val="262827"/>
                    </a:solidFill>
                    <a:latin typeface="Arial" charset="0"/>
                  </a:rPr>
                  <a:t>Firms</a:t>
                </a:r>
              </a:p>
            </p:txBody>
          </p:sp>
          <p:sp>
            <p:nvSpPr>
              <p:cNvPr id="15" name="Rectangle 10">
                <a:extLst>
                  <a:ext uri="{FF2B5EF4-FFF2-40B4-BE49-F238E27FC236}">
                    <a16:creationId xmlns:a16="http://schemas.microsoft.com/office/drawing/2014/main" id="{83805685-4E7F-4FFA-B8E7-B6676124CA79}"/>
                  </a:ext>
                </a:extLst>
              </p:cNvPr>
              <p:cNvSpPr>
                <a:spLocks noChangeArrowheads="1"/>
              </p:cNvSpPr>
              <p:nvPr/>
            </p:nvSpPr>
            <p:spPr bwMode="auto">
              <a:xfrm>
                <a:off x="2321" y="3192"/>
                <a:ext cx="1086" cy="62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Threat of</a:t>
                </a:r>
              </a:p>
              <a:p>
                <a:pPr algn="ctr" defTabSz="836613" eaLnBrk="0" hangingPunct="0"/>
                <a:r>
                  <a:rPr lang="en-US" sz="1400" b="1" dirty="0">
                    <a:solidFill>
                      <a:srgbClr val="262827"/>
                    </a:solidFill>
                    <a:latin typeface="Arial" charset="0"/>
                  </a:rPr>
                  <a:t>  substitute  </a:t>
                </a:r>
              </a:p>
              <a:p>
                <a:pPr algn="ctr" defTabSz="836613" eaLnBrk="0" hangingPunct="0"/>
                <a:r>
                  <a:rPr lang="en-US" sz="1400" b="1" dirty="0">
                    <a:solidFill>
                      <a:srgbClr val="262827"/>
                    </a:solidFill>
                    <a:latin typeface="Arial" charset="0"/>
                  </a:rPr>
                  <a:t>   products   </a:t>
                </a:r>
              </a:p>
            </p:txBody>
          </p:sp>
          <p:sp>
            <p:nvSpPr>
              <p:cNvPr id="16" name="Rectangle 11">
                <a:extLst>
                  <a:ext uri="{FF2B5EF4-FFF2-40B4-BE49-F238E27FC236}">
                    <a16:creationId xmlns:a16="http://schemas.microsoft.com/office/drawing/2014/main" id="{09D86B99-6CD2-464F-8A46-0BA33CF5688B}"/>
                  </a:ext>
                </a:extLst>
              </p:cNvPr>
              <p:cNvSpPr>
                <a:spLocks noChangeArrowheads="1"/>
              </p:cNvSpPr>
              <p:nvPr/>
            </p:nvSpPr>
            <p:spPr bwMode="auto">
              <a:xfrm>
                <a:off x="934" y="2088"/>
                <a:ext cx="967" cy="62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none" lIns="88900" tIns="44450" rIns="88900" bIns="44450" anchor="ctr"/>
              <a:lstStyle/>
              <a:p>
                <a:pPr algn="ctr" defTabSz="836613" eaLnBrk="0" hangingPunct="0"/>
                <a:r>
                  <a:rPr lang="en-US" sz="1400" b="1" dirty="0">
                    <a:solidFill>
                      <a:srgbClr val="262827"/>
                    </a:solidFill>
                  </a:rPr>
                  <a:t>Bargaining</a:t>
                </a:r>
              </a:p>
              <a:p>
                <a:pPr algn="ctr" defTabSz="836613" eaLnBrk="0" hangingPunct="0"/>
                <a:r>
                  <a:rPr lang="en-US" sz="1400" b="1" dirty="0">
                    <a:solidFill>
                      <a:srgbClr val="262827"/>
                    </a:solidFill>
                  </a:rPr>
                  <a:t>power of</a:t>
                </a:r>
              </a:p>
              <a:p>
                <a:pPr algn="ctr" defTabSz="836613" eaLnBrk="0" hangingPunct="0"/>
                <a:r>
                  <a:rPr lang="en-US" sz="1400" b="1" dirty="0">
                    <a:solidFill>
                      <a:srgbClr val="262827"/>
                    </a:solidFill>
                  </a:rPr>
                  <a:t>suppliers</a:t>
                </a:r>
              </a:p>
            </p:txBody>
          </p:sp>
        </p:grpSp>
        <p:sp>
          <p:nvSpPr>
            <p:cNvPr id="11" name="Rectangle 12">
              <a:extLst>
                <a:ext uri="{FF2B5EF4-FFF2-40B4-BE49-F238E27FC236}">
                  <a16:creationId xmlns:a16="http://schemas.microsoft.com/office/drawing/2014/main" id="{81DB3CDB-36A2-4302-B2D5-8C85C3720109}"/>
                </a:ext>
              </a:extLst>
            </p:cNvPr>
            <p:cNvSpPr>
              <a:spLocks noChangeArrowheads="1"/>
            </p:cNvSpPr>
            <p:nvPr/>
          </p:nvSpPr>
          <p:spPr bwMode="auto">
            <a:xfrm>
              <a:off x="3836" y="2088"/>
              <a:ext cx="1031" cy="62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88900" tIns="44450" rIns="88900" bIns="44450" anchor="ctr"/>
            <a:lstStyle/>
            <a:p>
              <a:pPr algn="ctr" defTabSz="836613" eaLnBrk="0" hangingPunct="0"/>
              <a:r>
                <a:rPr lang="en-US" sz="1400" b="1" dirty="0">
                  <a:solidFill>
                    <a:srgbClr val="262827"/>
                  </a:solidFill>
                </a:rPr>
                <a:t>   Bargaining </a:t>
              </a:r>
            </a:p>
            <a:p>
              <a:pPr algn="ctr" defTabSz="836613" eaLnBrk="0" hangingPunct="0"/>
              <a:r>
                <a:rPr lang="en-US" sz="1400" b="1" dirty="0">
                  <a:solidFill>
                    <a:srgbClr val="262827"/>
                  </a:solidFill>
                </a:rPr>
                <a:t>power of</a:t>
              </a:r>
            </a:p>
            <a:p>
              <a:pPr algn="ctr" defTabSz="836613" eaLnBrk="0" hangingPunct="0"/>
              <a:r>
                <a:rPr lang="en-US" sz="1400" b="1" dirty="0">
                  <a:solidFill>
                    <a:srgbClr val="262827"/>
                  </a:solidFill>
                </a:rPr>
                <a:t>buyers</a:t>
              </a:r>
            </a:p>
          </p:txBody>
        </p:sp>
        <p:sp>
          <p:nvSpPr>
            <p:cNvPr id="12" name="Line 13">
              <a:extLst>
                <a:ext uri="{FF2B5EF4-FFF2-40B4-BE49-F238E27FC236}">
                  <a16:creationId xmlns:a16="http://schemas.microsoft.com/office/drawing/2014/main" id="{64A8AF3C-5718-4627-B197-27F42CBD179C}"/>
                </a:ext>
              </a:extLst>
            </p:cNvPr>
            <p:cNvSpPr>
              <a:spLocks noChangeShapeType="1"/>
            </p:cNvSpPr>
            <p:nvPr/>
          </p:nvSpPr>
          <p:spPr bwMode="auto">
            <a:xfrm flipV="1">
              <a:off x="2880" y="1617"/>
              <a:ext cx="0" cy="399"/>
            </a:xfrm>
            <a:prstGeom prst="line">
              <a:avLst/>
            </a:prstGeom>
            <a:noFill/>
            <a:ln w="50800">
              <a:solidFill>
                <a:schemeClr val="tx1"/>
              </a:solidFill>
              <a:round/>
              <a:headEnd type="triangle" w="med" len="med"/>
              <a:tailEnd/>
            </a:ln>
            <a:effectLst/>
          </p:spPr>
          <p:txBody>
            <a:bodyPr wrap="none" anchor="ctr"/>
            <a:lstStyle/>
            <a:p>
              <a:endParaRPr lang="en-US" sz="1400">
                <a:solidFill>
                  <a:srgbClr val="262827"/>
                </a:solidFill>
              </a:endParaRPr>
            </a:p>
          </p:txBody>
        </p:sp>
      </p:grpSp>
    </p:spTree>
    <p:extLst>
      <p:ext uri="{BB962C8B-B14F-4D97-AF65-F5344CB8AC3E}">
        <p14:creationId xmlns:p14="http://schemas.microsoft.com/office/powerpoint/2010/main" val="203534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E3B5-CFA4-4884-A19F-23917657F0E9}"/>
              </a:ext>
            </a:extLst>
          </p:cNvPr>
          <p:cNvSpPr>
            <a:spLocks noGrp="1"/>
          </p:cNvSpPr>
          <p:nvPr>
            <p:ph type="title"/>
          </p:nvPr>
        </p:nvSpPr>
        <p:spPr>
          <a:xfrm>
            <a:off x="202058" y="0"/>
            <a:ext cx="10505440" cy="1412240"/>
          </a:xfrm>
        </p:spPr>
        <p:txBody>
          <a:bodyPr>
            <a:normAutofit/>
          </a:bodyPr>
          <a:lstStyle/>
          <a:p>
            <a:r>
              <a:rPr lang="en-US" altLang="zh-CN" sz="4000" dirty="0">
                <a:solidFill>
                  <a:srgbClr val="006666"/>
                </a:solidFill>
                <a:sym typeface="Wingdings" pitchFamily="2" charset="2"/>
              </a:rPr>
              <a:t></a:t>
            </a:r>
            <a:r>
              <a:rPr lang="en-US" altLang="zh-CN" sz="4000" dirty="0">
                <a:sym typeface="Wingdings" pitchFamily="2" charset="2"/>
              </a:rPr>
              <a:t> </a:t>
            </a:r>
            <a:r>
              <a:rPr lang="en-US" altLang="zh-CN" sz="4000" dirty="0"/>
              <a:t>Risk of Entry by Potential Competitors</a:t>
            </a:r>
            <a:endParaRPr lang="zh-CN" altLang="en-US" sz="4000" dirty="0"/>
          </a:p>
        </p:txBody>
      </p:sp>
      <p:sp>
        <p:nvSpPr>
          <p:cNvPr id="3" name="Content Placeholder 2">
            <a:extLst>
              <a:ext uri="{FF2B5EF4-FFF2-40B4-BE49-F238E27FC236}">
                <a16:creationId xmlns:a16="http://schemas.microsoft.com/office/drawing/2014/main" id="{B3F33784-5DEF-4682-A3AC-46E6A99FA8B0}"/>
              </a:ext>
            </a:extLst>
          </p:cNvPr>
          <p:cNvSpPr>
            <a:spLocks noGrp="1"/>
          </p:cNvSpPr>
          <p:nvPr>
            <p:ph sz="quarter" idx="10"/>
          </p:nvPr>
        </p:nvSpPr>
        <p:spPr>
          <a:xfrm>
            <a:off x="396815" y="1219639"/>
            <a:ext cx="4865297" cy="5307534"/>
          </a:xfrm>
        </p:spPr>
        <p:txBody>
          <a:bodyPr/>
          <a:lstStyle/>
          <a:p>
            <a:r>
              <a:rPr lang="en-US" altLang="zh-CN" sz="2800" b="1" dirty="0">
                <a:solidFill>
                  <a:srgbClr val="262827"/>
                </a:solidFill>
                <a:latin typeface="Arial" charset="0"/>
              </a:rPr>
              <a:t>Potential </a:t>
            </a:r>
            <a:r>
              <a:rPr lang="en-US" altLang="zh-CN" sz="2800" dirty="0">
                <a:solidFill>
                  <a:srgbClr val="262827"/>
                </a:solidFill>
                <a:latin typeface="Arial" charset="0"/>
              </a:rPr>
              <a:t>Competitors: </a:t>
            </a:r>
          </a:p>
          <a:p>
            <a:pPr lvl="1"/>
            <a:r>
              <a:rPr lang="en-US" altLang="zh-CN" sz="2533" dirty="0">
                <a:solidFill>
                  <a:srgbClr val="262827"/>
                </a:solidFill>
                <a:latin typeface="Arial" charset="0"/>
              </a:rPr>
              <a:t>Companies that are</a:t>
            </a:r>
            <a:r>
              <a:rPr lang="en-US" altLang="zh-CN" sz="2533" dirty="0">
                <a:solidFill>
                  <a:srgbClr val="006666"/>
                </a:solidFill>
                <a:latin typeface="Arial" charset="0"/>
              </a:rPr>
              <a:t> </a:t>
            </a:r>
            <a:r>
              <a:rPr lang="en-US" altLang="zh-CN" sz="2533" b="1" dirty="0">
                <a:solidFill>
                  <a:srgbClr val="006666"/>
                </a:solidFill>
                <a:latin typeface="Arial" charset="0"/>
              </a:rPr>
              <a:t>NOT </a:t>
            </a:r>
            <a:r>
              <a:rPr lang="en-US" altLang="zh-CN" sz="2533" dirty="0">
                <a:solidFill>
                  <a:srgbClr val="262827"/>
                </a:solidFill>
                <a:latin typeface="Arial" charset="0"/>
              </a:rPr>
              <a:t>currently competing in an industry but have the capability to do so if they choose</a:t>
            </a:r>
          </a:p>
          <a:p>
            <a:r>
              <a:rPr lang="en-US" altLang="zh-CN" sz="2800" dirty="0">
                <a:solidFill>
                  <a:srgbClr val="262827"/>
                </a:solidFill>
                <a:latin typeface="Arial" charset="0"/>
              </a:rPr>
              <a:t>Potential competitors can be prevented or reduced by having/enhancing </a:t>
            </a:r>
            <a:r>
              <a:rPr lang="en-US" altLang="zh-CN" sz="2800" b="1" dirty="0">
                <a:solidFill>
                  <a:srgbClr val="006666"/>
                </a:solidFill>
                <a:latin typeface="Arial" charset="0"/>
              </a:rPr>
              <a:t>the barriers of entry</a:t>
            </a:r>
          </a:p>
        </p:txBody>
      </p:sp>
      <p:sp>
        <p:nvSpPr>
          <p:cNvPr id="6" name="Content Placeholder 2">
            <a:extLst>
              <a:ext uri="{FF2B5EF4-FFF2-40B4-BE49-F238E27FC236}">
                <a16:creationId xmlns:a16="http://schemas.microsoft.com/office/drawing/2014/main" id="{44EEAEEB-6118-46E4-AA5D-274AE07AA4D4}"/>
              </a:ext>
            </a:extLst>
          </p:cNvPr>
          <p:cNvSpPr txBox="1">
            <a:spLocks/>
          </p:cNvSpPr>
          <p:nvPr/>
        </p:nvSpPr>
        <p:spPr>
          <a:xfrm>
            <a:off x="5157821" y="1197074"/>
            <a:ext cx="6727829" cy="5307534"/>
          </a:xfrm>
          <a:prstGeom prst="rect">
            <a:avLst/>
          </a:prstGeom>
        </p:spPr>
        <p:txBody>
          <a:bodyPr/>
          <a:lstStyle>
            <a:defPPr>
              <a:defRPr lang="en-US"/>
            </a:defPPr>
            <a:lvl1pPr marL="457189" indent="-457189">
              <a:spcBef>
                <a:spcPct val="20000"/>
              </a:spcBef>
              <a:buClr>
                <a:schemeClr val="tx2"/>
              </a:buClr>
              <a:buSzPct val="100000"/>
              <a:buFontTx/>
              <a:buBlip>
                <a:blip r:embed="rId2"/>
              </a:buBlip>
              <a:defRPr sz="2800" b="1">
                <a:solidFill>
                  <a:srgbClr val="262827"/>
                </a:solidFill>
                <a:latin typeface="Arial" charset="0"/>
                <a:cs typeface="Arial" panose="020B0604020202020204" pitchFamily="34" charset="0"/>
              </a:defRPr>
            </a:lvl1pPr>
            <a:lvl2pPr marL="990575" lvl="1" indent="-380990">
              <a:spcBef>
                <a:spcPct val="20000"/>
              </a:spcBef>
              <a:buClr>
                <a:schemeClr val="tx2"/>
              </a:buClr>
              <a:buFont typeface="Arial"/>
              <a:buChar char="–"/>
              <a:defRPr>
                <a:solidFill>
                  <a:schemeClr val="tx2">
                    <a:lumMod val="50000"/>
                  </a:schemeClr>
                </a:solidFill>
                <a:latin typeface="Arial" panose="020B0604020202020204" pitchFamily="34" charset="0"/>
                <a:cs typeface="Arial" panose="020B0604020202020204" pitchFamily="34" charset="0"/>
              </a:defRPr>
            </a:lvl2pPr>
            <a:lvl3pPr marL="1523962" lvl="2" indent="-304792">
              <a:spcBef>
                <a:spcPct val="20000"/>
              </a:spcBef>
              <a:buClr>
                <a:schemeClr val="tx2"/>
              </a:buClr>
              <a:buFont typeface="Arial"/>
              <a:buChar char="•"/>
              <a:defRPr sz="1333">
                <a:solidFill>
                  <a:schemeClr val="tx2">
                    <a:lumMod val="50000"/>
                  </a:schemeClr>
                </a:solidFill>
                <a:latin typeface="Arial" charset="0"/>
                <a:cs typeface="Arial" charset="0"/>
              </a:defRPr>
            </a:lvl3pPr>
            <a:lvl4pPr marL="2133547" indent="-304792">
              <a:spcBef>
                <a:spcPct val="20000"/>
              </a:spcBef>
              <a:buFont typeface="Arial"/>
              <a:buChar char="–"/>
              <a:defRPr sz="2133">
                <a:solidFill>
                  <a:schemeClr val="tx2">
                    <a:lumMod val="50000"/>
                  </a:schemeClr>
                </a:solidFill>
                <a:latin typeface="Arial" panose="020B0604020202020204" pitchFamily="34" charset="0"/>
                <a:cs typeface="Arial" panose="020B0604020202020204" pitchFamily="34" charset="0"/>
              </a:defRPr>
            </a:lvl4pPr>
            <a:lvl5pPr marL="2743131" indent="-304792">
              <a:spcBef>
                <a:spcPct val="20000"/>
              </a:spcBef>
              <a:buFont typeface="Arial"/>
              <a:buChar char="»"/>
              <a:defRPr sz="2133">
                <a:solidFill>
                  <a:schemeClr val="tx2">
                    <a:lumMod val="50000"/>
                  </a:schemeClr>
                </a:solidFill>
                <a:latin typeface="Arial" panose="020B0604020202020204" pitchFamily="34" charset="0"/>
                <a:cs typeface="Arial" panose="020B0604020202020204" pitchFamily="34" charset="0"/>
              </a:defRPr>
            </a:lvl5pPr>
            <a:lvl6pPr marL="3352716" indent="-304792">
              <a:spcBef>
                <a:spcPct val="20000"/>
              </a:spcBef>
              <a:buFont typeface="Arial"/>
              <a:buChar char="•"/>
              <a:defRPr sz="2667"/>
            </a:lvl6pPr>
            <a:lvl7pPr marL="3962301" indent="-304792">
              <a:spcBef>
                <a:spcPct val="20000"/>
              </a:spcBef>
              <a:buFont typeface="Arial"/>
              <a:buChar char="•"/>
              <a:defRPr sz="2667"/>
            </a:lvl7pPr>
            <a:lvl8pPr marL="4571886" indent="-304792">
              <a:spcBef>
                <a:spcPct val="20000"/>
              </a:spcBef>
              <a:buFont typeface="Arial"/>
              <a:buChar char="•"/>
              <a:defRPr sz="2667"/>
            </a:lvl8pPr>
            <a:lvl9pPr marL="5181470" indent="-304792">
              <a:spcBef>
                <a:spcPct val="20000"/>
              </a:spcBef>
              <a:buFont typeface="Arial"/>
              <a:buChar char="•"/>
              <a:defRPr sz="2667"/>
            </a:lvl9pPr>
          </a:lstStyle>
          <a:p>
            <a:r>
              <a:rPr lang="en-US" altLang="zh-CN" sz="2400" dirty="0"/>
              <a:t>Barriers to new entrants:</a:t>
            </a:r>
          </a:p>
          <a:p>
            <a:pPr lvl="1"/>
            <a:r>
              <a:rPr lang="en-US" sz="2200" dirty="0"/>
              <a:t>Economic of scale</a:t>
            </a:r>
          </a:p>
          <a:p>
            <a:pPr lvl="2"/>
            <a:r>
              <a:rPr lang="en-US" sz="2000" dirty="0"/>
              <a:t>Supply-side economies of scale</a:t>
            </a:r>
            <a:endParaRPr lang="en-US" altLang="zh-CN" sz="2000" dirty="0"/>
          </a:p>
          <a:p>
            <a:pPr lvl="3">
              <a:buFont typeface="Wingdings" pitchFamily="2" charset="2"/>
              <a:buChar char="Ø"/>
            </a:pPr>
            <a:r>
              <a:rPr lang="en-US" altLang="zh-CN" sz="1800" dirty="0"/>
              <a:t>Cost benefits and operation efficiencies from large scale</a:t>
            </a:r>
          </a:p>
          <a:p>
            <a:pPr lvl="2">
              <a:buFont typeface="Wingdings" pitchFamily="2" charset="2"/>
              <a:buChar char="Ø"/>
            </a:pPr>
            <a:r>
              <a:rPr lang="en-US" sz="2000" dirty="0"/>
              <a:t>Demand-side benefits of scale: network effects</a:t>
            </a:r>
            <a:endParaRPr lang="en-US" altLang="zh-CN" sz="2000" dirty="0"/>
          </a:p>
          <a:p>
            <a:pPr lvl="1"/>
            <a:r>
              <a:rPr lang="en-US" altLang="zh-CN" sz="2200" dirty="0"/>
              <a:t>Customers</a:t>
            </a:r>
            <a:r>
              <a:rPr lang="zh-TW" altLang="en-US" sz="2200" dirty="0"/>
              <a:t> </a:t>
            </a:r>
            <a:r>
              <a:rPr lang="en-US" altLang="zh-CN" sz="2200" dirty="0"/>
              <a:t>Brand loyalty and switching costs</a:t>
            </a:r>
          </a:p>
          <a:p>
            <a:pPr lvl="2"/>
            <a:r>
              <a:rPr lang="en-US" altLang="zh-CN" sz="2000" dirty="0"/>
              <a:t>Familiarity with products</a:t>
            </a:r>
          </a:p>
          <a:p>
            <a:pPr lvl="2"/>
            <a:r>
              <a:rPr lang="en-US" altLang="zh-CN" sz="2000" dirty="0"/>
              <a:t>Trust in established brands</a:t>
            </a:r>
          </a:p>
          <a:p>
            <a:pPr lvl="1"/>
            <a:r>
              <a:rPr lang="en-US" altLang="zh-CN" dirty="0"/>
              <a:t>Access</a:t>
            </a:r>
            <a:r>
              <a:rPr lang="zh-TW" altLang="en-US" dirty="0"/>
              <a:t> </a:t>
            </a:r>
            <a:r>
              <a:rPr lang="en-US" altLang="zh-TW" dirty="0"/>
              <a:t>to</a:t>
            </a:r>
            <a:r>
              <a:rPr lang="zh-TW" altLang="en-US" dirty="0"/>
              <a:t> </a:t>
            </a:r>
            <a:r>
              <a:rPr lang="en-US" altLang="zh-TW" dirty="0"/>
              <a:t>limited</a:t>
            </a:r>
            <a:r>
              <a:rPr lang="zh-TW" altLang="en-US" dirty="0"/>
              <a:t> </a:t>
            </a:r>
            <a:r>
              <a:rPr lang="en-US" altLang="zh-TW" dirty="0"/>
              <a:t>resources</a:t>
            </a:r>
            <a:endParaRPr lang="en-US" altLang="zh-CN" dirty="0"/>
          </a:p>
          <a:p>
            <a:pPr lvl="2"/>
            <a:r>
              <a:rPr lang="en-US" altLang="zh-CN" sz="2000" dirty="0"/>
              <a:t>Location</a:t>
            </a:r>
          </a:p>
          <a:p>
            <a:pPr lvl="2"/>
            <a:r>
              <a:rPr lang="en-US" altLang="zh-CN" sz="2000" dirty="0"/>
              <a:t>Investments, </a:t>
            </a:r>
            <a:r>
              <a:rPr lang="en-US" altLang="zh-TW" sz="2000" dirty="0"/>
              <a:t>inputs &amp; channels</a:t>
            </a:r>
          </a:p>
          <a:p>
            <a:pPr lvl="1"/>
            <a:r>
              <a:rPr lang="en-US" altLang="zh-CN" dirty="0"/>
              <a:t>Government regulation </a:t>
            </a:r>
          </a:p>
          <a:p>
            <a:endParaRPr lang="zh-CN" altLang="en-US" dirty="0"/>
          </a:p>
        </p:txBody>
      </p:sp>
    </p:spTree>
    <p:extLst>
      <p:ext uri="{BB962C8B-B14F-4D97-AF65-F5344CB8AC3E}">
        <p14:creationId xmlns:p14="http://schemas.microsoft.com/office/powerpoint/2010/main" val="49041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9" end="9"/>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descr="Doritos Dogs - Crash the Super Bowl 2016 WINNER OFFICIAL">
            <a:hlinkClick r:id="" action="ppaction://media"/>
            <a:extLst>
              <a:ext uri="{FF2B5EF4-FFF2-40B4-BE49-F238E27FC236}">
                <a16:creationId xmlns:a16="http://schemas.microsoft.com/office/drawing/2014/main" id="{7F5F30EC-935F-79F6-0A91-1D15BF079D6C}"/>
              </a:ext>
            </a:extLst>
          </p:cNvPr>
          <p:cNvPicPr>
            <a:picLocks noRot="1" noChangeAspect="1"/>
          </p:cNvPicPr>
          <p:nvPr>
            <a:videoFile r:link="rId1"/>
          </p:nvPr>
        </p:nvPicPr>
        <p:blipFill>
          <a:blip r:embed="rId3"/>
          <a:stretch>
            <a:fillRect/>
          </a:stretch>
        </p:blipFill>
        <p:spPr>
          <a:xfrm>
            <a:off x="0" y="0"/>
            <a:ext cx="12192000" cy="6888480"/>
          </a:xfrm>
          <a:prstGeom prst="rect">
            <a:avLst/>
          </a:prstGeom>
        </p:spPr>
      </p:pic>
    </p:spTree>
    <p:extLst>
      <p:ext uri="{BB962C8B-B14F-4D97-AF65-F5344CB8AC3E}">
        <p14:creationId xmlns:p14="http://schemas.microsoft.com/office/powerpoint/2010/main" val="50444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E3B5-CFA4-4884-A19F-23917657F0E9}"/>
              </a:ext>
            </a:extLst>
          </p:cNvPr>
          <p:cNvSpPr>
            <a:spLocks noGrp="1"/>
          </p:cNvSpPr>
          <p:nvPr>
            <p:ph type="title"/>
          </p:nvPr>
        </p:nvSpPr>
        <p:spPr>
          <a:xfrm>
            <a:off x="372089" y="0"/>
            <a:ext cx="9993331" cy="1143000"/>
          </a:xfrm>
        </p:spPr>
        <p:txBody>
          <a:bodyPr anchor="ctr">
            <a:normAutofit/>
          </a:bodyPr>
          <a:lstStyle/>
          <a:p>
            <a:r>
              <a:rPr lang="en-US" altLang="zh-CN" sz="4000" dirty="0">
                <a:solidFill>
                  <a:srgbClr val="006666"/>
                </a:solidFill>
                <a:sym typeface="Wingdings" pitchFamily="2" charset="2"/>
              </a:rPr>
              <a:t> </a:t>
            </a:r>
            <a:r>
              <a:rPr lang="en-US" altLang="zh-CN" dirty="0"/>
              <a:t>Rivalry Among Established Companies</a:t>
            </a:r>
            <a:endParaRPr lang="zh-CN" altLang="en-US" dirty="0"/>
          </a:p>
        </p:txBody>
      </p:sp>
      <p:sp>
        <p:nvSpPr>
          <p:cNvPr id="3" name="Content Placeholder 2">
            <a:extLst>
              <a:ext uri="{FF2B5EF4-FFF2-40B4-BE49-F238E27FC236}">
                <a16:creationId xmlns:a16="http://schemas.microsoft.com/office/drawing/2014/main" id="{B3F33784-5DEF-4682-A3AC-46E6A99FA8B0}"/>
              </a:ext>
            </a:extLst>
          </p:cNvPr>
          <p:cNvSpPr>
            <a:spLocks noGrp="1"/>
          </p:cNvSpPr>
          <p:nvPr>
            <p:ph sz="half" idx="1"/>
          </p:nvPr>
        </p:nvSpPr>
        <p:spPr>
          <a:xfrm>
            <a:off x="167640" y="1209887"/>
            <a:ext cx="6370320" cy="5516033"/>
          </a:xfrm>
        </p:spPr>
        <p:txBody>
          <a:bodyPr>
            <a:normAutofit/>
          </a:bodyPr>
          <a:lstStyle/>
          <a:p>
            <a:pPr>
              <a:lnSpc>
                <a:spcPct val="90000"/>
              </a:lnSpc>
            </a:pPr>
            <a:r>
              <a:rPr lang="en-US" altLang="zh-CN" dirty="0"/>
              <a:t>Competitive Rivalry:</a:t>
            </a:r>
          </a:p>
          <a:p>
            <a:pPr lvl="1">
              <a:lnSpc>
                <a:spcPct val="90000"/>
              </a:lnSpc>
            </a:pPr>
            <a:r>
              <a:rPr lang="en-US" altLang="zh-CN" sz="2400" dirty="0"/>
              <a:t>Competitive struggle between companies in the same industry to gain market share from each other </a:t>
            </a:r>
          </a:p>
          <a:p>
            <a:pPr>
              <a:lnSpc>
                <a:spcPct val="90000"/>
              </a:lnSpc>
            </a:pPr>
            <a:r>
              <a:rPr lang="en-US" altLang="zh-CN" dirty="0"/>
              <a:t>Intensity of rivalry is strong when: </a:t>
            </a:r>
          </a:p>
          <a:p>
            <a:pPr lvl="1">
              <a:lnSpc>
                <a:spcPct val="90000"/>
              </a:lnSpc>
            </a:pPr>
            <a:r>
              <a:rPr lang="en-US" sz="2400" dirty="0"/>
              <a:t>Competitors are numerous or are roughly equal in size and power</a:t>
            </a:r>
            <a:endParaRPr lang="en-US" altLang="zh-CN" sz="2400" dirty="0"/>
          </a:p>
          <a:p>
            <a:pPr lvl="1">
              <a:lnSpc>
                <a:spcPct val="90000"/>
              </a:lnSpc>
            </a:pPr>
            <a:r>
              <a:rPr lang="en-US" sz="2400" dirty="0"/>
              <a:t>Industry growth is slow</a:t>
            </a:r>
            <a:endParaRPr lang="en-US" altLang="zh-CN" sz="2400" dirty="0"/>
          </a:p>
          <a:p>
            <a:pPr lvl="1">
              <a:lnSpc>
                <a:spcPct val="90000"/>
              </a:lnSpc>
            </a:pPr>
            <a:r>
              <a:rPr lang="en-US" altLang="zh-CN" sz="2400" dirty="0"/>
              <a:t>High Exit Barriers</a:t>
            </a:r>
          </a:p>
          <a:p>
            <a:pPr lvl="2">
              <a:lnSpc>
                <a:spcPct val="90000"/>
              </a:lnSpc>
            </a:pPr>
            <a:r>
              <a:rPr lang="en-US" altLang="zh-CN" sz="2400" dirty="0"/>
              <a:t>High investment in specific assets</a:t>
            </a:r>
          </a:p>
          <a:p>
            <a:pPr lvl="2">
              <a:lnSpc>
                <a:spcPct val="90000"/>
              </a:lnSpc>
            </a:pPr>
            <a:r>
              <a:rPr lang="en-US" altLang="zh-CN" sz="2400" dirty="0"/>
              <a:t>Economic dependence on industry</a:t>
            </a:r>
          </a:p>
          <a:p>
            <a:pPr lvl="2">
              <a:lnSpc>
                <a:spcPct val="90000"/>
              </a:lnSpc>
            </a:pPr>
            <a:r>
              <a:rPr lang="en-US" altLang="zh-CN" sz="2400" dirty="0"/>
              <a:t>Emotional attachment to industry</a:t>
            </a:r>
          </a:p>
          <a:p>
            <a:pPr lvl="2">
              <a:lnSpc>
                <a:spcPct val="90000"/>
              </a:lnSpc>
            </a:pPr>
            <a:r>
              <a:rPr lang="en-US" altLang="zh-CN" sz="2400" dirty="0"/>
              <a:t>Bankruptcy regulations</a:t>
            </a:r>
          </a:p>
          <a:p>
            <a:pPr lvl="1">
              <a:lnSpc>
                <a:spcPct val="90000"/>
              </a:lnSpc>
            </a:pPr>
            <a:endParaRPr lang="en-US" altLang="zh-CN" sz="2400" b="1" dirty="0"/>
          </a:p>
        </p:txBody>
      </p:sp>
      <p:pic>
        <p:nvPicPr>
          <p:cNvPr id="6146" name="Picture 2" descr="香港風水大廈間的「刀炮之戰」｜大紀元時報香港｜獨立敢言的良心媒體">
            <a:extLst>
              <a:ext uri="{FF2B5EF4-FFF2-40B4-BE49-F238E27FC236}">
                <a16:creationId xmlns:a16="http://schemas.microsoft.com/office/drawing/2014/main" id="{4DB00D81-E584-4053-A9A3-64F0E9802F3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50098" y="2260315"/>
            <a:ext cx="5474262" cy="3220949"/>
          </a:xfrm>
          <a:prstGeom prst="rect">
            <a:avLst/>
          </a:prstGeom>
          <a:solidFill>
            <a:srgbClr val="FFFFFF"/>
          </a:solidFill>
        </p:spPr>
      </p:pic>
    </p:spTree>
    <p:extLst>
      <p:ext uri="{BB962C8B-B14F-4D97-AF65-F5344CB8AC3E}">
        <p14:creationId xmlns:p14="http://schemas.microsoft.com/office/powerpoint/2010/main" val="11683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47DAE-8157-B7DA-B83B-AB7977DB2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B8226-CF68-DFE3-0BA2-3A57CD65266B}"/>
              </a:ext>
            </a:extLst>
          </p:cNvPr>
          <p:cNvSpPr>
            <a:spLocks noGrp="1"/>
          </p:cNvSpPr>
          <p:nvPr>
            <p:ph type="title"/>
          </p:nvPr>
        </p:nvSpPr>
        <p:spPr>
          <a:xfrm>
            <a:off x="609600" y="275166"/>
            <a:ext cx="9993331" cy="5617633"/>
          </a:xfrm>
        </p:spPr>
        <p:txBody>
          <a:bodyPr/>
          <a:lstStyle/>
          <a:p>
            <a:r>
              <a:rPr lang="en-US" dirty="0"/>
              <a:t>Question:</a:t>
            </a:r>
            <a:br>
              <a:rPr lang="en-US" dirty="0"/>
            </a:br>
            <a:br>
              <a:rPr lang="en-US" dirty="0"/>
            </a:br>
            <a:r>
              <a:rPr lang="en-US" dirty="0"/>
              <a:t>What is the difference between competitors/rivalry and risk of Entry?</a:t>
            </a:r>
          </a:p>
        </p:txBody>
      </p:sp>
    </p:spTree>
    <p:extLst>
      <p:ext uri="{BB962C8B-B14F-4D97-AF65-F5344CB8AC3E}">
        <p14:creationId xmlns:p14="http://schemas.microsoft.com/office/powerpoint/2010/main" val="932748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E3B5-CFA4-4884-A19F-23917657F0E9}"/>
              </a:ext>
            </a:extLst>
          </p:cNvPr>
          <p:cNvSpPr>
            <a:spLocks noGrp="1"/>
          </p:cNvSpPr>
          <p:nvPr>
            <p:ph type="title"/>
          </p:nvPr>
        </p:nvSpPr>
        <p:spPr>
          <a:xfrm>
            <a:off x="447040" y="66887"/>
            <a:ext cx="9993331" cy="1143000"/>
          </a:xfrm>
        </p:spPr>
        <p:txBody>
          <a:bodyPr anchor="ctr">
            <a:normAutofit/>
          </a:bodyPr>
          <a:lstStyle/>
          <a:p>
            <a:r>
              <a:rPr lang="en-US" altLang="zh-CN" sz="4000" dirty="0">
                <a:solidFill>
                  <a:srgbClr val="006666"/>
                </a:solidFill>
                <a:sym typeface="Wingdings" pitchFamily="2" charset="2"/>
              </a:rPr>
              <a:t></a:t>
            </a:r>
            <a:r>
              <a:rPr lang="en-US" altLang="zh-CN" dirty="0">
                <a:sym typeface="Wingdings" pitchFamily="2" charset="2"/>
              </a:rPr>
              <a:t> </a:t>
            </a:r>
            <a:r>
              <a:rPr lang="en-US" altLang="zh-CN" sz="4000" dirty="0"/>
              <a:t>Bargaining Power of Buyers</a:t>
            </a:r>
            <a:endParaRPr lang="zh-CN" altLang="en-US" dirty="0"/>
          </a:p>
        </p:txBody>
      </p:sp>
      <p:sp>
        <p:nvSpPr>
          <p:cNvPr id="3" name="Content Placeholder 2">
            <a:extLst>
              <a:ext uri="{FF2B5EF4-FFF2-40B4-BE49-F238E27FC236}">
                <a16:creationId xmlns:a16="http://schemas.microsoft.com/office/drawing/2014/main" id="{B3F33784-5DEF-4682-A3AC-46E6A99FA8B0}"/>
              </a:ext>
            </a:extLst>
          </p:cNvPr>
          <p:cNvSpPr>
            <a:spLocks noGrp="1"/>
          </p:cNvSpPr>
          <p:nvPr>
            <p:ph sz="half" idx="1"/>
          </p:nvPr>
        </p:nvSpPr>
        <p:spPr>
          <a:xfrm>
            <a:off x="447041" y="1209887"/>
            <a:ext cx="10270926" cy="5480473"/>
          </a:xfrm>
        </p:spPr>
        <p:txBody>
          <a:bodyPr>
            <a:normAutofit fontScale="92500" lnSpcReduction="10000"/>
          </a:bodyPr>
          <a:lstStyle/>
          <a:p>
            <a:pPr>
              <a:lnSpc>
                <a:spcPct val="90000"/>
              </a:lnSpc>
            </a:pPr>
            <a:r>
              <a:rPr lang="en-US" altLang="zh-CN" dirty="0"/>
              <a:t>Industry Buyers </a:t>
            </a:r>
          </a:p>
          <a:p>
            <a:pPr lvl="1">
              <a:lnSpc>
                <a:spcPct val="90000"/>
              </a:lnSpc>
            </a:pPr>
            <a:r>
              <a:rPr lang="en-US" altLang="zh-CN" dirty="0"/>
              <a:t>Consumers or end-users who ultimately use the product or intermediaries that distribute or retail the products</a:t>
            </a:r>
          </a:p>
          <a:p>
            <a:pPr>
              <a:lnSpc>
                <a:spcPct val="90000"/>
              </a:lnSpc>
            </a:pPr>
            <a:r>
              <a:rPr lang="en-US" altLang="zh-CN" dirty="0"/>
              <a:t>Buyers are powerful when:</a:t>
            </a:r>
          </a:p>
          <a:p>
            <a:pPr lvl="1">
              <a:lnSpc>
                <a:spcPct val="90000"/>
              </a:lnSpc>
            </a:pPr>
            <a:r>
              <a:rPr lang="en-US" altLang="zh-CN" sz="2400" dirty="0"/>
              <a:t>Buyers are dominant </a:t>
            </a:r>
          </a:p>
          <a:p>
            <a:pPr lvl="2">
              <a:lnSpc>
                <a:spcPct val="90000"/>
              </a:lnSpc>
            </a:pPr>
            <a:r>
              <a:rPr lang="en-US" altLang="zh-CN" sz="2134" dirty="0"/>
              <a:t>Large in size and few in number.</a:t>
            </a:r>
          </a:p>
          <a:p>
            <a:pPr lvl="2">
              <a:lnSpc>
                <a:spcPct val="90000"/>
              </a:lnSpc>
            </a:pPr>
            <a:r>
              <a:rPr lang="en-US" altLang="zh-CN" sz="2134" dirty="0"/>
              <a:t>The industry supplying the product is composed of many small companies</a:t>
            </a:r>
          </a:p>
          <a:p>
            <a:pPr lvl="1">
              <a:lnSpc>
                <a:spcPct val="90000"/>
              </a:lnSpc>
            </a:pPr>
            <a:r>
              <a:rPr lang="en-US" altLang="zh-CN" sz="2400" dirty="0"/>
              <a:t>Buyers purchase in large quantities</a:t>
            </a:r>
          </a:p>
          <a:p>
            <a:pPr lvl="2">
              <a:lnSpc>
                <a:spcPct val="90000"/>
              </a:lnSpc>
            </a:pPr>
            <a:r>
              <a:rPr lang="en-US" altLang="zh-CN" sz="2134" dirty="0"/>
              <a:t>Buyers have purchasing power as leverage for price reductions</a:t>
            </a:r>
          </a:p>
          <a:p>
            <a:pPr lvl="1">
              <a:lnSpc>
                <a:spcPct val="90000"/>
              </a:lnSpc>
            </a:pPr>
            <a:r>
              <a:rPr lang="en-US" altLang="zh-CN" sz="2400" dirty="0"/>
              <a:t>The industry is dependent on the buyers </a:t>
            </a:r>
          </a:p>
          <a:p>
            <a:pPr lvl="2">
              <a:lnSpc>
                <a:spcPct val="90000"/>
              </a:lnSpc>
            </a:pPr>
            <a:r>
              <a:rPr lang="en-US" altLang="zh-CN" sz="2134" dirty="0"/>
              <a:t>Buyers purchase a large percentage of a company’s total orders</a:t>
            </a:r>
          </a:p>
          <a:p>
            <a:pPr lvl="1">
              <a:lnSpc>
                <a:spcPct val="90000"/>
              </a:lnSpc>
            </a:pPr>
            <a:r>
              <a:rPr lang="en-US" altLang="zh-CN" sz="2400" dirty="0"/>
              <a:t>Switching costs for buyers are low</a:t>
            </a:r>
          </a:p>
          <a:p>
            <a:pPr lvl="2">
              <a:lnSpc>
                <a:spcPct val="90000"/>
              </a:lnSpc>
            </a:pPr>
            <a:r>
              <a:rPr lang="en-US" altLang="zh-CN" sz="2134" dirty="0"/>
              <a:t>Buyers can play off the supplying companies against each other</a:t>
            </a:r>
          </a:p>
          <a:p>
            <a:pPr lvl="1">
              <a:lnSpc>
                <a:spcPct val="90000"/>
              </a:lnSpc>
            </a:pPr>
            <a:r>
              <a:rPr lang="en-US" altLang="zh-CN" sz="2400" dirty="0"/>
              <a:t>Buyers can purchase from several supplying companies at once </a:t>
            </a:r>
          </a:p>
          <a:p>
            <a:pPr lvl="1">
              <a:lnSpc>
                <a:spcPct val="90000"/>
              </a:lnSpc>
            </a:pPr>
            <a:r>
              <a:rPr lang="en-US" altLang="zh-CN" sz="2400" dirty="0"/>
              <a:t>Buyers can threaten to enter the industry themselves</a:t>
            </a:r>
          </a:p>
          <a:p>
            <a:pPr lvl="2">
              <a:lnSpc>
                <a:spcPct val="90000"/>
              </a:lnSpc>
            </a:pPr>
            <a:r>
              <a:rPr lang="en-US" altLang="zh-CN" sz="2134" dirty="0"/>
              <a:t>Buyers can use threat of entry as a tactic to drive prices down</a:t>
            </a:r>
          </a:p>
        </p:txBody>
      </p:sp>
    </p:spTree>
    <p:extLst>
      <p:ext uri="{BB962C8B-B14F-4D97-AF65-F5344CB8AC3E}">
        <p14:creationId xmlns:p14="http://schemas.microsoft.com/office/powerpoint/2010/main" val="295485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4C9FB-A4CB-469B-9E01-6408B861975C}"/>
              </a:ext>
            </a:extLst>
          </p:cNvPr>
          <p:cNvSpPr>
            <a:spLocks noGrp="1"/>
          </p:cNvSpPr>
          <p:nvPr>
            <p:ph type="title"/>
          </p:nvPr>
        </p:nvSpPr>
        <p:spPr>
          <a:xfrm>
            <a:off x="609600" y="15240"/>
            <a:ext cx="9993331" cy="1143000"/>
          </a:xfrm>
        </p:spPr>
        <p:txBody>
          <a:bodyPr>
            <a:normAutofit/>
          </a:bodyPr>
          <a:lstStyle/>
          <a:p>
            <a:r>
              <a:rPr lang="en-US" altLang="zh-CN" sz="4000" dirty="0">
                <a:solidFill>
                  <a:srgbClr val="006666"/>
                </a:solidFill>
                <a:sym typeface="Wingdings" pitchFamily="2" charset="2"/>
              </a:rPr>
              <a:t></a:t>
            </a:r>
            <a:r>
              <a:rPr lang="en-US" altLang="zh-CN" sz="4000" dirty="0"/>
              <a:t> Bargaining Power of Suppliers</a:t>
            </a:r>
            <a:endParaRPr lang="zh-CN" altLang="en-US" sz="4000" dirty="0"/>
          </a:p>
        </p:txBody>
      </p:sp>
      <p:sp>
        <p:nvSpPr>
          <p:cNvPr id="3" name="Content Placeholder 2">
            <a:extLst>
              <a:ext uri="{FF2B5EF4-FFF2-40B4-BE49-F238E27FC236}">
                <a16:creationId xmlns:a16="http://schemas.microsoft.com/office/drawing/2014/main" id="{4A69BA0D-8205-433D-8A7A-0C1372E08225}"/>
              </a:ext>
            </a:extLst>
          </p:cNvPr>
          <p:cNvSpPr>
            <a:spLocks noGrp="1"/>
          </p:cNvSpPr>
          <p:nvPr>
            <p:ph sz="half" idx="1"/>
          </p:nvPr>
        </p:nvSpPr>
        <p:spPr>
          <a:xfrm>
            <a:off x="609600" y="1311487"/>
            <a:ext cx="9052560" cy="5256953"/>
          </a:xfrm>
        </p:spPr>
        <p:txBody>
          <a:bodyPr>
            <a:normAutofit lnSpcReduction="10000"/>
          </a:bodyPr>
          <a:lstStyle/>
          <a:p>
            <a:r>
              <a:rPr lang="en-US" altLang="zh-CN" sz="3200" dirty="0">
                <a:solidFill>
                  <a:srgbClr val="262827"/>
                </a:solidFill>
                <a:latin typeface="Arial" charset="0"/>
              </a:rPr>
              <a:t>Suppliers</a:t>
            </a:r>
          </a:p>
          <a:p>
            <a:pPr lvl="1"/>
            <a:r>
              <a:rPr lang="en-US" altLang="zh-CN" sz="2400" dirty="0">
                <a:solidFill>
                  <a:srgbClr val="262827"/>
                </a:solidFill>
                <a:latin typeface="Arial" charset="0"/>
              </a:rPr>
              <a:t>Organizations that provide inputs such as material and labor into the production for the industry </a:t>
            </a:r>
          </a:p>
          <a:p>
            <a:r>
              <a:rPr lang="en-US" altLang="zh-CN" sz="2800" dirty="0">
                <a:solidFill>
                  <a:srgbClr val="262827"/>
                </a:solidFill>
                <a:latin typeface="Arial" charset="0"/>
              </a:rPr>
              <a:t>Suppliers are powerful when</a:t>
            </a:r>
          </a:p>
          <a:p>
            <a:pPr lvl="1"/>
            <a:r>
              <a:rPr lang="en-US" altLang="zh-CN" sz="2400" dirty="0">
                <a:solidFill>
                  <a:srgbClr val="262827"/>
                </a:solidFill>
                <a:latin typeface="Arial" charset="0"/>
              </a:rPr>
              <a:t>The product supplied is vital to the industry and has few substitutes</a:t>
            </a:r>
          </a:p>
          <a:p>
            <a:pPr lvl="1"/>
            <a:r>
              <a:rPr lang="en-US" altLang="zh-CN" sz="2400" dirty="0">
                <a:solidFill>
                  <a:srgbClr val="262827"/>
                </a:solidFill>
                <a:latin typeface="Arial" charset="0"/>
              </a:rPr>
              <a:t>The industry is not an important customer to suppliers.</a:t>
            </a:r>
          </a:p>
          <a:p>
            <a:pPr lvl="2"/>
            <a:r>
              <a:rPr lang="en-US" altLang="zh-CN" sz="2000" dirty="0">
                <a:solidFill>
                  <a:srgbClr val="262827"/>
                </a:solidFill>
                <a:latin typeface="Arial" charset="0"/>
              </a:rPr>
              <a:t>Suppliers are not significantly affected by the industry</a:t>
            </a:r>
          </a:p>
          <a:p>
            <a:pPr lvl="1"/>
            <a:r>
              <a:rPr lang="en-US" altLang="zh-CN" sz="2400" dirty="0">
                <a:solidFill>
                  <a:srgbClr val="262827"/>
                </a:solidFill>
                <a:latin typeface="Arial" charset="0"/>
              </a:rPr>
              <a:t>Switching costs for companies in the industry are significant</a:t>
            </a:r>
          </a:p>
          <a:p>
            <a:pPr lvl="1"/>
            <a:r>
              <a:rPr lang="en-US" altLang="zh-CN" sz="2400" dirty="0">
                <a:solidFill>
                  <a:srgbClr val="262827"/>
                </a:solidFill>
                <a:latin typeface="Arial" charset="0"/>
              </a:rPr>
              <a:t>Suppliers can threaten to enter their customers’ industry</a:t>
            </a:r>
          </a:p>
          <a:p>
            <a:pPr lvl="1"/>
            <a:r>
              <a:rPr lang="en-US" altLang="zh-CN" sz="2400" dirty="0">
                <a:solidFill>
                  <a:srgbClr val="262827"/>
                </a:solidFill>
                <a:latin typeface="Arial" charset="0"/>
              </a:rPr>
              <a:t>Companies in the industry cannot threaten to enter their suppliers’ industry by making their own inputs</a:t>
            </a:r>
          </a:p>
          <a:p>
            <a:endParaRPr lang="zh-CN" altLang="en-US" dirty="0"/>
          </a:p>
        </p:txBody>
      </p:sp>
      <p:pic>
        <p:nvPicPr>
          <p:cNvPr id="7170" name="Picture 2" descr="股票實戰】台積電(2330)全球IC製造龍頭老大，我的核心持股之一@ 昭昭的投資日常:: 痞客邦::">
            <a:hlinkClick r:id="rId2"/>
            <a:extLst>
              <a:ext uri="{FF2B5EF4-FFF2-40B4-BE49-F238E27FC236}">
                <a16:creationId xmlns:a16="http://schemas.microsoft.com/office/drawing/2014/main" id="{B8E79197-68A7-4899-A4B9-427BEF1155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5960" y="3095414"/>
            <a:ext cx="2176779" cy="2176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122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00C2-4DCE-C88E-DD1A-705970ED7431}"/>
              </a:ext>
            </a:extLst>
          </p:cNvPr>
          <p:cNvSpPr>
            <a:spLocks noGrp="1"/>
          </p:cNvSpPr>
          <p:nvPr>
            <p:ph type="title"/>
          </p:nvPr>
        </p:nvSpPr>
        <p:spPr>
          <a:xfrm>
            <a:off x="609600" y="275166"/>
            <a:ext cx="9993331" cy="5617633"/>
          </a:xfrm>
        </p:spPr>
        <p:txBody>
          <a:bodyPr/>
          <a:lstStyle/>
          <a:p>
            <a:r>
              <a:rPr lang="en-US" dirty="0"/>
              <a:t>Question:</a:t>
            </a:r>
            <a:br>
              <a:rPr lang="en-US" dirty="0"/>
            </a:br>
            <a:br>
              <a:rPr lang="en-US" dirty="0"/>
            </a:br>
            <a:r>
              <a:rPr lang="en-US" dirty="0"/>
              <a:t>What is the relationship between the app provider and the phone manufacturer?</a:t>
            </a:r>
          </a:p>
        </p:txBody>
      </p:sp>
    </p:spTree>
    <p:extLst>
      <p:ext uri="{BB962C8B-B14F-4D97-AF65-F5344CB8AC3E}">
        <p14:creationId xmlns:p14="http://schemas.microsoft.com/office/powerpoint/2010/main" val="4033222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2781F-F0FA-412D-9DF3-7E7F092E26FC}"/>
              </a:ext>
            </a:extLst>
          </p:cNvPr>
          <p:cNvSpPr>
            <a:spLocks noGrp="1"/>
          </p:cNvSpPr>
          <p:nvPr>
            <p:ph type="title"/>
          </p:nvPr>
        </p:nvSpPr>
        <p:spPr>
          <a:xfrm>
            <a:off x="609600" y="122767"/>
            <a:ext cx="9993331" cy="1143000"/>
          </a:xfrm>
        </p:spPr>
        <p:txBody>
          <a:bodyPr>
            <a:normAutofit/>
          </a:bodyPr>
          <a:lstStyle/>
          <a:p>
            <a:r>
              <a:rPr lang="en-US" altLang="zh-CN" sz="4000" dirty="0">
                <a:solidFill>
                  <a:srgbClr val="006666"/>
                </a:solidFill>
                <a:sym typeface="Wingdings" pitchFamily="2" charset="2"/>
              </a:rPr>
              <a:t></a:t>
            </a:r>
            <a:r>
              <a:rPr lang="en-US" altLang="zh-CN" sz="4000" dirty="0">
                <a:sym typeface="Wingdings" pitchFamily="2" charset="2"/>
              </a:rPr>
              <a:t> </a:t>
            </a:r>
            <a:r>
              <a:rPr lang="en-US" altLang="zh-CN" sz="4000" dirty="0"/>
              <a:t>Substitute Products</a:t>
            </a:r>
            <a:endParaRPr lang="zh-CN" altLang="en-US" sz="4000" dirty="0"/>
          </a:p>
        </p:txBody>
      </p:sp>
      <p:sp>
        <p:nvSpPr>
          <p:cNvPr id="3" name="Content Placeholder 2">
            <a:extLst>
              <a:ext uri="{FF2B5EF4-FFF2-40B4-BE49-F238E27FC236}">
                <a16:creationId xmlns:a16="http://schemas.microsoft.com/office/drawing/2014/main" id="{E2844388-395F-4A52-A916-FD1E896D46AE}"/>
              </a:ext>
            </a:extLst>
          </p:cNvPr>
          <p:cNvSpPr>
            <a:spLocks noGrp="1"/>
          </p:cNvSpPr>
          <p:nvPr>
            <p:ph sz="half" idx="1"/>
          </p:nvPr>
        </p:nvSpPr>
        <p:spPr>
          <a:xfrm>
            <a:off x="609599" y="1265767"/>
            <a:ext cx="7806391" cy="5389034"/>
          </a:xfrm>
        </p:spPr>
        <p:txBody>
          <a:bodyPr>
            <a:normAutofit/>
          </a:bodyPr>
          <a:lstStyle/>
          <a:p>
            <a:r>
              <a:rPr lang="en-US" altLang="zh-CN" dirty="0"/>
              <a:t>Substitute </a:t>
            </a:r>
            <a:r>
              <a:rPr lang="en-US" altLang="zh-CN" b="1" dirty="0"/>
              <a:t>Products </a:t>
            </a:r>
          </a:p>
          <a:p>
            <a:pPr lvl="1"/>
            <a:r>
              <a:rPr lang="en-US" altLang="zh-CN" dirty="0"/>
              <a:t>Products from </a:t>
            </a:r>
            <a:r>
              <a:rPr lang="en-US" altLang="zh-CN" b="1" dirty="0"/>
              <a:t>different businesses or industries </a:t>
            </a:r>
            <a:r>
              <a:rPr lang="en-US" altLang="zh-CN" dirty="0"/>
              <a:t>that can satisfy similar customer needs</a:t>
            </a:r>
          </a:p>
          <a:p>
            <a:r>
              <a:rPr lang="en-US" altLang="zh-CN" dirty="0"/>
              <a:t>The existence of close substitutes is a strong competitive threat</a:t>
            </a:r>
          </a:p>
          <a:p>
            <a:pPr lvl="1"/>
            <a:r>
              <a:rPr lang="en-US" altLang="zh-CN" dirty="0"/>
              <a:t>Substitutes limit the price that companies can charge for their product</a:t>
            </a:r>
          </a:p>
          <a:p>
            <a:r>
              <a:rPr lang="en-US" altLang="zh-CN" dirty="0"/>
              <a:t>Substitutes are a weak competitive force if an industry’s products have few close substitutes</a:t>
            </a:r>
          </a:p>
          <a:p>
            <a:pPr lvl="1"/>
            <a:r>
              <a:rPr lang="en-US" altLang="zh-CN" dirty="0"/>
              <a:t>Other things being equal, companies in the industry have the opportunity to raise prices and earn additional profits</a:t>
            </a:r>
          </a:p>
          <a:p>
            <a:endParaRPr lang="en-US" altLang="zh-CN" dirty="0"/>
          </a:p>
          <a:p>
            <a:endParaRPr lang="zh-CN" altLang="en-US" dirty="0"/>
          </a:p>
        </p:txBody>
      </p:sp>
      <p:grpSp>
        <p:nvGrpSpPr>
          <p:cNvPr id="5" name="Group 6">
            <a:extLst>
              <a:ext uri="{FF2B5EF4-FFF2-40B4-BE49-F238E27FC236}">
                <a16:creationId xmlns:a16="http://schemas.microsoft.com/office/drawing/2014/main" id="{E26BEC8F-B5C4-4775-8CBA-22D6F05421DD}"/>
              </a:ext>
            </a:extLst>
          </p:cNvPr>
          <p:cNvGrpSpPr>
            <a:grpSpLocks/>
          </p:cNvGrpSpPr>
          <p:nvPr/>
        </p:nvGrpSpPr>
        <p:grpSpPr bwMode="auto">
          <a:xfrm>
            <a:off x="8415991" y="1507224"/>
            <a:ext cx="2971800" cy="2070100"/>
            <a:chOff x="3552" y="1392"/>
            <a:chExt cx="1968" cy="1304"/>
          </a:xfrm>
        </p:grpSpPr>
        <p:pic>
          <p:nvPicPr>
            <p:cNvPr id="6" name="Picture 7" descr="j0215521">
              <a:extLst>
                <a:ext uri="{FF2B5EF4-FFF2-40B4-BE49-F238E27FC236}">
                  <a16:creationId xmlns:a16="http://schemas.microsoft.com/office/drawing/2014/main" id="{8B5490C1-187D-4247-970C-778ABF898CA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3552" y="2050"/>
              <a:ext cx="576" cy="302"/>
            </a:xfrm>
            <a:prstGeom prst="rect">
              <a:avLst/>
            </a:prstGeom>
            <a:noFill/>
          </p:spPr>
        </p:pic>
        <p:pic>
          <p:nvPicPr>
            <p:cNvPr id="7" name="Picture 8" descr="j0228881">
              <a:extLst>
                <a:ext uri="{FF2B5EF4-FFF2-40B4-BE49-F238E27FC236}">
                  <a16:creationId xmlns:a16="http://schemas.microsoft.com/office/drawing/2014/main" id="{43FD7F0F-DF42-4456-BC7D-4E0A5F1450A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032" y="1392"/>
              <a:ext cx="1060" cy="1143"/>
            </a:xfrm>
            <a:prstGeom prst="rect">
              <a:avLst/>
            </a:prstGeom>
            <a:noFill/>
          </p:spPr>
        </p:pic>
        <p:pic>
          <p:nvPicPr>
            <p:cNvPr id="8" name="Picture 9" descr="j0215939">
              <a:extLst>
                <a:ext uri="{FF2B5EF4-FFF2-40B4-BE49-F238E27FC236}">
                  <a16:creationId xmlns:a16="http://schemas.microsoft.com/office/drawing/2014/main" id="{93FC954B-B444-49F4-8150-B2CA1A89C5A7}"/>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45" y="1824"/>
              <a:ext cx="675" cy="872"/>
            </a:xfrm>
            <a:prstGeom prst="rect">
              <a:avLst/>
            </a:prstGeom>
            <a:noFill/>
          </p:spPr>
        </p:pic>
      </p:grpSp>
      <p:grpSp>
        <p:nvGrpSpPr>
          <p:cNvPr id="9" name="Group 10">
            <a:extLst>
              <a:ext uri="{FF2B5EF4-FFF2-40B4-BE49-F238E27FC236}">
                <a16:creationId xmlns:a16="http://schemas.microsoft.com/office/drawing/2014/main" id="{16BAE38F-DBC8-44E4-B265-810453664E88}"/>
              </a:ext>
            </a:extLst>
          </p:cNvPr>
          <p:cNvGrpSpPr>
            <a:grpSpLocks/>
          </p:cNvGrpSpPr>
          <p:nvPr/>
        </p:nvGrpSpPr>
        <p:grpSpPr bwMode="auto">
          <a:xfrm>
            <a:off x="8935720" y="4140938"/>
            <a:ext cx="2387600" cy="2163342"/>
            <a:chOff x="4134" y="2813"/>
            <a:chExt cx="1146" cy="1219"/>
          </a:xfrm>
        </p:grpSpPr>
        <p:pic>
          <p:nvPicPr>
            <p:cNvPr id="10" name="Picture 11" descr="Intel header logo">
              <a:extLst>
                <a:ext uri="{FF2B5EF4-FFF2-40B4-BE49-F238E27FC236}">
                  <a16:creationId xmlns:a16="http://schemas.microsoft.com/office/drawing/2014/main" id="{D82415FC-1C5E-4B07-AD1E-E62AF376C9DB}"/>
                </a:ext>
              </a:extLst>
            </p:cNvPr>
            <p:cNvPicPr>
              <a:picLocks noChangeAspect="1" noChangeArrowheads="1"/>
            </p:cNvPicPr>
            <p:nvPr/>
          </p:nvPicPr>
          <p:blipFill>
            <a:blip r:embed="rId5" cstate="print"/>
            <a:srcRect/>
            <a:stretch>
              <a:fillRect/>
            </a:stretch>
          </p:blipFill>
          <p:spPr bwMode="auto">
            <a:xfrm>
              <a:off x="4218" y="3780"/>
              <a:ext cx="1062" cy="252"/>
            </a:xfrm>
            <a:prstGeom prst="rect">
              <a:avLst/>
            </a:prstGeom>
            <a:solidFill>
              <a:schemeClr val="bg1"/>
            </a:solidFill>
          </p:spPr>
        </p:pic>
        <p:pic>
          <p:nvPicPr>
            <p:cNvPr id="11" name="Picture 12" descr="j0299193">
              <a:extLst>
                <a:ext uri="{FF2B5EF4-FFF2-40B4-BE49-F238E27FC236}">
                  <a16:creationId xmlns:a16="http://schemas.microsoft.com/office/drawing/2014/main" id="{316BA8B1-BB9A-4D0C-A3B1-E3C890FFA9AF}"/>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134" y="2813"/>
              <a:ext cx="1146" cy="931"/>
            </a:xfrm>
            <a:prstGeom prst="rect">
              <a:avLst/>
            </a:prstGeom>
            <a:noFill/>
          </p:spPr>
        </p:pic>
      </p:grpSp>
    </p:spTree>
    <p:extLst>
      <p:ext uri="{BB962C8B-B14F-4D97-AF65-F5344CB8AC3E}">
        <p14:creationId xmlns:p14="http://schemas.microsoft.com/office/powerpoint/2010/main" val="53851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1AD4E-7A7A-F4A8-6D2C-65331F329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10EA6-2BE9-AD29-078A-9A3D4E8DAD83}"/>
              </a:ext>
            </a:extLst>
          </p:cNvPr>
          <p:cNvSpPr>
            <a:spLocks noGrp="1"/>
          </p:cNvSpPr>
          <p:nvPr>
            <p:ph type="title"/>
          </p:nvPr>
        </p:nvSpPr>
        <p:spPr>
          <a:xfrm>
            <a:off x="609600" y="275166"/>
            <a:ext cx="9993331" cy="5617633"/>
          </a:xfrm>
        </p:spPr>
        <p:txBody>
          <a:bodyPr/>
          <a:lstStyle/>
          <a:p>
            <a:r>
              <a:rPr lang="en-US" dirty="0"/>
              <a:t>Question:</a:t>
            </a:r>
            <a:br>
              <a:rPr lang="en-US" dirty="0"/>
            </a:br>
            <a:br>
              <a:rPr lang="en-US" dirty="0"/>
            </a:br>
            <a:r>
              <a:rPr lang="en-US" dirty="0"/>
              <a:t>What is the difference between competitors/rivalry and substitutes?</a:t>
            </a:r>
          </a:p>
        </p:txBody>
      </p:sp>
    </p:spTree>
    <p:extLst>
      <p:ext uri="{BB962C8B-B14F-4D97-AF65-F5344CB8AC3E}">
        <p14:creationId xmlns:p14="http://schemas.microsoft.com/office/powerpoint/2010/main" val="2887359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C3A7A-F210-43BB-96BE-C13D55EE93C5}"/>
              </a:ext>
            </a:extLst>
          </p:cNvPr>
          <p:cNvSpPr>
            <a:spLocks noGrp="1"/>
          </p:cNvSpPr>
          <p:nvPr>
            <p:ph type="title"/>
          </p:nvPr>
        </p:nvSpPr>
        <p:spPr>
          <a:xfrm>
            <a:off x="609600" y="0"/>
            <a:ext cx="9993331" cy="1143000"/>
          </a:xfrm>
        </p:spPr>
        <p:txBody>
          <a:bodyPr/>
          <a:lstStyle/>
          <a:p>
            <a:r>
              <a:rPr lang="en-US" altLang="zh-CN" dirty="0"/>
              <a:t>The 5 Forces and Industry Profitability </a:t>
            </a:r>
            <a:endParaRPr lang="zh-CN" altLang="en-US" dirty="0"/>
          </a:p>
        </p:txBody>
      </p:sp>
      <p:sp>
        <p:nvSpPr>
          <p:cNvPr id="3" name="Content Placeholder 2">
            <a:extLst>
              <a:ext uri="{FF2B5EF4-FFF2-40B4-BE49-F238E27FC236}">
                <a16:creationId xmlns:a16="http://schemas.microsoft.com/office/drawing/2014/main" id="{C3248A05-4115-4B8D-ACE5-8208468BB6AB}"/>
              </a:ext>
            </a:extLst>
          </p:cNvPr>
          <p:cNvSpPr>
            <a:spLocks noGrp="1"/>
          </p:cNvSpPr>
          <p:nvPr>
            <p:ph sz="half" idx="1"/>
          </p:nvPr>
        </p:nvSpPr>
        <p:spPr>
          <a:xfrm>
            <a:off x="44199" y="1143001"/>
            <a:ext cx="10558732" cy="5715000"/>
          </a:xfrm>
        </p:spPr>
        <p:txBody>
          <a:bodyPr>
            <a:normAutofit fontScale="92500" lnSpcReduction="10000"/>
          </a:bodyPr>
          <a:lstStyle/>
          <a:p>
            <a:r>
              <a:rPr lang="en-US" altLang="zh-CN" sz="2400" b="1" dirty="0">
                <a:solidFill>
                  <a:srgbClr val="006666"/>
                </a:solidFill>
                <a:latin typeface="Arial" charset="0"/>
              </a:rPr>
              <a:t>The stronger that each of these five forces is, the more limited is the ability of established companies to earn greater profits </a:t>
            </a:r>
          </a:p>
          <a:p>
            <a:r>
              <a:rPr lang="en-US" altLang="zh-CN" sz="2400" dirty="0"/>
              <a:t>A </a:t>
            </a:r>
            <a:r>
              <a:rPr lang="en-US" altLang="zh-CN" sz="2400" dirty="0">
                <a:solidFill>
                  <a:srgbClr val="006666"/>
                </a:solidFill>
              </a:rPr>
              <a:t>weak</a:t>
            </a:r>
            <a:r>
              <a:rPr lang="en-US" altLang="zh-CN" sz="2400" dirty="0"/>
              <a:t> competitive force </a:t>
            </a:r>
            <a:r>
              <a:rPr lang="en-US" altLang="zh-CN" dirty="0"/>
              <a:t>may be viewed as an </a:t>
            </a:r>
            <a:r>
              <a:rPr lang="en-US" altLang="zh-CN" dirty="0">
                <a:solidFill>
                  <a:srgbClr val="006666"/>
                </a:solidFill>
              </a:rPr>
              <a:t>opportunity</a:t>
            </a:r>
            <a:r>
              <a:rPr lang="en-US" altLang="zh-CN" dirty="0">
                <a:solidFill>
                  <a:srgbClr val="339966"/>
                </a:solidFill>
              </a:rPr>
              <a:t> </a:t>
            </a:r>
          </a:p>
          <a:p>
            <a:r>
              <a:rPr lang="en-US" altLang="zh-CN" sz="2400" dirty="0"/>
              <a:t>A </a:t>
            </a:r>
            <a:r>
              <a:rPr lang="en-US" altLang="zh-CN" sz="2400" dirty="0">
                <a:solidFill>
                  <a:srgbClr val="800000"/>
                </a:solidFill>
              </a:rPr>
              <a:t>strong</a:t>
            </a:r>
            <a:r>
              <a:rPr lang="en-US" altLang="zh-CN" sz="2400" dirty="0"/>
              <a:t> competitive force </a:t>
            </a:r>
            <a:r>
              <a:rPr lang="en-US" altLang="zh-CN" dirty="0"/>
              <a:t>may be viewed as a </a:t>
            </a:r>
            <a:r>
              <a:rPr lang="en-US" altLang="zh-CN" dirty="0">
                <a:solidFill>
                  <a:srgbClr val="800000"/>
                </a:solidFill>
              </a:rPr>
              <a:t>threat </a:t>
            </a:r>
          </a:p>
          <a:p>
            <a:r>
              <a:rPr lang="en-US" altLang="zh-CN" sz="2400" dirty="0"/>
              <a:t>Strength of forces may change as industry conditions change</a:t>
            </a:r>
          </a:p>
          <a:p>
            <a:pPr>
              <a:lnSpc>
                <a:spcPct val="100000"/>
              </a:lnSpc>
              <a:spcAft>
                <a:spcPct val="5000"/>
              </a:spcAft>
            </a:pPr>
            <a:r>
              <a:rPr lang="en-US" altLang="zh-CN" dirty="0"/>
              <a:t>Take advantage of the Five forces (The adaption view of organizations)</a:t>
            </a:r>
          </a:p>
          <a:p>
            <a:pPr lvl="1">
              <a:spcAft>
                <a:spcPct val="5000"/>
              </a:spcAft>
            </a:pPr>
            <a:r>
              <a:rPr lang="en-US" dirty="0"/>
              <a:t>POSITION YOUR COMPANY WHERE THE FORCES ARE WEAKEST</a:t>
            </a:r>
          </a:p>
          <a:p>
            <a:pPr lvl="2">
              <a:spcAft>
                <a:spcPct val="5000"/>
              </a:spcAft>
            </a:pPr>
            <a:r>
              <a:rPr lang="en-US" dirty="0"/>
              <a:t>Focus on specific market segmentation</a:t>
            </a:r>
          </a:p>
          <a:p>
            <a:pPr lvl="1">
              <a:spcAft>
                <a:spcPct val="5000"/>
              </a:spcAft>
            </a:pPr>
            <a:r>
              <a:rPr lang="en-US" dirty="0"/>
              <a:t>EXPLOIT CHANGES IN THE FORCES</a:t>
            </a:r>
          </a:p>
          <a:p>
            <a:pPr lvl="2">
              <a:spcAft>
                <a:spcPct val="5000"/>
              </a:spcAft>
            </a:pPr>
            <a:r>
              <a:rPr lang="en-US" dirty="0"/>
              <a:t>The emergence of </a:t>
            </a:r>
            <a:r>
              <a:rPr lang="en-US" dirty="0" err="1"/>
              <a:t>ITunes</a:t>
            </a:r>
            <a:r>
              <a:rPr lang="en-US" dirty="0"/>
              <a:t> Music store</a:t>
            </a:r>
          </a:p>
          <a:p>
            <a:pPr lvl="1">
              <a:spcAft>
                <a:spcPct val="5000"/>
              </a:spcAft>
            </a:pPr>
            <a:r>
              <a:rPr lang="en-US" dirty="0"/>
              <a:t>RESHAPE THE FORCES IN YOUR FAVOR</a:t>
            </a:r>
          </a:p>
          <a:p>
            <a:pPr lvl="2">
              <a:spcAft>
                <a:spcPct val="5000"/>
              </a:spcAft>
            </a:pPr>
            <a:r>
              <a:rPr lang="en-US" dirty="0"/>
              <a:t>To neutralize supplier power, standardize specifications.</a:t>
            </a:r>
          </a:p>
          <a:p>
            <a:pPr lvl="2">
              <a:spcAft>
                <a:spcPct val="5000"/>
              </a:spcAft>
            </a:pPr>
            <a:r>
              <a:rPr lang="en-US" dirty="0"/>
              <a:t>To counter customer power, expand your services.</a:t>
            </a:r>
          </a:p>
          <a:p>
            <a:pPr lvl="2">
              <a:spcAft>
                <a:spcPct val="5000"/>
              </a:spcAft>
            </a:pPr>
            <a:r>
              <a:rPr lang="en-US" dirty="0"/>
              <a:t>To temper price wars initiated by established rivals, invest more heavily in product differentiations.</a:t>
            </a:r>
          </a:p>
          <a:p>
            <a:pPr lvl="2">
              <a:spcAft>
                <a:spcPct val="5000"/>
              </a:spcAft>
            </a:pPr>
            <a:r>
              <a:rPr lang="en-US" dirty="0"/>
              <a:t>To scare off new entrants, elevate the fixed costs of competing</a:t>
            </a:r>
          </a:p>
          <a:p>
            <a:pPr lvl="2">
              <a:spcAft>
                <a:spcPct val="5000"/>
              </a:spcAft>
            </a:pPr>
            <a:r>
              <a:rPr lang="en-US" dirty="0"/>
              <a:t>To limit the threat of substitutes, offer better value through wider product accessibility</a:t>
            </a:r>
            <a:endParaRPr lang="en-US" altLang="zh-CN" sz="2400" b="1" dirty="0">
              <a:solidFill>
                <a:srgbClr val="006666"/>
              </a:solidFill>
              <a:latin typeface="Arial" charset="0"/>
            </a:endParaRPr>
          </a:p>
        </p:txBody>
      </p:sp>
    </p:spTree>
    <p:extLst>
      <p:ext uri="{BB962C8B-B14F-4D97-AF65-F5344CB8AC3E}">
        <p14:creationId xmlns:p14="http://schemas.microsoft.com/office/powerpoint/2010/main" val="221510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F75AF-F2CD-9641-841D-5BEAA1863E7F}"/>
              </a:ext>
            </a:extLst>
          </p:cNvPr>
          <p:cNvSpPr>
            <a:spLocks noGrp="1"/>
          </p:cNvSpPr>
          <p:nvPr>
            <p:ph type="title"/>
          </p:nvPr>
        </p:nvSpPr>
        <p:spPr>
          <a:xfrm>
            <a:off x="0" y="20879"/>
            <a:ext cx="9993331" cy="1143000"/>
          </a:xfrm>
        </p:spPr>
        <p:txBody>
          <a:bodyPr/>
          <a:lstStyle/>
          <a:p>
            <a:r>
              <a:rPr lang="en-US" dirty="0"/>
              <a:t>Five</a:t>
            </a:r>
            <a:r>
              <a:rPr lang="zh-CN" altLang="en-US" dirty="0"/>
              <a:t> </a:t>
            </a:r>
            <a:r>
              <a:rPr lang="en-US" altLang="zh-CN" dirty="0"/>
              <a:t>Forces</a:t>
            </a:r>
            <a:r>
              <a:rPr lang="zh-CN" altLang="en-US" dirty="0"/>
              <a:t> </a:t>
            </a:r>
            <a:r>
              <a:rPr lang="en-US" altLang="zh-CN" dirty="0"/>
              <a:t>Exercise</a:t>
            </a:r>
            <a:endParaRPr lang="en-US" dirty="0"/>
          </a:p>
        </p:txBody>
      </p:sp>
      <p:grpSp>
        <p:nvGrpSpPr>
          <p:cNvPr id="5" name="Group 3">
            <a:extLst>
              <a:ext uri="{FF2B5EF4-FFF2-40B4-BE49-F238E27FC236}">
                <a16:creationId xmlns:a16="http://schemas.microsoft.com/office/drawing/2014/main" id="{16418D3F-B22E-8C44-8663-98ECD8596BB9}"/>
              </a:ext>
            </a:extLst>
          </p:cNvPr>
          <p:cNvGrpSpPr>
            <a:grpSpLocks/>
          </p:cNvGrpSpPr>
          <p:nvPr/>
        </p:nvGrpSpPr>
        <p:grpSpPr bwMode="auto">
          <a:xfrm>
            <a:off x="513949" y="1588478"/>
            <a:ext cx="5005674" cy="3681044"/>
            <a:chOff x="934" y="906"/>
            <a:chExt cx="3933" cy="2910"/>
          </a:xfrm>
        </p:grpSpPr>
        <p:sp>
          <p:nvSpPr>
            <p:cNvPr id="6" name="Line 4">
              <a:extLst>
                <a:ext uri="{FF2B5EF4-FFF2-40B4-BE49-F238E27FC236}">
                  <a16:creationId xmlns:a16="http://schemas.microsoft.com/office/drawing/2014/main" id="{44C34DF2-F733-DF4A-B9E0-DFBC6B747B15}"/>
                </a:ext>
              </a:extLst>
            </p:cNvPr>
            <p:cNvSpPr>
              <a:spLocks noChangeShapeType="1"/>
            </p:cNvSpPr>
            <p:nvPr/>
          </p:nvSpPr>
          <p:spPr bwMode="auto">
            <a:xfrm flipV="1">
              <a:off x="2890" y="2824"/>
              <a:ext cx="0" cy="399"/>
            </a:xfrm>
            <a:prstGeom prst="line">
              <a:avLst/>
            </a:prstGeom>
            <a:noFill/>
            <a:ln w="50800">
              <a:solidFill>
                <a:schemeClr val="tx1"/>
              </a:solidFill>
              <a:round/>
              <a:headEnd/>
              <a:tailEnd type="triangle" w="med" len="med"/>
            </a:ln>
            <a:effectLst/>
          </p:spPr>
          <p:txBody>
            <a:bodyPr wrap="none" anchor="ctr"/>
            <a:lstStyle/>
            <a:p>
              <a:endParaRPr lang="en-US">
                <a:solidFill>
                  <a:srgbClr val="262827"/>
                </a:solidFill>
              </a:endParaRPr>
            </a:p>
          </p:txBody>
        </p:sp>
        <p:sp>
          <p:nvSpPr>
            <p:cNvPr id="7" name="Line 5">
              <a:extLst>
                <a:ext uri="{FF2B5EF4-FFF2-40B4-BE49-F238E27FC236}">
                  <a16:creationId xmlns:a16="http://schemas.microsoft.com/office/drawing/2014/main" id="{3AB64751-37FE-2845-B086-48B627508757}"/>
                </a:ext>
              </a:extLst>
            </p:cNvPr>
            <p:cNvSpPr>
              <a:spLocks noChangeShapeType="1"/>
            </p:cNvSpPr>
            <p:nvPr/>
          </p:nvSpPr>
          <p:spPr bwMode="auto">
            <a:xfrm>
              <a:off x="1937" y="2385"/>
              <a:ext cx="295" cy="2"/>
            </a:xfrm>
            <a:prstGeom prst="line">
              <a:avLst/>
            </a:prstGeom>
            <a:noFill/>
            <a:ln w="50800">
              <a:solidFill>
                <a:schemeClr val="tx1"/>
              </a:solidFill>
              <a:round/>
              <a:headEnd/>
              <a:tailEnd type="triangle" w="med" len="med"/>
            </a:ln>
            <a:effectLst/>
          </p:spPr>
          <p:txBody>
            <a:bodyPr wrap="none" anchor="ctr"/>
            <a:lstStyle/>
            <a:p>
              <a:endParaRPr lang="en-US">
                <a:solidFill>
                  <a:srgbClr val="262827"/>
                </a:solidFill>
              </a:endParaRPr>
            </a:p>
          </p:txBody>
        </p:sp>
        <p:sp>
          <p:nvSpPr>
            <p:cNvPr id="8" name="Line 6">
              <a:extLst>
                <a:ext uri="{FF2B5EF4-FFF2-40B4-BE49-F238E27FC236}">
                  <a16:creationId xmlns:a16="http://schemas.microsoft.com/office/drawing/2014/main" id="{FE7BB423-AFB6-6140-8642-DCBBC824D234}"/>
                </a:ext>
              </a:extLst>
            </p:cNvPr>
            <p:cNvSpPr>
              <a:spLocks noChangeShapeType="1"/>
            </p:cNvSpPr>
            <p:nvPr/>
          </p:nvSpPr>
          <p:spPr bwMode="auto">
            <a:xfrm flipH="1">
              <a:off x="3473" y="2400"/>
              <a:ext cx="399" cy="0"/>
            </a:xfrm>
            <a:prstGeom prst="line">
              <a:avLst/>
            </a:prstGeom>
            <a:noFill/>
            <a:ln w="50800">
              <a:solidFill>
                <a:schemeClr val="tx1"/>
              </a:solidFill>
              <a:round/>
              <a:headEnd/>
              <a:tailEnd type="triangle" w="med" len="med"/>
            </a:ln>
            <a:effectLst/>
          </p:spPr>
          <p:txBody>
            <a:bodyPr wrap="none" anchor="ctr"/>
            <a:lstStyle/>
            <a:p>
              <a:endParaRPr lang="en-US">
                <a:solidFill>
                  <a:srgbClr val="262827"/>
                </a:solidFill>
              </a:endParaRPr>
            </a:p>
          </p:txBody>
        </p:sp>
        <p:grpSp>
          <p:nvGrpSpPr>
            <p:cNvPr id="9" name="Group 7">
              <a:extLst>
                <a:ext uri="{FF2B5EF4-FFF2-40B4-BE49-F238E27FC236}">
                  <a16:creationId xmlns:a16="http://schemas.microsoft.com/office/drawing/2014/main" id="{26F97AE9-0A4E-2049-83A3-5EC1027CAA31}"/>
                </a:ext>
              </a:extLst>
            </p:cNvPr>
            <p:cNvGrpSpPr>
              <a:grpSpLocks/>
            </p:cNvGrpSpPr>
            <p:nvPr/>
          </p:nvGrpSpPr>
          <p:grpSpPr bwMode="auto">
            <a:xfrm>
              <a:off x="934" y="906"/>
              <a:ext cx="2498" cy="2910"/>
              <a:chOff x="934" y="906"/>
              <a:chExt cx="2498" cy="2910"/>
            </a:xfrm>
          </p:grpSpPr>
          <p:sp>
            <p:nvSpPr>
              <p:cNvPr id="12" name="Rectangle 8">
                <a:extLst>
                  <a:ext uri="{FF2B5EF4-FFF2-40B4-BE49-F238E27FC236}">
                    <a16:creationId xmlns:a16="http://schemas.microsoft.com/office/drawing/2014/main" id="{D465B912-E978-B84C-A4AC-616452DE24E5}"/>
                  </a:ext>
                </a:extLst>
              </p:cNvPr>
              <p:cNvSpPr>
                <a:spLocks noChangeArrowheads="1"/>
              </p:cNvSpPr>
              <p:nvPr/>
            </p:nvSpPr>
            <p:spPr bwMode="auto">
              <a:xfrm>
                <a:off x="2328" y="906"/>
                <a:ext cx="1104" cy="695"/>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lIns="88900" tIns="44450" rIns="88900" bIns="44450" anchor="ctr"/>
              <a:lstStyle/>
              <a:p>
                <a:pPr algn="ctr" defTabSz="836613" eaLnBrk="0" hangingPunct="0"/>
                <a:r>
                  <a:rPr lang="en-US" sz="2000" b="1" dirty="0">
                    <a:solidFill>
                      <a:srgbClr val="262827"/>
                    </a:solidFill>
                    <a:latin typeface="Arial" charset="0"/>
                  </a:rPr>
                  <a:t> </a:t>
                </a:r>
                <a:r>
                  <a:rPr lang="en-US" sz="1400" b="1" dirty="0">
                    <a:solidFill>
                      <a:srgbClr val="262827"/>
                    </a:solidFill>
                    <a:latin typeface="Arial" charset="0"/>
                  </a:rPr>
                  <a:t>Risk of entry</a:t>
                </a:r>
              </a:p>
              <a:p>
                <a:pPr algn="ctr" defTabSz="836613" eaLnBrk="0" hangingPunct="0"/>
                <a:r>
                  <a:rPr lang="en-US" sz="1400" b="1" dirty="0">
                    <a:solidFill>
                      <a:srgbClr val="262827"/>
                    </a:solidFill>
                    <a:latin typeface="Arial" charset="0"/>
                  </a:rPr>
                  <a:t> by potential </a:t>
                </a:r>
              </a:p>
              <a:p>
                <a:pPr algn="ctr" defTabSz="836613" eaLnBrk="0" hangingPunct="0"/>
                <a:r>
                  <a:rPr lang="en-US" sz="1400" b="1" dirty="0">
                    <a:solidFill>
                      <a:srgbClr val="262827"/>
                    </a:solidFill>
                    <a:latin typeface="Arial" charset="0"/>
                  </a:rPr>
                  <a:t> competitors</a:t>
                </a:r>
              </a:p>
            </p:txBody>
          </p:sp>
          <p:sp>
            <p:nvSpPr>
              <p:cNvPr id="13" name="Rectangle 9">
                <a:extLst>
                  <a:ext uri="{FF2B5EF4-FFF2-40B4-BE49-F238E27FC236}">
                    <a16:creationId xmlns:a16="http://schemas.microsoft.com/office/drawing/2014/main" id="{121EADD3-FC9F-4042-959D-9F3A86D9FD45}"/>
                  </a:ext>
                </a:extLst>
              </p:cNvPr>
              <p:cNvSpPr>
                <a:spLocks noChangeArrowheads="1"/>
              </p:cNvSpPr>
              <p:nvPr/>
            </p:nvSpPr>
            <p:spPr bwMode="auto">
              <a:xfrm>
                <a:off x="2344" y="1992"/>
                <a:ext cx="1077" cy="816"/>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Rivalry</a:t>
                </a:r>
              </a:p>
              <a:p>
                <a:pPr algn="ctr" defTabSz="836613" eaLnBrk="0" hangingPunct="0"/>
                <a:r>
                  <a:rPr lang="en-US" sz="1400" b="1" dirty="0">
                    <a:solidFill>
                      <a:srgbClr val="262827"/>
                    </a:solidFill>
                    <a:latin typeface="Arial" charset="0"/>
                  </a:rPr>
                  <a:t>Among</a:t>
                </a:r>
              </a:p>
              <a:p>
                <a:pPr algn="ctr" defTabSz="836613" eaLnBrk="0" hangingPunct="0"/>
                <a:r>
                  <a:rPr lang="en-US" sz="1400" b="1" dirty="0">
                    <a:solidFill>
                      <a:srgbClr val="262827"/>
                    </a:solidFill>
                    <a:latin typeface="Arial" charset="0"/>
                  </a:rPr>
                  <a:t>Established </a:t>
                </a:r>
              </a:p>
              <a:p>
                <a:pPr algn="ctr" defTabSz="836613" eaLnBrk="0" hangingPunct="0"/>
                <a:r>
                  <a:rPr lang="en-US" sz="1400" b="1" dirty="0">
                    <a:solidFill>
                      <a:srgbClr val="262827"/>
                    </a:solidFill>
                    <a:latin typeface="Arial" charset="0"/>
                  </a:rPr>
                  <a:t>Firms</a:t>
                </a:r>
              </a:p>
            </p:txBody>
          </p:sp>
          <p:sp>
            <p:nvSpPr>
              <p:cNvPr id="14" name="Rectangle 10">
                <a:extLst>
                  <a:ext uri="{FF2B5EF4-FFF2-40B4-BE49-F238E27FC236}">
                    <a16:creationId xmlns:a16="http://schemas.microsoft.com/office/drawing/2014/main" id="{5E8A1401-C01C-2847-ABAF-29B3D6AB0807}"/>
                  </a:ext>
                </a:extLst>
              </p:cNvPr>
              <p:cNvSpPr>
                <a:spLocks noChangeArrowheads="1"/>
              </p:cNvSpPr>
              <p:nvPr/>
            </p:nvSpPr>
            <p:spPr bwMode="auto">
              <a:xfrm>
                <a:off x="2321" y="3192"/>
                <a:ext cx="1086" cy="624"/>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Threat of</a:t>
                </a:r>
              </a:p>
              <a:p>
                <a:pPr algn="ctr" defTabSz="836613" eaLnBrk="0" hangingPunct="0"/>
                <a:r>
                  <a:rPr lang="en-US" sz="1400" b="1" dirty="0">
                    <a:solidFill>
                      <a:srgbClr val="262827"/>
                    </a:solidFill>
                    <a:latin typeface="Arial" charset="0"/>
                  </a:rPr>
                  <a:t>  substitute  </a:t>
                </a:r>
              </a:p>
              <a:p>
                <a:pPr algn="ctr" defTabSz="836613" eaLnBrk="0" hangingPunct="0"/>
                <a:r>
                  <a:rPr lang="en-US" sz="1400" b="1" dirty="0">
                    <a:solidFill>
                      <a:srgbClr val="262827"/>
                    </a:solidFill>
                    <a:latin typeface="Arial" charset="0"/>
                  </a:rPr>
                  <a:t>   products   </a:t>
                </a:r>
              </a:p>
            </p:txBody>
          </p:sp>
          <p:sp>
            <p:nvSpPr>
              <p:cNvPr id="15" name="Rectangle 11">
                <a:extLst>
                  <a:ext uri="{FF2B5EF4-FFF2-40B4-BE49-F238E27FC236}">
                    <a16:creationId xmlns:a16="http://schemas.microsoft.com/office/drawing/2014/main" id="{8ADD8AE1-7C06-A04D-AE3F-27E09B23DBDC}"/>
                  </a:ext>
                </a:extLst>
              </p:cNvPr>
              <p:cNvSpPr>
                <a:spLocks noChangeArrowheads="1"/>
              </p:cNvSpPr>
              <p:nvPr/>
            </p:nvSpPr>
            <p:spPr bwMode="auto">
              <a:xfrm>
                <a:off x="934" y="2088"/>
                <a:ext cx="967" cy="624"/>
              </a:xfrm>
              <a:prstGeom prst="rect">
                <a:avLst/>
              </a:prstGeom>
              <a:ln>
                <a:headEnd/>
                <a:tailEnd/>
              </a:ln>
            </p:spPr>
            <p:style>
              <a:lnRef idx="0">
                <a:schemeClr val="accent4"/>
              </a:lnRef>
              <a:fillRef idx="3">
                <a:schemeClr val="accent4"/>
              </a:fillRef>
              <a:effectRef idx="3">
                <a:schemeClr val="accent4"/>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Bargaining</a:t>
                </a:r>
              </a:p>
              <a:p>
                <a:pPr algn="ctr" defTabSz="836613" eaLnBrk="0" hangingPunct="0"/>
                <a:r>
                  <a:rPr lang="en-US" sz="1400" b="1" dirty="0">
                    <a:solidFill>
                      <a:srgbClr val="262827"/>
                    </a:solidFill>
                    <a:latin typeface="Arial" charset="0"/>
                  </a:rPr>
                  <a:t>power of</a:t>
                </a:r>
              </a:p>
              <a:p>
                <a:pPr algn="ctr" defTabSz="836613" eaLnBrk="0" hangingPunct="0"/>
                <a:r>
                  <a:rPr lang="en-US" sz="1400" b="1" dirty="0">
                    <a:solidFill>
                      <a:srgbClr val="262827"/>
                    </a:solidFill>
                  </a:rPr>
                  <a:t>suppli</a:t>
                </a:r>
                <a:r>
                  <a:rPr lang="en-US" sz="1400" b="1" dirty="0">
                    <a:solidFill>
                      <a:srgbClr val="262827"/>
                    </a:solidFill>
                    <a:latin typeface="Arial" charset="0"/>
                  </a:rPr>
                  <a:t>ers</a:t>
                </a:r>
              </a:p>
            </p:txBody>
          </p:sp>
        </p:grpSp>
        <p:sp>
          <p:nvSpPr>
            <p:cNvPr id="10" name="Rectangle 9">
              <a:extLst>
                <a:ext uri="{FF2B5EF4-FFF2-40B4-BE49-F238E27FC236}">
                  <a16:creationId xmlns:a16="http://schemas.microsoft.com/office/drawing/2014/main" id="{149F7E99-EBA4-D24E-B312-B96831965FB7}"/>
                </a:ext>
              </a:extLst>
            </p:cNvPr>
            <p:cNvSpPr>
              <a:spLocks noChangeArrowheads="1"/>
            </p:cNvSpPr>
            <p:nvPr/>
          </p:nvSpPr>
          <p:spPr bwMode="auto">
            <a:xfrm>
              <a:off x="3836" y="2088"/>
              <a:ext cx="1031" cy="624"/>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88900" tIns="44450" rIns="88900" bIns="44450" anchor="ctr"/>
            <a:lstStyle/>
            <a:p>
              <a:pPr algn="ctr" defTabSz="836613" eaLnBrk="0" hangingPunct="0"/>
              <a:r>
                <a:rPr lang="en-US" sz="1400" b="1" dirty="0">
                  <a:solidFill>
                    <a:srgbClr val="262827"/>
                  </a:solidFill>
                  <a:latin typeface="Arial" charset="0"/>
                </a:rPr>
                <a:t>   Bargaining </a:t>
              </a:r>
            </a:p>
            <a:p>
              <a:pPr algn="ctr" defTabSz="836613" eaLnBrk="0" hangingPunct="0"/>
              <a:r>
                <a:rPr lang="en-US" sz="1400" b="1" dirty="0">
                  <a:solidFill>
                    <a:srgbClr val="262827"/>
                  </a:solidFill>
                  <a:latin typeface="Arial" charset="0"/>
                </a:rPr>
                <a:t>power of</a:t>
              </a:r>
            </a:p>
            <a:p>
              <a:pPr algn="ctr" defTabSz="836613" eaLnBrk="0" hangingPunct="0"/>
              <a:r>
                <a:rPr lang="en-US" sz="1400" b="1" dirty="0">
                  <a:solidFill>
                    <a:srgbClr val="262827"/>
                  </a:solidFill>
                </a:rPr>
                <a:t>buy</a:t>
              </a:r>
              <a:r>
                <a:rPr lang="en-US" sz="1400" b="1" dirty="0">
                  <a:solidFill>
                    <a:srgbClr val="262827"/>
                  </a:solidFill>
                  <a:latin typeface="Arial" charset="0"/>
                </a:rPr>
                <a:t>ers</a:t>
              </a:r>
            </a:p>
          </p:txBody>
        </p:sp>
        <p:sp>
          <p:nvSpPr>
            <p:cNvPr id="11" name="Line 13">
              <a:extLst>
                <a:ext uri="{FF2B5EF4-FFF2-40B4-BE49-F238E27FC236}">
                  <a16:creationId xmlns:a16="http://schemas.microsoft.com/office/drawing/2014/main" id="{4DDB6849-BA6D-BA4F-AF71-FD4770866843}"/>
                </a:ext>
              </a:extLst>
            </p:cNvPr>
            <p:cNvSpPr>
              <a:spLocks noChangeShapeType="1"/>
            </p:cNvSpPr>
            <p:nvPr/>
          </p:nvSpPr>
          <p:spPr bwMode="auto">
            <a:xfrm flipV="1">
              <a:off x="2880" y="1617"/>
              <a:ext cx="0" cy="399"/>
            </a:xfrm>
            <a:prstGeom prst="line">
              <a:avLst/>
            </a:prstGeom>
            <a:noFill/>
            <a:ln w="50800">
              <a:solidFill>
                <a:schemeClr val="tx1"/>
              </a:solidFill>
              <a:round/>
              <a:headEnd type="triangle" w="med" len="med"/>
              <a:tailEnd/>
            </a:ln>
            <a:effectLst/>
          </p:spPr>
          <p:txBody>
            <a:bodyPr wrap="none" anchor="ctr"/>
            <a:lstStyle/>
            <a:p>
              <a:endParaRPr lang="en-US">
                <a:solidFill>
                  <a:srgbClr val="262827"/>
                </a:solidFill>
              </a:endParaRPr>
            </a:p>
          </p:txBody>
        </p:sp>
      </p:grpSp>
      <p:sp>
        <p:nvSpPr>
          <p:cNvPr id="16" name="Rectangle 3">
            <a:extLst>
              <a:ext uri="{FF2B5EF4-FFF2-40B4-BE49-F238E27FC236}">
                <a16:creationId xmlns:a16="http://schemas.microsoft.com/office/drawing/2014/main" id="{819E67AD-C898-E84F-925E-950E4AFFC9A8}"/>
              </a:ext>
            </a:extLst>
          </p:cNvPr>
          <p:cNvSpPr txBox="1">
            <a:spLocks noChangeArrowheads="1"/>
          </p:cNvSpPr>
          <p:nvPr/>
        </p:nvSpPr>
        <p:spPr bwMode="auto">
          <a:xfrm>
            <a:off x="5519623" y="1588478"/>
            <a:ext cx="6223954" cy="2187662"/>
          </a:xfrm>
          <a:prstGeom prst="rect">
            <a:avLst/>
          </a:prstGeom>
          <a:solidFill>
            <a:schemeClr val="bg1"/>
          </a:solidFill>
          <a:ln w="0">
            <a:noFill/>
            <a:miter lim="800000"/>
            <a:headEnd/>
            <a:tailEnd/>
          </a:ln>
        </p:spPr>
        <p:txBody>
          <a:bodyPr vert="horz" wrap="square" lIns="0" tIns="0" rIns="0" bIns="0" numCol="1" anchor="t" anchorCtr="0" compatLnSpc="1">
            <a:prstTxWarp prst="textNoShape">
              <a:avLst/>
            </a:prstTxWarp>
          </a:bodyPr>
          <a:lstStyle/>
          <a:p>
            <a:pPr defTabSz="914400" eaLnBrk="0" fontAlgn="base" hangingPunct="0">
              <a:lnSpc>
                <a:spcPct val="105000"/>
              </a:lnSpc>
              <a:spcBef>
                <a:spcPct val="0"/>
              </a:spcBef>
              <a:spcAft>
                <a:spcPct val="0"/>
              </a:spcAft>
              <a:buSzPct val="100000"/>
              <a:defRPr/>
            </a:pPr>
            <a:endParaRPr lang="en-US" altLang="zh-CN" kern="0" dirty="0"/>
          </a:p>
          <a:p>
            <a:pPr marL="177800" indent="-177800" defTabSz="914400" eaLnBrk="0" fontAlgn="base" hangingPunct="0">
              <a:lnSpc>
                <a:spcPct val="105000"/>
              </a:lnSpc>
              <a:spcBef>
                <a:spcPct val="0"/>
              </a:spcBef>
              <a:spcAft>
                <a:spcPct val="0"/>
              </a:spcAft>
              <a:buSzPct val="100000"/>
              <a:buFontTx/>
              <a:buChar char="•"/>
              <a:defRPr/>
            </a:pPr>
            <a:r>
              <a:rPr lang="en-US" altLang="zh-CN" kern="0" dirty="0"/>
              <a:t>The</a:t>
            </a:r>
            <a:r>
              <a:rPr lang="en-US" kern="0" dirty="0"/>
              <a:t> </a:t>
            </a:r>
            <a:r>
              <a:rPr lang="en-US" altLang="zh-CN" kern="0" dirty="0"/>
              <a:t>first</a:t>
            </a:r>
            <a:r>
              <a:rPr lang="zh-CN" altLang="en-US" kern="0" dirty="0"/>
              <a:t> </a:t>
            </a:r>
            <a:r>
              <a:rPr lang="en-US" strike="dblStrike" kern="0" dirty="0"/>
              <a:t>victim</a:t>
            </a:r>
            <a:r>
              <a:rPr lang="en-US" kern="0" dirty="0"/>
              <a:t> </a:t>
            </a:r>
            <a:r>
              <a:rPr lang="en-US" altLang="zh-CN" kern="0" dirty="0"/>
              <a:t>selected</a:t>
            </a:r>
            <a:r>
              <a:rPr lang="zh-CN" altLang="en-US" kern="0" dirty="0"/>
              <a:t> </a:t>
            </a:r>
            <a:r>
              <a:rPr lang="en-US" kern="0" dirty="0"/>
              <a:t>student</a:t>
            </a:r>
            <a:r>
              <a:rPr lang="zh-CN" altLang="en-US" kern="0" dirty="0"/>
              <a:t> </a:t>
            </a:r>
            <a:r>
              <a:rPr lang="en-US" kern="0" dirty="0"/>
              <a:t>must:</a:t>
            </a:r>
          </a:p>
          <a:p>
            <a:pPr marL="635000" lvl="1" indent="-177800">
              <a:lnSpc>
                <a:spcPct val="105000"/>
              </a:lnSpc>
              <a:buSzPct val="100000"/>
              <a:buFontTx/>
              <a:buChar char="•"/>
            </a:pPr>
            <a:r>
              <a:rPr lang="en-US" i="1" kern="0" dirty="0"/>
              <a:t>Describe the general business of the company</a:t>
            </a:r>
          </a:p>
          <a:p>
            <a:pPr marL="635000" lvl="1" indent="-177800">
              <a:lnSpc>
                <a:spcPct val="105000"/>
              </a:lnSpc>
              <a:buSzPct val="100000"/>
              <a:buFontTx/>
              <a:buChar char="•"/>
            </a:pPr>
            <a:r>
              <a:rPr lang="en-US" i="1" kern="0" dirty="0"/>
              <a:t>Explain the </a:t>
            </a:r>
            <a:r>
              <a:rPr lang="en-US" altLang="zh-CN" b="1" i="1" kern="0" dirty="0"/>
              <a:t>one</a:t>
            </a:r>
            <a:r>
              <a:rPr lang="en-US" altLang="zh-CN" i="1" kern="0" dirty="0"/>
              <a:t> of the five forces </a:t>
            </a:r>
            <a:r>
              <a:rPr lang="en-US" i="1" kern="0" dirty="0"/>
              <a:t>for that company</a:t>
            </a:r>
          </a:p>
          <a:p>
            <a:pPr marL="635000" lvl="1" indent="-177800">
              <a:lnSpc>
                <a:spcPct val="105000"/>
              </a:lnSpc>
              <a:buSzPct val="100000"/>
              <a:buFontTx/>
              <a:buChar char="•"/>
            </a:pPr>
            <a:r>
              <a:rPr lang="en-US" altLang="zh-CN" i="1" kern="0" dirty="0"/>
              <a:t>Pick</a:t>
            </a:r>
            <a:r>
              <a:rPr lang="zh-CN" altLang="en-US" i="1" kern="0" dirty="0"/>
              <a:t> </a:t>
            </a:r>
            <a:r>
              <a:rPr lang="en-US" altLang="zh-CN" i="1" kern="0" dirty="0"/>
              <a:t>another</a:t>
            </a:r>
            <a:r>
              <a:rPr lang="zh-CN" altLang="en-US" i="1" kern="0" dirty="0"/>
              <a:t> </a:t>
            </a:r>
            <a:r>
              <a:rPr lang="en-US" altLang="zh-CN" i="1" kern="0" dirty="0"/>
              <a:t>company for the next </a:t>
            </a:r>
            <a:r>
              <a:rPr lang="en-US" strike="dblStrike" kern="0" dirty="0"/>
              <a:t>victim</a:t>
            </a:r>
            <a:r>
              <a:rPr lang="en-US" kern="0" dirty="0"/>
              <a:t> student</a:t>
            </a:r>
            <a:r>
              <a:rPr lang="zh-CN" altLang="en-US" kern="0" dirty="0"/>
              <a:t> </a:t>
            </a:r>
            <a:endParaRPr lang="en-US" altLang="zh-CN" kern="0" dirty="0"/>
          </a:p>
          <a:p>
            <a:pPr marL="25415" indent="-177800">
              <a:lnSpc>
                <a:spcPct val="105000"/>
              </a:lnSpc>
              <a:buSzPct val="100000"/>
              <a:buFontTx/>
              <a:buChar char="•"/>
            </a:pPr>
            <a:r>
              <a:rPr lang="en-US" i="1" kern="0" dirty="0"/>
              <a:t>T</a:t>
            </a:r>
            <a:r>
              <a:rPr lang="en-US" altLang="zh-CN" i="1" kern="0" dirty="0"/>
              <a:t>he fellow</a:t>
            </a:r>
            <a:r>
              <a:rPr lang="zh-CN" altLang="en-US" i="1" kern="0" dirty="0"/>
              <a:t> </a:t>
            </a:r>
            <a:r>
              <a:rPr lang="en-US" altLang="zh-CN" i="1" kern="0" dirty="0"/>
              <a:t>student</a:t>
            </a:r>
            <a:r>
              <a:rPr lang="zh-CN" altLang="en-US" i="1" kern="0" dirty="0"/>
              <a:t> </a:t>
            </a:r>
            <a:r>
              <a:rPr lang="en-US" altLang="zh-CN" i="1" kern="0" dirty="0"/>
              <a:t>must</a:t>
            </a:r>
            <a:r>
              <a:rPr lang="zh-CN" altLang="en-US" i="1" kern="0" dirty="0"/>
              <a:t> </a:t>
            </a:r>
            <a:r>
              <a:rPr lang="en-US" altLang="zh-CN" i="1" kern="0" dirty="0"/>
              <a:t>repeat</a:t>
            </a:r>
            <a:r>
              <a:rPr lang="zh-CN" altLang="en-US" i="1" kern="0" dirty="0"/>
              <a:t> </a:t>
            </a:r>
            <a:r>
              <a:rPr lang="en-US" altLang="zh-CN" i="1" kern="0" dirty="0"/>
              <a:t>the</a:t>
            </a:r>
            <a:r>
              <a:rPr lang="zh-CN" altLang="en-US" i="1" kern="0" dirty="0"/>
              <a:t> </a:t>
            </a:r>
            <a:r>
              <a:rPr lang="en-US" altLang="zh-CN" i="1" kern="0" dirty="0"/>
              <a:t>previous</a:t>
            </a:r>
            <a:r>
              <a:rPr lang="zh-CN" altLang="en-US" i="1" kern="0" dirty="0"/>
              <a:t> </a:t>
            </a:r>
            <a:r>
              <a:rPr lang="en-US" altLang="zh-CN" i="1" kern="0" dirty="0"/>
              <a:t>process</a:t>
            </a:r>
          </a:p>
          <a:p>
            <a:pPr marL="635000" lvl="1" indent="-177800">
              <a:lnSpc>
                <a:spcPct val="105000"/>
              </a:lnSpc>
              <a:buSzPct val="100000"/>
              <a:buFontTx/>
              <a:buChar char="•"/>
            </a:pPr>
            <a:r>
              <a:rPr lang="en-US" altLang="zh-CN" i="1" kern="0" dirty="0"/>
              <a:t> The</a:t>
            </a:r>
            <a:r>
              <a:rPr lang="zh-CN" altLang="en-US" i="1" kern="0" dirty="0"/>
              <a:t> </a:t>
            </a:r>
            <a:r>
              <a:rPr lang="en-US" altLang="zh-CN" i="1" kern="0" dirty="0"/>
              <a:t>force select</a:t>
            </a:r>
            <a:r>
              <a:rPr lang="zh-CN" altLang="en-US" i="1" kern="0" dirty="0"/>
              <a:t> </a:t>
            </a:r>
            <a:r>
              <a:rPr lang="en-US" altLang="zh-CN" i="1" kern="0" dirty="0"/>
              <a:t>by</a:t>
            </a:r>
            <a:r>
              <a:rPr lang="zh-CN" altLang="en-US" i="1" kern="0" dirty="0"/>
              <a:t> </a:t>
            </a:r>
            <a:r>
              <a:rPr lang="en-US" altLang="zh-CN" i="1" kern="0" dirty="0"/>
              <a:t>the</a:t>
            </a:r>
            <a:r>
              <a:rPr lang="zh-CN" altLang="en-US" i="1" kern="0" dirty="0"/>
              <a:t> </a:t>
            </a:r>
            <a:r>
              <a:rPr lang="en-US" altLang="zh-CN" i="1" kern="0" dirty="0"/>
              <a:t>fellow</a:t>
            </a:r>
            <a:r>
              <a:rPr lang="zh-CN" altLang="en-US" i="1" kern="0" dirty="0"/>
              <a:t> </a:t>
            </a:r>
            <a:r>
              <a:rPr lang="en-US" altLang="zh-CN" i="1" kern="0" dirty="0"/>
              <a:t>student</a:t>
            </a:r>
            <a:r>
              <a:rPr lang="zh-CN" altLang="en-US" i="1" kern="0" dirty="0"/>
              <a:t> </a:t>
            </a:r>
            <a:r>
              <a:rPr lang="en-US" altLang="zh-CN" i="1" kern="0" dirty="0"/>
              <a:t>must be different from those chosen by previous </a:t>
            </a:r>
            <a:r>
              <a:rPr lang="en-US" strike="dblStrike" kern="0" dirty="0"/>
              <a:t>victims</a:t>
            </a:r>
            <a:r>
              <a:rPr lang="en-US" i="1" kern="0" dirty="0"/>
              <a:t> students</a:t>
            </a:r>
          </a:p>
        </p:txBody>
      </p:sp>
    </p:spTree>
    <p:extLst>
      <p:ext uri="{BB962C8B-B14F-4D97-AF65-F5344CB8AC3E}">
        <p14:creationId xmlns:p14="http://schemas.microsoft.com/office/powerpoint/2010/main" val="2425244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16F4C79B-35F7-8897-9724-F9420FF9BB52}"/>
              </a:ext>
            </a:extLst>
          </p:cNvPr>
          <p:cNvSpPr/>
          <p:nvPr/>
        </p:nvSpPr>
        <p:spPr>
          <a:xfrm rot="441078">
            <a:off x="2651445" y="2282080"/>
            <a:ext cx="7585247" cy="3842083"/>
          </a:xfrm>
          <a:prstGeom prst="round2SameRect">
            <a:avLst/>
          </a:prstGeom>
        </p:spPr>
        <p:txBody>
          <a:bodyPr vert="horz" lIns="91440" tIns="45720" rIns="91440" bIns="45720" rtlCol="0" anchor="ctr">
            <a:prstTxWarp prst="textArchUp">
              <a:avLst/>
            </a:prstTxWarp>
            <a:normAutofit/>
            <a:scene3d>
              <a:camera prst="orthographicFront"/>
              <a:lightRig rig="harsh" dir="t"/>
            </a:scene3d>
            <a:sp3d extrusionH="57150" prstMaterial="matte">
              <a:bevelT w="63500" h="12700" prst="angle"/>
              <a:contourClr>
                <a:schemeClr val="bg1">
                  <a:lumMod val="65000"/>
                </a:schemeClr>
              </a:contourClr>
            </a:sp3d>
          </a:bodyPr>
          <a:lstStyle/>
          <a:p>
            <a:pPr>
              <a:spcBef>
                <a:spcPct val="0"/>
              </a:spcBef>
              <a:spcAft>
                <a:spcPts val="600"/>
              </a:spcAft>
            </a:pPr>
            <a:r>
              <a:rPr lang="en-US" altLang="zh-CN" sz="3733" b="1" kern="1200" dirty="0">
                <a:ln/>
                <a:solidFill>
                  <a:schemeClr val="accent3"/>
                </a:solidFill>
                <a:latin typeface="+mj-lt"/>
                <a:ea typeface="+mj-ea"/>
                <a:cs typeface="+mj-cs"/>
              </a:rPr>
              <a:t>So What? </a:t>
            </a:r>
          </a:p>
          <a:p>
            <a:pPr>
              <a:spcBef>
                <a:spcPct val="0"/>
              </a:spcBef>
              <a:spcAft>
                <a:spcPts val="600"/>
              </a:spcAft>
            </a:pPr>
            <a:r>
              <a:rPr lang="en-US" altLang="zh-CN" sz="3733" b="1" dirty="0">
                <a:ln/>
                <a:solidFill>
                  <a:schemeClr val="accent3"/>
                </a:solidFill>
                <a:latin typeface="+mj-lt"/>
                <a:ea typeface="+mj-ea"/>
                <a:cs typeface="+mj-cs"/>
              </a:rPr>
              <a:t>Why do we need to know this? </a:t>
            </a:r>
          </a:p>
          <a:p>
            <a:pPr>
              <a:spcBef>
                <a:spcPct val="0"/>
              </a:spcBef>
              <a:spcAft>
                <a:spcPts val="600"/>
              </a:spcAft>
            </a:pPr>
            <a:r>
              <a:rPr lang="en-US" altLang="zh-CN" sz="3733" b="1" dirty="0">
                <a:ln/>
                <a:solidFill>
                  <a:schemeClr val="accent3"/>
                </a:solidFill>
                <a:latin typeface="+mj-lt"/>
                <a:ea typeface="+mj-ea"/>
                <a:cs typeface="+mj-cs"/>
              </a:rPr>
              <a:t>How to use this knowledge?</a:t>
            </a:r>
            <a:endParaRPr lang="en-US" altLang="zh-CN" sz="3733" b="1" kern="1200" dirty="0">
              <a:ln/>
              <a:solidFill>
                <a:schemeClr val="accent3"/>
              </a:solidFill>
              <a:latin typeface="+mj-lt"/>
              <a:ea typeface="+mj-ea"/>
              <a:cs typeface="+mj-cs"/>
            </a:endParaRPr>
          </a:p>
        </p:txBody>
      </p:sp>
    </p:spTree>
    <p:extLst>
      <p:ext uri="{BB962C8B-B14F-4D97-AF65-F5344CB8AC3E}">
        <p14:creationId xmlns:p14="http://schemas.microsoft.com/office/powerpoint/2010/main" val="234661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1461-7323-24B9-5441-457FEBD77A8D}"/>
              </a:ext>
            </a:extLst>
          </p:cNvPr>
          <p:cNvSpPr>
            <a:spLocks noGrp="1"/>
          </p:cNvSpPr>
          <p:nvPr>
            <p:ph type="title"/>
          </p:nvPr>
        </p:nvSpPr>
        <p:spPr>
          <a:xfrm>
            <a:off x="609601" y="0"/>
            <a:ext cx="10048125" cy="1143000"/>
          </a:xfrm>
        </p:spPr>
        <p:txBody>
          <a:bodyPr>
            <a:normAutofit fontScale="90000"/>
          </a:bodyPr>
          <a:lstStyle/>
          <a:p>
            <a:r>
              <a:rPr lang="en-US" dirty="0"/>
              <a:t>Five Forces Application: 🚗 EV Market Masters</a:t>
            </a:r>
          </a:p>
        </p:txBody>
      </p:sp>
      <p:sp>
        <p:nvSpPr>
          <p:cNvPr id="3" name="Content Placeholder 2">
            <a:extLst>
              <a:ext uri="{FF2B5EF4-FFF2-40B4-BE49-F238E27FC236}">
                <a16:creationId xmlns:a16="http://schemas.microsoft.com/office/drawing/2014/main" id="{9BCA5AFE-2CE9-A007-FF5D-973FDE33A2C6}"/>
              </a:ext>
            </a:extLst>
          </p:cNvPr>
          <p:cNvSpPr>
            <a:spLocks noGrp="1"/>
          </p:cNvSpPr>
          <p:nvPr>
            <p:ph sz="quarter" idx="10"/>
          </p:nvPr>
        </p:nvSpPr>
        <p:spPr>
          <a:xfrm>
            <a:off x="289531" y="1142999"/>
            <a:ext cx="10938101" cy="5572593"/>
          </a:xfrm>
        </p:spPr>
        <p:txBody>
          <a:bodyPr/>
          <a:lstStyle/>
          <a:p>
            <a:r>
              <a:rPr lang="en-US" dirty="0">
                <a:solidFill>
                  <a:schemeClr val="tx1"/>
                </a:solidFill>
              </a:rPr>
              <a:t>4-6 student form a team: each</a:t>
            </a:r>
            <a:r>
              <a:rPr lang="zh-CN" altLang="en-US" dirty="0">
                <a:solidFill>
                  <a:schemeClr val="tx1"/>
                </a:solidFill>
              </a:rPr>
              <a:t> </a:t>
            </a:r>
            <a:r>
              <a:rPr lang="en-US" altLang="zh-CN" dirty="0">
                <a:solidFill>
                  <a:schemeClr val="tx1"/>
                </a:solidFill>
              </a:rPr>
              <a:t>team</a:t>
            </a:r>
            <a:r>
              <a:rPr lang="en-US" dirty="0">
                <a:solidFill>
                  <a:schemeClr val="tx1"/>
                </a:solidFill>
              </a:rPr>
              <a:t> represents an EV company</a:t>
            </a:r>
          </a:p>
          <a:p>
            <a:r>
              <a:rPr lang="en-US" dirty="0">
                <a:solidFill>
                  <a:schemeClr val="tx1"/>
                </a:solidFill>
              </a:rPr>
              <a:t>Each team starts with 100 Million.</a:t>
            </a:r>
          </a:p>
          <a:p>
            <a:r>
              <a:rPr lang="en-US" dirty="0">
                <a:solidFill>
                  <a:schemeClr val="tx1"/>
                </a:solidFill>
              </a:rPr>
              <a:t>The Game lasts for 3 rounds (</a:t>
            </a:r>
            <a:r>
              <a:rPr lang="en-US" altLang="zh-CN" dirty="0">
                <a:solidFill>
                  <a:schemeClr val="tx1"/>
                </a:solidFill>
              </a:rPr>
              <a:t>10</a:t>
            </a:r>
            <a:r>
              <a:rPr lang="en-US" dirty="0">
                <a:solidFill>
                  <a:schemeClr val="tx1"/>
                </a:solidFill>
              </a:rPr>
              <a:t> minutes per round)</a:t>
            </a:r>
          </a:p>
          <a:p>
            <a:pPr lvl="1"/>
            <a:r>
              <a:rPr lang="en-US" sz="2267" dirty="0">
                <a:solidFill>
                  <a:schemeClr val="tx1"/>
                </a:solidFill>
              </a:rPr>
              <a:t>Each round, the market changes. </a:t>
            </a:r>
          </a:p>
          <a:p>
            <a:pPr lvl="1"/>
            <a:r>
              <a:rPr lang="en-US" sz="2267" dirty="0">
                <a:solidFill>
                  <a:schemeClr val="tx1"/>
                </a:solidFill>
              </a:rPr>
              <a:t>Teams choose up to 3 strategies. </a:t>
            </a:r>
          </a:p>
          <a:p>
            <a:pPr lvl="1"/>
            <a:r>
              <a:rPr lang="en-US" sz="2267" dirty="0">
                <a:solidFill>
                  <a:schemeClr val="tx1"/>
                </a:solidFill>
              </a:rPr>
              <a:t>Competitive adjustments modify returns based on what other teams do. </a:t>
            </a:r>
          </a:p>
          <a:p>
            <a:pPr lvl="1"/>
            <a:r>
              <a:rPr lang="en-US" dirty="0">
                <a:solidFill>
                  <a:schemeClr val="tx1"/>
                </a:solidFill>
              </a:rPr>
              <a:t>The team with the highest Final Wealth ($M) wins.</a:t>
            </a:r>
          </a:p>
          <a:p>
            <a:pPr lvl="2"/>
            <a:r>
              <a:rPr lang="en-US" sz="2000" dirty="0">
                <a:solidFill>
                  <a:schemeClr val="tx1"/>
                </a:solidFill>
              </a:rPr>
              <a:t>Final Wealth ($M) = Total</a:t>
            </a:r>
            <a:r>
              <a:rPr lang="zh-CN" altLang="en-US" sz="2000" dirty="0">
                <a:solidFill>
                  <a:schemeClr val="tx1"/>
                </a:solidFill>
              </a:rPr>
              <a:t> </a:t>
            </a:r>
            <a:r>
              <a:rPr lang="en-US" sz="2000" dirty="0">
                <a:solidFill>
                  <a:schemeClr val="tx1"/>
                </a:solidFill>
              </a:rPr>
              <a:t>Profits+ Final Market Share × 10 + Market Share Bonus</a:t>
            </a:r>
          </a:p>
          <a:p>
            <a:pPr lvl="2"/>
            <a:r>
              <a:rPr lang="en-US" sz="2000" dirty="0">
                <a:solidFill>
                  <a:schemeClr val="tx1"/>
                </a:solidFill>
              </a:rPr>
              <a:t>Market Share Rank Bonus ($M):</a:t>
            </a:r>
          </a:p>
          <a:p>
            <a:pPr lvl="3">
              <a:buFont typeface="Wingdings" pitchFamily="2" charset="2"/>
              <a:buChar char="§"/>
            </a:pPr>
            <a:r>
              <a:rPr lang="en-US" sz="2000" dirty="0">
                <a:solidFill>
                  <a:schemeClr val="tx1"/>
                </a:solidFill>
              </a:rPr>
              <a:t>🥇 1st Place: +30M</a:t>
            </a:r>
          </a:p>
          <a:p>
            <a:pPr lvl="3">
              <a:buFont typeface="Wingdings" pitchFamily="2" charset="2"/>
              <a:buChar char="§"/>
            </a:pPr>
            <a:r>
              <a:rPr lang="en-US" sz="2000" dirty="0">
                <a:solidFill>
                  <a:schemeClr val="tx1"/>
                </a:solidFill>
              </a:rPr>
              <a:t>🥈 2nd Place: +20M</a:t>
            </a:r>
          </a:p>
          <a:p>
            <a:pPr lvl="3">
              <a:buFont typeface="Wingdings" pitchFamily="2" charset="2"/>
              <a:buChar char="§"/>
            </a:pPr>
            <a:r>
              <a:rPr lang="en-US" sz="2000" dirty="0">
                <a:solidFill>
                  <a:schemeClr val="tx1"/>
                </a:solidFill>
              </a:rPr>
              <a:t>🥉 3rd Place: +10M</a:t>
            </a:r>
          </a:p>
          <a:p>
            <a:pPr lvl="3">
              <a:buFont typeface="Wingdings" pitchFamily="2" charset="2"/>
              <a:buChar char="§"/>
            </a:pPr>
            <a:r>
              <a:rPr lang="en-US" sz="2000" dirty="0">
                <a:solidFill>
                  <a:schemeClr val="tx1"/>
                </a:solidFill>
              </a:rPr>
              <a:t>4th Place: +5M</a:t>
            </a:r>
          </a:p>
          <a:p>
            <a:pPr lvl="3">
              <a:buFont typeface="Wingdings" pitchFamily="2" charset="2"/>
              <a:buChar char="§"/>
            </a:pPr>
            <a:r>
              <a:rPr lang="en-US" sz="2000" dirty="0">
                <a:solidFill>
                  <a:schemeClr val="tx1"/>
                </a:solidFill>
              </a:rPr>
              <a:t>5th and</a:t>
            </a:r>
            <a:r>
              <a:rPr lang="zh-CN" altLang="en-US" sz="2000" dirty="0">
                <a:solidFill>
                  <a:schemeClr val="tx1"/>
                </a:solidFill>
              </a:rPr>
              <a:t> </a:t>
            </a:r>
            <a:r>
              <a:rPr lang="en-US" altLang="zh-CN" sz="2000" dirty="0">
                <a:solidFill>
                  <a:schemeClr val="tx1"/>
                </a:solidFill>
              </a:rPr>
              <a:t>after</a:t>
            </a:r>
            <a:r>
              <a:rPr lang="en-US" sz="2000" dirty="0">
                <a:solidFill>
                  <a:schemeClr val="tx1"/>
                </a:solidFill>
              </a:rPr>
              <a:t>: +0M</a:t>
            </a:r>
          </a:p>
          <a:p>
            <a:pPr lvl="2"/>
            <a:endParaRPr lang="en-US" sz="2000" dirty="0">
              <a:solidFill>
                <a:schemeClr val="tx1"/>
              </a:solidFill>
            </a:endParaRPr>
          </a:p>
          <a:p>
            <a:endParaRPr lang="en-US" sz="2800" dirty="0">
              <a:solidFill>
                <a:schemeClr val="tx1"/>
              </a:solidFill>
            </a:endParaRPr>
          </a:p>
          <a:p>
            <a:pPr lvl="1"/>
            <a:endParaRPr lang="en-US" dirty="0"/>
          </a:p>
          <a:p>
            <a:pPr lvl="1"/>
            <a:endParaRPr lang="en-US" sz="2800" dirty="0"/>
          </a:p>
          <a:p>
            <a:endParaRPr lang="en-US" sz="2800" dirty="0"/>
          </a:p>
          <a:p>
            <a:endParaRPr lang="en-US" sz="2800" dirty="0"/>
          </a:p>
        </p:txBody>
      </p:sp>
    </p:spTree>
    <p:extLst>
      <p:ext uri="{BB962C8B-B14F-4D97-AF65-F5344CB8AC3E}">
        <p14:creationId xmlns:p14="http://schemas.microsoft.com/office/powerpoint/2010/main" val="318337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F09DF-DD88-5E3F-5640-DB7DF10D68DD}"/>
              </a:ext>
            </a:extLst>
          </p:cNvPr>
          <p:cNvSpPr>
            <a:spLocks noGrp="1"/>
          </p:cNvSpPr>
          <p:nvPr>
            <p:ph type="title"/>
          </p:nvPr>
        </p:nvSpPr>
        <p:spPr>
          <a:xfrm>
            <a:off x="609293" y="0"/>
            <a:ext cx="10048125" cy="1143000"/>
          </a:xfrm>
        </p:spPr>
        <p:txBody>
          <a:bodyPr/>
          <a:lstStyle/>
          <a:p>
            <a:r>
              <a:rPr lang="en-US" dirty="0"/>
              <a:t>Round 1: New Entrants &amp; Supplier Crisis</a:t>
            </a:r>
          </a:p>
        </p:txBody>
      </p:sp>
      <p:sp>
        <p:nvSpPr>
          <p:cNvPr id="3" name="Content Placeholder 2">
            <a:extLst>
              <a:ext uri="{FF2B5EF4-FFF2-40B4-BE49-F238E27FC236}">
                <a16:creationId xmlns:a16="http://schemas.microsoft.com/office/drawing/2014/main" id="{129A3DBB-0DF0-308B-FCDE-D0658647B17A}"/>
              </a:ext>
            </a:extLst>
          </p:cNvPr>
          <p:cNvSpPr>
            <a:spLocks noGrp="1"/>
          </p:cNvSpPr>
          <p:nvPr>
            <p:ph sz="quarter" idx="10"/>
          </p:nvPr>
        </p:nvSpPr>
        <p:spPr>
          <a:xfrm>
            <a:off x="374754" y="915267"/>
            <a:ext cx="10282664" cy="1293492"/>
          </a:xfrm>
        </p:spPr>
        <p:txBody>
          <a:bodyPr/>
          <a:lstStyle/>
          <a:p>
            <a:r>
              <a:rPr lang="en-US" sz="2400" b="1" dirty="0">
                <a:solidFill>
                  <a:schemeClr val="tx1"/>
                </a:solidFill>
              </a:rPr>
              <a:t>Industry Scenario:</a:t>
            </a:r>
          </a:p>
          <a:p>
            <a:pPr lvl="1"/>
            <a:r>
              <a:rPr lang="en-US" sz="2133" dirty="0">
                <a:solidFill>
                  <a:schemeClr val="tx1"/>
                </a:solidFill>
              </a:rPr>
              <a:t>A new EV startup, </a:t>
            </a:r>
            <a:r>
              <a:rPr lang="en-US" sz="2133" dirty="0" err="1">
                <a:solidFill>
                  <a:schemeClr val="tx1"/>
                </a:solidFill>
              </a:rPr>
              <a:t>VoltRide</a:t>
            </a:r>
            <a:r>
              <a:rPr lang="en-US" sz="2133" dirty="0">
                <a:solidFill>
                  <a:schemeClr val="tx1"/>
                </a:solidFill>
              </a:rPr>
              <a:t>, enters with aggressive pricing</a:t>
            </a:r>
          </a:p>
          <a:p>
            <a:pPr lvl="1"/>
            <a:r>
              <a:rPr lang="en-US" sz="2133" dirty="0">
                <a:solidFill>
                  <a:schemeClr val="tx1"/>
                </a:solidFill>
              </a:rPr>
              <a:t>Battery demand surges, causing supply shortages and rising costs</a:t>
            </a:r>
          </a:p>
        </p:txBody>
      </p:sp>
      <p:graphicFrame>
        <p:nvGraphicFramePr>
          <p:cNvPr id="18" name="Table 17">
            <a:extLst>
              <a:ext uri="{FF2B5EF4-FFF2-40B4-BE49-F238E27FC236}">
                <a16:creationId xmlns:a16="http://schemas.microsoft.com/office/drawing/2014/main" id="{3825FBA7-84F6-8B65-860D-5D16AE5C1D9A}"/>
              </a:ext>
            </a:extLst>
          </p:cNvPr>
          <p:cNvGraphicFramePr>
            <a:graphicFrameLocks noGrp="1"/>
          </p:cNvGraphicFramePr>
          <p:nvPr>
            <p:extLst>
              <p:ext uri="{D42A27DB-BD31-4B8C-83A1-F6EECF244321}">
                <p14:modId xmlns:p14="http://schemas.microsoft.com/office/powerpoint/2010/main" val="2201351191"/>
              </p:ext>
            </p:extLst>
          </p:nvPr>
        </p:nvGraphicFramePr>
        <p:xfrm>
          <a:off x="1" y="2208759"/>
          <a:ext cx="12191999" cy="4632598"/>
        </p:xfrm>
        <a:graphic>
          <a:graphicData uri="http://schemas.openxmlformats.org/drawingml/2006/table">
            <a:tbl>
              <a:tblPr/>
              <a:tblGrid>
                <a:gridCol w="1469036">
                  <a:extLst>
                    <a:ext uri="{9D8B030D-6E8A-4147-A177-3AD203B41FA5}">
                      <a16:colId xmlns:a16="http://schemas.microsoft.com/office/drawing/2014/main" val="3411336270"/>
                    </a:ext>
                  </a:extLst>
                </a:gridCol>
                <a:gridCol w="1319134">
                  <a:extLst>
                    <a:ext uri="{9D8B030D-6E8A-4147-A177-3AD203B41FA5}">
                      <a16:colId xmlns:a16="http://schemas.microsoft.com/office/drawing/2014/main" val="2832787873"/>
                    </a:ext>
                  </a:extLst>
                </a:gridCol>
                <a:gridCol w="644578">
                  <a:extLst>
                    <a:ext uri="{9D8B030D-6E8A-4147-A177-3AD203B41FA5}">
                      <a16:colId xmlns:a16="http://schemas.microsoft.com/office/drawing/2014/main" val="1639736850"/>
                    </a:ext>
                  </a:extLst>
                </a:gridCol>
                <a:gridCol w="1588957">
                  <a:extLst>
                    <a:ext uri="{9D8B030D-6E8A-4147-A177-3AD203B41FA5}">
                      <a16:colId xmlns:a16="http://schemas.microsoft.com/office/drawing/2014/main" val="882949181"/>
                    </a:ext>
                  </a:extLst>
                </a:gridCol>
                <a:gridCol w="7170294">
                  <a:extLst>
                    <a:ext uri="{9D8B030D-6E8A-4147-A177-3AD203B41FA5}">
                      <a16:colId xmlns:a16="http://schemas.microsoft.com/office/drawing/2014/main" val="4281235922"/>
                    </a:ext>
                  </a:extLst>
                </a:gridCol>
              </a:tblGrid>
              <a:tr h="263036">
                <a:tc>
                  <a:txBody>
                    <a:bodyPr/>
                    <a:lstStyle/>
                    <a:p>
                      <a:pPr algn="ctr"/>
                      <a:r>
                        <a:rPr lang="en-US" sz="1800" b="1" dirty="0"/>
                        <a:t>Strategy</a:t>
                      </a:r>
                    </a:p>
                  </a:txBody>
                  <a:tcPr marL="16866" marR="16866" marT="8433" marB="8433" anchor="ctr">
                    <a:lnL>
                      <a:noFill/>
                    </a:lnL>
                    <a:lnR>
                      <a:noFill/>
                    </a:lnR>
                    <a:lnT>
                      <a:noFill/>
                    </a:lnT>
                    <a:lnB>
                      <a:noFill/>
                    </a:lnB>
                    <a:noFill/>
                  </a:tcPr>
                </a:tc>
                <a:tc>
                  <a:txBody>
                    <a:bodyPr/>
                    <a:lstStyle/>
                    <a:p>
                      <a:pPr algn="ctr"/>
                      <a:r>
                        <a:rPr lang="en-US" sz="1800" b="1" dirty="0"/>
                        <a:t>Investment</a:t>
                      </a:r>
                    </a:p>
                  </a:txBody>
                  <a:tcPr marL="16866" marR="16866" marT="8433" marB="8433" anchor="ctr">
                    <a:lnL>
                      <a:noFill/>
                    </a:lnL>
                    <a:lnR>
                      <a:noFill/>
                    </a:lnR>
                    <a:lnT>
                      <a:noFill/>
                    </a:lnT>
                    <a:lnB>
                      <a:noFill/>
                    </a:lnB>
                    <a:noFill/>
                  </a:tcPr>
                </a:tc>
                <a:tc>
                  <a:txBody>
                    <a:bodyPr/>
                    <a:lstStyle/>
                    <a:p>
                      <a:pPr algn="ctr"/>
                      <a:r>
                        <a:rPr lang="en-US" sz="1800" b="1" dirty="0"/>
                        <a:t>Rev</a:t>
                      </a:r>
                    </a:p>
                  </a:txBody>
                  <a:tcPr marL="16866" marR="16866" marT="8433" marB="8433" anchor="ctr">
                    <a:lnL>
                      <a:noFill/>
                    </a:lnL>
                    <a:lnR>
                      <a:noFill/>
                    </a:lnR>
                    <a:lnT>
                      <a:noFill/>
                    </a:lnT>
                    <a:lnB>
                      <a:noFill/>
                    </a:lnB>
                    <a:noFill/>
                  </a:tcPr>
                </a:tc>
                <a:tc>
                  <a:txBody>
                    <a:bodyPr/>
                    <a:lstStyle/>
                    <a:p>
                      <a:pPr algn="ctr"/>
                      <a:r>
                        <a:rPr lang="en-US" sz="1800" b="1" dirty="0"/>
                        <a:t>Market Share</a:t>
                      </a:r>
                    </a:p>
                  </a:txBody>
                  <a:tcPr marL="16866" marR="16866" marT="8433" marB="8433" anchor="ctr">
                    <a:lnL>
                      <a:noFill/>
                    </a:lnL>
                    <a:lnR>
                      <a:noFill/>
                    </a:lnR>
                    <a:lnT>
                      <a:noFill/>
                    </a:lnT>
                    <a:lnB>
                      <a:noFill/>
                    </a:lnB>
                    <a:noFill/>
                  </a:tcPr>
                </a:tc>
                <a:tc>
                  <a:txBody>
                    <a:bodyPr/>
                    <a:lstStyle/>
                    <a:p>
                      <a:pPr algn="ctr"/>
                      <a:r>
                        <a:rPr lang="en-US" sz="1800" b="1" dirty="0"/>
                        <a:t>Competitive Adjustments</a:t>
                      </a:r>
                    </a:p>
                  </a:txBody>
                  <a:tcPr marL="16866" marR="16866" marT="8433" marB="8433" anchor="ctr">
                    <a:lnL>
                      <a:noFill/>
                    </a:lnL>
                    <a:lnR>
                      <a:noFill/>
                    </a:lnR>
                    <a:lnT>
                      <a:noFill/>
                    </a:lnT>
                    <a:lnB>
                      <a:noFill/>
                    </a:lnB>
                    <a:noFill/>
                  </a:tcPr>
                </a:tc>
                <a:extLst>
                  <a:ext uri="{0D108BD9-81ED-4DB2-BD59-A6C34878D82A}">
                    <a16:rowId xmlns:a16="http://schemas.microsoft.com/office/drawing/2014/main" val="3811331945"/>
                  </a:ext>
                </a:extLst>
              </a:tr>
              <a:tr h="842215">
                <a:tc>
                  <a:txBody>
                    <a:bodyPr/>
                    <a:lstStyle/>
                    <a:p>
                      <a:pPr algn="ctr"/>
                      <a:r>
                        <a:rPr lang="en-US" sz="1800" b="0" dirty="0"/>
                        <a:t>Secure long-term battery contracts</a:t>
                      </a:r>
                    </a:p>
                  </a:txBody>
                  <a:tcPr marL="16866" marR="16866" marT="8433" marB="8433" anchor="ctr">
                    <a:lnL>
                      <a:noFill/>
                    </a:lnL>
                    <a:lnR>
                      <a:noFill/>
                    </a:lnR>
                    <a:lnT>
                      <a:noFill/>
                    </a:lnT>
                    <a:lnB>
                      <a:noFill/>
                    </a:lnB>
                    <a:noFill/>
                  </a:tcPr>
                </a:tc>
                <a:tc>
                  <a:txBody>
                    <a:bodyPr/>
                    <a:lstStyle/>
                    <a:p>
                      <a:pPr algn="ctr"/>
                      <a:r>
                        <a:rPr lang="en-US" sz="1800" b="0" dirty="0"/>
                        <a:t>$40M</a:t>
                      </a:r>
                    </a:p>
                  </a:txBody>
                  <a:tcPr marL="16866" marR="16866" marT="8433" marB="8433" anchor="ctr">
                    <a:lnL>
                      <a:noFill/>
                    </a:lnL>
                    <a:lnR>
                      <a:noFill/>
                    </a:lnR>
                    <a:lnT>
                      <a:noFill/>
                    </a:lnT>
                    <a:lnB>
                      <a:noFill/>
                    </a:lnB>
                    <a:noFill/>
                  </a:tcPr>
                </a:tc>
                <a:tc>
                  <a:txBody>
                    <a:bodyPr/>
                    <a:lstStyle/>
                    <a:p>
                      <a:pPr algn="ctr"/>
                      <a:r>
                        <a:rPr lang="en-US" sz="1800" b="0" dirty="0"/>
                        <a:t>+$50M</a:t>
                      </a:r>
                    </a:p>
                  </a:txBody>
                  <a:tcPr marL="16866" marR="16866" marT="8433" marB="8433" anchor="ctr">
                    <a:lnL>
                      <a:noFill/>
                    </a:lnL>
                    <a:lnR>
                      <a:noFill/>
                    </a:lnR>
                    <a:lnT>
                      <a:noFill/>
                    </a:lnT>
                    <a:lnB>
                      <a:noFill/>
                    </a:lnB>
                    <a:noFill/>
                  </a:tcPr>
                </a:tc>
                <a:tc>
                  <a:txBody>
                    <a:bodyPr/>
                    <a:lstStyle/>
                    <a:p>
                      <a:pPr algn="ctr"/>
                      <a:r>
                        <a:rPr lang="en-US" sz="1800" b="0" dirty="0"/>
                        <a:t>0%</a:t>
                      </a:r>
                    </a:p>
                  </a:txBody>
                  <a:tcPr marL="16866" marR="16866" marT="8433" marB="8433" anchor="ctr">
                    <a:lnL>
                      <a:noFill/>
                    </a:lnL>
                    <a:lnR>
                      <a:noFill/>
                    </a:lnR>
                    <a:lnT>
                      <a:noFill/>
                    </a:lnT>
                    <a:lnB>
                      <a:noFill/>
                    </a:lnB>
                    <a:noFill/>
                  </a:tcPr>
                </a:tc>
                <a:tc>
                  <a:txBody>
                    <a:bodyPr/>
                    <a:lstStyle/>
                    <a:p>
                      <a:pPr algn="l"/>
                      <a:r>
                        <a:rPr lang="en-US" sz="1800" b="0" dirty="0"/>
                        <a:t>If 2+ teams choose, suppliers raise prices: All teams pay $5M extra. </a:t>
                      </a:r>
                    </a:p>
                    <a:p>
                      <a:pPr algn="l"/>
                      <a:r>
                        <a:rPr lang="en-US" sz="1800" b="0" dirty="0"/>
                        <a:t>If only 1 team choose: they gain $10M extra</a:t>
                      </a:r>
                    </a:p>
                  </a:txBody>
                  <a:tcPr marL="16866" marR="16866" marT="8433" marB="8433" anchor="ctr">
                    <a:lnL>
                      <a:noFill/>
                    </a:lnL>
                    <a:lnR>
                      <a:noFill/>
                    </a:lnR>
                    <a:lnT>
                      <a:noFill/>
                    </a:lnT>
                    <a:lnB>
                      <a:noFill/>
                    </a:lnB>
                    <a:noFill/>
                  </a:tcPr>
                </a:tc>
                <a:extLst>
                  <a:ext uri="{0D108BD9-81ED-4DB2-BD59-A6C34878D82A}">
                    <a16:rowId xmlns:a16="http://schemas.microsoft.com/office/drawing/2014/main" val="1931950345"/>
                  </a:ext>
                </a:extLst>
              </a:tr>
              <a:tr h="780135">
                <a:tc>
                  <a:txBody>
                    <a:bodyPr/>
                    <a:lstStyle/>
                    <a:p>
                      <a:pPr algn="ctr"/>
                      <a:r>
                        <a:rPr lang="en-US" sz="1800" b="0" dirty="0"/>
                        <a:t>Lobby for government subsidies</a:t>
                      </a:r>
                    </a:p>
                  </a:txBody>
                  <a:tcPr marL="16866" marR="16866" marT="8433" marB="8433" anchor="ctr">
                    <a:lnL>
                      <a:noFill/>
                    </a:lnL>
                    <a:lnR>
                      <a:noFill/>
                    </a:lnR>
                    <a:lnT>
                      <a:noFill/>
                    </a:lnT>
                    <a:lnB>
                      <a:noFill/>
                    </a:lnB>
                    <a:noFill/>
                  </a:tcPr>
                </a:tc>
                <a:tc>
                  <a:txBody>
                    <a:bodyPr/>
                    <a:lstStyle/>
                    <a:p>
                      <a:pPr algn="ctr"/>
                      <a:r>
                        <a:rPr lang="en-US" sz="1800" b="0"/>
                        <a:t>$20M</a:t>
                      </a:r>
                    </a:p>
                  </a:txBody>
                  <a:tcPr marL="16866" marR="16866" marT="8433" marB="8433" anchor="ctr">
                    <a:lnL>
                      <a:noFill/>
                    </a:lnL>
                    <a:lnR>
                      <a:noFill/>
                    </a:lnR>
                    <a:lnT>
                      <a:noFill/>
                    </a:lnT>
                    <a:lnB>
                      <a:noFill/>
                    </a:lnB>
                    <a:noFill/>
                  </a:tcPr>
                </a:tc>
                <a:tc>
                  <a:txBody>
                    <a:bodyPr/>
                    <a:lstStyle/>
                    <a:p>
                      <a:pPr algn="ctr"/>
                      <a:r>
                        <a:rPr lang="en-US" sz="1800" b="0" dirty="0"/>
                        <a:t>+$15M</a:t>
                      </a:r>
                    </a:p>
                  </a:txBody>
                  <a:tcPr marL="16866" marR="16866" marT="8433" marB="8433" anchor="ctr">
                    <a:lnL>
                      <a:noFill/>
                    </a:lnL>
                    <a:lnR>
                      <a:noFill/>
                    </a:lnR>
                    <a:lnT>
                      <a:noFill/>
                    </a:lnT>
                    <a:lnB>
                      <a:noFill/>
                    </a:lnB>
                    <a:noFill/>
                  </a:tcPr>
                </a:tc>
                <a:tc>
                  <a:txBody>
                    <a:bodyPr/>
                    <a:lstStyle/>
                    <a:p>
                      <a:pPr algn="ctr"/>
                      <a:r>
                        <a:rPr lang="en-US" sz="1800" b="0" dirty="0"/>
                        <a:t>+3%</a:t>
                      </a:r>
                    </a:p>
                  </a:txBody>
                  <a:tcPr marL="16866" marR="16866" marT="8433" marB="8433" anchor="ctr">
                    <a:lnL>
                      <a:noFill/>
                    </a:lnL>
                    <a:lnR>
                      <a:noFill/>
                    </a:lnR>
                    <a:lnT>
                      <a:noFill/>
                    </a:lnT>
                    <a:lnB>
                      <a:noFill/>
                    </a:lnB>
                    <a:noFill/>
                  </a:tcPr>
                </a:tc>
                <a:tc>
                  <a:txBody>
                    <a:bodyPr/>
                    <a:lstStyle/>
                    <a:p>
                      <a:pPr algn="l"/>
                      <a:r>
                        <a:rPr lang="en-US" sz="1800" b="0" dirty="0"/>
                        <a:t>If 2+ teams lobby, government splits funds: Each team gets only 50% of expected benefits. </a:t>
                      </a:r>
                    </a:p>
                    <a:p>
                      <a:pPr algn="l"/>
                      <a:r>
                        <a:rPr lang="en-US" sz="1800" b="0" dirty="0"/>
                        <a:t>If no one lobbies, government support are withdrawn: All team lose 5M</a:t>
                      </a:r>
                    </a:p>
                  </a:txBody>
                  <a:tcPr marL="16866" marR="16866" marT="8433" marB="8433" anchor="ctr">
                    <a:lnL>
                      <a:noFill/>
                    </a:lnL>
                    <a:lnR>
                      <a:noFill/>
                    </a:lnR>
                    <a:lnT>
                      <a:noFill/>
                    </a:lnT>
                    <a:lnB>
                      <a:noFill/>
                    </a:lnB>
                    <a:noFill/>
                  </a:tcPr>
                </a:tc>
                <a:extLst>
                  <a:ext uri="{0D108BD9-81ED-4DB2-BD59-A6C34878D82A}">
                    <a16:rowId xmlns:a16="http://schemas.microsoft.com/office/drawing/2014/main" val="1749674906"/>
                  </a:ext>
                </a:extLst>
              </a:tr>
              <a:tr h="297168">
                <a:tc>
                  <a:txBody>
                    <a:bodyPr/>
                    <a:lstStyle/>
                    <a:p>
                      <a:pPr algn="ctr"/>
                      <a:r>
                        <a:rPr lang="en-US" sz="1800" b="0" dirty="0"/>
                        <a:t>Price cuts to compete with </a:t>
                      </a:r>
                      <a:r>
                        <a:rPr lang="en-US" sz="1800" b="0" dirty="0" err="1"/>
                        <a:t>VoltRide</a:t>
                      </a:r>
                      <a:endParaRPr lang="en-US" sz="1800" b="0" dirty="0"/>
                    </a:p>
                  </a:txBody>
                  <a:tcPr marL="16866" marR="16866" marT="8433" marB="8433" anchor="ctr">
                    <a:lnL>
                      <a:noFill/>
                    </a:lnL>
                    <a:lnR>
                      <a:noFill/>
                    </a:lnR>
                    <a:lnT>
                      <a:noFill/>
                    </a:lnT>
                    <a:lnB>
                      <a:noFill/>
                    </a:lnB>
                    <a:noFill/>
                  </a:tcPr>
                </a:tc>
                <a:tc>
                  <a:txBody>
                    <a:bodyPr/>
                    <a:lstStyle/>
                    <a:p>
                      <a:pPr algn="ctr"/>
                      <a:r>
                        <a:rPr lang="en-US" sz="1800" b="0"/>
                        <a:t>$30M</a:t>
                      </a:r>
                    </a:p>
                  </a:txBody>
                  <a:tcPr marL="16866" marR="16866" marT="8433" marB="8433" anchor="ctr">
                    <a:lnL>
                      <a:noFill/>
                    </a:lnL>
                    <a:lnR>
                      <a:noFill/>
                    </a:lnR>
                    <a:lnT>
                      <a:noFill/>
                    </a:lnT>
                    <a:lnB>
                      <a:noFill/>
                    </a:lnB>
                    <a:noFill/>
                  </a:tcPr>
                </a:tc>
                <a:tc>
                  <a:txBody>
                    <a:bodyPr/>
                    <a:lstStyle/>
                    <a:p>
                      <a:pPr algn="ctr"/>
                      <a:r>
                        <a:rPr lang="en-US" sz="1800" b="0"/>
                        <a:t>- $25M</a:t>
                      </a:r>
                    </a:p>
                  </a:txBody>
                  <a:tcPr marL="16866" marR="16866" marT="8433" marB="8433" anchor="ctr">
                    <a:lnL>
                      <a:noFill/>
                    </a:lnL>
                    <a:lnR>
                      <a:noFill/>
                    </a:lnR>
                    <a:lnT>
                      <a:noFill/>
                    </a:lnT>
                    <a:lnB>
                      <a:noFill/>
                    </a:lnB>
                    <a:noFill/>
                  </a:tcPr>
                </a:tc>
                <a:tc>
                  <a:txBody>
                    <a:bodyPr/>
                    <a:lstStyle/>
                    <a:p>
                      <a:pPr algn="ctr"/>
                      <a:r>
                        <a:rPr lang="en-US" sz="1800" b="0"/>
                        <a:t>+8%</a:t>
                      </a:r>
                    </a:p>
                  </a:txBody>
                  <a:tcPr marL="16866" marR="16866" marT="8433" marB="8433" anchor="ctr">
                    <a:lnL>
                      <a:noFill/>
                    </a:lnL>
                    <a:lnR>
                      <a:noFill/>
                    </a:lnR>
                    <a:lnT>
                      <a:noFill/>
                    </a:lnT>
                    <a:lnB>
                      <a:noFill/>
                    </a:lnB>
                    <a:noFill/>
                  </a:tcPr>
                </a:tc>
                <a:tc>
                  <a:txBody>
                    <a:bodyPr/>
                    <a:lstStyle/>
                    <a:p>
                      <a:pPr algn="l"/>
                      <a:r>
                        <a:rPr lang="en-US" sz="1800" b="0" dirty="0"/>
                        <a:t>If 3+ teams cut prices, price war: Market share gain is halved and each team loses $10M.</a:t>
                      </a:r>
                    </a:p>
                  </a:txBody>
                  <a:tcPr marL="16866" marR="16866" marT="8433" marB="8433" anchor="ctr">
                    <a:lnL>
                      <a:noFill/>
                    </a:lnL>
                    <a:lnR>
                      <a:noFill/>
                    </a:lnR>
                    <a:lnT>
                      <a:noFill/>
                    </a:lnT>
                    <a:lnB>
                      <a:noFill/>
                    </a:lnB>
                    <a:noFill/>
                  </a:tcPr>
                </a:tc>
                <a:extLst>
                  <a:ext uri="{0D108BD9-81ED-4DB2-BD59-A6C34878D82A}">
                    <a16:rowId xmlns:a16="http://schemas.microsoft.com/office/drawing/2014/main" val="4125418194"/>
                  </a:ext>
                </a:extLst>
              </a:tr>
              <a:tr h="509558">
                <a:tc>
                  <a:txBody>
                    <a:bodyPr/>
                    <a:lstStyle/>
                    <a:p>
                      <a:pPr algn="ctr"/>
                      <a:r>
                        <a:rPr lang="en-US" sz="1800" b="0" dirty="0"/>
                        <a:t>Target premium market</a:t>
                      </a:r>
                    </a:p>
                  </a:txBody>
                  <a:tcPr marL="16866" marR="16866" marT="8433" marB="8433" anchor="ctr">
                    <a:lnL>
                      <a:noFill/>
                    </a:lnL>
                    <a:lnR>
                      <a:noFill/>
                    </a:lnR>
                    <a:lnT>
                      <a:noFill/>
                    </a:lnT>
                    <a:lnB>
                      <a:noFill/>
                    </a:lnB>
                    <a:noFill/>
                  </a:tcPr>
                </a:tc>
                <a:tc>
                  <a:txBody>
                    <a:bodyPr/>
                    <a:lstStyle/>
                    <a:p>
                      <a:pPr algn="ctr"/>
                      <a:r>
                        <a:rPr lang="en-US" sz="1800" b="0"/>
                        <a:t>$50M</a:t>
                      </a:r>
                    </a:p>
                  </a:txBody>
                  <a:tcPr marL="16866" marR="16866" marT="8433" marB="8433" anchor="ctr">
                    <a:lnL>
                      <a:noFill/>
                    </a:lnL>
                    <a:lnR>
                      <a:noFill/>
                    </a:lnR>
                    <a:lnT>
                      <a:noFill/>
                    </a:lnT>
                    <a:lnB>
                      <a:noFill/>
                    </a:lnB>
                    <a:noFill/>
                  </a:tcPr>
                </a:tc>
                <a:tc>
                  <a:txBody>
                    <a:bodyPr/>
                    <a:lstStyle/>
                    <a:p>
                      <a:pPr algn="ctr"/>
                      <a:r>
                        <a:rPr lang="en-US" sz="1800" b="0"/>
                        <a:t>+$75M</a:t>
                      </a:r>
                    </a:p>
                  </a:txBody>
                  <a:tcPr marL="16866" marR="16866" marT="8433" marB="8433" anchor="ctr">
                    <a:lnL>
                      <a:noFill/>
                    </a:lnL>
                    <a:lnR>
                      <a:noFill/>
                    </a:lnR>
                    <a:lnT>
                      <a:noFill/>
                    </a:lnT>
                    <a:lnB>
                      <a:noFill/>
                    </a:lnB>
                    <a:noFill/>
                  </a:tcPr>
                </a:tc>
                <a:tc>
                  <a:txBody>
                    <a:bodyPr/>
                    <a:lstStyle/>
                    <a:p>
                      <a:pPr algn="ctr"/>
                      <a:r>
                        <a:rPr lang="en-US" sz="1800" b="0"/>
                        <a:t>+2%</a:t>
                      </a:r>
                    </a:p>
                  </a:txBody>
                  <a:tcPr marL="16866" marR="16866" marT="8433" marB="8433" anchor="ctr">
                    <a:lnL>
                      <a:noFill/>
                    </a:lnL>
                    <a:lnR>
                      <a:noFill/>
                    </a:lnR>
                    <a:lnT>
                      <a:noFill/>
                    </a:lnT>
                    <a:lnB>
                      <a:noFill/>
                    </a:lnB>
                    <a:noFill/>
                  </a:tcPr>
                </a:tc>
                <a:tc>
                  <a:txBody>
                    <a:bodyPr/>
                    <a:lstStyle/>
                    <a:p>
                      <a:pPr algn="l"/>
                      <a:r>
                        <a:rPr lang="en-US" sz="1800" b="0" dirty="0"/>
                        <a:t>If only 1 team does this: they gain +2% extra market share. </a:t>
                      </a:r>
                    </a:p>
                    <a:p>
                      <a:pPr algn="l"/>
                      <a:r>
                        <a:rPr lang="en-US" sz="1800" b="0" dirty="0"/>
                        <a:t>If no teams target premium, luxury EV demand drops: All team lose 1% market share</a:t>
                      </a:r>
                    </a:p>
                  </a:txBody>
                  <a:tcPr marL="16866" marR="16866" marT="8433" marB="8433" anchor="ctr">
                    <a:lnL>
                      <a:noFill/>
                    </a:lnL>
                    <a:lnR>
                      <a:noFill/>
                    </a:lnR>
                    <a:lnT>
                      <a:noFill/>
                    </a:lnT>
                    <a:lnB>
                      <a:noFill/>
                    </a:lnB>
                    <a:noFill/>
                  </a:tcPr>
                </a:tc>
                <a:extLst>
                  <a:ext uri="{0D108BD9-81ED-4DB2-BD59-A6C34878D82A}">
                    <a16:rowId xmlns:a16="http://schemas.microsoft.com/office/drawing/2014/main" val="4114866372"/>
                  </a:ext>
                </a:extLst>
              </a:tr>
              <a:tr h="979719">
                <a:tc>
                  <a:txBody>
                    <a:bodyPr/>
                    <a:lstStyle/>
                    <a:p>
                      <a:pPr algn="ctr"/>
                      <a:r>
                        <a:rPr lang="en-US" sz="1800" b="0" dirty="0"/>
                        <a:t>Develop battery technology</a:t>
                      </a:r>
                    </a:p>
                  </a:txBody>
                  <a:tcPr marL="16866" marR="16866" marT="8433" marB="8433" anchor="ctr">
                    <a:lnL>
                      <a:noFill/>
                    </a:lnL>
                    <a:lnR>
                      <a:noFill/>
                    </a:lnR>
                    <a:lnT>
                      <a:noFill/>
                    </a:lnT>
                    <a:lnB>
                      <a:noFill/>
                    </a:lnB>
                    <a:noFill/>
                  </a:tcPr>
                </a:tc>
                <a:tc>
                  <a:txBody>
                    <a:bodyPr/>
                    <a:lstStyle/>
                    <a:p>
                      <a:pPr algn="ctr"/>
                      <a:r>
                        <a:rPr lang="en-US" sz="1800" b="0"/>
                        <a:t>$60M</a:t>
                      </a:r>
                    </a:p>
                  </a:txBody>
                  <a:tcPr marL="16866" marR="16866" marT="8433" marB="8433" anchor="ctr">
                    <a:lnL>
                      <a:noFill/>
                    </a:lnL>
                    <a:lnR>
                      <a:noFill/>
                    </a:lnR>
                    <a:lnT>
                      <a:noFill/>
                    </a:lnT>
                    <a:lnB>
                      <a:noFill/>
                    </a:lnB>
                    <a:noFill/>
                  </a:tcPr>
                </a:tc>
                <a:tc>
                  <a:txBody>
                    <a:bodyPr/>
                    <a:lstStyle/>
                    <a:p>
                      <a:pPr algn="ctr"/>
                      <a:r>
                        <a:rPr lang="en-US" sz="1800" b="0"/>
                        <a:t>+$90M</a:t>
                      </a:r>
                    </a:p>
                  </a:txBody>
                  <a:tcPr marL="16866" marR="16866" marT="8433" marB="8433" anchor="ctr">
                    <a:lnL>
                      <a:noFill/>
                    </a:lnL>
                    <a:lnR>
                      <a:noFill/>
                    </a:lnR>
                    <a:lnT>
                      <a:noFill/>
                    </a:lnT>
                    <a:lnB>
                      <a:noFill/>
                    </a:lnB>
                    <a:noFill/>
                  </a:tcPr>
                </a:tc>
                <a:tc>
                  <a:txBody>
                    <a:bodyPr/>
                    <a:lstStyle/>
                    <a:p>
                      <a:pPr algn="ctr"/>
                      <a:r>
                        <a:rPr lang="en-US" sz="1800" b="0" dirty="0"/>
                        <a:t>+3%</a:t>
                      </a:r>
                    </a:p>
                  </a:txBody>
                  <a:tcPr marL="16866" marR="16866" marT="8433" marB="8433" anchor="ctr">
                    <a:lnL>
                      <a:noFill/>
                    </a:lnL>
                    <a:lnR>
                      <a:noFill/>
                    </a:lnR>
                    <a:lnT>
                      <a:noFill/>
                    </a:lnT>
                    <a:lnB>
                      <a:noFill/>
                    </a:lnB>
                    <a:noFill/>
                  </a:tcPr>
                </a:tc>
                <a:tc>
                  <a:txBody>
                    <a:bodyPr/>
                    <a:lstStyle/>
                    <a:p>
                      <a:pPr algn="l"/>
                      <a:r>
                        <a:rPr lang="en-US" sz="1800" b="0" dirty="0"/>
                        <a:t>If 3+ teams invest, market gets oversaturated: Each team loses $10M. </a:t>
                      </a:r>
                    </a:p>
                    <a:p>
                      <a:pPr algn="l"/>
                      <a:r>
                        <a:rPr lang="en-US" sz="1800" b="0" dirty="0"/>
                        <a:t>If no one invests: battery crisis continues: All team pay 8M extra</a:t>
                      </a:r>
                    </a:p>
                  </a:txBody>
                  <a:tcPr marL="16866" marR="16866" marT="8433" marB="8433" anchor="ctr">
                    <a:lnL>
                      <a:noFill/>
                    </a:lnL>
                    <a:lnR>
                      <a:noFill/>
                    </a:lnR>
                    <a:lnT>
                      <a:noFill/>
                    </a:lnT>
                    <a:lnB>
                      <a:noFill/>
                    </a:lnB>
                    <a:noFill/>
                  </a:tcPr>
                </a:tc>
                <a:extLst>
                  <a:ext uri="{0D108BD9-81ED-4DB2-BD59-A6C34878D82A}">
                    <a16:rowId xmlns:a16="http://schemas.microsoft.com/office/drawing/2014/main" val="1338125549"/>
                  </a:ext>
                </a:extLst>
              </a:tr>
            </a:tbl>
          </a:graphicData>
        </a:graphic>
      </p:graphicFrame>
      <p:sp>
        <p:nvSpPr>
          <p:cNvPr id="20" name="Rectangle 2">
            <a:extLst>
              <a:ext uri="{FF2B5EF4-FFF2-40B4-BE49-F238E27FC236}">
                <a16:creationId xmlns:a16="http://schemas.microsoft.com/office/drawing/2014/main" id="{50D88897-1B7F-B996-72B7-09568B516E0C}"/>
              </a:ext>
            </a:extLst>
          </p:cNvPr>
          <p:cNvSpPr>
            <a:spLocks noChangeArrowheads="1"/>
          </p:cNvSpPr>
          <p:nvPr/>
        </p:nvSpPr>
        <p:spPr bwMode="auto">
          <a:xfrm>
            <a:off x="5126038" y="18415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3893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04FF3-C15E-EE76-1C79-741979E4DAF1}"/>
              </a:ext>
            </a:extLst>
          </p:cNvPr>
          <p:cNvSpPr>
            <a:spLocks noGrp="1"/>
          </p:cNvSpPr>
          <p:nvPr>
            <p:ph type="title"/>
          </p:nvPr>
        </p:nvSpPr>
        <p:spPr>
          <a:xfrm>
            <a:off x="579313" y="0"/>
            <a:ext cx="10048125" cy="1143000"/>
          </a:xfrm>
        </p:spPr>
        <p:txBody>
          <a:bodyPr>
            <a:normAutofit/>
          </a:bodyPr>
          <a:lstStyle/>
          <a:p>
            <a:r>
              <a:rPr lang="en-US" dirty="0"/>
              <a:t>Round 2: Rivalry &amp; Threat of Substitutes</a:t>
            </a:r>
          </a:p>
        </p:txBody>
      </p:sp>
      <p:sp>
        <p:nvSpPr>
          <p:cNvPr id="4" name="Content Placeholder 2">
            <a:extLst>
              <a:ext uri="{FF2B5EF4-FFF2-40B4-BE49-F238E27FC236}">
                <a16:creationId xmlns:a16="http://schemas.microsoft.com/office/drawing/2014/main" id="{D45A162D-6F17-BB26-EC7A-6DC6A69E759F}"/>
              </a:ext>
            </a:extLst>
          </p:cNvPr>
          <p:cNvSpPr>
            <a:spLocks noGrp="1"/>
          </p:cNvSpPr>
          <p:nvPr>
            <p:ph sz="quarter" idx="10"/>
          </p:nvPr>
        </p:nvSpPr>
        <p:spPr>
          <a:xfrm>
            <a:off x="259381" y="914401"/>
            <a:ext cx="10687987" cy="1143000"/>
          </a:xfrm>
        </p:spPr>
        <p:txBody>
          <a:bodyPr/>
          <a:lstStyle/>
          <a:p>
            <a:r>
              <a:rPr lang="en-US" sz="2400" b="1" dirty="0">
                <a:solidFill>
                  <a:schemeClr val="tx1"/>
                </a:solidFill>
              </a:rPr>
              <a:t>Industry Scenario:</a:t>
            </a:r>
          </a:p>
          <a:p>
            <a:pPr lvl="1"/>
            <a:r>
              <a:rPr lang="en-US" sz="2000" dirty="0">
                <a:solidFill>
                  <a:schemeClr val="tx1"/>
                </a:solidFill>
              </a:rPr>
              <a:t>Tesla and Rivian aggressively increase marketing.</a:t>
            </a:r>
          </a:p>
          <a:p>
            <a:pPr lvl="1"/>
            <a:r>
              <a:rPr lang="en-US" sz="2000" dirty="0">
                <a:solidFill>
                  <a:schemeClr val="tx1"/>
                </a:solidFill>
              </a:rPr>
              <a:t>Hydrogen cars start gaining interest among consumers.</a:t>
            </a:r>
          </a:p>
          <a:p>
            <a:pPr marL="0" indent="0">
              <a:buNone/>
            </a:pPr>
            <a:endParaRPr lang="en-US" dirty="0">
              <a:solidFill>
                <a:schemeClr val="tx1"/>
              </a:solidFill>
            </a:endParaRPr>
          </a:p>
        </p:txBody>
      </p:sp>
      <p:graphicFrame>
        <p:nvGraphicFramePr>
          <p:cNvPr id="7" name="Table 6">
            <a:extLst>
              <a:ext uri="{FF2B5EF4-FFF2-40B4-BE49-F238E27FC236}">
                <a16:creationId xmlns:a16="http://schemas.microsoft.com/office/drawing/2014/main" id="{63553E35-5EC0-38ED-7EDF-8F9662C27A1C}"/>
              </a:ext>
            </a:extLst>
          </p:cNvPr>
          <p:cNvGraphicFramePr>
            <a:graphicFrameLocks noGrp="1"/>
          </p:cNvGraphicFramePr>
          <p:nvPr>
            <p:extLst>
              <p:ext uri="{D42A27DB-BD31-4B8C-83A1-F6EECF244321}">
                <p14:modId xmlns:p14="http://schemas.microsoft.com/office/powerpoint/2010/main" val="3820517690"/>
              </p:ext>
            </p:extLst>
          </p:nvPr>
        </p:nvGraphicFramePr>
        <p:xfrm>
          <a:off x="0" y="2160648"/>
          <a:ext cx="12192000" cy="4697352"/>
        </p:xfrm>
        <a:graphic>
          <a:graphicData uri="http://schemas.openxmlformats.org/drawingml/2006/table">
            <a:tbl>
              <a:tblPr/>
              <a:tblGrid>
                <a:gridCol w="1364105">
                  <a:extLst>
                    <a:ext uri="{9D8B030D-6E8A-4147-A177-3AD203B41FA5}">
                      <a16:colId xmlns:a16="http://schemas.microsoft.com/office/drawing/2014/main" val="286956417"/>
                    </a:ext>
                  </a:extLst>
                </a:gridCol>
                <a:gridCol w="1364105">
                  <a:extLst>
                    <a:ext uri="{9D8B030D-6E8A-4147-A177-3AD203B41FA5}">
                      <a16:colId xmlns:a16="http://schemas.microsoft.com/office/drawing/2014/main" val="3326620023"/>
                    </a:ext>
                  </a:extLst>
                </a:gridCol>
                <a:gridCol w="644577">
                  <a:extLst>
                    <a:ext uri="{9D8B030D-6E8A-4147-A177-3AD203B41FA5}">
                      <a16:colId xmlns:a16="http://schemas.microsoft.com/office/drawing/2014/main" val="1646739343"/>
                    </a:ext>
                  </a:extLst>
                </a:gridCol>
                <a:gridCol w="1618938">
                  <a:extLst>
                    <a:ext uri="{9D8B030D-6E8A-4147-A177-3AD203B41FA5}">
                      <a16:colId xmlns:a16="http://schemas.microsoft.com/office/drawing/2014/main" val="1226431613"/>
                    </a:ext>
                  </a:extLst>
                </a:gridCol>
                <a:gridCol w="7200275">
                  <a:extLst>
                    <a:ext uri="{9D8B030D-6E8A-4147-A177-3AD203B41FA5}">
                      <a16:colId xmlns:a16="http://schemas.microsoft.com/office/drawing/2014/main" val="688674845"/>
                    </a:ext>
                  </a:extLst>
                </a:gridCol>
              </a:tblGrid>
              <a:tr h="85518">
                <a:tc>
                  <a:txBody>
                    <a:bodyPr/>
                    <a:lstStyle/>
                    <a:p>
                      <a:pPr algn="ctr"/>
                      <a:r>
                        <a:rPr lang="en-US" sz="1800" b="1" dirty="0"/>
                        <a:t>Strategy</a:t>
                      </a:r>
                    </a:p>
                  </a:txBody>
                  <a:tcPr marL="14408" marR="14408" marT="7204" marB="7204" anchor="ctr">
                    <a:lnL>
                      <a:noFill/>
                    </a:lnL>
                    <a:lnR>
                      <a:noFill/>
                    </a:lnR>
                    <a:lnT>
                      <a:noFill/>
                    </a:lnT>
                    <a:lnB>
                      <a:noFill/>
                    </a:lnB>
                    <a:noFill/>
                  </a:tcPr>
                </a:tc>
                <a:tc>
                  <a:txBody>
                    <a:bodyPr/>
                    <a:lstStyle/>
                    <a:p>
                      <a:pPr algn="ctr"/>
                      <a:r>
                        <a:rPr lang="en-US" sz="1800" b="1" dirty="0"/>
                        <a:t>Investment</a:t>
                      </a:r>
                    </a:p>
                  </a:txBody>
                  <a:tcPr marL="14408" marR="14408" marT="7204" marB="7204" anchor="ctr">
                    <a:lnL>
                      <a:noFill/>
                    </a:lnL>
                    <a:lnR>
                      <a:noFill/>
                    </a:lnR>
                    <a:lnT>
                      <a:noFill/>
                    </a:lnT>
                    <a:lnB>
                      <a:noFill/>
                    </a:lnB>
                    <a:noFill/>
                  </a:tcPr>
                </a:tc>
                <a:tc>
                  <a:txBody>
                    <a:bodyPr/>
                    <a:lstStyle/>
                    <a:p>
                      <a:pPr algn="ctr"/>
                      <a:r>
                        <a:rPr lang="en-US" sz="1800" b="1" dirty="0"/>
                        <a:t>Profit</a:t>
                      </a:r>
                    </a:p>
                  </a:txBody>
                  <a:tcPr marL="14408" marR="14408" marT="7204" marB="7204" anchor="ctr">
                    <a:lnL>
                      <a:noFill/>
                    </a:lnL>
                    <a:lnR>
                      <a:noFill/>
                    </a:lnR>
                    <a:lnT>
                      <a:noFill/>
                    </a:lnT>
                    <a:lnB>
                      <a:noFill/>
                    </a:lnB>
                    <a:noFill/>
                  </a:tcPr>
                </a:tc>
                <a:tc>
                  <a:txBody>
                    <a:bodyPr/>
                    <a:lstStyle/>
                    <a:p>
                      <a:pPr algn="ctr"/>
                      <a:r>
                        <a:rPr lang="en-US" sz="1800" b="1" dirty="0"/>
                        <a:t>Market Share</a:t>
                      </a:r>
                    </a:p>
                  </a:txBody>
                  <a:tcPr marL="14408" marR="14408" marT="7204" marB="7204" anchor="ctr">
                    <a:lnL>
                      <a:noFill/>
                    </a:lnL>
                    <a:lnR>
                      <a:noFill/>
                    </a:lnR>
                    <a:lnT>
                      <a:noFill/>
                    </a:lnT>
                    <a:lnB>
                      <a:noFill/>
                    </a:lnB>
                    <a:noFill/>
                  </a:tcPr>
                </a:tc>
                <a:tc>
                  <a:txBody>
                    <a:bodyPr/>
                    <a:lstStyle/>
                    <a:p>
                      <a:pPr algn="ctr"/>
                      <a:r>
                        <a:rPr lang="en-US" sz="1800" b="1" dirty="0"/>
                        <a:t>Competitive Adjustments</a:t>
                      </a:r>
                    </a:p>
                  </a:txBody>
                  <a:tcPr marL="14408" marR="14408" marT="7204" marB="7204" anchor="ctr">
                    <a:lnL>
                      <a:noFill/>
                    </a:lnL>
                    <a:lnR>
                      <a:noFill/>
                    </a:lnR>
                    <a:lnT>
                      <a:noFill/>
                    </a:lnT>
                    <a:lnB>
                      <a:noFill/>
                    </a:lnB>
                    <a:noFill/>
                  </a:tcPr>
                </a:tc>
                <a:extLst>
                  <a:ext uri="{0D108BD9-81ED-4DB2-BD59-A6C34878D82A}">
                    <a16:rowId xmlns:a16="http://schemas.microsoft.com/office/drawing/2014/main" val="3462626225"/>
                  </a:ext>
                </a:extLst>
              </a:tr>
              <a:tr h="280978">
                <a:tc>
                  <a:txBody>
                    <a:bodyPr/>
                    <a:lstStyle/>
                    <a:p>
                      <a:pPr algn="ctr"/>
                      <a:r>
                        <a:rPr lang="en-US" sz="1800" b="0" dirty="0"/>
                        <a:t>Trade-in program for old EVs</a:t>
                      </a:r>
                    </a:p>
                  </a:txBody>
                  <a:tcPr marL="14408" marR="14408" marT="7204" marB="7204" anchor="ctr">
                    <a:lnL>
                      <a:noFill/>
                    </a:lnL>
                    <a:lnR>
                      <a:noFill/>
                    </a:lnR>
                    <a:lnT>
                      <a:noFill/>
                    </a:lnT>
                    <a:lnB>
                      <a:noFill/>
                    </a:lnB>
                    <a:noFill/>
                  </a:tcPr>
                </a:tc>
                <a:tc>
                  <a:txBody>
                    <a:bodyPr/>
                    <a:lstStyle/>
                    <a:p>
                      <a:pPr algn="ctr"/>
                      <a:r>
                        <a:rPr lang="en-US" sz="1800" b="0"/>
                        <a:t>$30M</a:t>
                      </a:r>
                    </a:p>
                  </a:txBody>
                  <a:tcPr marL="14408" marR="14408" marT="7204" marB="7204" anchor="ctr">
                    <a:lnL>
                      <a:noFill/>
                    </a:lnL>
                    <a:lnR>
                      <a:noFill/>
                    </a:lnR>
                    <a:lnT>
                      <a:noFill/>
                    </a:lnT>
                    <a:lnB>
                      <a:noFill/>
                    </a:lnB>
                    <a:noFill/>
                  </a:tcPr>
                </a:tc>
                <a:tc>
                  <a:txBody>
                    <a:bodyPr/>
                    <a:lstStyle/>
                    <a:p>
                      <a:pPr algn="ctr"/>
                      <a:r>
                        <a:rPr lang="en-US" sz="1800" b="0" dirty="0"/>
                        <a:t>+$25M</a:t>
                      </a:r>
                    </a:p>
                  </a:txBody>
                  <a:tcPr marL="14408" marR="14408" marT="7204" marB="7204" anchor="ctr">
                    <a:lnL>
                      <a:noFill/>
                    </a:lnL>
                    <a:lnR>
                      <a:noFill/>
                    </a:lnR>
                    <a:lnT>
                      <a:noFill/>
                    </a:lnT>
                    <a:lnB>
                      <a:noFill/>
                    </a:lnB>
                    <a:noFill/>
                  </a:tcPr>
                </a:tc>
                <a:tc>
                  <a:txBody>
                    <a:bodyPr/>
                    <a:lstStyle/>
                    <a:p>
                      <a:pPr algn="ctr"/>
                      <a:r>
                        <a:rPr lang="en-US" sz="1800" b="0" dirty="0"/>
                        <a:t>+4%</a:t>
                      </a:r>
                    </a:p>
                  </a:txBody>
                  <a:tcPr marL="14408" marR="14408" marT="7204" marB="7204" anchor="ctr">
                    <a:lnL>
                      <a:noFill/>
                    </a:lnL>
                    <a:lnR>
                      <a:noFill/>
                    </a:lnR>
                    <a:lnT>
                      <a:noFill/>
                    </a:lnT>
                    <a:lnB>
                      <a:noFill/>
                    </a:lnB>
                    <a:noFill/>
                  </a:tcPr>
                </a:tc>
                <a:tc>
                  <a:txBody>
                    <a:bodyPr/>
                    <a:lstStyle/>
                    <a:p>
                      <a:pPr algn="l"/>
                      <a:r>
                        <a:rPr lang="en-US" sz="1800" b="0" dirty="0"/>
                        <a:t>If 2+ teams offer, customers demand more: reducing profit by $10M. </a:t>
                      </a:r>
                    </a:p>
                    <a:p>
                      <a:pPr algn="l"/>
                      <a:r>
                        <a:rPr lang="en-US" sz="1800" b="0" dirty="0"/>
                        <a:t>If only 1 team offers it, they gain +1% extra market share.</a:t>
                      </a:r>
                    </a:p>
                  </a:txBody>
                  <a:tcPr marL="14408" marR="14408" marT="7204" marB="7204" anchor="ctr">
                    <a:lnL>
                      <a:noFill/>
                    </a:lnL>
                    <a:lnR>
                      <a:noFill/>
                    </a:lnR>
                    <a:lnT>
                      <a:noFill/>
                    </a:lnT>
                    <a:lnB>
                      <a:noFill/>
                    </a:lnB>
                    <a:noFill/>
                  </a:tcPr>
                </a:tc>
                <a:extLst>
                  <a:ext uri="{0D108BD9-81ED-4DB2-BD59-A6C34878D82A}">
                    <a16:rowId xmlns:a16="http://schemas.microsoft.com/office/drawing/2014/main" val="979080641"/>
                  </a:ext>
                </a:extLst>
              </a:tr>
              <a:tr h="575534">
                <a:tc>
                  <a:txBody>
                    <a:bodyPr/>
                    <a:lstStyle/>
                    <a:p>
                      <a:pPr algn="ctr"/>
                      <a:r>
                        <a:rPr lang="en-US" sz="1800" b="0" dirty="0"/>
                        <a:t>Expand EV charging network</a:t>
                      </a:r>
                    </a:p>
                  </a:txBody>
                  <a:tcPr marL="14408" marR="14408" marT="7204" marB="7204" anchor="ctr">
                    <a:lnL>
                      <a:noFill/>
                    </a:lnL>
                    <a:lnR>
                      <a:noFill/>
                    </a:lnR>
                    <a:lnT>
                      <a:noFill/>
                    </a:lnT>
                    <a:lnB>
                      <a:noFill/>
                    </a:lnB>
                    <a:noFill/>
                  </a:tcPr>
                </a:tc>
                <a:tc>
                  <a:txBody>
                    <a:bodyPr/>
                    <a:lstStyle/>
                    <a:p>
                      <a:pPr algn="ctr"/>
                      <a:r>
                        <a:rPr lang="en-US" sz="1800" b="0"/>
                        <a:t>$50M</a:t>
                      </a:r>
                    </a:p>
                  </a:txBody>
                  <a:tcPr marL="14408" marR="14408" marT="7204" marB="7204" anchor="ctr">
                    <a:lnL>
                      <a:noFill/>
                    </a:lnL>
                    <a:lnR>
                      <a:noFill/>
                    </a:lnR>
                    <a:lnT>
                      <a:noFill/>
                    </a:lnT>
                    <a:lnB>
                      <a:noFill/>
                    </a:lnB>
                    <a:noFill/>
                  </a:tcPr>
                </a:tc>
                <a:tc>
                  <a:txBody>
                    <a:bodyPr/>
                    <a:lstStyle/>
                    <a:p>
                      <a:pPr algn="ctr"/>
                      <a:r>
                        <a:rPr lang="en-US" sz="1800" b="0"/>
                        <a:t>+$60M</a:t>
                      </a:r>
                    </a:p>
                  </a:txBody>
                  <a:tcPr marL="14408" marR="14408" marT="7204" marB="7204" anchor="ctr">
                    <a:lnL>
                      <a:noFill/>
                    </a:lnL>
                    <a:lnR>
                      <a:noFill/>
                    </a:lnR>
                    <a:lnT>
                      <a:noFill/>
                    </a:lnT>
                    <a:lnB>
                      <a:noFill/>
                    </a:lnB>
                    <a:noFill/>
                  </a:tcPr>
                </a:tc>
                <a:tc>
                  <a:txBody>
                    <a:bodyPr/>
                    <a:lstStyle/>
                    <a:p>
                      <a:pPr algn="ctr"/>
                      <a:r>
                        <a:rPr lang="en-US" sz="1800" b="0" dirty="0"/>
                        <a:t>+6%</a:t>
                      </a:r>
                    </a:p>
                  </a:txBody>
                  <a:tcPr marL="14408" marR="14408" marT="7204" marB="7204" anchor="ctr">
                    <a:lnL>
                      <a:noFill/>
                    </a:lnL>
                    <a:lnR>
                      <a:noFill/>
                    </a:lnR>
                    <a:lnT>
                      <a:noFill/>
                    </a:lnT>
                    <a:lnB>
                      <a:noFill/>
                    </a:lnB>
                    <a:noFill/>
                  </a:tcPr>
                </a:tc>
                <a:tc>
                  <a:txBody>
                    <a:bodyPr/>
                    <a:lstStyle/>
                    <a:p>
                      <a:pPr algn="l"/>
                      <a:r>
                        <a:rPr lang="en-US" sz="1800" b="0" dirty="0"/>
                        <a:t>If 3+ teams do, infrastructure gets oversaturated: Each team gains only +3% market share</a:t>
                      </a:r>
                    </a:p>
                    <a:p>
                      <a:pPr algn="l"/>
                      <a:r>
                        <a:rPr lang="en-US" sz="1800" b="0" dirty="0"/>
                        <a:t>If no teams invest, all teams lose -2% market share</a:t>
                      </a:r>
                    </a:p>
                  </a:txBody>
                  <a:tcPr marL="14408" marR="14408" marT="7204" marB="7204" anchor="ctr">
                    <a:lnL>
                      <a:noFill/>
                    </a:lnL>
                    <a:lnR>
                      <a:noFill/>
                    </a:lnR>
                    <a:lnT>
                      <a:noFill/>
                    </a:lnT>
                    <a:lnB>
                      <a:noFill/>
                    </a:lnB>
                    <a:noFill/>
                  </a:tcPr>
                </a:tc>
                <a:extLst>
                  <a:ext uri="{0D108BD9-81ED-4DB2-BD59-A6C34878D82A}">
                    <a16:rowId xmlns:a16="http://schemas.microsoft.com/office/drawing/2014/main" val="216482861"/>
                  </a:ext>
                </a:extLst>
              </a:tr>
              <a:tr h="84069">
                <a:tc>
                  <a:txBody>
                    <a:bodyPr/>
                    <a:lstStyle/>
                    <a:p>
                      <a:pPr algn="ctr"/>
                      <a:r>
                        <a:rPr lang="en-US" sz="1800" b="0" dirty="0"/>
                        <a:t>Lower prices</a:t>
                      </a:r>
                    </a:p>
                  </a:txBody>
                  <a:tcPr marL="14408" marR="14408" marT="7204" marB="7204" anchor="ctr">
                    <a:lnL>
                      <a:noFill/>
                    </a:lnL>
                    <a:lnR>
                      <a:noFill/>
                    </a:lnR>
                    <a:lnT>
                      <a:noFill/>
                    </a:lnT>
                    <a:lnB>
                      <a:noFill/>
                    </a:lnB>
                    <a:noFill/>
                  </a:tcPr>
                </a:tc>
                <a:tc>
                  <a:txBody>
                    <a:bodyPr/>
                    <a:lstStyle/>
                    <a:p>
                      <a:pPr algn="ctr"/>
                      <a:r>
                        <a:rPr lang="en-US" sz="1800" b="0" dirty="0"/>
                        <a:t>$40M</a:t>
                      </a:r>
                    </a:p>
                  </a:txBody>
                  <a:tcPr marL="14408" marR="14408" marT="7204" marB="7204" anchor="ctr">
                    <a:lnL>
                      <a:noFill/>
                    </a:lnL>
                    <a:lnR>
                      <a:noFill/>
                    </a:lnR>
                    <a:lnT>
                      <a:noFill/>
                    </a:lnT>
                    <a:lnB>
                      <a:noFill/>
                    </a:lnB>
                    <a:noFill/>
                  </a:tcPr>
                </a:tc>
                <a:tc>
                  <a:txBody>
                    <a:bodyPr/>
                    <a:lstStyle/>
                    <a:p>
                      <a:pPr algn="ctr"/>
                      <a:r>
                        <a:rPr lang="en-US" sz="1800" b="0"/>
                        <a:t>-$20M</a:t>
                      </a:r>
                    </a:p>
                  </a:txBody>
                  <a:tcPr marL="14408" marR="14408" marT="7204" marB="7204" anchor="ctr">
                    <a:lnL>
                      <a:noFill/>
                    </a:lnL>
                    <a:lnR>
                      <a:noFill/>
                    </a:lnR>
                    <a:lnT>
                      <a:noFill/>
                    </a:lnT>
                    <a:lnB>
                      <a:noFill/>
                    </a:lnB>
                    <a:noFill/>
                  </a:tcPr>
                </a:tc>
                <a:tc>
                  <a:txBody>
                    <a:bodyPr/>
                    <a:lstStyle/>
                    <a:p>
                      <a:pPr algn="ctr"/>
                      <a:r>
                        <a:rPr lang="en-US" sz="1800" b="0"/>
                        <a:t>+10%</a:t>
                      </a:r>
                    </a:p>
                  </a:txBody>
                  <a:tcPr marL="14408" marR="14408" marT="7204" marB="7204" anchor="ctr">
                    <a:lnL>
                      <a:noFill/>
                    </a:lnL>
                    <a:lnR>
                      <a:noFill/>
                    </a:lnR>
                    <a:lnT>
                      <a:noFill/>
                    </a:lnT>
                    <a:lnB>
                      <a:noFill/>
                    </a:lnB>
                    <a:noFill/>
                  </a:tcPr>
                </a:tc>
                <a:tc>
                  <a:txBody>
                    <a:bodyPr/>
                    <a:lstStyle/>
                    <a:p>
                      <a:pPr algn="l"/>
                      <a:r>
                        <a:rPr lang="en-US" sz="1800" b="0" dirty="0"/>
                        <a:t>If 3+ teams cut prices, price war: Market share gain reduced to +4%, and each team loses $15M.</a:t>
                      </a:r>
                    </a:p>
                  </a:txBody>
                  <a:tcPr marL="14408" marR="14408" marT="7204" marB="7204" anchor="ctr">
                    <a:lnL>
                      <a:noFill/>
                    </a:lnL>
                    <a:lnR>
                      <a:noFill/>
                    </a:lnR>
                    <a:lnT>
                      <a:noFill/>
                    </a:lnT>
                    <a:lnB>
                      <a:noFill/>
                    </a:lnB>
                    <a:noFill/>
                  </a:tcPr>
                </a:tc>
                <a:extLst>
                  <a:ext uri="{0D108BD9-81ED-4DB2-BD59-A6C34878D82A}">
                    <a16:rowId xmlns:a16="http://schemas.microsoft.com/office/drawing/2014/main" val="2844844810"/>
                  </a:ext>
                </a:extLst>
              </a:tr>
              <a:tr h="315360">
                <a:tc>
                  <a:txBody>
                    <a:bodyPr/>
                    <a:lstStyle/>
                    <a:p>
                      <a:pPr algn="ctr"/>
                      <a:r>
                        <a:rPr lang="en-US" sz="1800" b="0" dirty="0"/>
                        <a:t>Invest in hydrogen EV research</a:t>
                      </a:r>
                    </a:p>
                  </a:txBody>
                  <a:tcPr marL="14408" marR="14408" marT="7204" marB="7204" anchor="ctr">
                    <a:lnL>
                      <a:noFill/>
                    </a:lnL>
                    <a:lnR>
                      <a:noFill/>
                    </a:lnR>
                    <a:lnT>
                      <a:noFill/>
                    </a:lnT>
                    <a:lnB>
                      <a:noFill/>
                    </a:lnB>
                    <a:noFill/>
                  </a:tcPr>
                </a:tc>
                <a:tc>
                  <a:txBody>
                    <a:bodyPr/>
                    <a:lstStyle/>
                    <a:p>
                      <a:pPr algn="ctr"/>
                      <a:r>
                        <a:rPr lang="en-US" sz="1800" b="0" dirty="0"/>
                        <a:t>$60M</a:t>
                      </a:r>
                    </a:p>
                  </a:txBody>
                  <a:tcPr marL="14408" marR="14408" marT="7204" marB="7204" anchor="ctr">
                    <a:lnL>
                      <a:noFill/>
                    </a:lnL>
                    <a:lnR>
                      <a:noFill/>
                    </a:lnR>
                    <a:lnT>
                      <a:noFill/>
                    </a:lnT>
                    <a:lnB>
                      <a:noFill/>
                    </a:lnB>
                    <a:noFill/>
                  </a:tcPr>
                </a:tc>
                <a:tc>
                  <a:txBody>
                    <a:bodyPr/>
                    <a:lstStyle/>
                    <a:p>
                      <a:pPr algn="ctr"/>
                      <a:r>
                        <a:rPr lang="en-US" sz="1800" b="0"/>
                        <a:t>+$85M</a:t>
                      </a:r>
                    </a:p>
                  </a:txBody>
                  <a:tcPr marL="14408" marR="14408" marT="7204" marB="7204" anchor="ctr">
                    <a:lnL>
                      <a:noFill/>
                    </a:lnL>
                    <a:lnR>
                      <a:noFill/>
                    </a:lnR>
                    <a:lnT>
                      <a:noFill/>
                    </a:lnT>
                    <a:lnB>
                      <a:noFill/>
                    </a:lnB>
                    <a:noFill/>
                  </a:tcPr>
                </a:tc>
                <a:tc>
                  <a:txBody>
                    <a:bodyPr/>
                    <a:lstStyle/>
                    <a:p>
                      <a:pPr algn="ctr"/>
                      <a:r>
                        <a:rPr lang="en-US" sz="1800" b="0"/>
                        <a:t>+3%</a:t>
                      </a:r>
                    </a:p>
                  </a:txBody>
                  <a:tcPr marL="14408" marR="14408" marT="7204" marB="7204" anchor="ctr">
                    <a:lnL>
                      <a:noFill/>
                    </a:lnL>
                    <a:lnR>
                      <a:noFill/>
                    </a:lnR>
                    <a:lnT>
                      <a:noFill/>
                    </a:lnT>
                    <a:lnB>
                      <a:noFill/>
                    </a:lnB>
                    <a:noFill/>
                  </a:tcPr>
                </a:tc>
                <a:tc>
                  <a:txBody>
                    <a:bodyPr/>
                    <a:lstStyle/>
                    <a:p>
                      <a:pPr algn="l"/>
                      <a:r>
                        <a:rPr lang="en-US" sz="1800" b="0" dirty="0"/>
                        <a:t>If 3+ teams invest, market gets crowded: Each team only gets +1.5% market share</a:t>
                      </a:r>
                    </a:p>
                    <a:p>
                      <a:pPr algn="l"/>
                      <a:r>
                        <a:rPr lang="en-US" sz="1800" b="0" dirty="0"/>
                        <a:t>If no team invests, hydrogen EVs lose traction: All team lose 1.5% market share.</a:t>
                      </a:r>
                    </a:p>
                  </a:txBody>
                  <a:tcPr marL="14408" marR="14408" marT="7204" marB="7204" anchor="ctr">
                    <a:lnL>
                      <a:noFill/>
                    </a:lnL>
                    <a:lnR>
                      <a:noFill/>
                    </a:lnR>
                    <a:lnT>
                      <a:noFill/>
                    </a:lnT>
                    <a:lnB>
                      <a:noFill/>
                    </a:lnB>
                    <a:noFill/>
                  </a:tcPr>
                </a:tc>
                <a:extLst>
                  <a:ext uri="{0D108BD9-81ED-4DB2-BD59-A6C34878D82A}">
                    <a16:rowId xmlns:a16="http://schemas.microsoft.com/office/drawing/2014/main" val="1030317374"/>
                  </a:ext>
                </a:extLst>
              </a:tr>
              <a:tr h="1059152">
                <a:tc>
                  <a:txBody>
                    <a:bodyPr/>
                    <a:lstStyle/>
                    <a:p>
                      <a:pPr algn="ctr"/>
                      <a:r>
                        <a:rPr lang="en-US" sz="1800" b="0" dirty="0"/>
                        <a:t>Expand into commercial fleet EVs</a:t>
                      </a:r>
                    </a:p>
                  </a:txBody>
                  <a:tcPr marL="14408" marR="14408" marT="7204" marB="7204" anchor="ctr">
                    <a:lnL>
                      <a:noFill/>
                    </a:lnL>
                    <a:lnR>
                      <a:noFill/>
                    </a:lnR>
                    <a:lnT>
                      <a:noFill/>
                    </a:lnT>
                    <a:lnB>
                      <a:noFill/>
                    </a:lnB>
                    <a:noFill/>
                  </a:tcPr>
                </a:tc>
                <a:tc>
                  <a:txBody>
                    <a:bodyPr/>
                    <a:lstStyle/>
                    <a:p>
                      <a:pPr algn="ctr"/>
                      <a:r>
                        <a:rPr lang="en-US" sz="1800" b="0"/>
                        <a:t>$50M</a:t>
                      </a:r>
                    </a:p>
                  </a:txBody>
                  <a:tcPr marL="14408" marR="14408" marT="7204" marB="7204" anchor="ctr">
                    <a:lnL>
                      <a:noFill/>
                    </a:lnL>
                    <a:lnR>
                      <a:noFill/>
                    </a:lnR>
                    <a:lnT>
                      <a:noFill/>
                    </a:lnT>
                    <a:lnB>
                      <a:noFill/>
                    </a:lnB>
                    <a:noFill/>
                  </a:tcPr>
                </a:tc>
                <a:tc>
                  <a:txBody>
                    <a:bodyPr/>
                    <a:lstStyle/>
                    <a:p>
                      <a:pPr algn="ctr"/>
                      <a:r>
                        <a:rPr lang="en-US" sz="1800" b="0"/>
                        <a:t>+$65M</a:t>
                      </a:r>
                    </a:p>
                  </a:txBody>
                  <a:tcPr marL="14408" marR="14408" marT="7204" marB="7204" anchor="ctr">
                    <a:lnL>
                      <a:noFill/>
                    </a:lnL>
                    <a:lnR>
                      <a:noFill/>
                    </a:lnR>
                    <a:lnT>
                      <a:noFill/>
                    </a:lnT>
                    <a:lnB>
                      <a:noFill/>
                    </a:lnB>
                    <a:noFill/>
                  </a:tcPr>
                </a:tc>
                <a:tc>
                  <a:txBody>
                    <a:bodyPr/>
                    <a:lstStyle/>
                    <a:p>
                      <a:pPr algn="ctr"/>
                      <a:r>
                        <a:rPr lang="en-US" sz="1800" b="0"/>
                        <a:t>+5%</a:t>
                      </a:r>
                    </a:p>
                  </a:txBody>
                  <a:tcPr marL="14408" marR="14408" marT="7204" marB="7204" anchor="ctr">
                    <a:lnL>
                      <a:noFill/>
                    </a:lnL>
                    <a:lnR>
                      <a:noFill/>
                    </a:lnR>
                    <a:lnT>
                      <a:noFill/>
                    </a:lnT>
                    <a:lnB>
                      <a:noFill/>
                    </a:lnB>
                    <a:noFill/>
                  </a:tcPr>
                </a:tc>
                <a:tc>
                  <a:txBody>
                    <a:bodyPr/>
                    <a:lstStyle/>
                    <a:p>
                      <a:pPr algn="l"/>
                      <a:r>
                        <a:rPr lang="en-US" sz="1800" b="0" dirty="0"/>
                        <a:t>If only 1 team does this: they gain an extra +3% market share. </a:t>
                      </a:r>
                    </a:p>
                    <a:p>
                      <a:pPr algn="l"/>
                      <a:r>
                        <a:rPr lang="en-US" sz="1800" b="0" dirty="0"/>
                        <a:t>If no teams invest: corporate customers shift to Tesla: all team lose 2% market share</a:t>
                      </a:r>
                    </a:p>
                  </a:txBody>
                  <a:tcPr marL="14408" marR="14408" marT="7204" marB="7204" anchor="ctr">
                    <a:lnL>
                      <a:noFill/>
                    </a:lnL>
                    <a:lnR>
                      <a:noFill/>
                    </a:lnR>
                    <a:lnT>
                      <a:noFill/>
                    </a:lnT>
                    <a:lnB>
                      <a:noFill/>
                    </a:lnB>
                    <a:noFill/>
                  </a:tcPr>
                </a:tc>
                <a:extLst>
                  <a:ext uri="{0D108BD9-81ED-4DB2-BD59-A6C34878D82A}">
                    <a16:rowId xmlns:a16="http://schemas.microsoft.com/office/drawing/2014/main" val="4158095852"/>
                  </a:ext>
                </a:extLst>
              </a:tr>
            </a:tbl>
          </a:graphicData>
        </a:graphic>
      </p:graphicFrame>
    </p:spTree>
    <p:extLst>
      <p:ext uri="{BB962C8B-B14F-4D97-AF65-F5344CB8AC3E}">
        <p14:creationId xmlns:p14="http://schemas.microsoft.com/office/powerpoint/2010/main" val="134724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31B70-C919-31CD-04D4-E67073A14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D6BFD-C695-E418-9F83-2E5BD000481C}"/>
              </a:ext>
            </a:extLst>
          </p:cNvPr>
          <p:cNvSpPr>
            <a:spLocks noGrp="1"/>
          </p:cNvSpPr>
          <p:nvPr>
            <p:ph type="title"/>
          </p:nvPr>
        </p:nvSpPr>
        <p:spPr>
          <a:xfrm>
            <a:off x="609293" y="0"/>
            <a:ext cx="10048125" cy="1143000"/>
          </a:xfrm>
        </p:spPr>
        <p:txBody>
          <a:bodyPr>
            <a:normAutofit/>
          </a:bodyPr>
          <a:lstStyle/>
          <a:p>
            <a:r>
              <a:rPr lang="en-US" dirty="0"/>
              <a:t>Round 3: </a:t>
            </a:r>
            <a:r>
              <a:rPr lang="en-US" b="1" dirty="0"/>
              <a:t>Regulation &amp; Consumer Trends</a:t>
            </a:r>
            <a:endParaRPr lang="en-US" dirty="0"/>
          </a:p>
        </p:txBody>
      </p:sp>
      <p:sp>
        <p:nvSpPr>
          <p:cNvPr id="4" name="Content Placeholder 2">
            <a:extLst>
              <a:ext uri="{FF2B5EF4-FFF2-40B4-BE49-F238E27FC236}">
                <a16:creationId xmlns:a16="http://schemas.microsoft.com/office/drawing/2014/main" id="{D0A9107D-4B78-0D3F-975B-E8E5C8ADA1D9}"/>
              </a:ext>
            </a:extLst>
          </p:cNvPr>
          <p:cNvSpPr>
            <a:spLocks noGrp="1"/>
          </p:cNvSpPr>
          <p:nvPr>
            <p:ph sz="quarter" idx="10"/>
          </p:nvPr>
        </p:nvSpPr>
        <p:spPr>
          <a:xfrm>
            <a:off x="374754" y="899410"/>
            <a:ext cx="10282664" cy="1543987"/>
          </a:xfrm>
        </p:spPr>
        <p:txBody>
          <a:bodyPr/>
          <a:lstStyle/>
          <a:p>
            <a:r>
              <a:rPr lang="en-US" sz="2400" b="1" dirty="0">
                <a:solidFill>
                  <a:schemeClr val="tx1"/>
                </a:solidFill>
              </a:rPr>
              <a:t>Industry Scenario:</a:t>
            </a:r>
          </a:p>
          <a:p>
            <a:pPr lvl="1"/>
            <a:r>
              <a:rPr lang="en-US" sz="2000" dirty="0">
                <a:solidFill>
                  <a:schemeClr val="tx1"/>
                </a:solidFill>
              </a:rPr>
              <a:t>Governments introduce stricter EV regulations, forcing companies to invest in sustainability</a:t>
            </a:r>
          </a:p>
          <a:p>
            <a:pPr lvl="1"/>
            <a:r>
              <a:rPr lang="en-US" sz="2000" dirty="0">
                <a:solidFill>
                  <a:schemeClr val="tx1"/>
                </a:solidFill>
              </a:rPr>
              <a:t>Consumers demand cheaper EVs with wider ranges, increasing buyer power</a:t>
            </a:r>
          </a:p>
        </p:txBody>
      </p:sp>
      <p:graphicFrame>
        <p:nvGraphicFramePr>
          <p:cNvPr id="3" name="Table 2">
            <a:extLst>
              <a:ext uri="{FF2B5EF4-FFF2-40B4-BE49-F238E27FC236}">
                <a16:creationId xmlns:a16="http://schemas.microsoft.com/office/drawing/2014/main" id="{3F41DC16-5D14-2799-236A-8E5CF7F8F7F0}"/>
              </a:ext>
            </a:extLst>
          </p:cNvPr>
          <p:cNvGraphicFramePr>
            <a:graphicFrameLocks noGrp="1"/>
          </p:cNvGraphicFramePr>
          <p:nvPr>
            <p:extLst>
              <p:ext uri="{D42A27DB-BD31-4B8C-83A1-F6EECF244321}">
                <p14:modId xmlns:p14="http://schemas.microsoft.com/office/powerpoint/2010/main" val="681289778"/>
              </p:ext>
            </p:extLst>
          </p:nvPr>
        </p:nvGraphicFramePr>
        <p:xfrm>
          <a:off x="0" y="2443397"/>
          <a:ext cx="12192000" cy="4522561"/>
        </p:xfrm>
        <a:graphic>
          <a:graphicData uri="http://schemas.openxmlformats.org/drawingml/2006/table">
            <a:tbl>
              <a:tblPr/>
              <a:tblGrid>
                <a:gridCol w="1349115">
                  <a:extLst>
                    <a:ext uri="{9D8B030D-6E8A-4147-A177-3AD203B41FA5}">
                      <a16:colId xmlns:a16="http://schemas.microsoft.com/office/drawing/2014/main" val="86612324"/>
                    </a:ext>
                  </a:extLst>
                </a:gridCol>
                <a:gridCol w="1289154">
                  <a:extLst>
                    <a:ext uri="{9D8B030D-6E8A-4147-A177-3AD203B41FA5}">
                      <a16:colId xmlns:a16="http://schemas.microsoft.com/office/drawing/2014/main" val="959881672"/>
                    </a:ext>
                  </a:extLst>
                </a:gridCol>
                <a:gridCol w="674557">
                  <a:extLst>
                    <a:ext uri="{9D8B030D-6E8A-4147-A177-3AD203B41FA5}">
                      <a16:colId xmlns:a16="http://schemas.microsoft.com/office/drawing/2014/main" val="627076760"/>
                    </a:ext>
                  </a:extLst>
                </a:gridCol>
                <a:gridCol w="1573967">
                  <a:extLst>
                    <a:ext uri="{9D8B030D-6E8A-4147-A177-3AD203B41FA5}">
                      <a16:colId xmlns:a16="http://schemas.microsoft.com/office/drawing/2014/main" val="1917559976"/>
                    </a:ext>
                  </a:extLst>
                </a:gridCol>
                <a:gridCol w="7305207">
                  <a:extLst>
                    <a:ext uri="{9D8B030D-6E8A-4147-A177-3AD203B41FA5}">
                      <a16:colId xmlns:a16="http://schemas.microsoft.com/office/drawing/2014/main" val="801604867"/>
                    </a:ext>
                  </a:extLst>
                </a:gridCol>
              </a:tblGrid>
              <a:tr h="261018">
                <a:tc>
                  <a:txBody>
                    <a:bodyPr/>
                    <a:lstStyle/>
                    <a:p>
                      <a:pPr algn="ctr"/>
                      <a:r>
                        <a:rPr lang="en-US" sz="1800" b="1" dirty="0"/>
                        <a:t>Strategy</a:t>
                      </a:r>
                    </a:p>
                  </a:txBody>
                  <a:tcPr marL="16358" marR="16358" marT="8179" marB="8179" anchor="ctr">
                    <a:lnL>
                      <a:noFill/>
                    </a:lnL>
                    <a:lnR>
                      <a:noFill/>
                    </a:lnR>
                    <a:lnT>
                      <a:noFill/>
                    </a:lnT>
                    <a:lnB>
                      <a:noFill/>
                    </a:lnB>
                    <a:noFill/>
                  </a:tcPr>
                </a:tc>
                <a:tc>
                  <a:txBody>
                    <a:bodyPr/>
                    <a:lstStyle/>
                    <a:p>
                      <a:pPr algn="ctr"/>
                      <a:r>
                        <a:rPr lang="en-US" sz="1800" b="1" dirty="0"/>
                        <a:t>Investment</a:t>
                      </a:r>
                    </a:p>
                  </a:txBody>
                  <a:tcPr marL="16358" marR="16358" marT="8179" marB="8179" anchor="ctr">
                    <a:lnL>
                      <a:noFill/>
                    </a:lnL>
                    <a:lnR>
                      <a:noFill/>
                    </a:lnR>
                    <a:lnT>
                      <a:noFill/>
                    </a:lnT>
                    <a:lnB>
                      <a:noFill/>
                    </a:lnB>
                    <a:noFill/>
                  </a:tcPr>
                </a:tc>
                <a:tc>
                  <a:txBody>
                    <a:bodyPr/>
                    <a:lstStyle/>
                    <a:p>
                      <a:pPr algn="ctr"/>
                      <a:r>
                        <a:rPr lang="en-US" sz="1800" b="1" dirty="0"/>
                        <a:t>Profit</a:t>
                      </a:r>
                    </a:p>
                  </a:txBody>
                  <a:tcPr marL="16358" marR="16358" marT="8179" marB="8179" anchor="ctr">
                    <a:lnL>
                      <a:noFill/>
                    </a:lnL>
                    <a:lnR>
                      <a:noFill/>
                    </a:lnR>
                    <a:lnT>
                      <a:noFill/>
                    </a:lnT>
                    <a:lnB>
                      <a:noFill/>
                    </a:lnB>
                    <a:noFill/>
                  </a:tcPr>
                </a:tc>
                <a:tc>
                  <a:txBody>
                    <a:bodyPr/>
                    <a:lstStyle/>
                    <a:p>
                      <a:pPr algn="ctr"/>
                      <a:r>
                        <a:rPr lang="en-US" sz="1800" b="1" dirty="0"/>
                        <a:t>Market Share</a:t>
                      </a:r>
                    </a:p>
                  </a:txBody>
                  <a:tcPr marL="16358" marR="16358" marT="8179" marB="8179" anchor="ctr">
                    <a:lnL>
                      <a:noFill/>
                    </a:lnL>
                    <a:lnR>
                      <a:noFill/>
                    </a:lnR>
                    <a:lnT>
                      <a:noFill/>
                    </a:lnT>
                    <a:lnB>
                      <a:noFill/>
                    </a:lnB>
                    <a:noFill/>
                  </a:tcPr>
                </a:tc>
                <a:tc>
                  <a:txBody>
                    <a:bodyPr/>
                    <a:lstStyle/>
                    <a:p>
                      <a:pPr algn="ctr"/>
                      <a:r>
                        <a:rPr lang="en-US" sz="1800" b="1" dirty="0"/>
                        <a:t>Competitive Adjustments</a:t>
                      </a:r>
                    </a:p>
                  </a:txBody>
                  <a:tcPr marL="16358" marR="16358" marT="8179" marB="8179" anchor="ctr">
                    <a:lnL>
                      <a:noFill/>
                    </a:lnL>
                    <a:lnR>
                      <a:noFill/>
                    </a:lnR>
                    <a:lnT>
                      <a:noFill/>
                    </a:lnT>
                    <a:lnB>
                      <a:noFill/>
                    </a:lnB>
                    <a:noFill/>
                  </a:tcPr>
                </a:tc>
                <a:extLst>
                  <a:ext uri="{0D108BD9-81ED-4DB2-BD59-A6C34878D82A}">
                    <a16:rowId xmlns:a16="http://schemas.microsoft.com/office/drawing/2014/main" val="1880472699"/>
                  </a:ext>
                </a:extLst>
              </a:tr>
              <a:tr h="892556">
                <a:tc>
                  <a:txBody>
                    <a:bodyPr/>
                    <a:lstStyle/>
                    <a:p>
                      <a:pPr algn="ctr"/>
                      <a:r>
                        <a:rPr lang="en-US" sz="1800" b="0" dirty="0"/>
                        <a:t>Invest in battery recycling</a:t>
                      </a:r>
                    </a:p>
                  </a:txBody>
                  <a:tcPr marL="16358" marR="16358" marT="8179" marB="8179" anchor="ctr">
                    <a:lnL>
                      <a:noFill/>
                    </a:lnL>
                    <a:lnR>
                      <a:noFill/>
                    </a:lnR>
                    <a:lnT>
                      <a:noFill/>
                    </a:lnT>
                    <a:lnB>
                      <a:noFill/>
                    </a:lnB>
                    <a:noFill/>
                  </a:tcPr>
                </a:tc>
                <a:tc>
                  <a:txBody>
                    <a:bodyPr/>
                    <a:lstStyle/>
                    <a:p>
                      <a:pPr algn="ctr"/>
                      <a:r>
                        <a:rPr lang="en-US" sz="1800" b="0"/>
                        <a:t>$50M</a:t>
                      </a:r>
                    </a:p>
                  </a:txBody>
                  <a:tcPr marL="16358" marR="16358" marT="8179" marB="8179" anchor="ctr">
                    <a:lnL>
                      <a:noFill/>
                    </a:lnL>
                    <a:lnR>
                      <a:noFill/>
                    </a:lnR>
                    <a:lnT>
                      <a:noFill/>
                    </a:lnT>
                    <a:lnB>
                      <a:noFill/>
                    </a:lnB>
                    <a:noFill/>
                  </a:tcPr>
                </a:tc>
                <a:tc>
                  <a:txBody>
                    <a:bodyPr/>
                    <a:lstStyle/>
                    <a:p>
                      <a:pPr algn="ctr"/>
                      <a:r>
                        <a:rPr lang="en-US" sz="1800" b="0"/>
                        <a:t>+$55M</a:t>
                      </a:r>
                    </a:p>
                  </a:txBody>
                  <a:tcPr marL="16358" marR="16358" marT="8179" marB="8179" anchor="ctr">
                    <a:lnL>
                      <a:noFill/>
                    </a:lnL>
                    <a:lnR>
                      <a:noFill/>
                    </a:lnR>
                    <a:lnT>
                      <a:noFill/>
                    </a:lnT>
                    <a:lnB>
                      <a:noFill/>
                    </a:lnB>
                    <a:noFill/>
                  </a:tcPr>
                </a:tc>
                <a:tc>
                  <a:txBody>
                    <a:bodyPr/>
                    <a:lstStyle/>
                    <a:p>
                      <a:pPr algn="ctr"/>
                      <a:r>
                        <a:rPr lang="en-US" sz="1800" b="0" dirty="0"/>
                        <a:t>+3%</a:t>
                      </a:r>
                    </a:p>
                  </a:txBody>
                  <a:tcPr marL="16358" marR="16358" marT="8179" marB="8179" anchor="ctr">
                    <a:lnL>
                      <a:noFill/>
                    </a:lnL>
                    <a:lnR>
                      <a:noFill/>
                    </a:lnR>
                    <a:lnT>
                      <a:noFill/>
                    </a:lnT>
                    <a:lnB>
                      <a:noFill/>
                    </a:lnB>
                    <a:noFill/>
                  </a:tcPr>
                </a:tc>
                <a:tc>
                  <a:txBody>
                    <a:bodyPr/>
                    <a:lstStyle/>
                    <a:p>
                      <a:pPr algn="ctr"/>
                      <a:r>
                        <a:rPr lang="en-US" sz="1800" b="0" dirty="0"/>
                        <a:t>If 3+ teams invest, sustainability branding is oversaturated: Each team only gains +1.5% market share</a:t>
                      </a:r>
                    </a:p>
                    <a:p>
                      <a:pPr algn="ctr"/>
                      <a:r>
                        <a:rPr lang="en-US" sz="1800" b="0" dirty="0"/>
                        <a:t>If no teams invest: all teams lose $5M in government fines.</a:t>
                      </a:r>
                    </a:p>
                  </a:txBody>
                  <a:tcPr marL="16358" marR="16358" marT="8179" marB="8179" anchor="ctr">
                    <a:lnL>
                      <a:noFill/>
                    </a:lnL>
                    <a:lnR>
                      <a:noFill/>
                    </a:lnR>
                    <a:lnT>
                      <a:noFill/>
                    </a:lnT>
                    <a:lnB>
                      <a:noFill/>
                    </a:lnB>
                    <a:noFill/>
                  </a:tcPr>
                </a:tc>
                <a:extLst>
                  <a:ext uri="{0D108BD9-81ED-4DB2-BD59-A6C34878D82A}">
                    <a16:rowId xmlns:a16="http://schemas.microsoft.com/office/drawing/2014/main" val="1250397558"/>
                  </a:ext>
                </a:extLst>
              </a:tr>
              <a:tr h="753675">
                <a:tc>
                  <a:txBody>
                    <a:bodyPr/>
                    <a:lstStyle/>
                    <a:p>
                      <a:pPr algn="ctr"/>
                      <a:r>
                        <a:rPr lang="en-US" sz="1800" b="0" dirty="0"/>
                        <a:t>Lobby for policy flexibility</a:t>
                      </a:r>
                    </a:p>
                  </a:txBody>
                  <a:tcPr marL="16358" marR="16358" marT="8179" marB="8179" anchor="ctr">
                    <a:lnL>
                      <a:noFill/>
                    </a:lnL>
                    <a:lnR>
                      <a:noFill/>
                    </a:lnR>
                    <a:lnT>
                      <a:noFill/>
                    </a:lnT>
                    <a:lnB>
                      <a:noFill/>
                    </a:lnB>
                    <a:noFill/>
                  </a:tcPr>
                </a:tc>
                <a:tc>
                  <a:txBody>
                    <a:bodyPr/>
                    <a:lstStyle/>
                    <a:p>
                      <a:pPr algn="ctr"/>
                      <a:r>
                        <a:rPr lang="en-US" sz="1800" b="0"/>
                        <a:t>$40M</a:t>
                      </a:r>
                    </a:p>
                  </a:txBody>
                  <a:tcPr marL="16358" marR="16358" marT="8179" marB="8179" anchor="ctr">
                    <a:lnL>
                      <a:noFill/>
                    </a:lnL>
                    <a:lnR>
                      <a:noFill/>
                    </a:lnR>
                    <a:lnT>
                      <a:noFill/>
                    </a:lnT>
                    <a:lnB>
                      <a:noFill/>
                    </a:lnB>
                    <a:noFill/>
                  </a:tcPr>
                </a:tc>
                <a:tc>
                  <a:txBody>
                    <a:bodyPr/>
                    <a:lstStyle/>
                    <a:p>
                      <a:pPr algn="ctr"/>
                      <a:r>
                        <a:rPr lang="en-US" sz="1800" b="0"/>
                        <a:t>+$30M</a:t>
                      </a:r>
                    </a:p>
                  </a:txBody>
                  <a:tcPr marL="16358" marR="16358" marT="8179" marB="8179" anchor="ctr">
                    <a:lnL>
                      <a:noFill/>
                    </a:lnL>
                    <a:lnR>
                      <a:noFill/>
                    </a:lnR>
                    <a:lnT>
                      <a:noFill/>
                    </a:lnT>
                    <a:lnB>
                      <a:noFill/>
                    </a:lnB>
                    <a:noFill/>
                  </a:tcPr>
                </a:tc>
                <a:tc>
                  <a:txBody>
                    <a:bodyPr/>
                    <a:lstStyle/>
                    <a:p>
                      <a:pPr algn="ctr"/>
                      <a:r>
                        <a:rPr lang="en-US" sz="1800" b="0"/>
                        <a:t>0%</a:t>
                      </a:r>
                    </a:p>
                  </a:txBody>
                  <a:tcPr marL="16358" marR="16358" marT="8179" marB="8179" anchor="ctr">
                    <a:lnL>
                      <a:noFill/>
                    </a:lnL>
                    <a:lnR>
                      <a:noFill/>
                    </a:lnR>
                    <a:lnT>
                      <a:noFill/>
                    </a:lnT>
                    <a:lnB>
                      <a:noFill/>
                    </a:lnB>
                    <a:noFill/>
                  </a:tcPr>
                </a:tc>
                <a:tc>
                  <a:txBody>
                    <a:bodyPr/>
                    <a:lstStyle/>
                    <a:p>
                      <a:pPr algn="ctr"/>
                      <a:r>
                        <a:rPr lang="en-US" sz="1800" b="0" dirty="0"/>
                        <a:t>If 2+ teams lobby, government resistance increases: Each team gets only $15M</a:t>
                      </a:r>
                    </a:p>
                  </a:txBody>
                  <a:tcPr marL="16358" marR="16358" marT="8179" marB="8179" anchor="ctr">
                    <a:lnL>
                      <a:noFill/>
                    </a:lnL>
                    <a:lnR>
                      <a:noFill/>
                    </a:lnR>
                    <a:lnT>
                      <a:noFill/>
                    </a:lnT>
                    <a:lnB>
                      <a:noFill/>
                    </a:lnB>
                    <a:noFill/>
                  </a:tcPr>
                </a:tc>
                <a:extLst>
                  <a:ext uri="{0D108BD9-81ED-4DB2-BD59-A6C34878D82A}">
                    <a16:rowId xmlns:a16="http://schemas.microsoft.com/office/drawing/2014/main" val="1695545242"/>
                  </a:ext>
                </a:extLst>
              </a:tr>
              <a:tr h="660687">
                <a:tc>
                  <a:txBody>
                    <a:bodyPr/>
                    <a:lstStyle/>
                    <a:p>
                      <a:pPr algn="ctr"/>
                      <a:r>
                        <a:rPr lang="en-US" sz="1800" b="0" dirty="0"/>
                        <a:t>Launch budget EV</a:t>
                      </a:r>
                    </a:p>
                  </a:txBody>
                  <a:tcPr marL="16358" marR="16358" marT="8179" marB="8179" anchor="ctr">
                    <a:lnL>
                      <a:noFill/>
                    </a:lnL>
                    <a:lnR>
                      <a:noFill/>
                    </a:lnR>
                    <a:lnT>
                      <a:noFill/>
                    </a:lnT>
                    <a:lnB>
                      <a:noFill/>
                    </a:lnB>
                    <a:noFill/>
                  </a:tcPr>
                </a:tc>
                <a:tc>
                  <a:txBody>
                    <a:bodyPr/>
                    <a:lstStyle/>
                    <a:p>
                      <a:pPr algn="ctr"/>
                      <a:r>
                        <a:rPr lang="en-US" sz="1800" b="0"/>
                        <a:t>$50M</a:t>
                      </a:r>
                    </a:p>
                  </a:txBody>
                  <a:tcPr marL="16358" marR="16358" marT="8179" marB="8179" anchor="ctr">
                    <a:lnL>
                      <a:noFill/>
                    </a:lnL>
                    <a:lnR>
                      <a:noFill/>
                    </a:lnR>
                    <a:lnT>
                      <a:noFill/>
                    </a:lnT>
                    <a:lnB>
                      <a:noFill/>
                    </a:lnB>
                    <a:noFill/>
                  </a:tcPr>
                </a:tc>
                <a:tc>
                  <a:txBody>
                    <a:bodyPr/>
                    <a:lstStyle/>
                    <a:p>
                      <a:pPr algn="ctr"/>
                      <a:r>
                        <a:rPr lang="en-US" sz="1800" b="0"/>
                        <a:t>-$15M</a:t>
                      </a:r>
                    </a:p>
                  </a:txBody>
                  <a:tcPr marL="16358" marR="16358" marT="8179" marB="8179" anchor="ctr">
                    <a:lnL>
                      <a:noFill/>
                    </a:lnL>
                    <a:lnR>
                      <a:noFill/>
                    </a:lnR>
                    <a:lnT>
                      <a:noFill/>
                    </a:lnT>
                    <a:lnB>
                      <a:noFill/>
                    </a:lnB>
                    <a:noFill/>
                  </a:tcPr>
                </a:tc>
                <a:tc>
                  <a:txBody>
                    <a:bodyPr/>
                    <a:lstStyle/>
                    <a:p>
                      <a:pPr algn="ctr"/>
                      <a:r>
                        <a:rPr lang="en-US" sz="1800" b="0"/>
                        <a:t>+10%</a:t>
                      </a:r>
                    </a:p>
                  </a:txBody>
                  <a:tcPr marL="16358" marR="16358" marT="8179" marB="8179" anchor="ctr">
                    <a:lnL>
                      <a:noFill/>
                    </a:lnL>
                    <a:lnR>
                      <a:noFill/>
                    </a:lnR>
                    <a:lnT>
                      <a:noFill/>
                    </a:lnT>
                    <a:lnB>
                      <a:noFill/>
                    </a:lnB>
                    <a:noFill/>
                  </a:tcPr>
                </a:tc>
                <a:tc>
                  <a:txBody>
                    <a:bodyPr/>
                    <a:lstStyle/>
                    <a:p>
                      <a:pPr algn="ctr"/>
                      <a:r>
                        <a:rPr lang="en-US" sz="1800" b="0" dirty="0"/>
                        <a:t>If 3+ teams do this, oversupply occurs, reducing market share gains to +6%</a:t>
                      </a:r>
                    </a:p>
                  </a:txBody>
                  <a:tcPr marL="16358" marR="16358" marT="8179" marB="8179" anchor="ctr">
                    <a:lnL>
                      <a:noFill/>
                    </a:lnL>
                    <a:lnR>
                      <a:noFill/>
                    </a:lnR>
                    <a:lnT>
                      <a:noFill/>
                    </a:lnT>
                    <a:lnB>
                      <a:noFill/>
                    </a:lnB>
                    <a:noFill/>
                  </a:tcPr>
                </a:tc>
                <a:extLst>
                  <a:ext uri="{0D108BD9-81ED-4DB2-BD59-A6C34878D82A}">
                    <a16:rowId xmlns:a16="http://schemas.microsoft.com/office/drawing/2014/main" val="3874062028"/>
                  </a:ext>
                </a:extLst>
              </a:tr>
              <a:tr h="753675">
                <a:tc>
                  <a:txBody>
                    <a:bodyPr/>
                    <a:lstStyle/>
                    <a:p>
                      <a:pPr algn="ctr"/>
                      <a:r>
                        <a:rPr lang="en-US" sz="1800" b="0" dirty="0"/>
                        <a:t>Invest in self-driving EVs</a:t>
                      </a:r>
                    </a:p>
                  </a:txBody>
                  <a:tcPr marL="16358" marR="16358" marT="8179" marB="8179" anchor="ctr">
                    <a:lnL>
                      <a:noFill/>
                    </a:lnL>
                    <a:lnR>
                      <a:noFill/>
                    </a:lnR>
                    <a:lnT>
                      <a:noFill/>
                    </a:lnT>
                    <a:lnB>
                      <a:noFill/>
                    </a:lnB>
                    <a:noFill/>
                  </a:tcPr>
                </a:tc>
                <a:tc>
                  <a:txBody>
                    <a:bodyPr/>
                    <a:lstStyle/>
                    <a:p>
                      <a:pPr algn="ctr"/>
                      <a:r>
                        <a:rPr lang="en-US" sz="1800" b="0"/>
                        <a:t>$60M</a:t>
                      </a:r>
                    </a:p>
                  </a:txBody>
                  <a:tcPr marL="16358" marR="16358" marT="8179" marB="8179" anchor="ctr">
                    <a:lnL>
                      <a:noFill/>
                    </a:lnL>
                    <a:lnR>
                      <a:noFill/>
                    </a:lnR>
                    <a:lnT>
                      <a:noFill/>
                    </a:lnT>
                    <a:lnB>
                      <a:noFill/>
                    </a:lnB>
                    <a:noFill/>
                  </a:tcPr>
                </a:tc>
                <a:tc>
                  <a:txBody>
                    <a:bodyPr/>
                    <a:lstStyle/>
                    <a:p>
                      <a:pPr algn="ctr"/>
                      <a:r>
                        <a:rPr lang="en-US" sz="1800" b="0"/>
                        <a:t>+$90M</a:t>
                      </a:r>
                    </a:p>
                  </a:txBody>
                  <a:tcPr marL="16358" marR="16358" marT="8179" marB="8179" anchor="ctr">
                    <a:lnL>
                      <a:noFill/>
                    </a:lnL>
                    <a:lnR>
                      <a:noFill/>
                    </a:lnR>
                    <a:lnT>
                      <a:noFill/>
                    </a:lnT>
                    <a:lnB>
                      <a:noFill/>
                    </a:lnB>
                    <a:noFill/>
                  </a:tcPr>
                </a:tc>
                <a:tc>
                  <a:txBody>
                    <a:bodyPr/>
                    <a:lstStyle/>
                    <a:p>
                      <a:pPr algn="ctr"/>
                      <a:r>
                        <a:rPr lang="en-US" sz="1800" b="0"/>
                        <a:t>+3%</a:t>
                      </a:r>
                    </a:p>
                  </a:txBody>
                  <a:tcPr marL="16358" marR="16358" marT="8179" marB="8179" anchor="ctr">
                    <a:lnL>
                      <a:noFill/>
                    </a:lnL>
                    <a:lnR>
                      <a:noFill/>
                    </a:lnR>
                    <a:lnT>
                      <a:noFill/>
                    </a:lnT>
                    <a:lnB>
                      <a:noFill/>
                    </a:lnB>
                    <a:noFill/>
                  </a:tcPr>
                </a:tc>
                <a:tc>
                  <a:txBody>
                    <a:bodyPr/>
                    <a:lstStyle/>
                    <a:p>
                      <a:pPr algn="ctr"/>
                      <a:r>
                        <a:rPr lang="en-US" sz="1800" b="0" dirty="0"/>
                        <a:t>If only 1 team does this, they gain +2% extra market share. </a:t>
                      </a:r>
                    </a:p>
                    <a:p>
                      <a:pPr algn="ctr"/>
                      <a:r>
                        <a:rPr lang="en-US" sz="1800" b="0" dirty="0"/>
                        <a:t>If no teams invest: all team loose 1% market share and 50M</a:t>
                      </a:r>
                    </a:p>
                  </a:txBody>
                  <a:tcPr marL="16358" marR="16358" marT="8179" marB="8179" anchor="ctr">
                    <a:lnL>
                      <a:noFill/>
                    </a:lnL>
                    <a:lnR>
                      <a:noFill/>
                    </a:lnR>
                    <a:lnT>
                      <a:noFill/>
                    </a:lnT>
                    <a:lnB>
                      <a:noFill/>
                    </a:lnB>
                    <a:noFill/>
                  </a:tcPr>
                </a:tc>
                <a:extLst>
                  <a:ext uri="{0D108BD9-81ED-4DB2-BD59-A6C34878D82A}">
                    <a16:rowId xmlns:a16="http://schemas.microsoft.com/office/drawing/2014/main" val="622236747"/>
                  </a:ext>
                </a:extLst>
              </a:tr>
              <a:tr h="1000004">
                <a:tc>
                  <a:txBody>
                    <a:bodyPr/>
                    <a:lstStyle/>
                    <a:p>
                      <a:pPr algn="ctr"/>
                      <a:r>
                        <a:rPr lang="en-US" sz="1800" b="0" dirty="0"/>
                        <a:t>Develop luxury ESUVs</a:t>
                      </a:r>
                    </a:p>
                  </a:txBody>
                  <a:tcPr marL="16358" marR="16358" marT="8179" marB="8179" anchor="ctr">
                    <a:lnL>
                      <a:noFill/>
                    </a:lnL>
                    <a:lnR>
                      <a:noFill/>
                    </a:lnR>
                    <a:lnT>
                      <a:noFill/>
                    </a:lnT>
                    <a:lnB>
                      <a:noFill/>
                    </a:lnB>
                    <a:noFill/>
                  </a:tcPr>
                </a:tc>
                <a:tc>
                  <a:txBody>
                    <a:bodyPr/>
                    <a:lstStyle/>
                    <a:p>
                      <a:pPr algn="ctr"/>
                      <a:r>
                        <a:rPr lang="en-US" sz="1800" b="0"/>
                        <a:t>$50M</a:t>
                      </a:r>
                    </a:p>
                  </a:txBody>
                  <a:tcPr marL="16358" marR="16358" marT="8179" marB="8179" anchor="ctr">
                    <a:lnL>
                      <a:noFill/>
                    </a:lnL>
                    <a:lnR>
                      <a:noFill/>
                    </a:lnR>
                    <a:lnT>
                      <a:noFill/>
                    </a:lnT>
                    <a:lnB>
                      <a:noFill/>
                    </a:lnB>
                    <a:noFill/>
                  </a:tcPr>
                </a:tc>
                <a:tc>
                  <a:txBody>
                    <a:bodyPr/>
                    <a:lstStyle/>
                    <a:p>
                      <a:pPr algn="ctr"/>
                      <a:r>
                        <a:rPr lang="en-US" sz="1800" b="0"/>
                        <a:t>+$75M</a:t>
                      </a:r>
                    </a:p>
                  </a:txBody>
                  <a:tcPr marL="16358" marR="16358" marT="8179" marB="8179" anchor="ctr">
                    <a:lnL>
                      <a:noFill/>
                    </a:lnL>
                    <a:lnR>
                      <a:noFill/>
                    </a:lnR>
                    <a:lnT>
                      <a:noFill/>
                    </a:lnT>
                    <a:lnB>
                      <a:noFill/>
                    </a:lnB>
                    <a:noFill/>
                  </a:tcPr>
                </a:tc>
                <a:tc>
                  <a:txBody>
                    <a:bodyPr/>
                    <a:lstStyle/>
                    <a:p>
                      <a:pPr algn="ctr"/>
                      <a:r>
                        <a:rPr lang="en-US" sz="1800" b="0"/>
                        <a:t>+2%</a:t>
                      </a:r>
                    </a:p>
                  </a:txBody>
                  <a:tcPr marL="16358" marR="16358" marT="8179" marB="8179" anchor="ctr">
                    <a:lnL>
                      <a:noFill/>
                    </a:lnL>
                    <a:lnR>
                      <a:noFill/>
                    </a:lnR>
                    <a:lnT>
                      <a:noFill/>
                    </a:lnT>
                    <a:lnB>
                      <a:noFill/>
                    </a:lnB>
                    <a:noFill/>
                  </a:tcPr>
                </a:tc>
                <a:tc>
                  <a:txBody>
                    <a:bodyPr/>
                    <a:lstStyle/>
                    <a:p>
                      <a:pPr algn="ctr"/>
                      <a:r>
                        <a:rPr lang="en-US" sz="1800" b="0" dirty="0"/>
                        <a:t>If only 1 team invests, they gain +1% extra market share. </a:t>
                      </a:r>
                    </a:p>
                    <a:p>
                      <a:pPr algn="ctr"/>
                      <a:r>
                        <a:rPr lang="en-US" sz="1800" b="0" dirty="0"/>
                        <a:t>If no teams invest, luxury EV demand drops: all team lose 2% market share</a:t>
                      </a:r>
                    </a:p>
                  </a:txBody>
                  <a:tcPr marL="16358" marR="16358" marT="8179" marB="8179" anchor="ctr">
                    <a:lnL>
                      <a:noFill/>
                    </a:lnL>
                    <a:lnR>
                      <a:noFill/>
                    </a:lnR>
                    <a:lnT>
                      <a:noFill/>
                    </a:lnT>
                    <a:lnB>
                      <a:noFill/>
                    </a:lnB>
                    <a:noFill/>
                  </a:tcPr>
                </a:tc>
                <a:extLst>
                  <a:ext uri="{0D108BD9-81ED-4DB2-BD59-A6C34878D82A}">
                    <a16:rowId xmlns:a16="http://schemas.microsoft.com/office/drawing/2014/main" val="3971743717"/>
                  </a:ext>
                </a:extLst>
              </a:tr>
            </a:tbl>
          </a:graphicData>
        </a:graphic>
      </p:graphicFrame>
    </p:spTree>
    <p:extLst>
      <p:ext uri="{BB962C8B-B14F-4D97-AF65-F5344CB8AC3E}">
        <p14:creationId xmlns:p14="http://schemas.microsoft.com/office/powerpoint/2010/main" val="212868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06978-8ECC-0C76-1D42-AFCAA8439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B9C8F-BD3B-BD02-A4BD-31140F818E34}"/>
              </a:ext>
            </a:extLst>
          </p:cNvPr>
          <p:cNvSpPr>
            <a:spLocks noGrp="1"/>
          </p:cNvSpPr>
          <p:nvPr>
            <p:ph type="title"/>
          </p:nvPr>
        </p:nvSpPr>
        <p:spPr/>
        <p:txBody>
          <a:bodyPr>
            <a:normAutofit/>
          </a:bodyPr>
          <a:lstStyle/>
          <a:p>
            <a:r>
              <a:rPr lang="en-US" dirty="0"/>
              <a:t>EV Market Masters: Wrap-Up</a:t>
            </a:r>
          </a:p>
        </p:txBody>
      </p:sp>
      <p:sp>
        <p:nvSpPr>
          <p:cNvPr id="3" name="Content Placeholder 2">
            <a:extLst>
              <a:ext uri="{FF2B5EF4-FFF2-40B4-BE49-F238E27FC236}">
                <a16:creationId xmlns:a16="http://schemas.microsoft.com/office/drawing/2014/main" id="{0AC3A163-AB4C-67BF-4074-E0B052FF2FF5}"/>
              </a:ext>
            </a:extLst>
          </p:cNvPr>
          <p:cNvSpPr>
            <a:spLocks noGrp="1"/>
          </p:cNvSpPr>
          <p:nvPr>
            <p:ph sz="quarter" idx="10"/>
          </p:nvPr>
        </p:nvSpPr>
        <p:spPr/>
        <p:txBody>
          <a:bodyPr/>
          <a:lstStyle/>
          <a:p>
            <a:r>
              <a:rPr lang="en-US" dirty="0"/>
              <a:t>How did your team approach decision-making?</a:t>
            </a:r>
          </a:p>
          <a:p>
            <a:r>
              <a:rPr lang="en-US" dirty="0"/>
              <a:t>What was the biggest challenge your team faced?</a:t>
            </a:r>
          </a:p>
          <a:p>
            <a:r>
              <a:rPr lang="en-US" dirty="0"/>
              <a:t>How did your competitors' actions affect your decisions?</a:t>
            </a:r>
          </a:p>
          <a:p>
            <a:r>
              <a:rPr lang="en-US" dirty="0"/>
              <a:t>If you could play again, what would you do differently</a:t>
            </a:r>
          </a:p>
        </p:txBody>
      </p:sp>
    </p:spTree>
    <p:extLst>
      <p:ext uri="{BB962C8B-B14F-4D97-AF65-F5344CB8AC3E}">
        <p14:creationId xmlns:p14="http://schemas.microsoft.com/office/powerpoint/2010/main" val="105255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EA62-2866-BC24-3AC0-413674D6D98C}"/>
              </a:ext>
            </a:extLst>
          </p:cNvPr>
          <p:cNvSpPr>
            <a:spLocks noGrp="1"/>
          </p:cNvSpPr>
          <p:nvPr>
            <p:ph type="title"/>
          </p:nvPr>
        </p:nvSpPr>
        <p:spPr/>
        <p:txBody>
          <a:bodyPr>
            <a:normAutofit/>
          </a:bodyPr>
          <a:lstStyle/>
          <a:p>
            <a:r>
              <a:rPr lang="en-US" dirty="0"/>
              <a:t>EV Market Masters: Takeaways</a:t>
            </a:r>
          </a:p>
        </p:txBody>
      </p:sp>
      <p:sp>
        <p:nvSpPr>
          <p:cNvPr id="3" name="Content Placeholder 2">
            <a:extLst>
              <a:ext uri="{FF2B5EF4-FFF2-40B4-BE49-F238E27FC236}">
                <a16:creationId xmlns:a16="http://schemas.microsoft.com/office/drawing/2014/main" id="{2ACE91D1-11B7-D118-0A00-B41DBD161AFD}"/>
              </a:ext>
            </a:extLst>
          </p:cNvPr>
          <p:cNvSpPr>
            <a:spLocks noGrp="1"/>
          </p:cNvSpPr>
          <p:nvPr>
            <p:ph sz="quarter" idx="10"/>
          </p:nvPr>
        </p:nvSpPr>
        <p:spPr>
          <a:xfrm>
            <a:off x="609601" y="1682751"/>
            <a:ext cx="10318230" cy="4900082"/>
          </a:xfrm>
        </p:spPr>
        <p:txBody>
          <a:bodyPr/>
          <a:lstStyle/>
          <a:p>
            <a:pPr marL="0" indent="0">
              <a:buNone/>
            </a:pPr>
            <a:r>
              <a:rPr lang="en-US" dirty="0">
                <a:solidFill>
                  <a:schemeClr val="tx1"/>
                </a:solidFill>
              </a:rPr>
              <a:t>✅ No company operates in isolation: </a:t>
            </a:r>
          </a:p>
          <a:p>
            <a:pPr marL="876286" lvl="1" indent="-342900">
              <a:buFont typeface="Arial" panose="020B0604020202020204" pitchFamily="34" charset="0"/>
              <a:buChar char="•"/>
            </a:pPr>
            <a:r>
              <a:rPr lang="en-US" dirty="0">
                <a:solidFill>
                  <a:schemeClr val="tx1"/>
                </a:solidFill>
              </a:rPr>
              <a:t>External forces influence profitability.</a:t>
            </a:r>
          </a:p>
          <a:p>
            <a:pPr marL="0" indent="0">
              <a:buNone/>
            </a:pPr>
            <a:r>
              <a:rPr lang="en-US" dirty="0">
                <a:solidFill>
                  <a:schemeClr val="tx1"/>
                </a:solidFill>
              </a:rPr>
              <a:t>✅ Industry competition is dynamic</a:t>
            </a:r>
          </a:p>
          <a:p>
            <a:pPr marL="876286" lvl="1" indent="-342900">
              <a:buFont typeface="Arial" panose="020B0604020202020204" pitchFamily="34" charset="0"/>
              <a:buChar char="•"/>
            </a:pPr>
            <a:r>
              <a:rPr lang="en-US" dirty="0">
                <a:solidFill>
                  <a:schemeClr val="tx1"/>
                </a:solidFill>
              </a:rPr>
              <a:t>Firms must continuously adapt.</a:t>
            </a:r>
          </a:p>
          <a:p>
            <a:pPr marL="0" indent="0">
              <a:buNone/>
            </a:pPr>
            <a:r>
              <a:rPr lang="en-US" dirty="0">
                <a:solidFill>
                  <a:schemeClr val="tx1"/>
                </a:solidFill>
              </a:rPr>
              <a:t>✅ Ignoring external analysis leads to failure</a:t>
            </a:r>
          </a:p>
          <a:p>
            <a:pPr marL="876286" lvl="1" indent="-342900">
              <a:buFont typeface="Arial" panose="020B0604020202020204" pitchFamily="34" charset="0"/>
              <a:buChar char="•"/>
            </a:pPr>
            <a:r>
              <a:rPr lang="en-US" dirty="0">
                <a:solidFill>
                  <a:schemeClr val="tx1"/>
                </a:solidFill>
              </a:rPr>
              <a:t>Companies must balance short-term wins with long-term growth.</a:t>
            </a:r>
          </a:p>
          <a:p>
            <a:pPr marL="0" indent="0">
              <a:buNone/>
            </a:pPr>
            <a:r>
              <a:rPr lang="en-US" dirty="0">
                <a:solidFill>
                  <a:schemeClr val="tx1"/>
                </a:solidFill>
              </a:rPr>
              <a:t>✅ Winning requires trade-offs</a:t>
            </a:r>
          </a:p>
          <a:p>
            <a:pPr marL="876286" lvl="1" indent="-342900">
              <a:buFont typeface="Arial" panose="020B0604020202020204" pitchFamily="34" charset="0"/>
              <a:buChar char="•"/>
            </a:pPr>
            <a:r>
              <a:rPr lang="en-US" dirty="0">
                <a:solidFill>
                  <a:schemeClr val="tx1"/>
                </a:solidFill>
              </a:rPr>
              <a:t>Profitability and market share must be carefully managed.</a:t>
            </a:r>
          </a:p>
        </p:txBody>
      </p:sp>
    </p:spTree>
    <p:extLst>
      <p:ext uri="{BB962C8B-B14F-4D97-AF65-F5344CB8AC3E}">
        <p14:creationId xmlns:p14="http://schemas.microsoft.com/office/powerpoint/2010/main" val="135055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F5E2-1EBE-C667-74F6-6FA452424FBB}"/>
              </a:ext>
            </a:extLst>
          </p:cNvPr>
          <p:cNvSpPr>
            <a:spLocks noGrp="1"/>
          </p:cNvSpPr>
          <p:nvPr>
            <p:ph type="title"/>
          </p:nvPr>
        </p:nvSpPr>
        <p:spPr>
          <a:xfrm>
            <a:off x="609600" y="20688"/>
            <a:ext cx="9993331" cy="1143000"/>
          </a:xfrm>
        </p:spPr>
        <p:txBody>
          <a:bodyPr/>
          <a:lstStyle/>
          <a:p>
            <a:r>
              <a:rPr lang="en-US" dirty="0"/>
              <a:t>Limitations of the Five Forces Model</a:t>
            </a:r>
          </a:p>
        </p:txBody>
      </p:sp>
      <p:sp>
        <p:nvSpPr>
          <p:cNvPr id="3" name="Content Placeholder 2">
            <a:extLst>
              <a:ext uri="{FF2B5EF4-FFF2-40B4-BE49-F238E27FC236}">
                <a16:creationId xmlns:a16="http://schemas.microsoft.com/office/drawing/2014/main" id="{AC33A50F-694F-F490-4AC1-656E0894F12B}"/>
              </a:ext>
            </a:extLst>
          </p:cNvPr>
          <p:cNvSpPr>
            <a:spLocks noGrp="1"/>
          </p:cNvSpPr>
          <p:nvPr>
            <p:ph sz="half" idx="1"/>
          </p:nvPr>
        </p:nvSpPr>
        <p:spPr>
          <a:xfrm>
            <a:off x="609600" y="983410"/>
            <a:ext cx="9993330" cy="5727941"/>
          </a:xfrm>
        </p:spPr>
        <p:txBody>
          <a:bodyPr>
            <a:noAutofit/>
          </a:bodyPr>
          <a:lstStyle/>
          <a:p>
            <a:r>
              <a:rPr lang="en-US" dirty="0">
                <a:solidFill>
                  <a:schemeClr val="tx1"/>
                </a:solidFill>
              </a:rPr>
              <a:t>Endogenous structural change: Firms change industry structures through their own efforts</a:t>
            </a:r>
          </a:p>
          <a:p>
            <a:pPr lvl="1"/>
            <a:r>
              <a:rPr lang="en-US" sz="1800" i="1" dirty="0">
                <a:solidFill>
                  <a:schemeClr val="tx1"/>
                </a:solidFill>
              </a:rPr>
              <a:t>Punctuated Equilibrium</a:t>
            </a:r>
            <a:r>
              <a:rPr lang="en-US" sz="1800" dirty="0">
                <a:solidFill>
                  <a:schemeClr val="tx1"/>
                </a:solidFill>
              </a:rPr>
              <a:t>: an industry’s long term stable structure is punctuated with periods of rapid change by innovation</a:t>
            </a:r>
          </a:p>
          <a:p>
            <a:pPr lvl="1"/>
            <a:r>
              <a:rPr lang="en-US" sz="1800" i="1" dirty="0">
                <a:solidFill>
                  <a:schemeClr val="tx1"/>
                </a:solidFill>
              </a:rPr>
              <a:t>Hypercompetitive industries</a:t>
            </a:r>
            <a:r>
              <a:rPr lang="en-US" sz="1800" dirty="0">
                <a:solidFill>
                  <a:schemeClr val="tx1"/>
                </a:solidFill>
              </a:rPr>
              <a:t>: permanent and ongoing innovation and competitive change</a:t>
            </a:r>
          </a:p>
          <a:p>
            <a:r>
              <a:rPr lang="en-US" dirty="0">
                <a:solidFill>
                  <a:schemeClr val="tx1"/>
                </a:solidFill>
              </a:rPr>
              <a:t>Collaboration and cooperation: significant interaction between rivals, substitute providers, buyers and suppliers</a:t>
            </a:r>
          </a:p>
          <a:p>
            <a:pPr lvl="1"/>
            <a:r>
              <a:rPr lang="en-US" sz="1800" dirty="0">
                <a:solidFill>
                  <a:schemeClr val="tx1"/>
                </a:solidFill>
              </a:rPr>
              <a:t>Horizontal and vertical alliances, ecosystem building, research collaboration   </a:t>
            </a:r>
          </a:p>
          <a:p>
            <a:r>
              <a:rPr lang="en-US" sz="1800" dirty="0">
                <a:solidFill>
                  <a:schemeClr val="tx1"/>
                </a:solidFill>
              </a:rPr>
              <a:t> </a:t>
            </a:r>
            <a:r>
              <a:rPr lang="en-US" dirty="0">
                <a:solidFill>
                  <a:schemeClr val="tx1"/>
                </a:solidFill>
              </a:rPr>
              <a:t>Company differences: significant variances in the profit rates of individual companies within an industry</a:t>
            </a:r>
          </a:p>
          <a:p>
            <a:pPr lvl="1"/>
            <a:r>
              <a:rPr lang="en-US" sz="1800" dirty="0">
                <a:solidFill>
                  <a:schemeClr val="tx1"/>
                </a:solidFill>
              </a:rPr>
              <a:t>Company resources and capabilities are also important determinants of its profitability</a:t>
            </a:r>
          </a:p>
          <a:p>
            <a:r>
              <a:rPr lang="en-US" b="1" dirty="0">
                <a:solidFill>
                  <a:schemeClr val="tx1"/>
                </a:solidFill>
              </a:rPr>
              <a:t>New Types of Forces and Industry structure emergence</a:t>
            </a:r>
          </a:p>
          <a:p>
            <a:pPr lvl="1"/>
            <a:r>
              <a:rPr lang="en-US" sz="1800" dirty="0">
                <a:solidFill>
                  <a:schemeClr val="tx1"/>
                </a:solidFill>
              </a:rPr>
              <a:t>Digital Platform industries and various ecosystems</a:t>
            </a:r>
          </a:p>
        </p:txBody>
      </p:sp>
      <p:sp>
        <p:nvSpPr>
          <p:cNvPr id="5" name="Text Box 5">
            <a:extLst>
              <a:ext uri="{FF2B5EF4-FFF2-40B4-BE49-F238E27FC236}">
                <a16:creationId xmlns:a16="http://schemas.microsoft.com/office/drawing/2014/main" id="{D1D74D91-5E6C-A5CD-6F2D-A888414DEE00}"/>
              </a:ext>
            </a:extLst>
          </p:cNvPr>
          <p:cNvSpPr txBox="1">
            <a:spLocks noChangeArrowheads="1"/>
          </p:cNvSpPr>
          <p:nvPr/>
        </p:nvSpPr>
        <p:spPr bwMode="auto">
          <a:xfrm>
            <a:off x="1589070" y="6142008"/>
            <a:ext cx="9297466" cy="461665"/>
          </a:xfrm>
          <a:prstGeom prst="rect">
            <a:avLst/>
          </a:prstGeom>
          <a:noFill/>
          <a:ln w="9525">
            <a:noFill/>
            <a:miter lim="800000"/>
            <a:headEnd/>
            <a:tailEnd/>
          </a:ln>
          <a:effectLst/>
        </p:spPr>
        <p:txBody>
          <a:bodyPr wrap="square">
            <a:spAutoFit/>
          </a:bodyPr>
          <a:lstStyle/>
          <a:p>
            <a:pPr>
              <a:spcBef>
                <a:spcPct val="50000"/>
              </a:spcBef>
            </a:pPr>
            <a:r>
              <a:rPr lang="en-US" b="1" i="1" dirty="0">
                <a:solidFill>
                  <a:srgbClr val="7030A0"/>
                </a:solidFill>
              </a:rPr>
              <a:t>Industry analysis doesn’t consider these phenomena</a:t>
            </a:r>
          </a:p>
        </p:txBody>
      </p:sp>
    </p:spTree>
    <p:extLst>
      <p:ext uri="{BB962C8B-B14F-4D97-AF65-F5344CB8AC3E}">
        <p14:creationId xmlns:p14="http://schemas.microsoft.com/office/powerpoint/2010/main" val="425080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5 Reasons Why Rest Is SO Important | KOA FITNESS">
            <a:extLst>
              <a:ext uri="{FF2B5EF4-FFF2-40B4-BE49-F238E27FC236}">
                <a16:creationId xmlns:a16="http://schemas.microsoft.com/office/drawing/2014/main" id="{05372E24-F707-2656-037A-F5F46B85B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9533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B26FA-DFE6-6901-3941-A39B0172414D}"/>
              </a:ext>
            </a:extLst>
          </p:cNvPr>
          <p:cNvSpPr>
            <a:spLocks noGrp="1"/>
          </p:cNvSpPr>
          <p:nvPr>
            <p:ph type="title"/>
          </p:nvPr>
        </p:nvSpPr>
        <p:spPr>
          <a:xfrm>
            <a:off x="447069" y="0"/>
            <a:ext cx="9993331" cy="1143000"/>
          </a:xfrm>
        </p:spPr>
        <p:txBody>
          <a:bodyPr/>
          <a:lstStyle/>
          <a:p>
            <a:r>
              <a:rPr lang="en-US" dirty="0"/>
              <a:t>Pfizer and the Pharmaceutical Industry</a:t>
            </a:r>
          </a:p>
        </p:txBody>
      </p:sp>
      <p:graphicFrame>
        <p:nvGraphicFramePr>
          <p:cNvPr id="5" name="Diagram 4">
            <a:extLst>
              <a:ext uri="{FF2B5EF4-FFF2-40B4-BE49-F238E27FC236}">
                <a16:creationId xmlns:a16="http://schemas.microsoft.com/office/drawing/2014/main" id="{FDB4F4E3-5FF6-EF31-BD8D-26A99AD70447}"/>
              </a:ext>
            </a:extLst>
          </p:cNvPr>
          <p:cNvGraphicFramePr/>
          <p:nvPr/>
        </p:nvGraphicFramePr>
        <p:xfrm>
          <a:off x="215513" y="1712940"/>
          <a:ext cx="11760973" cy="1944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BDF6C452-F2F4-F6BB-8BB0-61865C857BD8}"/>
              </a:ext>
            </a:extLst>
          </p:cNvPr>
          <p:cNvSpPr>
            <a:spLocks noGrp="1"/>
          </p:cNvSpPr>
          <p:nvPr>
            <p:ph sz="half" idx="1"/>
          </p:nvPr>
        </p:nvSpPr>
        <p:spPr>
          <a:xfrm>
            <a:off x="447069" y="1251285"/>
            <a:ext cx="11001531" cy="4812632"/>
          </a:xfrm>
        </p:spPr>
        <p:txBody>
          <a:bodyPr>
            <a:normAutofit/>
          </a:bodyPr>
          <a:lstStyle/>
          <a:p>
            <a:r>
              <a:rPr lang="en-US" dirty="0"/>
              <a:t>Can you briefly describe the Pharmaceutical industry? </a:t>
            </a:r>
          </a:p>
          <a:p>
            <a:pPr lvl="1"/>
            <a:r>
              <a:rPr lang="en-US" dirty="0"/>
              <a:t>What is the development and production process of drugs? </a:t>
            </a:r>
          </a:p>
          <a:p>
            <a:endParaRPr lang="en-US" dirty="0"/>
          </a:p>
          <a:p>
            <a:pPr marL="0" indent="0">
              <a:buNone/>
            </a:pPr>
            <a:endParaRPr lang="en-US" dirty="0"/>
          </a:p>
          <a:p>
            <a:endParaRPr lang="en-US" dirty="0"/>
          </a:p>
          <a:p>
            <a:pPr lvl="1"/>
            <a:r>
              <a:rPr lang="en-US" dirty="0"/>
              <a:t>Which process can be controlled by a Pharmaceutical company? </a:t>
            </a:r>
          </a:p>
          <a:p>
            <a:r>
              <a:rPr lang="en-US" dirty="0"/>
              <a:t>What are the general environment factors should be considered?</a:t>
            </a:r>
          </a:p>
          <a:p>
            <a:pPr lvl="1"/>
            <a:r>
              <a:rPr lang="en-US" dirty="0"/>
              <a:t>Political/legal: Institutional health-care system and public spending; IPR protection</a:t>
            </a:r>
          </a:p>
          <a:p>
            <a:pPr lvl="1"/>
            <a:r>
              <a:rPr lang="en-US" dirty="0"/>
              <a:t>Sociocultural: early health check and prevention drugs</a:t>
            </a:r>
          </a:p>
          <a:p>
            <a:pPr lvl="1"/>
            <a:r>
              <a:rPr lang="en-US" dirty="0"/>
              <a:t>Technology; Biotech drugs</a:t>
            </a:r>
          </a:p>
          <a:p>
            <a:pPr lvl="1"/>
            <a:r>
              <a:rPr lang="en-US" dirty="0"/>
              <a:t>Demographic: aging population</a:t>
            </a:r>
          </a:p>
          <a:p>
            <a:endParaRPr lang="en-US" dirty="0"/>
          </a:p>
          <a:p>
            <a:endParaRPr lang="en-US" dirty="0"/>
          </a:p>
          <a:p>
            <a:endParaRPr lang="en-US" dirty="0"/>
          </a:p>
        </p:txBody>
      </p:sp>
    </p:spTree>
    <p:extLst>
      <p:ext uri="{BB962C8B-B14F-4D97-AF65-F5344CB8AC3E}">
        <p14:creationId xmlns:p14="http://schemas.microsoft.com/office/powerpoint/2010/main" val="282807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C11D10-4A41-85BA-7AFE-B431218F5A02}"/>
              </a:ext>
            </a:extLst>
          </p:cNvPr>
          <p:cNvSpPr>
            <a:spLocks noGrp="1"/>
          </p:cNvSpPr>
          <p:nvPr>
            <p:ph sz="half" idx="1"/>
          </p:nvPr>
        </p:nvSpPr>
        <p:spPr>
          <a:xfrm>
            <a:off x="457651" y="1163057"/>
            <a:ext cx="9993331" cy="5257799"/>
          </a:xfrm>
        </p:spPr>
        <p:txBody>
          <a:bodyPr/>
          <a:lstStyle/>
          <a:p>
            <a:r>
              <a:rPr lang="en-US" dirty="0"/>
              <a:t>What were the boundaries on the pharmaceutical industry?</a:t>
            </a:r>
          </a:p>
          <a:p>
            <a:endParaRPr lang="en-US" dirty="0"/>
          </a:p>
          <a:p>
            <a:endParaRPr lang="en-US" dirty="0"/>
          </a:p>
          <a:p>
            <a:endParaRPr lang="en-US" dirty="0"/>
          </a:p>
          <a:p>
            <a:pPr marL="0" indent="0">
              <a:buNone/>
            </a:pPr>
            <a:endParaRPr lang="en-US" dirty="0"/>
          </a:p>
          <a:p>
            <a:endParaRPr lang="en-US" dirty="0"/>
          </a:p>
          <a:p>
            <a:endParaRPr lang="en-US" dirty="0"/>
          </a:p>
          <a:p>
            <a:endParaRPr lang="en-US" dirty="0"/>
          </a:p>
          <a:p>
            <a:r>
              <a:rPr lang="en-US" dirty="0"/>
              <a:t>How was power—and therefore profitability—distributed? </a:t>
            </a:r>
          </a:p>
          <a:p>
            <a:pPr lvl="1"/>
            <a:r>
              <a:rPr lang="en-US" dirty="0"/>
              <a:t>Five</a:t>
            </a:r>
            <a:r>
              <a:rPr lang="zh-CN" altLang="en-US" dirty="0"/>
              <a:t> </a:t>
            </a:r>
            <a:r>
              <a:rPr lang="en-US" altLang="zh-CN" dirty="0"/>
              <a:t>Forces</a:t>
            </a:r>
            <a:r>
              <a:rPr lang="zh-CN" altLang="en-US" dirty="0"/>
              <a:t> </a:t>
            </a:r>
            <a:r>
              <a:rPr lang="en-US" altLang="zh-CN" dirty="0"/>
              <a:t>Model</a:t>
            </a:r>
            <a:endParaRPr lang="en-US" dirty="0"/>
          </a:p>
        </p:txBody>
      </p:sp>
      <p:sp>
        <p:nvSpPr>
          <p:cNvPr id="5" name="Title 1">
            <a:extLst>
              <a:ext uri="{FF2B5EF4-FFF2-40B4-BE49-F238E27FC236}">
                <a16:creationId xmlns:a16="http://schemas.microsoft.com/office/drawing/2014/main" id="{E7CFAA13-B319-3856-753A-59EB73A611CF}"/>
              </a:ext>
            </a:extLst>
          </p:cNvPr>
          <p:cNvSpPr>
            <a:spLocks noGrp="1"/>
          </p:cNvSpPr>
          <p:nvPr>
            <p:ph type="title"/>
          </p:nvPr>
        </p:nvSpPr>
        <p:spPr>
          <a:xfrm>
            <a:off x="327309" y="64173"/>
            <a:ext cx="9993331" cy="1143000"/>
          </a:xfrm>
        </p:spPr>
        <p:txBody>
          <a:bodyPr/>
          <a:lstStyle/>
          <a:p>
            <a:r>
              <a:rPr lang="en-US" dirty="0"/>
              <a:t>Pfizer and the Pharmaceutical Industry</a:t>
            </a:r>
          </a:p>
        </p:txBody>
      </p:sp>
      <p:grpSp>
        <p:nvGrpSpPr>
          <p:cNvPr id="38" name="Group 37">
            <a:extLst>
              <a:ext uri="{FF2B5EF4-FFF2-40B4-BE49-F238E27FC236}">
                <a16:creationId xmlns:a16="http://schemas.microsoft.com/office/drawing/2014/main" id="{6AA2EBF8-9D2A-9815-6149-386763C299B3}"/>
              </a:ext>
            </a:extLst>
          </p:cNvPr>
          <p:cNvGrpSpPr/>
          <p:nvPr/>
        </p:nvGrpSpPr>
        <p:grpSpPr>
          <a:xfrm>
            <a:off x="822159" y="2017297"/>
            <a:ext cx="8859252" cy="2021305"/>
            <a:chOff x="950495" y="2207795"/>
            <a:chExt cx="8859252" cy="2021305"/>
          </a:xfrm>
        </p:grpSpPr>
        <p:grpSp>
          <p:nvGrpSpPr>
            <p:cNvPr id="10" name="Group 9">
              <a:extLst>
                <a:ext uri="{FF2B5EF4-FFF2-40B4-BE49-F238E27FC236}">
                  <a16:creationId xmlns:a16="http://schemas.microsoft.com/office/drawing/2014/main" id="{1DDA19B9-D9FE-3D13-8846-1310BBF59337}"/>
                </a:ext>
              </a:extLst>
            </p:cNvPr>
            <p:cNvGrpSpPr/>
            <p:nvPr/>
          </p:nvGrpSpPr>
          <p:grpSpPr>
            <a:xfrm>
              <a:off x="950495" y="2207795"/>
              <a:ext cx="8859252" cy="2021305"/>
              <a:chOff x="998621" y="3080084"/>
              <a:chExt cx="8859252" cy="2021305"/>
            </a:xfrm>
          </p:grpSpPr>
          <p:sp>
            <p:nvSpPr>
              <p:cNvPr id="11" name="Rectangle 10">
                <a:extLst>
                  <a:ext uri="{FF2B5EF4-FFF2-40B4-BE49-F238E27FC236}">
                    <a16:creationId xmlns:a16="http://schemas.microsoft.com/office/drawing/2014/main" id="{AD439F21-B85C-C8E5-49C0-73C5B9365EDE}"/>
                  </a:ext>
                </a:extLst>
              </p:cNvPr>
              <p:cNvSpPr/>
              <p:nvPr/>
            </p:nvSpPr>
            <p:spPr>
              <a:xfrm>
                <a:off x="3416968" y="3080084"/>
                <a:ext cx="22138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Government and public health care institutions</a:t>
                </a:r>
              </a:p>
            </p:txBody>
          </p:sp>
          <p:sp>
            <p:nvSpPr>
              <p:cNvPr id="12" name="Rectangle 11">
                <a:extLst>
                  <a:ext uri="{FF2B5EF4-FFF2-40B4-BE49-F238E27FC236}">
                    <a16:creationId xmlns:a16="http://schemas.microsoft.com/office/drawing/2014/main" id="{59820874-72DB-5EA4-E018-41252A27754E}"/>
                  </a:ext>
                </a:extLst>
              </p:cNvPr>
              <p:cNvSpPr/>
              <p:nvPr/>
            </p:nvSpPr>
            <p:spPr>
              <a:xfrm>
                <a:off x="6785811" y="3080084"/>
                <a:ext cx="16042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Doctors</a:t>
                </a:r>
                <a:endParaRPr lang="en-US" dirty="0"/>
              </a:p>
            </p:txBody>
          </p:sp>
          <p:sp>
            <p:nvSpPr>
              <p:cNvPr id="13" name="Rectangle 12">
                <a:extLst>
                  <a:ext uri="{FF2B5EF4-FFF2-40B4-BE49-F238E27FC236}">
                    <a16:creationId xmlns:a16="http://schemas.microsoft.com/office/drawing/2014/main" id="{DE6B0613-3B06-D3FF-EBB6-0E9512BBB476}"/>
                  </a:ext>
                </a:extLst>
              </p:cNvPr>
              <p:cNvSpPr/>
              <p:nvPr/>
            </p:nvSpPr>
            <p:spPr>
              <a:xfrm>
                <a:off x="998621" y="4475747"/>
                <a:ext cx="16042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Manufacturers</a:t>
                </a:r>
              </a:p>
            </p:txBody>
          </p:sp>
          <p:sp>
            <p:nvSpPr>
              <p:cNvPr id="14" name="Rectangle 13">
                <a:extLst>
                  <a:ext uri="{FF2B5EF4-FFF2-40B4-BE49-F238E27FC236}">
                    <a16:creationId xmlns:a16="http://schemas.microsoft.com/office/drawing/2014/main" id="{2C9AAFDB-7BE6-EBB7-327E-22F56EE7642A}"/>
                  </a:ext>
                </a:extLst>
              </p:cNvPr>
              <p:cNvSpPr/>
              <p:nvPr/>
            </p:nvSpPr>
            <p:spPr>
              <a:xfrm>
                <a:off x="3416968" y="4467726"/>
                <a:ext cx="16042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dirty="0"/>
                  <a:t>Wholesalers</a:t>
                </a:r>
              </a:p>
            </p:txBody>
          </p:sp>
          <p:sp>
            <p:nvSpPr>
              <p:cNvPr id="15" name="Rectangle 14">
                <a:extLst>
                  <a:ext uri="{FF2B5EF4-FFF2-40B4-BE49-F238E27FC236}">
                    <a16:creationId xmlns:a16="http://schemas.microsoft.com/office/drawing/2014/main" id="{78228756-1F9A-3CC1-B10E-AD7777CB7786}"/>
                  </a:ext>
                </a:extLst>
              </p:cNvPr>
              <p:cNvSpPr/>
              <p:nvPr/>
            </p:nvSpPr>
            <p:spPr>
              <a:xfrm>
                <a:off x="5835315" y="4467726"/>
                <a:ext cx="16042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Pharmacies</a:t>
                </a:r>
              </a:p>
            </p:txBody>
          </p:sp>
          <p:sp>
            <p:nvSpPr>
              <p:cNvPr id="16" name="Rectangle 15">
                <a:extLst>
                  <a:ext uri="{FF2B5EF4-FFF2-40B4-BE49-F238E27FC236}">
                    <a16:creationId xmlns:a16="http://schemas.microsoft.com/office/drawing/2014/main" id="{9C41A33D-603A-2B80-AC7D-F96A1BBA2D67}"/>
                  </a:ext>
                </a:extLst>
              </p:cNvPr>
              <p:cNvSpPr/>
              <p:nvPr/>
            </p:nvSpPr>
            <p:spPr>
              <a:xfrm>
                <a:off x="8253662" y="4467726"/>
                <a:ext cx="1604211" cy="62564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Patients</a:t>
                </a:r>
                <a:endParaRPr lang="en-US" dirty="0"/>
              </a:p>
            </p:txBody>
          </p:sp>
          <p:cxnSp>
            <p:nvCxnSpPr>
              <p:cNvPr id="21" name="Straight Arrow Connector 20">
                <a:extLst>
                  <a:ext uri="{FF2B5EF4-FFF2-40B4-BE49-F238E27FC236}">
                    <a16:creationId xmlns:a16="http://schemas.microsoft.com/office/drawing/2014/main" id="{581FC53D-2F4E-D72E-45B9-0ADC0BBB9091}"/>
                  </a:ext>
                </a:extLst>
              </p:cNvPr>
              <p:cNvCxnSpPr>
                <a:stCxn id="11" idx="3"/>
                <a:endCxn id="12" idx="1"/>
              </p:cNvCxnSpPr>
              <p:nvPr/>
            </p:nvCxnSpPr>
            <p:spPr>
              <a:xfrm>
                <a:off x="5630779" y="3392905"/>
                <a:ext cx="115503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906D3FC-5017-AC4B-B086-164966A60D4E}"/>
                  </a:ext>
                </a:extLst>
              </p:cNvPr>
              <p:cNvCxnSpPr>
                <a:stCxn id="13" idx="3"/>
                <a:endCxn id="14" idx="1"/>
              </p:cNvCxnSpPr>
              <p:nvPr/>
            </p:nvCxnSpPr>
            <p:spPr>
              <a:xfrm flipV="1">
                <a:off x="2602832" y="4780547"/>
                <a:ext cx="814136" cy="8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2BE2119E-C1C0-80E9-1C9D-ABC996331AE1}"/>
                  </a:ext>
                </a:extLst>
              </p:cNvPr>
              <p:cNvCxnSpPr>
                <a:stCxn id="14" idx="3"/>
                <a:endCxn id="15" idx="1"/>
              </p:cNvCxnSpPr>
              <p:nvPr/>
            </p:nvCxnSpPr>
            <p:spPr>
              <a:xfrm>
                <a:off x="5021179" y="4780547"/>
                <a:ext cx="8141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29D489E-AEA1-6951-3B9F-0458DEEB8FA0}"/>
                  </a:ext>
                </a:extLst>
              </p:cNvPr>
              <p:cNvCxnSpPr>
                <a:stCxn id="15" idx="3"/>
                <a:endCxn id="16" idx="1"/>
              </p:cNvCxnSpPr>
              <p:nvPr/>
            </p:nvCxnSpPr>
            <p:spPr>
              <a:xfrm>
                <a:off x="7439526" y="4780547"/>
                <a:ext cx="8141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26" name="Straight Arrow Connector 25">
              <a:extLst>
                <a:ext uri="{FF2B5EF4-FFF2-40B4-BE49-F238E27FC236}">
                  <a16:creationId xmlns:a16="http://schemas.microsoft.com/office/drawing/2014/main" id="{CBE1A6F3-7E6F-8931-607E-EF85EE7FABB3}"/>
                </a:ext>
              </a:extLst>
            </p:cNvPr>
            <p:cNvCxnSpPr>
              <a:endCxn id="11" idx="2"/>
            </p:cNvCxnSpPr>
            <p:nvPr/>
          </p:nvCxnSpPr>
          <p:spPr>
            <a:xfrm flipV="1">
              <a:off x="1752600" y="2833437"/>
              <a:ext cx="2723148"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0635986-A902-52CD-2BB0-40FB80876604}"/>
                </a:ext>
              </a:extLst>
            </p:cNvPr>
            <p:cNvCxnSpPr>
              <a:cxnSpLocks/>
              <a:stCxn id="14" idx="0"/>
            </p:cNvCxnSpPr>
            <p:nvPr/>
          </p:nvCxnSpPr>
          <p:spPr>
            <a:xfrm flipV="1">
              <a:off x="4170948" y="2833437"/>
              <a:ext cx="304799"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47F8F45-592C-4C0C-D1E2-3B970161AF31}"/>
                </a:ext>
              </a:extLst>
            </p:cNvPr>
            <p:cNvCxnSpPr>
              <a:stCxn id="15" idx="0"/>
              <a:endCxn id="11" idx="2"/>
            </p:cNvCxnSpPr>
            <p:nvPr/>
          </p:nvCxnSpPr>
          <p:spPr>
            <a:xfrm flipH="1" flipV="1">
              <a:off x="4475748" y="2833437"/>
              <a:ext cx="2113547"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9729187-DB70-E077-F25B-6DDB3E0AB218}"/>
                </a:ext>
              </a:extLst>
            </p:cNvPr>
            <p:cNvCxnSpPr>
              <a:cxnSpLocks/>
            </p:cNvCxnSpPr>
            <p:nvPr/>
          </p:nvCxnSpPr>
          <p:spPr>
            <a:xfrm>
              <a:off x="4471738" y="2833437"/>
              <a:ext cx="4531894"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E8B51840-903A-DB04-C781-E14C0EB3CC7A}"/>
                </a:ext>
              </a:extLst>
            </p:cNvPr>
            <p:cNvCxnSpPr>
              <a:stCxn id="12" idx="2"/>
              <a:endCxn id="16" idx="0"/>
            </p:cNvCxnSpPr>
            <p:nvPr/>
          </p:nvCxnSpPr>
          <p:spPr>
            <a:xfrm>
              <a:off x="7539791" y="2833437"/>
              <a:ext cx="1467851" cy="762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42" name="Elbow Connector 41">
            <a:extLst>
              <a:ext uri="{FF2B5EF4-FFF2-40B4-BE49-F238E27FC236}">
                <a16:creationId xmlns:a16="http://schemas.microsoft.com/office/drawing/2014/main" id="{E579CC0C-48B5-D4D9-9D3D-BFF853C542A0}"/>
              </a:ext>
            </a:extLst>
          </p:cNvPr>
          <p:cNvCxnSpPr>
            <a:cxnSpLocks/>
            <a:stCxn id="13" idx="2"/>
            <a:endCxn id="15" idx="2"/>
          </p:cNvCxnSpPr>
          <p:nvPr/>
        </p:nvCxnSpPr>
        <p:spPr>
          <a:xfrm rot="5400000" flipH="1" flipV="1">
            <a:off x="4038601" y="1616245"/>
            <a:ext cx="8021" cy="4836694"/>
          </a:xfrm>
          <a:prstGeom prst="bentConnector3">
            <a:avLst>
              <a:gd name="adj1" fmla="val -485005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Elbow Connector 64">
            <a:extLst>
              <a:ext uri="{FF2B5EF4-FFF2-40B4-BE49-F238E27FC236}">
                <a16:creationId xmlns:a16="http://schemas.microsoft.com/office/drawing/2014/main" id="{CDDDEB71-F86A-9985-00FF-39016437B953}"/>
              </a:ext>
            </a:extLst>
          </p:cNvPr>
          <p:cNvCxnSpPr>
            <a:cxnSpLocks/>
            <a:stCxn id="13" idx="2"/>
            <a:endCxn id="12" idx="3"/>
          </p:cNvCxnSpPr>
          <p:nvPr/>
        </p:nvCxnSpPr>
        <p:spPr>
          <a:xfrm rot="5400000" flipH="1" flipV="1">
            <a:off x="4064670" y="-110288"/>
            <a:ext cx="1708484" cy="6589295"/>
          </a:xfrm>
          <a:prstGeom prst="bentConnector4">
            <a:avLst>
              <a:gd name="adj1" fmla="val -13380"/>
              <a:gd name="adj2" fmla="val 13098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817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F19223-92C0-AA93-7672-D249E28EA439}"/>
              </a:ext>
            </a:extLst>
          </p:cNvPr>
          <p:cNvSpPr>
            <a:spLocks noGrp="1"/>
          </p:cNvSpPr>
          <p:nvPr>
            <p:ph sz="half" idx="1"/>
          </p:nvPr>
        </p:nvSpPr>
        <p:spPr>
          <a:xfrm>
            <a:off x="593557" y="1355559"/>
            <a:ext cx="10347159" cy="4820651"/>
          </a:xfrm>
        </p:spPr>
        <p:txBody>
          <a:bodyPr>
            <a:normAutofit/>
          </a:bodyPr>
          <a:lstStyle/>
          <a:p>
            <a:r>
              <a:rPr lang="en-US" dirty="0"/>
              <a:t>What is the power of the suppliers? </a:t>
            </a:r>
          </a:p>
          <a:p>
            <a:pPr lvl="1"/>
            <a:r>
              <a:rPr lang="en-US" dirty="0"/>
              <a:t>Input products (i.e., raw materials): a low value compared to the final drug: </a:t>
            </a:r>
          </a:p>
          <a:p>
            <a:pPr lvl="2"/>
            <a:r>
              <a:rPr lang="en-US" dirty="0"/>
              <a:t>About 15 per cent for innovative drugs, and 30 per cent for generics. </a:t>
            </a:r>
          </a:p>
          <a:p>
            <a:pPr lvl="1"/>
            <a:r>
              <a:rPr lang="en-US" dirty="0"/>
              <a:t>Usually commodities </a:t>
            </a:r>
          </a:p>
          <a:p>
            <a:pPr lvl="1"/>
            <a:r>
              <a:rPr lang="en-US" dirty="0"/>
              <a:t>Produced  by a large number of different suppliers</a:t>
            </a:r>
          </a:p>
          <a:p>
            <a:pPr lvl="1"/>
            <a:r>
              <a:rPr lang="en-US" dirty="0"/>
              <a:t>Increasing trend by pharmaceutical firms of backward</a:t>
            </a:r>
          </a:p>
          <a:p>
            <a:pPr lvl="2"/>
            <a:r>
              <a:rPr lang="en-US" dirty="0"/>
              <a:t>Many large M&amp;As in the pharmaceutical industry</a:t>
            </a:r>
          </a:p>
          <a:p>
            <a:pPr lvl="3">
              <a:buFont typeface="Wingdings" pitchFamily="2" charset="2"/>
              <a:buChar char="§"/>
            </a:pPr>
            <a:r>
              <a:rPr lang="en-US" dirty="0"/>
              <a:t>Fewer customers/buyers for the suppliers</a:t>
            </a:r>
          </a:p>
          <a:p>
            <a:pPr lvl="3">
              <a:buFont typeface="Wingdings" pitchFamily="2" charset="2"/>
              <a:buChar char="§"/>
            </a:pPr>
            <a:r>
              <a:rPr lang="en-US" dirty="0"/>
              <a:t>High concentration of power with buyers. </a:t>
            </a:r>
          </a:p>
          <a:p>
            <a:pPr marL="0" indent="0">
              <a:buNone/>
            </a:pPr>
            <a:r>
              <a:rPr lang="en-US" dirty="0"/>
              <a:t>Summary of supplier power: quite low.</a:t>
            </a:r>
          </a:p>
        </p:txBody>
      </p:sp>
      <p:sp>
        <p:nvSpPr>
          <p:cNvPr id="5" name="Title 1">
            <a:extLst>
              <a:ext uri="{FF2B5EF4-FFF2-40B4-BE49-F238E27FC236}">
                <a16:creationId xmlns:a16="http://schemas.microsoft.com/office/drawing/2014/main" id="{6CAD896B-B6C0-2E5A-77AB-B1EFDEF25EB1}"/>
              </a:ext>
            </a:extLst>
          </p:cNvPr>
          <p:cNvSpPr>
            <a:spLocks noGrp="1"/>
          </p:cNvSpPr>
          <p:nvPr>
            <p:ph type="title"/>
          </p:nvPr>
        </p:nvSpPr>
        <p:spPr>
          <a:xfrm>
            <a:off x="479707" y="260686"/>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166781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F19B5-CEC8-CF6B-C156-031DB09978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3AEE0-AC64-D64F-2545-C84AEC3851C3}"/>
              </a:ext>
            </a:extLst>
          </p:cNvPr>
          <p:cNvSpPr>
            <a:spLocks noGrp="1"/>
          </p:cNvSpPr>
          <p:nvPr>
            <p:ph sz="half" idx="1"/>
          </p:nvPr>
        </p:nvSpPr>
        <p:spPr>
          <a:xfrm>
            <a:off x="593557" y="1355559"/>
            <a:ext cx="10347159" cy="5241755"/>
          </a:xfrm>
        </p:spPr>
        <p:txBody>
          <a:bodyPr>
            <a:normAutofit/>
          </a:bodyPr>
          <a:lstStyle/>
          <a:p>
            <a:r>
              <a:rPr lang="en-US" dirty="0"/>
              <a:t>What is the power of the buyers? </a:t>
            </a:r>
          </a:p>
          <a:p>
            <a:pPr lvl="1"/>
            <a:r>
              <a:rPr lang="en-US" dirty="0"/>
              <a:t>Who are the key buyers?</a:t>
            </a:r>
          </a:p>
          <a:p>
            <a:pPr lvl="1"/>
            <a:r>
              <a:rPr lang="en-US" sz="2100" dirty="0"/>
              <a:t>Governments and public health-care institutions</a:t>
            </a:r>
          </a:p>
          <a:p>
            <a:pPr lvl="2"/>
            <a:r>
              <a:rPr lang="en-US" sz="1834" dirty="0"/>
              <a:t>Fully or partially absorb the cost of public health-care institutions and prescribed drugs. </a:t>
            </a:r>
          </a:p>
          <a:p>
            <a:pPr lvl="2"/>
            <a:r>
              <a:rPr lang="en-US" sz="1834" dirty="0"/>
              <a:t>High public expenditure on pharmaceuticals (Exhibit 18). </a:t>
            </a:r>
          </a:p>
          <a:p>
            <a:pPr lvl="2"/>
            <a:r>
              <a:rPr lang="en-US" sz="1834" dirty="0"/>
              <a:t>Strong buying power </a:t>
            </a:r>
          </a:p>
          <a:p>
            <a:pPr lvl="2"/>
            <a:r>
              <a:rPr lang="en-US" sz="1834" dirty="0"/>
              <a:t>Actively influence prices and demand for specific pharmaceuticals </a:t>
            </a:r>
          </a:p>
          <a:p>
            <a:pPr lvl="2"/>
            <a:r>
              <a:rPr lang="en-US" sz="1834" dirty="0"/>
              <a:t>Situations vary across countries: </a:t>
            </a:r>
          </a:p>
          <a:p>
            <a:pPr lvl="3">
              <a:buFont typeface="Wingdings" pitchFamily="2" charset="2"/>
              <a:buChar char="§"/>
            </a:pPr>
            <a:r>
              <a:rPr lang="en-US" sz="1567" dirty="0"/>
              <a:t>Local strategies was necessary</a:t>
            </a:r>
          </a:p>
          <a:p>
            <a:pPr lvl="3">
              <a:buFont typeface="Wingdings" pitchFamily="2" charset="2"/>
              <a:buChar char="§"/>
            </a:pPr>
            <a:r>
              <a:rPr lang="en-US" sz="1567" dirty="0"/>
              <a:t>Parallel imports</a:t>
            </a:r>
          </a:p>
          <a:p>
            <a:pPr lvl="3">
              <a:buFont typeface="Wingdings" pitchFamily="2" charset="2"/>
              <a:buChar char="§"/>
            </a:pPr>
            <a:r>
              <a:rPr lang="en-US" sz="1567" dirty="0"/>
              <a:t>Influence prescriptions of doctors</a:t>
            </a:r>
          </a:p>
          <a:p>
            <a:pPr lvl="3">
              <a:buFont typeface="Wingdings" pitchFamily="2" charset="2"/>
              <a:buChar char="§"/>
            </a:pPr>
            <a:r>
              <a:rPr lang="en-US" sz="1567" dirty="0"/>
              <a:t>Referencing methods: hard to use international price discrimination strategies</a:t>
            </a:r>
          </a:p>
          <a:p>
            <a:pPr lvl="2">
              <a:buFont typeface="Arial" panose="020B0604020202020204" pitchFamily="34" charset="0"/>
              <a:buChar char="•"/>
            </a:pPr>
            <a:r>
              <a:rPr lang="en-US" sz="1834" dirty="0"/>
              <a:t>No negotiation advantage for producers in general</a:t>
            </a:r>
          </a:p>
          <a:p>
            <a:pPr lvl="2">
              <a:buFont typeface="Arial" panose="020B0604020202020204" pitchFamily="34" charset="0"/>
              <a:buChar char="•"/>
            </a:pPr>
            <a:r>
              <a:rPr lang="en-US" sz="1834" dirty="0"/>
              <a:t>Strong buyers power </a:t>
            </a:r>
          </a:p>
          <a:p>
            <a:pPr lvl="3">
              <a:buFont typeface="Wingdings" pitchFamily="2" charset="2"/>
              <a:buChar char="§"/>
            </a:pPr>
            <a:endParaRPr lang="en-US" sz="1567" dirty="0"/>
          </a:p>
        </p:txBody>
      </p:sp>
      <p:sp>
        <p:nvSpPr>
          <p:cNvPr id="5" name="Title 1">
            <a:extLst>
              <a:ext uri="{FF2B5EF4-FFF2-40B4-BE49-F238E27FC236}">
                <a16:creationId xmlns:a16="http://schemas.microsoft.com/office/drawing/2014/main" id="{09342522-E2E9-7CA6-BFB0-6CF53F833A00}"/>
              </a:ext>
            </a:extLst>
          </p:cNvPr>
          <p:cNvSpPr>
            <a:spLocks noGrp="1"/>
          </p:cNvSpPr>
          <p:nvPr>
            <p:ph type="title"/>
          </p:nvPr>
        </p:nvSpPr>
        <p:spPr>
          <a:xfrm>
            <a:off x="479707" y="260686"/>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176511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0C16-159A-5761-89A3-BD8F0A9418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06D87-CAF1-4C13-D0E1-27ABA2FBD636}"/>
              </a:ext>
            </a:extLst>
          </p:cNvPr>
          <p:cNvSpPr>
            <a:spLocks noGrp="1"/>
          </p:cNvSpPr>
          <p:nvPr>
            <p:ph sz="half" idx="1"/>
          </p:nvPr>
        </p:nvSpPr>
        <p:spPr>
          <a:xfrm>
            <a:off x="479707" y="1403686"/>
            <a:ext cx="11309685" cy="5241755"/>
          </a:xfrm>
        </p:spPr>
        <p:txBody>
          <a:bodyPr>
            <a:normAutofit fontScale="92500" lnSpcReduction="10000"/>
          </a:bodyPr>
          <a:lstStyle/>
          <a:p>
            <a:r>
              <a:rPr lang="en-US" dirty="0"/>
              <a:t>What is the power of the buyers?</a:t>
            </a:r>
          </a:p>
          <a:p>
            <a:pPr lvl="1"/>
            <a:r>
              <a:rPr lang="en-US" dirty="0"/>
              <a:t>Wholesalers &amp; Pharmacies</a:t>
            </a:r>
          </a:p>
          <a:p>
            <a:pPr lvl="2"/>
            <a:r>
              <a:rPr lang="en-US" dirty="0"/>
              <a:t>Cannot control the price: set by pharmaceutical companies and affected by governments </a:t>
            </a:r>
          </a:p>
          <a:p>
            <a:pPr lvl="2"/>
            <a:r>
              <a:rPr lang="en-US" dirty="0"/>
              <a:t>Cannot control the volume: driven by the doctors and end-customer </a:t>
            </a:r>
          </a:p>
          <a:p>
            <a:pPr lvl="2"/>
            <a:r>
              <a:rPr lang="en-US" dirty="0"/>
              <a:t>Low power</a:t>
            </a:r>
          </a:p>
          <a:p>
            <a:pPr lvl="1"/>
            <a:r>
              <a:rPr lang="en-US" dirty="0"/>
              <a:t>Doctors:</a:t>
            </a:r>
          </a:p>
          <a:p>
            <a:pPr lvl="2"/>
            <a:r>
              <a:rPr lang="en-US" dirty="0"/>
              <a:t>May affect product selection: Depending on the country’s health-care system</a:t>
            </a:r>
          </a:p>
          <a:p>
            <a:pPr lvl="2"/>
            <a:r>
              <a:rPr lang="en-US" dirty="0"/>
              <a:t>Low level of power concentration: individual differences are huge</a:t>
            </a:r>
          </a:p>
          <a:p>
            <a:pPr lvl="1"/>
            <a:r>
              <a:rPr lang="en-US" dirty="0"/>
              <a:t>Hospitals</a:t>
            </a:r>
          </a:p>
          <a:p>
            <a:pPr lvl="2"/>
            <a:r>
              <a:rPr lang="en-US" dirty="0"/>
              <a:t>Concentrated doctors: a higher influence on demand</a:t>
            </a:r>
          </a:p>
          <a:p>
            <a:pPr lvl="2"/>
            <a:r>
              <a:rPr lang="en-US" dirty="0"/>
              <a:t>Sales targets for pharmaceutical companies: can affect price by requesting quantity discounts</a:t>
            </a:r>
          </a:p>
          <a:p>
            <a:pPr lvl="2"/>
            <a:r>
              <a:rPr lang="en-US" dirty="0"/>
              <a:t>Medium power</a:t>
            </a:r>
          </a:p>
          <a:p>
            <a:pPr lvl="1"/>
            <a:r>
              <a:rPr lang="en-US" dirty="0"/>
              <a:t>Patients</a:t>
            </a:r>
          </a:p>
          <a:p>
            <a:pPr lvl="2"/>
            <a:r>
              <a:rPr lang="en-US" dirty="0"/>
              <a:t>Increasing willingness to self-medicate: increasing demand for OTC</a:t>
            </a:r>
          </a:p>
          <a:p>
            <a:pPr lvl="2"/>
            <a:r>
              <a:rPr lang="en-US" dirty="0"/>
              <a:t>Could push for a certain </a:t>
            </a:r>
            <a:r>
              <a:rPr lang="en-US" dirty="0" err="1"/>
              <a:t>prescripted</a:t>
            </a:r>
            <a:r>
              <a:rPr lang="en-US" dirty="0"/>
              <a:t> treatment if they were aware of it </a:t>
            </a:r>
          </a:p>
          <a:p>
            <a:pPr lvl="2"/>
            <a:r>
              <a:rPr lang="en-US" dirty="0"/>
              <a:t>Low power</a:t>
            </a:r>
          </a:p>
          <a:p>
            <a:pPr lvl="1"/>
            <a:r>
              <a:rPr lang="en-US" dirty="0"/>
              <a:t>Overall buyers power: Medium to high</a:t>
            </a:r>
          </a:p>
        </p:txBody>
      </p:sp>
      <p:sp>
        <p:nvSpPr>
          <p:cNvPr id="5" name="Title 1">
            <a:extLst>
              <a:ext uri="{FF2B5EF4-FFF2-40B4-BE49-F238E27FC236}">
                <a16:creationId xmlns:a16="http://schemas.microsoft.com/office/drawing/2014/main" id="{038CF185-FC90-6990-56FA-2A6CA053D8E9}"/>
              </a:ext>
            </a:extLst>
          </p:cNvPr>
          <p:cNvSpPr>
            <a:spLocks noGrp="1"/>
          </p:cNvSpPr>
          <p:nvPr>
            <p:ph type="title"/>
          </p:nvPr>
        </p:nvSpPr>
        <p:spPr>
          <a:xfrm>
            <a:off x="479707" y="260686"/>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1863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7CCF6-1E33-F984-7006-744C70A598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4F51AB-985F-FF43-6FA5-96CF81092B85}"/>
              </a:ext>
            </a:extLst>
          </p:cNvPr>
          <p:cNvSpPr>
            <a:spLocks noGrp="1"/>
          </p:cNvSpPr>
          <p:nvPr>
            <p:ph sz="half" idx="1"/>
          </p:nvPr>
        </p:nvSpPr>
        <p:spPr>
          <a:xfrm>
            <a:off x="479707" y="1183108"/>
            <a:ext cx="11309685" cy="5462334"/>
          </a:xfrm>
        </p:spPr>
        <p:txBody>
          <a:bodyPr>
            <a:normAutofit lnSpcReduction="10000"/>
          </a:bodyPr>
          <a:lstStyle/>
          <a:p>
            <a:r>
              <a:rPr lang="en-US" dirty="0"/>
              <a:t>What is the power of new entrants?</a:t>
            </a:r>
          </a:p>
          <a:p>
            <a:pPr lvl="1"/>
            <a:r>
              <a:rPr lang="en-US" sz="2000" dirty="0"/>
              <a:t>Barrier to entry: </a:t>
            </a:r>
          </a:p>
          <a:p>
            <a:pPr lvl="2"/>
            <a:r>
              <a:rPr lang="en-US" sz="1800" dirty="0"/>
              <a:t>High level of regulation </a:t>
            </a:r>
          </a:p>
          <a:p>
            <a:pPr lvl="2"/>
            <a:r>
              <a:rPr lang="en-US" sz="1800" dirty="0"/>
              <a:t>Large capital requirements for manufacturing set-up and R&amp;D. </a:t>
            </a:r>
          </a:p>
          <a:p>
            <a:pPr lvl="2"/>
            <a:r>
              <a:rPr lang="en-US" sz="1800" dirty="0"/>
              <a:t>Long market lead time for new drugs: slow capital return </a:t>
            </a:r>
          </a:p>
          <a:p>
            <a:pPr lvl="2"/>
            <a:r>
              <a:rPr lang="en-US" sz="1800" dirty="0"/>
              <a:t>Extensive costs associated with marketing and sales: diverse customer segments. </a:t>
            </a:r>
          </a:p>
          <a:p>
            <a:pPr lvl="2"/>
            <a:r>
              <a:rPr lang="en-US" sz="1800" dirty="0"/>
              <a:t>Economies of scale in R&amp;D, manufacturing, marketing and sales, and distribution. </a:t>
            </a:r>
          </a:p>
          <a:p>
            <a:pPr lvl="2"/>
            <a:r>
              <a:rPr lang="en-US" sz="1800" dirty="0"/>
              <a:t>High risk of failure: no return on investment</a:t>
            </a:r>
          </a:p>
          <a:p>
            <a:pPr lvl="2"/>
            <a:r>
              <a:rPr lang="en-US" sz="1800" dirty="0"/>
              <a:t>Innovative drugs could be replaced by other innovative drugs with similar effects: reduced by focused strategies </a:t>
            </a:r>
          </a:p>
          <a:p>
            <a:pPr lvl="1"/>
            <a:r>
              <a:rPr lang="en-US" sz="2000" dirty="0"/>
              <a:t>Low threats from new entrants</a:t>
            </a:r>
          </a:p>
          <a:p>
            <a:r>
              <a:rPr lang="en-US" dirty="0"/>
              <a:t>Are biotech firms potential new entrants?</a:t>
            </a:r>
          </a:p>
          <a:p>
            <a:r>
              <a:rPr lang="en-US" dirty="0"/>
              <a:t>What is power of possible substitutes? </a:t>
            </a:r>
          </a:p>
          <a:p>
            <a:pPr lvl="1"/>
            <a:r>
              <a:rPr lang="en-US" dirty="0"/>
              <a:t>Patent protection: increasing complementary products but not substitutes</a:t>
            </a:r>
          </a:p>
          <a:p>
            <a:pPr lvl="1"/>
            <a:r>
              <a:rPr lang="en-US" dirty="0"/>
              <a:t>Low power of possible substitutes during patent protection</a:t>
            </a:r>
          </a:p>
          <a:p>
            <a:pPr lvl="1"/>
            <a:r>
              <a:rPr lang="en-US" dirty="0"/>
              <a:t>Generics: strong substitutes after the patent protection</a:t>
            </a:r>
          </a:p>
          <a:p>
            <a:pPr lvl="1"/>
            <a:endParaRPr lang="en-US" dirty="0"/>
          </a:p>
        </p:txBody>
      </p:sp>
      <p:sp>
        <p:nvSpPr>
          <p:cNvPr id="5" name="Title 1">
            <a:extLst>
              <a:ext uri="{FF2B5EF4-FFF2-40B4-BE49-F238E27FC236}">
                <a16:creationId xmlns:a16="http://schemas.microsoft.com/office/drawing/2014/main" id="{03D98F0A-9A43-7CB8-25EF-EB8B23A6C899}"/>
              </a:ext>
            </a:extLst>
          </p:cNvPr>
          <p:cNvSpPr>
            <a:spLocks noGrp="1"/>
          </p:cNvSpPr>
          <p:nvPr>
            <p:ph type="title"/>
          </p:nvPr>
        </p:nvSpPr>
        <p:spPr>
          <a:xfrm>
            <a:off x="479707" y="40107"/>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285339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875B6-D87F-C65F-E5BB-3470FEAEA1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AE5E4D-60A3-C99E-683B-A0AEB76D884E}"/>
              </a:ext>
            </a:extLst>
          </p:cNvPr>
          <p:cNvSpPr>
            <a:spLocks noGrp="1"/>
          </p:cNvSpPr>
          <p:nvPr>
            <p:ph sz="half" idx="1"/>
          </p:nvPr>
        </p:nvSpPr>
        <p:spPr>
          <a:xfrm>
            <a:off x="479707" y="1183108"/>
            <a:ext cx="11309685" cy="5462334"/>
          </a:xfrm>
        </p:spPr>
        <p:txBody>
          <a:bodyPr>
            <a:normAutofit/>
          </a:bodyPr>
          <a:lstStyle/>
          <a:p>
            <a:r>
              <a:rPr lang="en-US" dirty="0"/>
              <a:t>What is the power of competitors?</a:t>
            </a:r>
          </a:p>
          <a:p>
            <a:pPr lvl="1"/>
            <a:r>
              <a:rPr lang="en-US" dirty="0"/>
              <a:t>Two types of competition</a:t>
            </a:r>
          </a:p>
          <a:p>
            <a:pPr lvl="2"/>
            <a:r>
              <a:rPr lang="en-US" dirty="0"/>
              <a:t>Between-patent competition: competition between different innovative drugs </a:t>
            </a:r>
          </a:p>
          <a:p>
            <a:pPr lvl="2"/>
            <a:r>
              <a:rPr lang="en-US" dirty="0"/>
              <a:t>Within-patent competition: competition of a generic with an innovative drug</a:t>
            </a:r>
          </a:p>
          <a:p>
            <a:pPr lvl="1"/>
            <a:r>
              <a:rPr lang="en-US" dirty="0"/>
              <a:t>High concentration of power within a few large pharmaceutical companies (M&amp;A) </a:t>
            </a:r>
          </a:p>
          <a:p>
            <a:pPr lvl="1"/>
            <a:r>
              <a:rPr lang="en-US" dirty="0"/>
              <a:t>Strict government regulations</a:t>
            </a:r>
          </a:p>
          <a:p>
            <a:pPr lvl="1"/>
            <a:r>
              <a:rPr lang="en-US" dirty="0"/>
              <a:t>Constant pressure to innovate</a:t>
            </a:r>
          </a:p>
          <a:p>
            <a:pPr lvl="1"/>
            <a:r>
              <a:rPr lang="en-US" dirty="0"/>
              <a:t>Specialization of large pharma firms in certain treatment areas </a:t>
            </a:r>
          </a:p>
          <a:p>
            <a:pPr lvl="1"/>
            <a:r>
              <a:rPr lang="en-US" dirty="0"/>
              <a:t>Strong power from competitive rivalry</a:t>
            </a:r>
          </a:p>
          <a:p>
            <a:r>
              <a:rPr lang="en-US" dirty="0"/>
              <a:t>Overall industry power structural: </a:t>
            </a:r>
          </a:p>
          <a:p>
            <a:pPr lvl="1"/>
            <a:r>
              <a:rPr lang="en-US" dirty="0"/>
              <a:t>Low power: supplier, new entrants, substitutes</a:t>
            </a:r>
          </a:p>
          <a:p>
            <a:pPr lvl="1"/>
            <a:r>
              <a:rPr lang="en-US" dirty="0"/>
              <a:t>Medium to high power: Buyers and competitors</a:t>
            </a:r>
          </a:p>
          <a:p>
            <a:pPr lvl="1"/>
            <a:r>
              <a:rPr lang="en-US" dirty="0"/>
              <a:t>What do you think about the profitability of this industry?</a:t>
            </a:r>
          </a:p>
        </p:txBody>
      </p:sp>
      <p:sp>
        <p:nvSpPr>
          <p:cNvPr id="5" name="Title 1">
            <a:extLst>
              <a:ext uri="{FF2B5EF4-FFF2-40B4-BE49-F238E27FC236}">
                <a16:creationId xmlns:a16="http://schemas.microsoft.com/office/drawing/2014/main" id="{EBE4D50F-23CF-5DB8-CF83-3730440EC0A1}"/>
              </a:ext>
            </a:extLst>
          </p:cNvPr>
          <p:cNvSpPr>
            <a:spLocks noGrp="1"/>
          </p:cNvSpPr>
          <p:nvPr>
            <p:ph type="title"/>
          </p:nvPr>
        </p:nvSpPr>
        <p:spPr>
          <a:xfrm>
            <a:off x="479707" y="40107"/>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408049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92F5C-81BC-B563-FFF7-DD602104D9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493531-114E-F6E1-D960-766853B684DC}"/>
              </a:ext>
            </a:extLst>
          </p:cNvPr>
          <p:cNvSpPr>
            <a:spLocks noGrp="1"/>
          </p:cNvSpPr>
          <p:nvPr>
            <p:ph sz="half" idx="1"/>
          </p:nvPr>
        </p:nvSpPr>
        <p:spPr>
          <a:xfrm>
            <a:off x="479707" y="1054771"/>
            <a:ext cx="10188293" cy="5462334"/>
          </a:xfrm>
        </p:spPr>
        <p:txBody>
          <a:bodyPr>
            <a:normAutofit lnSpcReduction="10000"/>
          </a:bodyPr>
          <a:lstStyle/>
          <a:p>
            <a:pPr marL="0" indent="0">
              <a:buNone/>
            </a:pPr>
            <a:r>
              <a:rPr lang="en-US" dirty="0"/>
              <a:t>It seems the general environment and industry analysis suggest a decent operating environments. But Pfizer perceived a problem…</a:t>
            </a:r>
          </a:p>
          <a:p>
            <a:r>
              <a:rPr lang="en-US" dirty="0"/>
              <a:t>Which overall trends can be observed?</a:t>
            </a:r>
          </a:p>
          <a:p>
            <a:pPr lvl="1"/>
            <a:r>
              <a:rPr lang="en-US" dirty="0"/>
              <a:t>Increasing volume of sales, but share in innovative drugs was decreasing: </a:t>
            </a:r>
          </a:p>
          <a:p>
            <a:pPr lvl="2"/>
            <a:r>
              <a:rPr lang="en-US" dirty="0"/>
              <a:t>$832 billion) but generics by 67 per cent (from $60 billion to $100 billion) (Exhibit 10)</a:t>
            </a:r>
          </a:p>
          <a:p>
            <a:pPr lvl="1"/>
            <a:r>
              <a:rPr lang="en-US" dirty="0"/>
              <a:t>Stagnating R&amp;D productivity</a:t>
            </a:r>
          </a:p>
          <a:p>
            <a:pPr lvl="2"/>
            <a:r>
              <a:rPr lang="en-US" dirty="0"/>
              <a:t>Decreasing R&amp;D inputs: 2010-2017: 21%-23% of sales</a:t>
            </a:r>
          </a:p>
          <a:p>
            <a:pPr lvl="3"/>
            <a:r>
              <a:rPr lang="en-US" dirty="0"/>
              <a:t>Decreasing sales of innovative drugs: 2010 ($30 billion) to 2017 ($15 billion)</a:t>
            </a:r>
          </a:p>
          <a:p>
            <a:pPr lvl="2"/>
            <a:r>
              <a:rPr lang="en-US" dirty="0"/>
              <a:t>Growing number of biologics (Exhibit 7) by small biotech companies</a:t>
            </a:r>
          </a:p>
          <a:p>
            <a:pPr lvl="2"/>
            <a:r>
              <a:rPr lang="en-US" dirty="0"/>
              <a:t>More drugs approved by FDA but blockbuster successes were decreasing</a:t>
            </a:r>
          </a:p>
          <a:p>
            <a:pPr lvl="2"/>
            <a:r>
              <a:rPr lang="en-US" dirty="0"/>
              <a:t>Shift to specialization strategies </a:t>
            </a:r>
          </a:p>
          <a:p>
            <a:pPr lvl="1"/>
            <a:r>
              <a:rPr lang="en-US" dirty="0"/>
              <a:t>Patent protection was decreasing in effectiveness</a:t>
            </a:r>
          </a:p>
          <a:p>
            <a:pPr lvl="2"/>
            <a:r>
              <a:rPr lang="en-US" dirty="0"/>
              <a:t>Decreasing motivation for pharmaceutical companies to do R&amp;D</a:t>
            </a:r>
          </a:p>
          <a:p>
            <a:pPr lvl="1"/>
            <a:r>
              <a:rPr lang="en-US" dirty="0"/>
              <a:t>M&amp;A was increasing</a:t>
            </a:r>
          </a:p>
          <a:p>
            <a:pPr lvl="1"/>
            <a:r>
              <a:rPr lang="en-US" dirty="0"/>
              <a:t>Big marketing expenditure (compared to R&amp;D). (Exhibit 11 &amp; 12).</a:t>
            </a:r>
          </a:p>
        </p:txBody>
      </p:sp>
      <p:sp>
        <p:nvSpPr>
          <p:cNvPr id="5" name="Title 1">
            <a:extLst>
              <a:ext uri="{FF2B5EF4-FFF2-40B4-BE49-F238E27FC236}">
                <a16:creationId xmlns:a16="http://schemas.microsoft.com/office/drawing/2014/main" id="{AC4A1729-6668-B18C-7513-6A5B26D60959}"/>
              </a:ext>
            </a:extLst>
          </p:cNvPr>
          <p:cNvSpPr>
            <a:spLocks noGrp="1"/>
          </p:cNvSpPr>
          <p:nvPr>
            <p:ph type="title"/>
          </p:nvPr>
        </p:nvSpPr>
        <p:spPr>
          <a:xfrm>
            <a:off x="479707" y="40107"/>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358060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BCAAC-E988-9A7F-F549-06D2496DF4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28435F-8F8B-0FEC-F012-A481E7A89480}"/>
              </a:ext>
            </a:extLst>
          </p:cNvPr>
          <p:cNvSpPr>
            <a:spLocks noGrp="1"/>
          </p:cNvSpPr>
          <p:nvPr>
            <p:ph sz="half" idx="1"/>
          </p:nvPr>
        </p:nvSpPr>
        <p:spPr>
          <a:xfrm>
            <a:off x="479707" y="1054770"/>
            <a:ext cx="10573304" cy="5618745"/>
          </a:xfrm>
        </p:spPr>
        <p:txBody>
          <a:bodyPr>
            <a:normAutofit/>
          </a:bodyPr>
          <a:lstStyle/>
          <a:p>
            <a:r>
              <a:rPr lang="en-US" dirty="0"/>
              <a:t>How will the profitability of the industry change? </a:t>
            </a:r>
          </a:p>
          <a:p>
            <a:pPr lvl="1"/>
            <a:r>
              <a:rPr lang="en-US" dirty="0"/>
              <a:t>Slower growth in all core markets</a:t>
            </a:r>
          </a:p>
          <a:p>
            <a:pPr lvl="1"/>
            <a:r>
              <a:rPr lang="en-US" dirty="0"/>
              <a:t>A shift toward generics and biosimilars </a:t>
            </a:r>
          </a:p>
          <a:p>
            <a:pPr lvl="1"/>
            <a:r>
              <a:rPr lang="en-US" dirty="0"/>
              <a:t>A shift toward developing markets</a:t>
            </a:r>
          </a:p>
          <a:p>
            <a:pPr lvl="1"/>
            <a:r>
              <a:rPr lang="en-US" dirty="0"/>
              <a:t>Higher pressure from new market incumbents (generics) in these markets</a:t>
            </a:r>
          </a:p>
          <a:p>
            <a:pPr lvl="1"/>
            <a:r>
              <a:rPr lang="en-US" dirty="0"/>
              <a:t>Institutional and inter-regional protectionism in emerging-market countries</a:t>
            </a:r>
          </a:p>
          <a:p>
            <a:pPr lvl="1"/>
            <a:r>
              <a:rPr lang="en-US" dirty="0"/>
              <a:t>Increasing pressure to differentiate the product portfolio</a:t>
            </a:r>
          </a:p>
          <a:p>
            <a:pPr lvl="1"/>
            <a:r>
              <a:rPr lang="en-US" dirty="0"/>
              <a:t>Higher profitability should be expected</a:t>
            </a:r>
          </a:p>
          <a:p>
            <a:r>
              <a:rPr lang="en-US" dirty="0"/>
              <a:t>How might Pfizer react to changes in the industry?</a:t>
            </a:r>
          </a:p>
          <a:p>
            <a:pPr lvl="1"/>
            <a:r>
              <a:rPr lang="en-US" dirty="0"/>
              <a:t>Enhance M&amp;A activities</a:t>
            </a:r>
          </a:p>
          <a:p>
            <a:pPr lvl="1"/>
            <a:r>
              <a:rPr lang="en-US" dirty="0"/>
              <a:t>Specialize in specific therapeutic areas</a:t>
            </a:r>
          </a:p>
          <a:p>
            <a:pPr lvl="1"/>
            <a:r>
              <a:rPr lang="en-US" dirty="0"/>
              <a:t>Reduce sales forces and cooperate with competitors. </a:t>
            </a:r>
          </a:p>
          <a:p>
            <a:pPr lvl="1"/>
            <a:r>
              <a:rPr lang="en-US" dirty="0"/>
              <a:t>Change R&amp;D</a:t>
            </a:r>
          </a:p>
          <a:p>
            <a:pPr lvl="1"/>
            <a:r>
              <a:rPr lang="en-US" dirty="0"/>
              <a:t>Restructure</a:t>
            </a:r>
          </a:p>
          <a:p>
            <a:pPr lvl="1"/>
            <a:endParaRPr lang="en-US" dirty="0"/>
          </a:p>
        </p:txBody>
      </p:sp>
      <p:sp>
        <p:nvSpPr>
          <p:cNvPr id="5" name="Title 1">
            <a:extLst>
              <a:ext uri="{FF2B5EF4-FFF2-40B4-BE49-F238E27FC236}">
                <a16:creationId xmlns:a16="http://schemas.microsoft.com/office/drawing/2014/main" id="{89D74A29-E03E-B5EF-5DAE-B2A8F50DD38D}"/>
              </a:ext>
            </a:extLst>
          </p:cNvPr>
          <p:cNvSpPr>
            <a:spLocks noGrp="1"/>
          </p:cNvSpPr>
          <p:nvPr>
            <p:ph type="title"/>
          </p:nvPr>
        </p:nvSpPr>
        <p:spPr>
          <a:xfrm>
            <a:off x="479707" y="40107"/>
            <a:ext cx="9993331" cy="1143000"/>
          </a:xfrm>
        </p:spPr>
        <p:txBody>
          <a:bodyPr/>
          <a:lstStyle/>
          <a:p>
            <a:r>
              <a:rPr lang="en-US" dirty="0"/>
              <a:t>Pfizer and the Pharmaceutical Industry</a:t>
            </a:r>
          </a:p>
        </p:txBody>
      </p:sp>
    </p:spTree>
    <p:extLst>
      <p:ext uri="{BB962C8B-B14F-4D97-AF65-F5344CB8AC3E}">
        <p14:creationId xmlns:p14="http://schemas.microsoft.com/office/powerpoint/2010/main" val="228977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urple Version (Single Colour Logo)">
  <a:themeElements>
    <a:clrScheme name="CUHKBSchool">
      <a:dk1>
        <a:srgbClr val="331C58"/>
      </a:dk1>
      <a:lt1>
        <a:srgbClr val="FFFFFF"/>
      </a:lt1>
      <a:dk2>
        <a:srgbClr val="646569"/>
      </a:dk2>
      <a:lt2>
        <a:srgbClr val="9FA0A0"/>
      </a:lt2>
      <a:accent1>
        <a:srgbClr val="4F2D7F"/>
      </a:accent1>
      <a:accent2>
        <a:srgbClr val="931163"/>
      </a:accent2>
      <a:accent3>
        <a:srgbClr val="ED6D0F"/>
      </a:accent3>
      <a:accent4>
        <a:srgbClr val="F0AB00"/>
      </a:accent4>
      <a:accent5>
        <a:srgbClr val="00693C"/>
      </a:accent5>
      <a:accent6>
        <a:srgbClr val="0095D8"/>
      </a:accent6>
      <a:hlink>
        <a:srgbClr val="9D7D93"/>
      </a:hlink>
      <a:folHlink>
        <a:srgbClr val="9FA0A0"/>
      </a:folHlink>
    </a:clrScheme>
    <a:fontScheme name="CUHKBSchool">
      <a:majorFont>
        <a:latin typeface="Arial"/>
        <a:ea typeface="Microsoft JhengHei"/>
        <a:cs typeface=""/>
      </a:majorFont>
      <a:minorFont>
        <a:latin typeface="Arial"/>
        <a:ea typeface="Microsoft Jheng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5935C4AE7BFA14D9FEA47E9D4F5D914" ma:contentTypeVersion="10" ma:contentTypeDescription="Create a new document." ma:contentTypeScope="" ma:versionID="9580cd91a103e7459dc0cd956d2ee7ed">
  <xsd:schema xmlns:xsd="http://www.w3.org/2001/XMLSchema" xmlns:xs="http://www.w3.org/2001/XMLSchema" xmlns:p="http://schemas.microsoft.com/office/2006/metadata/properties" xmlns:ns2="df2ba4ab-9b85-44d4-9782-eedd67c2414d" xmlns:ns3="8bc8151f-f9eb-4fd4-a284-b18c458832d3" targetNamespace="http://schemas.microsoft.com/office/2006/metadata/properties" ma:root="true" ma:fieldsID="f723c48471fdd26c66ea758e11aa05f4" ns2:_="" ns3:_="">
    <xsd:import namespace="df2ba4ab-9b85-44d4-9782-eedd67c2414d"/>
    <xsd:import namespace="8bc8151f-f9eb-4fd4-a284-b18c458832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ba4ab-9b85-44d4-9782-eedd67c241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c8151f-f9eb-4fd4-a284-b18c458832d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15A20D-BD7A-48AF-9D7F-A22FF5259DA9}">
  <ds:schemaRefs>
    <ds:schemaRef ds:uri="http://schemas.microsoft.com/sharepoint/v3/contenttype/forms"/>
  </ds:schemaRefs>
</ds:datastoreItem>
</file>

<file path=customXml/itemProps2.xml><?xml version="1.0" encoding="utf-8"?>
<ds:datastoreItem xmlns:ds="http://schemas.openxmlformats.org/officeDocument/2006/customXml" ds:itemID="{892FDE0E-C15B-457A-BC2A-2FA68C6B1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2ba4ab-9b85-44d4-9782-eedd67c2414d"/>
    <ds:schemaRef ds:uri="8bc8151f-f9eb-4fd4-a284-b18c458832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12DADE-8814-407B-95B5-C1B21089B28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2296</TotalTime>
  <Words>3816</Words>
  <Application>Microsoft Macintosh PowerPoint</Application>
  <PresentationFormat>Widescreen</PresentationFormat>
  <Paragraphs>541</Paragraphs>
  <Slides>45</Slides>
  <Notes>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Arial Rounded MT Bold</vt:lpstr>
      <vt:lpstr>Calibri</vt:lpstr>
      <vt:lpstr>Times New Roman</vt:lpstr>
      <vt:lpstr>Wingdings</vt:lpstr>
      <vt:lpstr>Purple Version (Single Colour Logo)</vt:lpstr>
      <vt:lpstr>MGNT 5506G f Strategic Management for Competitive Advantage</vt:lpstr>
      <vt:lpstr>Objectives for Today</vt:lpstr>
      <vt:lpstr>PowerPoint Presentation</vt:lpstr>
      <vt:lpstr>Environments of a Firm</vt:lpstr>
      <vt:lpstr>What environmental analyses have you studied thus far?</vt:lpstr>
      <vt:lpstr>The Macroeconomic Environment</vt:lpstr>
      <vt:lpstr>Aspects of the General Environment</vt:lpstr>
      <vt:lpstr>The Role of the Macro Environment</vt:lpstr>
      <vt:lpstr>Exercise: interpreting environmental statistics </vt:lpstr>
      <vt:lpstr>Exercise: "TikTok Refugees" </vt:lpstr>
      <vt:lpstr>Environments of a Firm</vt:lpstr>
      <vt:lpstr>Defining an Industry</vt:lpstr>
      <vt:lpstr>The Computer Sector, Industries and Segments</vt:lpstr>
      <vt:lpstr>Challenges of Industry Definition</vt:lpstr>
      <vt:lpstr>PowerPoint Presentation</vt:lpstr>
      <vt:lpstr>Industry Analysis: The Five Forces Model</vt:lpstr>
      <vt:lpstr> Risk of Entry by Potential Competitors</vt:lpstr>
      <vt:lpstr>PowerPoint Presentation</vt:lpstr>
      <vt:lpstr> Rivalry Among Established Companies</vt:lpstr>
      <vt:lpstr>Question:  What is the difference between competitors/rivalry and risk of Entry?</vt:lpstr>
      <vt:lpstr> Bargaining Power of Buyers</vt:lpstr>
      <vt:lpstr> Bargaining Power of Suppliers</vt:lpstr>
      <vt:lpstr>Question:  What is the relationship between the app provider and the phone manufacturer?</vt:lpstr>
      <vt:lpstr> Substitute Products</vt:lpstr>
      <vt:lpstr>Question:  What is the difference between competitors/rivalry and substitutes?</vt:lpstr>
      <vt:lpstr>The 5 Forces and Industry Profitability </vt:lpstr>
      <vt:lpstr>Five Forces Exercise</vt:lpstr>
      <vt:lpstr>PowerPoint Presentation</vt:lpstr>
      <vt:lpstr>Five Forces Application: 🚗 EV Market Masters</vt:lpstr>
      <vt:lpstr>Round 1: New Entrants &amp; Supplier Crisis</vt:lpstr>
      <vt:lpstr>Round 2: Rivalry &amp; Threat of Substitutes</vt:lpstr>
      <vt:lpstr>Round 3: Regulation &amp; Consumer Trends</vt:lpstr>
      <vt:lpstr>EV Market Masters: Wrap-Up</vt:lpstr>
      <vt:lpstr>EV Market Masters: Takeaways</vt:lpstr>
      <vt:lpstr>Limitations of the Five Forces Model</vt:lpstr>
      <vt:lpstr>PowerPoint Presentation</vt:lpstr>
      <vt:lpstr>Pfizer and the Pharmaceutical Industry</vt:lpstr>
      <vt:lpstr>Pfizer and the Pharmaceutical Industry</vt:lpstr>
      <vt:lpstr>Pfizer and the Pharmaceutical Industry</vt:lpstr>
      <vt:lpstr>Pfizer and the Pharmaceutical Industry</vt:lpstr>
      <vt:lpstr>Pfizer and the Pharmaceutical Industry</vt:lpstr>
      <vt:lpstr>Pfizer and the Pharmaceutical Industry</vt:lpstr>
      <vt:lpstr>Pfizer and the Pharmaceutical Industry</vt:lpstr>
      <vt:lpstr>Pfizer and the Pharmaceutical Industry</vt:lpstr>
      <vt:lpstr>Pfizer and the Pharmaceutical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MGNT 4010 Strategic Management</dc:title>
  <dc:creator>Jingyu Li (MGT)</dc:creator>
  <cp:lastModifiedBy>Jingyu Li (MGT)</cp:lastModifiedBy>
  <cp:revision>63</cp:revision>
  <dcterms:created xsi:type="dcterms:W3CDTF">2021-01-26T03:36:56Z</dcterms:created>
  <dcterms:modified xsi:type="dcterms:W3CDTF">2026-03-20T05:04:42Z</dcterms:modified>
</cp:coreProperties>
</file>