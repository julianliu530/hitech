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380" r:id="rId5"/>
    <p:sldId id="395" r:id="rId6"/>
    <p:sldId id="407" r:id="rId7"/>
    <p:sldId id="362" r:id="rId8"/>
    <p:sldId id="364" r:id="rId9"/>
    <p:sldId id="409" r:id="rId10"/>
    <p:sldId id="410" r:id="rId11"/>
    <p:sldId id="363" r:id="rId12"/>
    <p:sldId id="411" r:id="rId13"/>
    <p:sldId id="391" r:id="rId14"/>
    <p:sldId id="412" r:id="rId15"/>
    <p:sldId id="369" r:id="rId16"/>
    <p:sldId id="335" r:id="rId17"/>
    <p:sldId id="414" r:id="rId18"/>
    <p:sldId id="383" r:id="rId19"/>
    <p:sldId id="416" r:id="rId20"/>
    <p:sldId id="417" r:id="rId21"/>
    <p:sldId id="418" r:id="rId22"/>
    <p:sldId id="419" r:id="rId23"/>
    <p:sldId id="342" r:id="rId24"/>
    <p:sldId id="420" r:id="rId25"/>
    <p:sldId id="421" r:id="rId26"/>
    <p:sldId id="313" r:id="rId27"/>
    <p:sldId id="361" r:id="rId28"/>
    <p:sldId id="359" r:id="rId29"/>
    <p:sldId id="392" r:id="rId30"/>
    <p:sldId id="422" r:id="rId31"/>
    <p:sldId id="393" r:id="rId32"/>
    <p:sldId id="358" r:id="rId33"/>
  </p:sldIdLst>
  <p:sldSz cx="12192000" cy="6858000"/>
  <p:notesSz cx="6858000" cy="91440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827"/>
    <a:srgbClr val="DEBDD4"/>
    <a:srgbClr val="7E499D"/>
    <a:srgbClr val="BEAF9B"/>
    <a:srgbClr val="9D7D93"/>
    <a:srgbClr val="7E039D"/>
    <a:srgbClr val="4F2D7F"/>
    <a:srgbClr val="331C58"/>
    <a:srgbClr val="F0AB00"/>
    <a:srgbClr val="EEA4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21" autoAdjust="0"/>
    <p:restoredTop sz="94022"/>
  </p:normalViewPr>
  <p:slideViewPr>
    <p:cSldViewPr snapToGrid="0" snapToObjects="1">
      <p:cViewPr>
        <p:scale>
          <a:sx n="81" d="100"/>
          <a:sy n="81" d="100"/>
        </p:scale>
        <p:origin x="408" y="3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0" d="100"/>
          <a:sy n="70" d="100"/>
        </p:scale>
        <p:origin x="230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B1E141-822A-AD47-BBE0-1C755128B8AA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EDBA9B-F86D-4D41-99EB-80EF9354B2FD}">
      <dgm:prSet phldrT="[Text]"/>
      <dgm:spPr/>
      <dgm:t>
        <a:bodyPr/>
        <a:lstStyle/>
        <a:p>
          <a:r>
            <a:rPr lang="en-US" dirty="0"/>
            <a:t>Delivery Services</a:t>
          </a:r>
        </a:p>
      </dgm:t>
    </dgm:pt>
    <dgm:pt modelId="{B8439B47-73B0-5F4F-89D3-3332E2B729D3}" type="parTrans" cxnId="{73A3AAF1-0A83-9342-9747-AE9372F8F106}">
      <dgm:prSet/>
      <dgm:spPr/>
      <dgm:t>
        <a:bodyPr/>
        <a:lstStyle/>
        <a:p>
          <a:endParaRPr lang="en-US"/>
        </a:p>
      </dgm:t>
    </dgm:pt>
    <dgm:pt modelId="{BC59025D-2994-7745-B3C3-26B6FB8F2538}" type="sibTrans" cxnId="{73A3AAF1-0A83-9342-9747-AE9372F8F106}">
      <dgm:prSet/>
      <dgm:spPr/>
      <dgm:t>
        <a:bodyPr/>
        <a:lstStyle/>
        <a:p>
          <a:endParaRPr lang="en-US"/>
        </a:p>
      </dgm:t>
    </dgm:pt>
    <dgm:pt modelId="{D114FAD3-BFC7-324E-B960-3B300A2359D0}">
      <dgm:prSet phldrT="[Text]"/>
      <dgm:spPr/>
      <dgm:t>
        <a:bodyPr/>
        <a:lstStyle/>
        <a:p>
          <a:r>
            <a:rPr lang="en-US" dirty="0"/>
            <a:t>Food and drinks delivery</a:t>
          </a:r>
        </a:p>
      </dgm:t>
    </dgm:pt>
    <dgm:pt modelId="{C1FEE1C6-0C85-6045-ADE9-A3C083F8EA2D}" type="parTrans" cxnId="{CF83D67A-70A0-DF4B-8960-5517B152F2C7}">
      <dgm:prSet/>
      <dgm:spPr/>
      <dgm:t>
        <a:bodyPr/>
        <a:lstStyle/>
        <a:p>
          <a:endParaRPr lang="en-US"/>
        </a:p>
      </dgm:t>
    </dgm:pt>
    <dgm:pt modelId="{08741874-3F87-4344-8EE7-7E23CFAE4676}" type="sibTrans" cxnId="{CF83D67A-70A0-DF4B-8960-5517B152F2C7}">
      <dgm:prSet/>
      <dgm:spPr/>
      <dgm:t>
        <a:bodyPr/>
        <a:lstStyle/>
        <a:p>
          <a:endParaRPr lang="en-US"/>
        </a:p>
      </dgm:t>
    </dgm:pt>
    <dgm:pt modelId="{BF125F7C-7F6A-4744-8144-7C2BDBA4B4F9}">
      <dgm:prSet phldrT="[Text]"/>
      <dgm:spPr/>
      <dgm:t>
        <a:bodyPr/>
        <a:lstStyle/>
        <a:p>
          <a:r>
            <a:rPr lang="en-US" dirty="0"/>
            <a:t>On-campus delivery</a:t>
          </a:r>
        </a:p>
      </dgm:t>
    </dgm:pt>
    <dgm:pt modelId="{BF160CA8-1B8C-F042-9EC6-1AD860407C62}" type="parTrans" cxnId="{BF337FBF-F314-6347-A78F-5DBAC4B79AB4}">
      <dgm:prSet/>
      <dgm:spPr/>
      <dgm:t>
        <a:bodyPr/>
        <a:lstStyle/>
        <a:p>
          <a:endParaRPr lang="en-US"/>
        </a:p>
      </dgm:t>
    </dgm:pt>
    <dgm:pt modelId="{D4303C0B-1BD2-C043-ACC6-76B9806320EE}" type="sibTrans" cxnId="{BF337FBF-F314-6347-A78F-5DBAC4B79AB4}">
      <dgm:prSet/>
      <dgm:spPr/>
      <dgm:t>
        <a:bodyPr/>
        <a:lstStyle/>
        <a:p>
          <a:endParaRPr lang="en-US"/>
        </a:p>
      </dgm:t>
    </dgm:pt>
    <dgm:pt modelId="{9C803D60-D39F-7747-9922-96489175D0B9}">
      <dgm:prSet phldrT="[Text]"/>
      <dgm:spPr/>
      <dgm:t>
        <a:bodyPr/>
        <a:lstStyle/>
        <a:p>
          <a:r>
            <a:rPr lang="en-US" dirty="0"/>
            <a:t>Everywhere delivery</a:t>
          </a:r>
        </a:p>
      </dgm:t>
    </dgm:pt>
    <dgm:pt modelId="{4F53E9BF-49F2-8145-9D17-4CFA074A273E}" type="parTrans" cxnId="{9AEB4CA6-13B4-754F-A520-C4126741C532}">
      <dgm:prSet/>
      <dgm:spPr/>
      <dgm:t>
        <a:bodyPr/>
        <a:lstStyle/>
        <a:p>
          <a:endParaRPr lang="en-US"/>
        </a:p>
      </dgm:t>
    </dgm:pt>
    <dgm:pt modelId="{8C4F23A0-8706-E94A-9EF4-877F8B70C185}" type="sibTrans" cxnId="{9AEB4CA6-13B4-754F-A520-C4126741C532}">
      <dgm:prSet/>
      <dgm:spPr/>
      <dgm:t>
        <a:bodyPr/>
        <a:lstStyle/>
        <a:p>
          <a:endParaRPr lang="en-US"/>
        </a:p>
      </dgm:t>
    </dgm:pt>
    <dgm:pt modelId="{E787FB10-408E-B64A-8918-C7297CB73AD2}">
      <dgm:prSet phldrT="[Text]"/>
      <dgm:spPr/>
      <dgm:t>
        <a:bodyPr/>
        <a:lstStyle/>
        <a:p>
          <a:r>
            <a:rPr lang="en-US" dirty="0"/>
            <a:t>Supermarket delivery</a:t>
          </a:r>
        </a:p>
      </dgm:t>
    </dgm:pt>
    <dgm:pt modelId="{B0C90DC5-18C1-764B-A985-2440CB873487}" type="parTrans" cxnId="{76F6DC1C-5FB4-FF42-9E7D-4DC74F6D70C7}">
      <dgm:prSet/>
      <dgm:spPr/>
      <dgm:t>
        <a:bodyPr/>
        <a:lstStyle/>
        <a:p>
          <a:endParaRPr lang="en-US"/>
        </a:p>
      </dgm:t>
    </dgm:pt>
    <dgm:pt modelId="{D5A23070-AE50-AA45-80DC-0301E92E51E4}" type="sibTrans" cxnId="{76F6DC1C-5FB4-FF42-9E7D-4DC74F6D70C7}">
      <dgm:prSet/>
      <dgm:spPr/>
      <dgm:t>
        <a:bodyPr/>
        <a:lstStyle/>
        <a:p>
          <a:endParaRPr lang="en-US"/>
        </a:p>
      </dgm:t>
    </dgm:pt>
    <dgm:pt modelId="{2C5DC178-AD78-4249-8289-B29F26242257}">
      <dgm:prSet phldrT="[Text]"/>
      <dgm:spPr/>
      <dgm:t>
        <a:bodyPr/>
        <a:lstStyle/>
        <a:p>
          <a:r>
            <a:rPr lang="en-US" dirty="0"/>
            <a:t>Flexible delivery</a:t>
          </a:r>
        </a:p>
      </dgm:t>
    </dgm:pt>
    <dgm:pt modelId="{057E0774-DB97-D142-89D7-6F30D55A37A2}" type="parTrans" cxnId="{CBE17D0A-534C-E84D-9F8D-39FC8F7CC702}">
      <dgm:prSet/>
      <dgm:spPr/>
      <dgm:t>
        <a:bodyPr/>
        <a:lstStyle/>
        <a:p>
          <a:endParaRPr lang="en-US"/>
        </a:p>
      </dgm:t>
    </dgm:pt>
    <dgm:pt modelId="{E8BD4FD0-5A4F-D742-ABC8-74156DFA9C21}" type="sibTrans" cxnId="{CBE17D0A-534C-E84D-9F8D-39FC8F7CC702}">
      <dgm:prSet/>
      <dgm:spPr/>
      <dgm:t>
        <a:bodyPr/>
        <a:lstStyle/>
        <a:p>
          <a:endParaRPr lang="en-US"/>
        </a:p>
      </dgm:t>
    </dgm:pt>
    <dgm:pt modelId="{C5239225-01DB-4C45-9B3F-DACD3A488377}">
      <dgm:prSet phldrT="[Text]" custT="1"/>
      <dgm:spPr/>
      <dgm:t>
        <a:bodyPr/>
        <a:lstStyle/>
        <a:p>
          <a:r>
            <a:rPr lang="en-US" sz="2000" dirty="0"/>
            <a:t>All students, faculty and staff</a:t>
          </a:r>
        </a:p>
      </dgm:t>
    </dgm:pt>
    <dgm:pt modelId="{2414B0BA-4628-C344-827E-FEF79138B1E6}" type="parTrans" cxnId="{E0AF6899-270B-B24A-A28E-FA587351FAE5}">
      <dgm:prSet/>
      <dgm:spPr/>
      <dgm:t>
        <a:bodyPr/>
        <a:lstStyle/>
        <a:p>
          <a:endParaRPr lang="en-US"/>
        </a:p>
      </dgm:t>
    </dgm:pt>
    <dgm:pt modelId="{E1B6FC98-320A-8E4D-80EC-1AEAC3892483}" type="sibTrans" cxnId="{E0AF6899-270B-B24A-A28E-FA587351FAE5}">
      <dgm:prSet/>
      <dgm:spPr/>
      <dgm:t>
        <a:bodyPr/>
        <a:lstStyle/>
        <a:p>
          <a:endParaRPr lang="en-US"/>
        </a:p>
      </dgm:t>
    </dgm:pt>
    <dgm:pt modelId="{7B04EEF5-195F-C345-AC5D-9E1BCC66C8FC}">
      <dgm:prSet phldrT="[Text]" custT="1"/>
      <dgm:spPr/>
      <dgm:t>
        <a:bodyPr/>
        <a:lstStyle/>
        <a:p>
          <a:r>
            <a:rPr lang="en-US" sz="2000" dirty="0"/>
            <a:t>All students</a:t>
          </a:r>
        </a:p>
      </dgm:t>
    </dgm:pt>
    <dgm:pt modelId="{6A224191-F5A6-9A42-879F-45FA7AB17906}" type="parTrans" cxnId="{62188F06-FB8B-7740-8401-CC171BB132CB}">
      <dgm:prSet/>
      <dgm:spPr/>
      <dgm:t>
        <a:bodyPr/>
        <a:lstStyle/>
        <a:p>
          <a:endParaRPr lang="en-US"/>
        </a:p>
      </dgm:t>
    </dgm:pt>
    <dgm:pt modelId="{A3A39295-235E-FB4C-B49F-E1316444976A}" type="sibTrans" cxnId="{62188F06-FB8B-7740-8401-CC171BB132CB}">
      <dgm:prSet/>
      <dgm:spPr/>
      <dgm:t>
        <a:bodyPr/>
        <a:lstStyle/>
        <a:p>
          <a:endParaRPr lang="en-US"/>
        </a:p>
      </dgm:t>
    </dgm:pt>
    <dgm:pt modelId="{A7F27113-6319-3F4E-80C0-CA08804B4771}">
      <dgm:prSet phldrT="[Text]" custT="1"/>
      <dgm:spPr/>
      <dgm:t>
        <a:bodyPr/>
        <a:lstStyle/>
        <a:p>
          <a:r>
            <a:rPr lang="en-US" sz="2000" dirty="0"/>
            <a:t>Undergrads</a:t>
          </a:r>
        </a:p>
      </dgm:t>
    </dgm:pt>
    <dgm:pt modelId="{1D69A398-DE95-C04E-AEDC-ADACCF9AD44A}" type="parTrans" cxnId="{42C7A03B-0545-C34E-8629-0CBFBF271606}">
      <dgm:prSet/>
      <dgm:spPr/>
      <dgm:t>
        <a:bodyPr/>
        <a:lstStyle/>
        <a:p>
          <a:endParaRPr lang="en-US"/>
        </a:p>
      </dgm:t>
    </dgm:pt>
    <dgm:pt modelId="{E78A19A7-76D2-C54B-B8A1-F0B04204E408}" type="sibTrans" cxnId="{42C7A03B-0545-C34E-8629-0CBFBF271606}">
      <dgm:prSet/>
      <dgm:spPr/>
      <dgm:t>
        <a:bodyPr/>
        <a:lstStyle/>
        <a:p>
          <a:endParaRPr lang="en-US"/>
        </a:p>
      </dgm:t>
    </dgm:pt>
    <dgm:pt modelId="{F0B382E8-FCD2-1A48-AD84-BE5EA29C8F1D}" type="pres">
      <dgm:prSet presAssocID="{42B1E141-822A-AD47-BBE0-1C755128B8A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ACD8634-674D-AC46-97CF-D8021E3C694B}" type="pres">
      <dgm:prSet presAssocID="{07EDBA9B-F86D-4D41-99EB-80EF9354B2FD}" presName="root1" presStyleCnt="0"/>
      <dgm:spPr/>
    </dgm:pt>
    <dgm:pt modelId="{E8697F4C-AE33-C949-BE0F-D9211D4A67CC}" type="pres">
      <dgm:prSet presAssocID="{07EDBA9B-F86D-4D41-99EB-80EF9354B2FD}" presName="LevelOneTextNode" presStyleLbl="node0" presStyleIdx="0" presStyleCnt="1">
        <dgm:presLayoutVars>
          <dgm:chPref val="3"/>
        </dgm:presLayoutVars>
      </dgm:prSet>
      <dgm:spPr/>
    </dgm:pt>
    <dgm:pt modelId="{12474B52-6B4D-3546-91BF-8B8CF96ADADE}" type="pres">
      <dgm:prSet presAssocID="{07EDBA9B-F86D-4D41-99EB-80EF9354B2FD}" presName="level2hierChild" presStyleCnt="0"/>
      <dgm:spPr/>
    </dgm:pt>
    <dgm:pt modelId="{94631DFC-06D8-1240-9955-DBD57B78A892}" type="pres">
      <dgm:prSet presAssocID="{C1FEE1C6-0C85-6045-ADE9-A3C083F8EA2D}" presName="conn2-1" presStyleLbl="parChTrans1D2" presStyleIdx="0" presStyleCnt="3"/>
      <dgm:spPr/>
    </dgm:pt>
    <dgm:pt modelId="{23391575-B6E8-3340-ADEB-7CAD45456BF1}" type="pres">
      <dgm:prSet presAssocID="{C1FEE1C6-0C85-6045-ADE9-A3C083F8EA2D}" presName="connTx" presStyleLbl="parChTrans1D2" presStyleIdx="0" presStyleCnt="3"/>
      <dgm:spPr/>
    </dgm:pt>
    <dgm:pt modelId="{AD7F459B-7B05-7D42-B6E8-7D811F423419}" type="pres">
      <dgm:prSet presAssocID="{D114FAD3-BFC7-324E-B960-3B300A2359D0}" presName="root2" presStyleCnt="0"/>
      <dgm:spPr/>
    </dgm:pt>
    <dgm:pt modelId="{7015999E-22A5-644F-9F3E-721F85BC8C70}" type="pres">
      <dgm:prSet presAssocID="{D114FAD3-BFC7-324E-B960-3B300A2359D0}" presName="LevelTwoTextNode" presStyleLbl="node2" presStyleIdx="0" presStyleCnt="3">
        <dgm:presLayoutVars>
          <dgm:chPref val="3"/>
        </dgm:presLayoutVars>
      </dgm:prSet>
      <dgm:spPr/>
    </dgm:pt>
    <dgm:pt modelId="{544554F8-E06F-5441-9B67-04CE5BAA7E6D}" type="pres">
      <dgm:prSet presAssocID="{D114FAD3-BFC7-324E-B960-3B300A2359D0}" presName="level3hierChild" presStyleCnt="0"/>
      <dgm:spPr/>
    </dgm:pt>
    <dgm:pt modelId="{C43B4AE5-5CB5-5043-87CF-E6D13F85E31E}" type="pres">
      <dgm:prSet presAssocID="{BF160CA8-1B8C-F042-9EC6-1AD860407C62}" presName="conn2-1" presStyleLbl="parChTrans1D3" presStyleIdx="0" presStyleCnt="2"/>
      <dgm:spPr/>
    </dgm:pt>
    <dgm:pt modelId="{8C189E7A-2A8B-9140-B9A9-A94CA9269C28}" type="pres">
      <dgm:prSet presAssocID="{BF160CA8-1B8C-F042-9EC6-1AD860407C62}" presName="connTx" presStyleLbl="parChTrans1D3" presStyleIdx="0" presStyleCnt="2"/>
      <dgm:spPr/>
    </dgm:pt>
    <dgm:pt modelId="{22E4F538-3E17-C64F-BE21-5584A7DA0537}" type="pres">
      <dgm:prSet presAssocID="{BF125F7C-7F6A-4744-8144-7C2BDBA4B4F9}" presName="root2" presStyleCnt="0"/>
      <dgm:spPr/>
    </dgm:pt>
    <dgm:pt modelId="{FA1E6FD0-6582-6946-AE86-19EB6D6E0D61}" type="pres">
      <dgm:prSet presAssocID="{BF125F7C-7F6A-4744-8144-7C2BDBA4B4F9}" presName="LevelTwoTextNode" presStyleLbl="node3" presStyleIdx="0" presStyleCnt="2">
        <dgm:presLayoutVars>
          <dgm:chPref val="3"/>
        </dgm:presLayoutVars>
      </dgm:prSet>
      <dgm:spPr/>
    </dgm:pt>
    <dgm:pt modelId="{8D25F071-CB07-7F42-B9FD-D15E1BCA64B7}" type="pres">
      <dgm:prSet presAssocID="{BF125F7C-7F6A-4744-8144-7C2BDBA4B4F9}" presName="level3hierChild" presStyleCnt="0"/>
      <dgm:spPr/>
    </dgm:pt>
    <dgm:pt modelId="{C43F6155-3CBB-9D4F-B904-51CD3E1B91D3}" type="pres">
      <dgm:prSet presAssocID="{2414B0BA-4628-C344-827E-FEF79138B1E6}" presName="conn2-1" presStyleLbl="parChTrans1D4" presStyleIdx="0" presStyleCnt="3"/>
      <dgm:spPr/>
    </dgm:pt>
    <dgm:pt modelId="{121039A0-3A17-F842-B5ED-D1F5667338DC}" type="pres">
      <dgm:prSet presAssocID="{2414B0BA-4628-C344-827E-FEF79138B1E6}" presName="connTx" presStyleLbl="parChTrans1D4" presStyleIdx="0" presStyleCnt="3"/>
      <dgm:spPr/>
    </dgm:pt>
    <dgm:pt modelId="{09EB0DC7-0269-EC4D-99D7-F9C399E99BF2}" type="pres">
      <dgm:prSet presAssocID="{C5239225-01DB-4C45-9B3F-DACD3A488377}" presName="root2" presStyleCnt="0"/>
      <dgm:spPr/>
    </dgm:pt>
    <dgm:pt modelId="{C6367712-BB85-D941-BD78-36ACEAD73ABE}" type="pres">
      <dgm:prSet presAssocID="{C5239225-01DB-4C45-9B3F-DACD3A488377}" presName="LevelTwoTextNode" presStyleLbl="node4" presStyleIdx="0" presStyleCnt="3">
        <dgm:presLayoutVars>
          <dgm:chPref val="3"/>
        </dgm:presLayoutVars>
      </dgm:prSet>
      <dgm:spPr/>
    </dgm:pt>
    <dgm:pt modelId="{BFFC50EF-7DA7-0647-8400-22F65E035354}" type="pres">
      <dgm:prSet presAssocID="{C5239225-01DB-4C45-9B3F-DACD3A488377}" presName="level3hierChild" presStyleCnt="0"/>
      <dgm:spPr/>
    </dgm:pt>
    <dgm:pt modelId="{C3C5BBC6-597F-124E-9355-8AD57BDE0814}" type="pres">
      <dgm:prSet presAssocID="{6A224191-F5A6-9A42-879F-45FA7AB17906}" presName="conn2-1" presStyleLbl="parChTrans1D4" presStyleIdx="1" presStyleCnt="3"/>
      <dgm:spPr/>
    </dgm:pt>
    <dgm:pt modelId="{BC50C049-7E51-C345-8F69-727CD00B5DA5}" type="pres">
      <dgm:prSet presAssocID="{6A224191-F5A6-9A42-879F-45FA7AB17906}" presName="connTx" presStyleLbl="parChTrans1D4" presStyleIdx="1" presStyleCnt="3"/>
      <dgm:spPr/>
    </dgm:pt>
    <dgm:pt modelId="{DD3266B1-9E8C-F644-A317-FA10EDA0A071}" type="pres">
      <dgm:prSet presAssocID="{7B04EEF5-195F-C345-AC5D-9E1BCC66C8FC}" presName="root2" presStyleCnt="0"/>
      <dgm:spPr/>
    </dgm:pt>
    <dgm:pt modelId="{ACD04BF3-659A-ED42-9431-3B9D1476ED85}" type="pres">
      <dgm:prSet presAssocID="{7B04EEF5-195F-C345-AC5D-9E1BCC66C8FC}" presName="LevelTwoTextNode" presStyleLbl="node4" presStyleIdx="1" presStyleCnt="3">
        <dgm:presLayoutVars>
          <dgm:chPref val="3"/>
        </dgm:presLayoutVars>
      </dgm:prSet>
      <dgm:spPr/>
    </dgm:pt>
    <dgm:pt modelId="{4366351B-6D44-8B45-84F8-6ECAC6D4CC21}" type="pres">
      <dgm:prSet presAssocID="{7B04EEF5-195F-C345-AC5D-9E1BCC66C8FC}" presName="level3hierChild" presStyleCnt="0"/>
      <dgm:spPr/>
    </dgm:pt>
    <dgm:pt modelId="{04BBF645-0231-4846-A13C-78A030F2B86B}" type="pres">
      <dgm:prSet presAssocID="{1D69A398-DE95-C04E-AEDC-ADACCF9AD44A}" presName="conn2-1" presStyleLbl="parChTrans1D4" presStyleIdx="2" presStyleCnt="3"/>
      <dgm:spPr/>
    </dgm:pt>
    <dgm:pt modelId="{9A9A1B78-3EF6-884D-B152-0A7A4903D218}" type="pres">
      <dgm:prSet presAssocID="{1D69A398-DE95-C04E-AEDC-ADACCF9AD44A}" presName="connTx" presStyleLbl="parChTrans1D4" presStyleIdx="2" presStyleCnt="3"/>
      <dgm:spPr/>
    </dgm:pt>
    <dgm:pt modelId="{A3F68078-41E0-BF45-8EDD-CAFA17ACEE19}" type="pres">
      <dgm:prSet presAssocID="{A7F27113-6319-3F4E-80C0-CA08804B4771}" presName="root2" presStyleCnt="0"/>
      <dgm:spPr/>
    </dgm:pt>
    <dgm:pt modelId="{40BD36E2-DBF5-3144-9015-15AC97C8A283}" type="pres">
      <dgm:prSet presAssocID="{A7F27113-6319-3F4E-80C0-CA08804B4771}" presName="LevelTwoTextNode" presStyleLbl="node4" presStyleIdx="2" presStyleCnt="3">
        <dgm:presLayoutVars>
          <dgm:chPref val="3"/>
        </dgm:presLayoutVars>
      </dgm:prSet>
      <dgm:spPr/>
    </dgm:pt>
    <dgm:pt modelId="{5B5B412D-29C3-C74F-96FB-4E395CB0F76F}" type="pres">
      <dgm:prSet presAssocID="{A7F27113-6319-3F4E-80C0-CA08804B4771}" presName="level3hierChild" presStyleCnt="0"/>
      <dgm:spPr/>
    </dgm:pt>
    <dgm:pt modelId="{CEDC1480-80F4-C94B-AE39-F2537C1D3070}" type="pres">
      <dgm:prSet presAssocID="{4F53E9BF-49F2-8145-9D17-4CFA074A273E}" presName="conn2-1" presStyleLbl="parChTrans1D3" presStyleIdx="1" presStyleCnt="2"/>
      <dgm:spPr/>
    </dgm:pt>
    <dgm:pt modelId="{960B5A2D-CD25-E744-BFE9-0230B9C5E321}" type="pres">
      <dgm:prSet presAssocID="{4F53E9BF-49F2-8145-9D17-4CFA074A273E}" presName="connTx" presStyleLbl="parChTrans1D3" presStyleIdx="1" presStyleCnt="2"/>
      <dgm:spPr/>
    </dgm:pt>
    <dgm:pt modelId="{2E14DDC0-F924-874A-A6ED-60C152887C91}" type="pres">
      <dgm:prSet presAssocID="{9C803D60-D39F-7747-9922-96489175D0B9}" presName="root2" presStyleCnt="0"/>
      <dgm:spPr/>
    </dgm:pt>
    <dgm:pt modelId="{0BD66F2D-D2BA-8047-85D1-A16035A7A504}" type="pres">
      <dgm:prSet presAssocID="{9C803D60-D39F-7747-9922-96489175D0B9}" presName="LevelTwoTextNode" presStyleLbl="node3" presStyleIdx="1" presStyleCnt="2">
        <dgm:presLayoutVars>
          <dgm:chPref val="3"/>
        </dgm:presLayoutVars>
      </dgm:prSet>
      <dgm:spPr/>
    </dgm:pt>
    <dgm:pt modelId="{7D8E6368-3BF4-264A-8861-894FB554C90E}" type="pres">
      <dgm:prSet presAssocID="{9C803D60-D39F-7747-9922-96489175D0B9}" presName="level3hierChild" presStyleCnt="0"/>
      <dgm:spPr/>
    </dgm:pt>
    <dgm:pt modelId="{7DCED968-70C0-ED44-9061-BC7D6BD62EEB}" type="pres">
      <dgm:prSet presAssocID="{B0C90DC5-18C1-764B-A985-2440CB873487}" presName="conn2-1" presStyleLbl="parChTrans1D2" presStyleIdx="1" presStyleCnt="3"/>
      <dgm:spPr/>
    </dgm:pt>
    <dgm:pt modelId="{9B8451D3-4C12-7A44-AA43-EBC019C6BD51}" type="pres">
      <dgm:prSet presAssocID="{B0C90DC5-18C1-764B-A985-2440CB873487}" presName="connTx" presStyleLbl="parChTrans1D2" presStyleIdx="1" presStyleCnt="3"/>
      <dgm:spPr/>
    </dgm:pt>
    <dgm:pt modelId="{1D823FCF-04B5-AA43-BA01-62C07D76118B}" type="pres">
      <dgm:prSet presAssocID="{E787FB10-408E-B64A-8918-C7297CB73AD2}" presName="root2" presStyleCnt="0"/>
      <dgm:spPr/>
    </dgm:pt>
    <dgm:pt modelId="{EC884778-A1B5-944E-BE86-F7366B2DE008}" type="pres">
      <dgm:prSet presAssocID="{E787FB10-408E-B64A-8918-C7297CB73AD2}" presName="LevelTwoTextNode" presStyleLbl="node2" presStyleIdx="1" presStyleCnt="3">
        <dgm:presLayoutVars>
          <dgm:chPref val="3"/>
        </dgm:presLayoutVars>
      </dgm:prSet>
      <dgm:spPr/>
    </dgm:pt>
    <dgm:pt modelId="{E98FD50C-CCCE-8840-B4DF-825725D004A7}" type="pres">
      <dgm:prSet presAssocID="{E787FB10-408E-B64A-8918-C7297CB73AD2}" presName="level3hierChild" presStyleCnt="0"/>
      <dgm:spPr/>
    </dgm:pt>
    <dgm:pt modelId="{80A34C6A-3C8A-3542-B68E-2BA626D84697}" type="pres">
      <dgm:prSet presAssocID="{057E0774-DB97-D142-89D7-6F30D55A37A2}" presName="conn2-1" presStyleLbl="parChTrans1D2" presStyleIdx="2" presStyleCnt="3"/>
      <dgm:spPr/>
    </dgm:pt>
    <dgm:pt modelId="{D367E1CB-A6F5-F442-91A5-0E00E7ED49E4}" type="pres">
      <dgm:prSet presAssocID="{057E0774-DB97-D142-89D7-6F30D55A37A2}" presName="connTx" presStyleLbl="parChTrans1D2" presStyleIdx="2" presStyleCnt="3"/>
      <dgm:spPr/>
    </dgm:pt>
    <dgm:pt modelId="{BEDCA488-7CE4-0D45-9CC6-3862EDE8D857}" type="pres">
      <dgm:prSet presAssocID="{2C5DC178-AD78-4249-8289-B29F26242257}" presName="root2" presStyleCnt="0"/>
      <dgm:spPr/>
    </dgm:pt>
    <dgm:pt modelId="{3EF62827-5C4C-904B-A571-8AE08899556C}" type="pres">
      <dgm:prSet presAssocID="{2C5DC178-AD78-4249-8289-B29F26242257}" presName="LevelTwoTextNode" presStyleLbl="node2" presStyleIdx="2" presStyleCnt="3">
        <dgm:presLayoutVars>
          <dgm:chPref val="3"/>
        </dgm:presLayoutVars>
      </dgm:prSet>
      <dgm:spPr/>
    </dgm:pt>
    <dgm:pt modelId="{F04EFB3C-B35B-2E47-B390-144692ED3D7D}" type="pres">
      <dgm:prSet presAssocID="{2C5DC178-AD78-4249-8289-B29F26242257}" presName="level3hierChild" presStyleCnt="0"/>
      <dgm:spPr/>
    </dgm:pt>
  </dgm:ptLst>
  <dgm:cxnLst>
    <dgm:cxn modelId="{62188F06-FB8B-7740-8401-CC171BB132CB}" srcId="{BF125F7C-7F6A-4744-8144-7C2BDBA4B4F9}" destId="{7B04EEF5-195F-C345-AC5D-9E1BCC66C8FC}" srcOrd="1" destOrd="0" parTransId="{6A224191-F5A6-9A42-879F-45FA7AB17906}" sibTransId="{A3A39295-235E-FB4C-B49F-E1316444976A}"/>
    <dgm:cxn modelId="{CBE17D0A-534C-E84D-9F8D-39FC8F7CC702}" srcId="{07EDBA9B-F86D-4D41-99EB-80EF9354B2FD}" destId="{2C5DC178-AD78-4249-8289-B29F26242257}" srcOrd="2" destOrd="0" parTransId="{057E0774-DB97-D142-89D7-6F30D55A37A2}" sibTransId="{E8BD4FD0-5A4F-D742-ABC8-74156DFA9C21}"/>
    <dgm:cxn modelId="{C1B47A11-1F5A-914F-AA6E-E2137A283FF0}" type="presOf" srcId="{B0C90DC5-18C1-764B-A985-2440CB873487}" destId="{7DCED968-70C0-ED44-9061-BC7D6BD62EEB}" srcOrd="0" destOrd="0" presId="urn:microsoft.com/office/officeart/2005/8/layout/hierarchy2"/>
    <dgm:cxn modelId="{58D1CA11-6E1F-2649-8D61-12F225EE092D}" type="presOf" srcId="{E787FB10-408E-B64A-8918-C7297CB73AD2}" destId="{EC884778-A1B5-944E-BE86-F7366B2DE008}" srcOrd="0" destOrd="0" presId="urn:microsoft.com/office/officeart/2005/8/layout/hierarchy2"/>
    <dgm:cxn modelId="{8710A717-B679-604A-AEA2-DFD418DF3AF8}" type="presOf" srcId="{BF160CA8-1B8C-F042-9EC6-1AD860407C62}" destId="{C43B4AE5-5CB5-5043-87CF-E6D13F85E31E}" srcOrd="0" destOrd="0" presId="urn:microsoft.com/office/officeart/2005/8/layout/hierarchy2"/>
    <dgm:cxn modelId="{44FD601A-4657-7247-9939-30BD339A3841}" type="presOf" srcId="{C5239225-01DB-4C45-9B3F-DACD3A488377}" destId="{C6367712-BB85-D941-BD78-36ACEAD73ABE}" srcOrd="0" destOrd="0" presId="urn:microsoft.com/office/officeart/2005/8/layout/hierarchy2"/>
    <dgm:cxn modelId="{76F6DC1C-5FB4-FF42-9E7D-4DC74F6D70C7}" srcId="{07EDBA9B-F86D-4D41-99EB-80EF9354B2FD}" destId="{E787FB10-408E-B64A-8918-C7297CB73AD2}" srcOrd="1" destOrd="0" parTransId="{B0C90DC5-18C1-764B-A985-2440CB873487}" sibTransId="{D5A23070-AE50-AA45-80DC-0301E92E51E4}"/>
    <dgm:cxn modelId="{68003220-E282-F647-816A-ED00D74964A5}" type="presOf" srcId="{BF125F7C-7F6A-4744-8144-7C2BDBA4B4F9}" destId="{FA1E6FD0-6582-6946-AE86-19EB6D6E0D61}" srcOrd="0" destOrd="0" presId="urn:microsoft.com/office/officeart/2005/8/layout/hierarchy2"/>
    <dgm:cxn modelId="{CE2D8326-F184-014A-B85E-BA8044190FD9}" type="presOf" srcId="{BF160CA8-1B8C-F042-9EC6-1AD860407C62}" destId="{8C189E7A-2A8B-9140-B9A9-A94CA9269C28}" srcOrd="1" destOrd="0" presId="urn:microsoft.com/office/officeart/2005/8/layout/hierarchy2"/>
    <dgm:cxn modelId="{D5FA5D2C-FC4E-DD45-8CAA-1044BD5A42B8}" type="presOf" srcId="{B0C90DC5-18C1-764B-A985-2440CB873487}" destId="{9B8451D3-4C12-7A44-AA43-EBC019C6BD51}" srcOrd="1" destOrd="0" presId="urn:microsoft.com/office/officeart/2005/8/layout/hierarchy2"/>
    <dgm:cxn modelId="{42C7A03B-0545-C34E-8629-0CBFBF271606}" srcId="{BF125F7C-7F6A-4744-8144-7C2BDBA4B4F9}" destId="{A7F27113-6319-3F4E-80C0-CA08804B4771}" srcOrd="2" destOrd="0" parTransId="{1D69A398-DE95-C04E-AEDC-ADACCF9AD44A}" sibTransId="{E78A19A7-76D2-C54B-B8A1-F0B04204E408}"/>
    <dgm:cxn modelId="{98148E3F-B025-C349-98AB-D3D49707A58D}" type="presOf" srcId="{D114FAD3-BFC7-324E-B960-3B300A2359D0}" destId="{7015999E-22A5-644F-9F3E-721F85BC8C70}" srcOrd="0" destOrd="0" presId="urn:microsoft.com/office/officeart/2005/8/layout/hierarchy2"/>
    <dgm:cxn modelId="{A4CC864A-0097-6B4E-BE2D-CAB182971004}" type="presOf" srcId="{057E0774-DB97-D142-89D7-6F30D55A37A2}" destId="{D367E1CB-A6F5-F442-91A5-0E00E7ED49E4}" srcOrd="1" destOrd="0" presId="urn:microsoft.com/office/officeart/2005/8/layout/hierarchy2"/>
    <dgm:cxn modelId="{A5F3F54C-C5B1-5642-915B-97F7916B005C}" type="presOf" srcId="{6A224191-F5A6-9A42-879F-45FA7AB17906}" destId="{C3C5BBC6-597F-124E-9355-8AD57BDE0814}" srcOrd="0" destOrd="0" presId="urn:microsoft.com/office/officeart/2005/8/layout/hierarchy2"/>
    <dgm:cxn modelId="{8DFB4E4E-F9A7-0A40-BFB4-A89613C8CC44}" type="presOf" srcId="{C1FEE1C6-0C85-6045-ADE9-A3C083F8EA2D}" destId="{23391575-B6E8-3340-ADEB-7CAD45456BF1}" srcOrd="1" destOrd="0" presId="urn:microsoft.com/office/officeart/2005/8/layout/hierarchy2"/>
    <dgm:cxn modelId="{3F9AE54E-D2FF-A24E-9767-B10BDB41E25E}" type="presOf" srcId="{C1FEE1C6-0C85-6045-ADE9-A3C083F8EA2D}" destId="{94631DFC-06D8-1240-9955-DBD57B78A892}" srcOrd="0" destOrd="0" presId="urn:microsoft.com/office/officeart/2005/8/layout/hierarchy2"/>
    <dgm:cxn modelId="{48983A5D-6376-3A43-8C95-2F1F3DD4E288}" type="presOf" srcId="{057E0774-DB97-D142-89D7-6F30D55A37A2}" destId="{80A34C6A-3C8A-3542-B68E-2BA626D84697}" srcOrd="0" destOrd="0" presId="urn:microsoft.com/office/officeart/2005/8/layout/hierarchy2"/>
    <dgm:cxn modelId="{DD6BFE5F-B6D2-B943-A4EB-7E7581830E42}" type="presOf" srcId="{9C803D60-D39F-7747-9922-96489175D0B9}" destId="{0BD66F2D-D2BA-8047-85D1-A16035A7A504}" srcOrd="0" destOrd="0" presId="urn:microsoft.com/office/officeart/2005/8/layout/hierarchy2"/>
    <dgm:cxn modelId="{CEC7FF61-7835-734E-ACC5-5836C0C15852}" type="presOf" srcId="{7B04EEF5-195F-C345-AC5D-9E1BCC66C8FC}" destId="{ACD04BF3-659A-ED42-9431-3B9D1476ED85}" srcOrd="0" destOrd="0" presId="urn:microsoft.com/office/officeart/2005/8/layout/hierarchy2"/>
    <dgm:cxn modelId="{39A21E74-357E-C24E-BAF5-D4E32723E4C0}" type="presOf" srcId="{4F53E9BF-49F2-8145-9D17-4CFA074A273E}" destId="{CEDC1480-80F4-C94B-AE39-F2537C1D3070}" srcOrd="0" destOrd="0" presId="urn:microsoft.com/office/officeart/2005/8/layout/hierarchy2"/>
    <dgm:cxn modelId="{D0AD097A-4F26-0645-82A8-C12B21656AE3}" type="presOf" srcId="{42B1E141-822A-AD47-BBE0-1C755128B8AA}" destId="{F0B382E8-FCD2-1A48-AD84-BE5EA29C8F1D}" srcOrd="0" destOrd="0" presId="urn:microsoft.com/office/officeart/2005/8/layout/hierarchy2"/>
    <dgm:cxn modelId="{CF83D67A-70A0-DF4B-8960-5517B152F2C7}" srcId="{07EDBA9B-F86D-4D41-99EB-80EF9354B2FD}" destId="{D114FAD3-BFC7-324E-B960-3B300A2359D0}" srcOrd="0" destOrd="0" parTransId="{C1FEE1C6-0C85-6045-ADE9-A3C083F8EA2D}" sibTransId="{08741874-3F87-4344-8EE7-7E23CFAE4676}"/>
    <dgm:cxn modelId="{6937947B-3C1F-5C4A-BCF1-3285011FE38A}" type="presOf" srcId="{2C5DC178-AD78-4249-8289-B29F26242257}" destId="{3EF62827-5C4C-904B-A571-8AE08899556C}" srcOrd="0" destOrd="0" presId="urn:microsoft.com/office/officeart/2005/8/layout/hierarchy2"/>
    <dgm:cxn modelId="{8BE7F785-BA01-5E44-B782-EF4A54E16ACB}" type="presOf" srcId="{6A224191-F5A6-9A42-879F-45FA7AB17906}" destId="{BC50C049-7E51-C345-8F69-727CD00B5DA5}" srcOrd="1" destOrd="0" presId="urn:microsoft.com/office/officeart/2005/8/layout/hierarchy2"/>
    <dgm:cxn modelId="{19613D99-F550-5845-B83A-0F916CF89C86}" type="presOf" srcId="{2414B0BA-4628-C344-827E-FEF79138B1E6}" destId="{C43F6155-3CBB-9D4F-B904-51CD3E1B91D3}" srcOrd="0" destOrd="0" presId="urn:microsoft.com/office/officeart/2005/8/layout/hierarchy2"/>
    <dgm:cxn modelId="{37C36699-EF8D-6146-BC31-284F1B4DC836}" type="presOf" srcId="{2414B0BA-4628-C344-827E-FEF79138B1E6}" destId="{121039A0-3A17-F842-B5ED-D1F5667338DC}" srcOrd="1" destOrd="0" presId="urn:microsoft.com/office/officeart/2005/8/layout/hierarchy2"/>
    <dgm:cxn modelId="{E0AF6899-270B-B24A-A28E-FA587351FAE5}" srcId="{BF125F7C-7F6A-4744-8144-7C2BDBA4B4F9}" destId="{C5239225-01DB-4C45-9B3F-DACD3A488377}" srcOrd="0" destOrd="0" parTransId="{2414B0BA-4628-C344-827E-FEF79138B1E6}" sibTransId="{E1B6FC98-320A-8E4D-80EC-1AEAC3892483}"/>
    <dgm:cxn modelId="{9AEB4CA6-13B4-754F-A520-C4126741C532}" srcId="{D114FAD3-BFC7-324E-B960-3B300A2359D0}" destId="{9C803D60-D39F-7747-9922-96489175D0B9}" srcOrd="1" destOrd="0" parTransId="{4F53E9BF-49F2-8145-9D17-4CFA074A273E}" sibTransId="{8C4F23A0-8706-E94A-9EF4-877F8B70C185}"/>
    <dgm:cxn modelId="{4F1D1DAD-29CD-714F-9486-619BAE76AA63}" type="presOf" srcId="{A7F27113-6319-3F4E-80C0-CA08804B4771}" destId="{40BD36E2-DBF5-3144-9015-15AC97C8A283}" srcOrd="0" destOrd="0" presId="urn:microsoft.com/office/officeart/2005/8/layout/hierarchy2"/>
    <dgm:cxn modelId="{89BA93AF-9C05-3547-8A82-E5D2A210478C}" type="presOf" srcId="{4F53E9BF-49F2-8145-9D17-4CFA074A273E}" destId="{960B5A2D-CD25-E744-BFE9-0230B9C5E321}" srcOrd="1" destOrd="0" presId="urn:microsoft.com/office/officeart/2005/8/layout/hierarchy2"/>
    <dgm:cxn modelId="{BF337FBF-F314-6347-A78F-5DBAC4B79AB4}" srcId="{D114FAD3-BFC7-324E-B960-3B300A2359D0}" destId="{BF125F7C-7F6A-4744-8144-7C2BDBA4B4F9}" srcOrd="0" destOrd="0" parTransId="{BF160CA8-1B8C-F042-9EC6-1AD860407C62}" sibTransId="{D4303C0B-1BD2-C043-ACC6-76B9806320EE}"/>
    <dgm:cxn modelId="{AAD349C5-12BE-F84A-9AB3-CF42BA4D3FB2}" type="presOf" srcId="{1D69A398-DE95-C04E-AEDC-ADACCF9AD44A}" destId="{9A9A1B78-3EF6-884D-B152-0A7A4903D218}" srcOrd="1" destOrd="0" presId="urn:microsoft.com/office/officeart/2005/8/layout/hierarchy2"/>
    <dgm:cxn modelId="{F73041CF-43F3-3D47-83A0-4F263CABB6C4}" type="presOf" srcId="{1D69A398-DE95-C04E-AEDC-ADACCF9AD44A}" destId="{04BBF645-0231-4846-A13C-78A030F2B86B}" srcOrd="0" destOrd="0" presId="urn:microsoft.com/office/officeart/2005/8/layout/hierarchy2"/>
    <dgm:cxn modelId="{73A3AAF1-0A83-9342-9747-AE9372F8F106}" srcId="{42B1E141-822A-AD47-BBE0-1C755128B8AA}" destId="{07EDBA9B-F86D-4D41-99EB-80EF9354B2FD}" srcOrd="0" destOrd="0" parTransId="{B8439B47-73B0-5F4F-89D3-3332E2B729D3}" sibTransId="{BC59025D-2994-7745-B3C3-26B6FB8F2538}"/>
    <dgm:cxn modelId="{D401FFF4-DC90-DD43-90A6-0317858CE44A}" type="presOf" srcId="{07EDBA9B-F86D-4D41-99EB-80EF9354B2FD}" destId="{E8697F4C-AE33-C949-BE0F-D9211D4A67CC}" srcOrd="0" destOrd="0" presId="urn:microsoft.com/office/officeart/2005/8/layout/hierarchy2"/>
    <dgm:cxn modelId="{4DE925C8-E9EF-7148-B2E4-41992A6D0387}" type="presParOf" srcId="{F0B382E8-FCD2-1A48-AD84-BE5EA29C8F1D}" destId="{EACD8634-674D-AC46-97CF-D8021E3C694B}" srcOrd="0" destOrd="0" presId="urn:microsoft.com/office/officeart/2005/8/layout/hierarchy2"/>
    <dgm:cxn modelId="{326F88F5-5342-854A-91A8-667C1E09B5CF}" type="presParOf" srcId="{EACD8634-674D-AC46-97CF-D8021E3C694B}" destId="{E8697F4C-AE33-C949-BE0F-D9211D4A67CC}" srcOrd="0" destOrd="0" presId="urn:microsoft.com/office/officeart/2005/8/layout/hierarchy2"/>
    <dgm:cxn modelId="{CD22D7BC-C848-5548-8058-8E45E7152C93}" type="presParOf" srcId="{EACD8634-674D-AC46-97CF-D8021E3C694B}" destId="{12474B52-6B4D-3546-91BF-8B8CF96ADADE}" srcOrd="1" destOrd="0" presId="urn:microsoft.com/office/officeart/2005/8/layout/hierarchy2"/>
    <dgm:cxn modelId="{27DDDA10-1BED-B74C-9797-120EBE155717}" type="presParOf" srcId="{12474B52-6B4D-3546-91BF-8B8CF96ADADE}" destId="{94631DFC-06D8-1240-9955-DBD57B78A892}" srcOrd="0" destOrd="0" presId="urn:microsoft.com/office/officeart/2005/8/layout/hierarchy2"/>
    <dgm:cxn modelId="{3861C2B7-12B2-094C-89C1-D7693AB8BA14}" type="presParOf" srcId="{94631DFC-06D8-1240-9955-DBD57B78A892}" destId="{23391575-B6E8-3340-ADEB-7CAD45456BF1}" srcOrd="0" destOrd="0" presId="urn:microsoft.com/office/officeart/2005/8/layout/hierarchy2"/>
    <dgm:cxn modelId="{ECAA12F0-861E-6943-A50F-FAFCD51FAF99}" type="presParOf" srcId="{12474B52-6B4D-3546-91BF-8B8CF96ADADE}" destId="{AD7F459B-7B05-7D42-B6E8-7D811F423419}" srcOrd="1" destOrd="0" presId="urn:microsoft.com/office/officeart/2005/8/layout/hierarchy2"/>
    <dgm:cxn modelId="{FA3809B7-4FD8-464F-A04A-1C082F73A682}" type="presParOf" srcId="{AD7F459B-7B05-7D42-B6E8-7D811F423419}" destId="{7015999E-22A5-644F-9F3E-721F85BC8C70}" srcOrd="0" destOrd="0" presId="urn:microsoft.com/office/officeart/2005/8/layout/hierarchy2"/>
    <dgm:cxn modelId="{108E761C-AD5B-034C-A7A4-EC822010E9CB}" type="presParOf" srcId="{AD7F459B-7B05-7D42-B6E8-7D811F423419}" destId="{544554F8-E06F-5441-9B67-04CE5BAA7E6D}" srcOrd="1" destOrd="0" presId="urn:microsoft.com/office/officeart/2005/8/layout/hierarchy2"/>
    <dgm:cxn modelId="{761D8DE8-BC5B-7A42-A1C3-CD6ACA1220F5}" type="presParOf" srcId="{544554F8-E06F-5441-9B67-04CE5BAA7E6D}" destId="{C43B4AE5-5CB5-5043-87CF-E6D13F85E31E}" srcOrd="0" destOrd="0" presId="urn:microsoft.com/office/officeart/2005/8/layout/hierarchy2"/>
    <dgm:cxn modelId="{CF5F59B3-E318-E641-91FC-D0D1796AF75E}" type="presParOf" srcId="{C43B4AE5-5CB5-5043-87CF-E6D13F85E31E}" destId="{8C189E7A-2A8B-9140-B9A9-A94CA9269C28}" srcOrd="0" destOrd="0" presId="urn:microsoft.com/office/officeart/2005/8/layout/hierarchy2"/>
    <dgm:cxn modelId="{4E7B666B-0105-E341-9ED0-FBE9123B1B1F}" type="presParOf" srcId="{544554F8-E06F-5441-9B67-04CE5BAA7E6D}" destId="{22E4F538-3E17-C64F-BE21-5584A7DA0537}" srcOrd="1" destOrd="0" presId="urn:microsoft.com/office/officeart/2005/8/layout/hierarchy2"/>
    <dgm:cxn modelId="{9D46049F-D97B-B64A-BA10-E935E3ED8CDD}" type="presParOf" srcId="{22E4F538-3E17-C64F-BE21-5584A7DA0537}" destId="{FA1E6FD0-6582-6946-AE86-19EB6D6E0D61}" srcOrd="0" destOrd="0" presId="urn:microsoft.com/office/officeart/2005/8/layout/hierarchy2"/>
    <dgm:cxn modelId="{C7B738C9-32E3-FE48-A9B1-C3DC72AC2731}" type="presParOf" srcId="{22E4F538-3E17-C64F-BE21-5584A7DA0537}" destId="{8D25F071-CB07-7F42-B9FD-D15E1BCA64B7}" srcOrd="1" destOrd="0" presId="urn:microsoft.com/office/officeart/2005/8/layout/hierarchy2"/>
    <dgm:cxn modelId="{F2052E86-08EC-4844-8CF2-8026C9709A2E}" type="presParOf" srcId="{8D25F071-CB07-7F42-B9FD-D15E1BCA64B7}" destId="{C43F6155-3CBB-9D4F-B904-51CD3E1B91D3}" srcOrd="0" destOrd="0" presId="urn:microsoft.com/office/officeart/2005/8/layout/hierarchy2"/>
    <dgm:cxn modelId="{A7745423-17FD-904A-A134-2FBAF7772432}" type="presParOf" srcId="{C43F6155-3CBB-9D4F-B904-51CD3E1B91D3}" destId="{121039A0-3A17-F842-B5ED-D1F5667338DC}" srcOrd="0" destOrd="0" presId="urn:microsoft.com/office/officeart/2005/8/layout/hierarchy2"/>
    <dgm:cxn modelId="{96E5E264-539F-124F-ACA7-E533F0B3BBC9}" type="presParOf" srcId="{8D25F071-CB07-7F42-B9FD-D15E1BCA64B7}" destId="{09EB0DC7-0269-EC4D-99D7-F9C399E99BF2}" srcOrd="1" destOrd="0" presId="urn:microsoft.com/office/officeart/2005/8/layout/hierarchy2"/>
    <dgm:cxn modelId="{4803AD04-B5C5-0743-B0C0-324CC3ED2610}" type="presParOf" srcId="{09EB0DC7-0269-EC4D-99D7-F9C399E99BF2}" destId="{C6367712-BB85-D941-BD78-36ACEAD73ABE}" srcOrd="0" destOrd="0" presId="urn:microsoft.com/office/officeart/2005/8/layout/hierarchy2"/>
    <dgm:cxn modelId="{A000B480-7C78-074E-85AD-67883B87110B}" type="presParOf" srcId="{09EB0DC7-0269-EC4D-99D7-F9C399E99BF2}" destId="{BFFC50EF-7DA7-0647-8400-22F65E035354}" srcOrd="1" destOrd="0" presId="urn:microsoft.com/office/officeart/2005/8/layout/hierarchy2"/>
    <dgm:cxn modelId="{536E6103-225C-FD43-9218-0ED82B9AF91D}" type="presParOf" srcId="{8D25F071-CB07-7F42-B9FD-D15E1BCA64B7}" destId="{C3C5BBC6-597F-124E-9355-8AD57BDE0814}" srcOrd="2" destOrd="0" presId="urn:microsoft.com/office/officeart/2005/8/layout/hierarchy2"/>
    <dgm:cxn modelId="{10495D44-9502-E244-B41F-06824E668F83}" type="presParOf" srcId="{C3C5BBC6-597F-124E-9355-8AD57BDE0814}" destId="{BC50C049-7E51-C345-8F69-727CD00B5DA5}" srcOrd="0" destOrd="0" presId="urn:microsoft.com/office/officeart/2005/8/layout/hierarchy2"/>
    <dgm:cxn modelId="{9B18BB8D-401B-074E-ABC5-1D7E832AD633}" type="presParOf" srcId="{8D25F071-CB07-7F42-B9FD-D15E1BCA64B7}" destId="{DD3266B1-9E8C-F644-A317-FA10EDA0A071}" srcOrd="3" destOrd="0" presId="urn:microsoft.com/office/officeart/2005/8/layout/hierarchy2"/>
    <dgm:cxn modelId="{BAC8513B-3E56-574A-B5F6-6CC52F2B3125}" type="presParOf" srcId="{DD3266B1-9E8C-F644-A317-FA10EDA0A071}" destId="{ACD04BF3-659A-ED42-9431-3B9D1476ED85}" srcOrd="0" destOrd="0" presId="urn:microsoft.com/office/officeart/2005/8/layout/hierarchy2"/>
    <dgm:cxn modelId="{AD5E543F-FCC6-7948-94B9-09588403B88F}" type="presParOf" srcId="{DD3266B1-9E8C-F644-A317-FA10EDA0A071}" destId="{4366351B-6D44-8B45-84F8-6ECAC6D4CC21}" srcOrd="1" destOrd="0" presId="urn:microsoft.com/office/officeart/2005/8/layout/hierarchy2"/>
    <dgm:cxn modelId="{45BA555D-0769-0644-837F-0A1AEBA7B8DB}" type="presParOf" srcId="{8D25F071-CB07-7F42-B9FD-D15E1BCA64B7}" destId="{04BBF645-0231-4846-A13C-78A030F2B86B}" srcOrd="4" destOrd="0" presId="urn:microsoft.com/office/officeart/2005/8/layout/hierarchy2"/>
    <dgm:cxn modelId="{A0DFD202-AD75-8B40-A8A4-49B16473542C}" type="presParOf" srcId="{04BBF645-0231-4846-A13C-78A030F2B86B}" destId="{9A9A1B78-3EF6-884D-B152-0A7A4903D218}" srcOrd="0" destOrd="0" presId="urn:microsoft.com/office/officeart/2005/8/layout/hierarchy2"/>
    <dgm:cxn modelId="{8AE6AD7B-F13C-514A-B8B0-489E6AF42B28}" type="presParOf" srcId="{8D25F071-CB07-7F42-B9FD-D15E1BCA64B7}" destId="{A3F68078-41E0-BF45-8EDD-CAFA17ACEE19}" srcOrd="5" destOrd="0" presId="urn:microsoft.com/office/officeart/2005/8/layout/hierarchy2"/>
    <dgm:cxn modelId="{A7C1BD9A-9732-5647-A75A-1D6F0D9F50A8}" type="presParOf" srcId="{A3F68078-41E0-BF45-8EDD-CAFA17ACEE19}" destId="{40BD36E2-DBF5-3144-9015-15AC97C8A283}" srcOrd="0" destOrd="0" presId="urn:microsoft.com/office/officeart/2005/8/layout/hierarchy2"/>
    <dgm:cxn modelId="{AE36658C-7F89-4C44-9C63-F128A1F77063}" type="presParOf" srcId="{A3F68078-41E0-BF45-8EDD-CAFA17ACEE19}" destId="{5B5B412D-29C3-C74F-96FB-4E395CB0F76F}" srcOrd="1" destOrd="0" presId="urn:microsoft.com/office/officeart/2005/8/layout/hierarchy2"/>
    <dgm:cxn modelId="{03D0F233-16C6-9542-8B65-A4DEE9F5DB13}" type="presParOf" srcId="{544554F8-E06F-5441-9B67-04CE5BAA7E6D}" destId="{CEDC1480-80F4-C94B-AE39-F2537C1D3070}" srcOrd="2" destOrd="0" presId="urn:microsoft.com/office/officeart/2005/8/layout/hierarchy2"/>
    <dgm:cxn modelId="{8B75677D-BBD5-C945-B64B-4621FA1C260C}" type="presParOf" srcId="{CEDC1480-80F4-C94B-AE39-F2537C1D3070}" destId="{960B5A2D-CD25-E744-BFE9-0230B9C5E321}" srcOrd="0" destOrd="0" presId="urn:microsoft.com/office/officeart/2005/8/layout/hierarchy2"/>
    <dgm:cxn modelId="{F12A759F-FC67-AC44-9CF9-4145A66B78E1}" type="presParOf" srcId="{544554F8-E06F-5441-9B67-04CE5BAA7E6D}" destId="{2E14DDC0-F924-874A-A6ED-60C152887C91}" srcOrd="3" destOrd="0" presId="urn:microsoft.com/office/officeart/2005/8/layout/hierarchy2"/>
    <dgm:cxn modelId="{351FADDC-3CAC-B849-AB1A-5905CB692B18}" type="presParOf" srcId="{2E14DDC0-F924-874A-A6ED-60C152887C91}" destId="{0BD66F2D-D2BA-8047-85D1-A16035A7A504}" srcOrd="0" destOrd="0" presId="urn:microsoft.com/office/officeart/2005/8/layout/hierarchy2"/>
    <dgm:cxn modelId="{751DEA0E-45AF-0E4A-A22D-19D11B62DC2B}" type="presParOf" srcId="{2E14DDC0-F924-874A-A6ED-60C152887C91}" destId="{7D8E6368-3BF4-264A-8861-894FB554C90E}" srcOrd="1" destOrd="0" presId="urn:microsoft.com/office/officeart/2005/8/layout/hierarchy2"/>
    <dgm:cxn modelId="{4D6DEE55-3780-B34D-9050-326EBC89A372}" type="presParOf" srcId="{12474B52-6B4D-3546-91BF-8B8CF96ADADE}" destId="{7DCED968-70C0-ED44-9061-BC7D6BD62EEB}" srcOrd="2" destOrd="0" presId="urn:microsoft.com/office/officeart/2005/8/layout/hierarchy2"/>
    <dgm:cxn modelId="{CDF0F806-B1E3-DB46-9031-2606E9E6AF6B}" type="presParOf" srcId="{7DCED968-70C0-ED44-9061-BC7D6BD62EEB}" destId="{9B8451D3-4C12-7A44-AA43-EBC019C6BD51}" srcOrd="0" destOrd="0" presId="urn:microsoft.com/office/officeart/2005/8/layout/hierarchy2"/>
    <dgm:cxn modelId="{7F883471-4C3F-424B-B333-21858BB4D27B}" type="presParOf" srcId="{12474B52-6B4D-3546-91BF-8B8CF96ADADE}" destId="{1D823FCF-04B5-AA43-BA01-62C07D76118B}" srcOrd="3" destOrd="0" presId="urn:microsoft.com/office/officeart/2005/8/layout/hierarchy2"/>
    <dgm:cxn modelId="{9BA213A8-C16B-2943-9A06-545D2CB34BBA}" type="presParOf" srcId="{1D823FCF-04B5-AA43-BA01-62C07D76118B}" destId="{EC884778-A1B5-944E-BE86-F7366B2DE008}" srcOrd="0" destOrd="0" presId="urn:microsoft.com/office/officeart/2005/8/layout/hierarchy2"/>
    <dgm:cxn modelId="{C47E7279-EE84-6B47-A4F8-CFDD8DA1566D}" type="presParOf" srcId="{1D823FCF-04B5-AA43-BA01-62C07D76118B}" destId="{E98FD50C-CCCE-8840-B4DF-825725D004A7}" srcOrd="1" destOrd="0" presId="urn:microsoft.com/office/officeart/2005/8/layout/hierarchy2"/>
    <dgm:cxn modelId="{90FFFB50-F5DC-E542-9841-8349E2C7D835}" type="presParOf" srcId="{12474B52-6B4D-3546-91BF-8B8CF96ADADE}" destId="{80A34C6A-3C8A-3542-B68E-2BA626D84697}" srcOrd="4" destOrd="0" presId="urn:microsoft.com/office/officeart/2005/8/layout/hierarchy2"/>
    <dgm:cxn modelId="{D6EC6CFF-D609-904A-903C-DAF62D400E85}" type="presParOf" srcId="{80A34C6A-3C8A-3542-B68E-2BA626D84697}" destId="{D367E1CB-A6F5-F442-91A5-0E00E7ED49E4}" srcOrd="0" destOrd="0" presId="urn:microsoft.com/office/officeart/2005/8/layout/hierarchy2"/>
    <dgm:cxn modelId="{02C82AF8-383D-174B-8340-8AD24F9BC2D9}" type="presParOf" srcId="{12474B52-6B4D-3546-91BF-8B8CF96ADADE}" destId="{BEDCA488-7CE4-0D45-9CC6-3862EDE8D857}" srcOrd="5" destOrd="0" presId="urn:microsoft.com/office/officeart/2005/8/layout/hierarchy2"/>
    <dgm:cxn modelId="{1EE69946-5D4F-E14A-BBBE-1551DAFAEFA9}" type="presParOf" srcId="{BEDCA488-7CE4-0D45-9CC6-3862EDE8D857}" destId="{3EF62827-5C4C-904B-A571-8AE08899556C}" srcOrd="0" destOrd="0" presId="urn:microsoft.com/office/officeart/2005/8/layout/hierarchy2"/>
    <dgm:cxn modelId="{403A866A-24D6-3E4D-BBE4-0709D7305B5B}" type="presParOf" srcId="{BEDCA488-7CE4-0D45-9CC6-3862EDE8D857}" destId="{F04EFB3C-B35B-2E47-B390-144692ED3D7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697F4C-AE33-C949-BE0F-D9211D4A67CC}">
      <dsp:nvSpPr>
        <dsp:cNvPr id="0" name=""/>
        <dsp:cNvSpPr/>
      </dsp:nvSpPr>
      <dsp:spPr>
        <a:xfrm>
          <a:off x="679716" y="2811953"/>
          <a:ext cx="1955880" cy="9779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Delivery Services</a:t>
          </a:r>
        </a:p>
      </dsp:txBody>
      <dsp:txXfrm>
        <a:off x="708359" y="2840596"/>
        <a:ext cx="1898594" cy="920654"/>
      </dsp:txXfrm>
    </dsp:sp>
    <dsp:sp modelId="{94631DFC-06D8-1240-9955-DBD57B78A892}">
      <dsp:nvSpPr>
        <dsp:cNvPr id="0" name=""/>
        <dsp:cNvSpPr/>
      </dsp:nvSpPr>
      <dsp:spPr>
        <a:xfrm rot="18289469">
          <a:off x="2341778" y="2720700"/>
          <a:ext cx="1369989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369989" y="179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2523" y="2704358"/>
        <a:ext cx="68499" cy="68499"/>
      </dsp:txXfrm>
    </dsp:sp>
    <dsp:sp modelId="{7015999E-22A5-644F-9F3E-721F85BC8C70}">
      <dsp:nvSpPr>
        <dsp:cNvPr id="0" name=""/>
        <dsp:cNvSpPr/>
      </dsp:nvSpPr>
      <dsp:spPr>
        <a:xfrm>
          <a:off x="3417949" y="1687322"/>
          <a:ext cx="1955880" cy="9779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Food and drinks delivery</a:t>
          </a:r>
        </a:p>
      </dsp:txBody>
      <dsp:txXfrm>
        <a:off x="3446592" y="1715965"/>
        <a:ext cx="1898594" cy="920654"/>
      </dsp:txXfrm>
    </dsp:sp>
    <dsp:sp modelId="{C43B4AE5-5CB5-5043-87CF-E6D13F85E31E}">
      <dsp:nvSpPr>
        <dsp:cNvPr id="0" name=""/>
        <dsp:cNvSpPr/>
      </dsp:nvSpPr>
      <dsp:spPr>
        <a:xfrm rot="19457599">
          <a:off x="5283271" y="1877226"/>
          <a:ext cx="963469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963469" y="1790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40919" y="1871047"/>
        <a:ext cx="48173" cy="48173"/>
      </dsp:txXfrm>
    </dsp:sp>
    <dsp:sp modelId="{FA1E6FD0-6582-6946-AE86-19EB6D6E0D61}">
      <dsp:nvSpPr>
        <dsp:cNvPr id="0" name=""/>
        <dsp:cNvSpPr/>
      </dsp:nvSpPr>
      <dsp:spPr>
        <a:xfrm>
          <a:off x="6156182" y="1125006"/>
          <a:ext cx="1955880" cy="9779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On-campus delivery</a:t>
          </a:r>
        </a:p>
      </dsp:txBody>
      <dsp:txXfrm>
        <a:off x="6184825" y="1153649"/>
        <a:ext cx="1898594" cy="920654"/>
      </dsp:txXfrm>
    </dsp:sp>
    <dsp:sp modelId="{C43F6155-3CBB-9D4F-B904-51CD3E1B91D3}">
      <dsp:nvSpPr>
        <dsp:cNvPr id="0" name=""/>
        <dsp:cNvSpPr/>
      </dsp:nvSpPr>
      <dsp:spPr>
        <a:xfrm rot="18289469">
          <a:off x="7818244" y="1033753"/>
          <a:ext cx="1369989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369989" y="1790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68989" y="1017411"/>
        <a:ext cx="68499" cy="68499"/>
      </dsp:txXfrm>
    </dsp:sp>
    <dsp:sp modelId="{C6367712-BB85-D941-BD78-36ACEAD73ABE}">
      <dsp:nvSpPr>
        <dsp:cNvPr id="0" name=""/>
        <dsp:cNvSpPr/>
      </dsp:nvSpPr>
      <dsp:spPr>
        <a:xfrm>
          <a:off x="8894415" y="374"/>
          <a:ext cx="1955880" cy="9779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All students, faculty and staff</a:t>
          </a:r>
        </a:p>
      </dsp:txBody>
      <dsp:txXfrm>
        <a:off x="8923058" y="29017"/>
        <a:ext cx="1898594" cy="920654"/>
      </dsp:txXfrm>
    </dsp:sp>
    <dsp:sp modelId="{C3C5BBC6-597F-124E-9355-8AD57BDE0814}">
      <dsp:nvSpPr>
        <dsp:cNvPr id="0" name=""/>
        <dsp:cNvSpPr/>
      </dsp:nvSpPr>
      <dsp:spPr>
        <a:xfrm>
          <a:off x="8112063" y="1596068"/>
          <a:ext cx="782352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782352" y="1790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83680" y="1594417"/>
        <a:ext cx="39117" cy="39117"/>
      </dsp:txXfrm>
    </dsp:sp>
    <dsp:sp modelId="{ACD04BF3-659A-ED42-9431-3B9D1476ED85}">
      <dsp:nvSpPr>
        <dsp:cNvPr id="0" name=""/>
        <dsp:cNvSpPr/>
      </dsp:nvSpPr>
      <dsp:spPr>
        <a:xfrm>
          <a:off x="8894415" y="1125006"/>
          <a:ext cx="1955880" cy="9779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All students</a:t>
          </a:r>
        </a:p>
      </dsp:txBody>
      <dsp:txXfrm>
        <a:off x="8923058" y="1153649"/>
        <a:ext cx="1898594" cy="920654"/>
      </dsp:txXfrm>
    </dsp:sp>
    <dsp:sp modelId="{04BBF645-0231-4846-A13C-78A030F2B86B}">
      <dsp:nvSpPr>
        <dsp:cNvPr id="0" name=""/>
        <dsp:cNvSpPr/>
      </dsp:nvSpPr>
      <dsp:spPr>
        <a:xfrm rot="3310531">
          <a:off x="7818244" y="2158384"/>
          <a:ext cx="1369989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369989" y="1790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68989" y="2142042"/>
        <a:ext cx="68499" cy="68499"/>
      </dsp:txXfrm>
    </dsp:sp>
    <dsp:sp modelId="{40BD36E2-DBF5-3144-9015-15AC97C8A283}">
      <dsp:nvSpPr>
        <dsp:cNvPr id="0" name=""/>
        <dsp:cNvSpPr/>
      </dsp:nvSpPr>
      <dsp:spPr>
        <a:xfrm>
          <a:off x="8894415" y="2249637"/>
          <a:ext cx="1955880" cy="9779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Undergrads</a:t>
          </a:r>
        </a:p>
      </dsp:txBody>
      <dsp:txXfrm>
        <a:off x="8923058" y="2278280"/>
        <a:ext cx="1898594" cy="920654"/>
      </dsp:txXfrm>
    </dsp:sp>
    <dsp:sp modelId="{CEDC1480-80F4-C94B-AE39-F2537C1D3070}">
      <dsp:nvSpPr>
        <dsp:cNvPr id="0" name=""/>
        <dsp:cNvSpPr/>
      </dsp:nvSpPr>
      <dsp:spPr>
        <a:xfrm rot="2142401">
          <a:off x="5283271" y="2439542"/>
          <a:ext cx="963469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963469" y="1790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40919" y="2433363"/>
        <a:ext cx="48173" cy="48173"/>
      </dsp:txXfrm>
    </dsp:sp>
    <dsp:sp modelId="{0BD66F2D-D2BA-8047-85D1-A16035A7A504}">
      <dsp:nvSpPr>
        <dsp:cNvPr id="0" name=""/>
        <dsp:cNvSpPr/>
      </dsp:nvSpPr>
      <dsp:spPr>
        <a:xfrm>
          <a:off x="6156182" y="2249637"/>
          <a:ext cx="1955880" cy="9779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Everywhere delivery</a:t>
          </a:r>
        </a:p>
      </dsp:txBody>
      <dsp:txXfrm>
        <a:off x="6184825" y="2278280"/>
        <a:ext cx="1898594" cy="920654"/>
      </dsp:txXfrm>
    </dsp:sp>
    <dsp:sp modelId="{7DCED968-70C0-ED44-9061-BC7D6BD62EEB}">
      <dsp:nvSpPr>
        <dsp:cNvPr id="0" name=""/>
        <dsp:cNvSpPr/>
      </dsp:nvSpPr>
      <dsp:spPr>
        <a:xfrm>
          <a:off x="2635597" y="3283015"/>
          <a:ext cx="782352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782352" y="179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07214" y="3281364"/>
        <a:ext cx="39117" cy="39117"/>
      </dsp:txXfrm>
    </dsp:sp>
    <dsp:sp modelId="{EC884778-A1B5-944E-BE86-F7366B2DE008}">
      <dsp:nvSpPr>
        <dsp:cNvPr id="0" name=""/>
        <dsp:cNvSpPr/>
      </dsp:nvSpPr>
      <dsp:spPr>
        <a:xfrm>
          <a:off x="3417949" y="2811953"/>
          <a:ext cx="1955880" cy="9779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Supermarket delivery</a:t>
          </a:r>
        </a:p>
      </dsp:txBody>
      <dsp:txXfrm>
        <a:off x="3446592" y="2840596"/>
        <a:ext cx="1898594" cy="920654"/>
      </dsp:txXfrm>
    </dsp:sp>
    <dsp:sp modelId="{80A34C6A-3C8A-3542-B68E-2BA626D84697}">
      <dsp:nvSpPr>
        <dsp:cNvPr id="0" name=""/>
        <dsp:cNvSpPr/>
      </dsp:nvSpPr>
      <dsp:spPr>
        <a:xfrm rot="3310531">
          <a:off x="2341778" y="3845331"/>
          <a:ext cx="1369989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369989" y="179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2523" y="3828989"/>
        <a:ext cx="68499" cy="68499"/>
      </dsp:txXfrm>
    </dsp:sp>
    <dsp:sp modelId="{3EF62827-5C4C-904B-A571-8AE08899556C}">
      <dsp:nvSpPr>
        <dsp:cNvPr id="0" name=""/>
        <dsp:cNvSpPr/>
      </dsp:nvSpPr>
      <dsp:spPr>
        <a:xfrm>
          <a:off x="3417949" y="3936584"/>
          <a:ext cx="1955880" cy="9779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Flexible delivery</a:t>
          </a:r>
        </a:p>
      </dsp:txBody>
      <dsp:txXfrm>
        <a:off x="3446592" y="3965227"/>
        <a:ext cx="1898594" cy="920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CD98B-DB93-A444-B339-AFA43F1B7091}" type="datetimeFigureOut">
              <a:rPr lang="en-US" smtClean="0"/>
              <a:t>4/10/26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D0A96-F412-2847-B350-2F07A409CC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1B7E0-9D4F-354F-813F-0DA73ADCE65A}" type="datetimeFigureOut">
              <a:rPr lang="en-US" smtClean="0"/>
              <a:t>4/10/26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A9514-9494-884D-8088-2187CF26A723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9482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A9514-9494-884D-8088-2187CF26A72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789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A9514-9494-884D-8088-2187CF26A723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541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A9514-9494-884D-8088-2187CF26A723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487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8D7D1-EC5E-B932-F742-E3CC4157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B1C08-DAB7-66BD-73EC-E9DA85D86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36567-F6AF-6636-DA48-7CD9307F7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AB3F9-B18E-9FB2-79EC-52C132F1A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A9514-9494-884D-8088-2187CF26A723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562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33867" y="-33867"/>
            <a:ext cx="12310533" cy="69343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pic>
        <p:nvPicPr>
          <p:cNvPr id="8" name="Picture 7" descr="Artboard 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867" y="-33864"/>
            <a:ext cx="12310533" cy="6934304"/>
          </a:xfrm>
          <a:prstGeom prst="rect">
            <a:avLst/>
          </a:prstGeom>
        </p:spPr>
      </p:pic>
      <p:pic>
        <p:nvPicPr>
          <p:cNvPr id="9" name="Picture 8" descr="Artboard 5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9181" y="182879"/>
            <a:ext cx="1497371" cy="1082887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85192" y="1512276"/>
            <a:ext cx="8954021" cy="2442072"/>
          </a:xfrm>
        </p:spPr>
        <p:txBody>
          <a:bodyPr anchor="ctr">
            <a:normAutofit/>
          </a:bodyPr>
          <a:lstStyle>
            <a:lvl1pPr algn="l">
              <a:defRPr sz="5067" b="1" cap="all">
                <a:solidFill>
                  <a:srgbClr val="F0AB00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7464" y="5130800"/>
            <a:ext cx="1431729" cy="152400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284817" y="4236680"/>
            <a:ext cx="8954396" cy="836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rtboard 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67" y="0"/>
            <a:ext cx="12183533" cy="6858000"/>
          </a:xfrm>
          <a:prstGeom prst="rect">
            <a:avLst/>
          </a:prstGeom>
        </p:spPr>
      </p:pic>
      <p:pic>
        <p:nvPicPr>
          <p:cNvPr id="7" name="Picture 6" descr="Artboard 7.png"/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2579" y="-1"/>
            <a:ext cx="12214579" cy="6858001"/>
          </a:xfrm>
          <a:prstGeom prst="rect">
            <a:avLst/>
          </a:prstGeom>
          <a:solidFill>
            <a:schemeClr val="bg1">
              <a:lumMod val="85000"/>
              <a:alpha val="73000"/>
            </a:schemeClr>
          </a:solidFill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20184" y="1407836"/>
            <a:ext cx="4917016" cy="2465664"/>
          </a:xfrm>
        </p:spPr>
        <p:txBody>
          <a:bodyPr anchor="t">
            <a:normAutofit/>
          </a:bodyPr>
          <a:lstStyle>
            <a:lvl1pPr algn="l">
              <a:defRPr sz="5067" b="1" cap="all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/>
          </p:nvPr>
        </p:nvSpPr>
        <p:spPr>
          <a:xfrm>
            <a:off x="620184" y="4111725"/>
            <a:ext cx="4917016" cy="150071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rtboard 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5067" cy="68580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048125" cy="1143000"/>
          </a:xfrm>
        </p:spPr>
        <p:txBody>
          <a:bodyPr>
            <a:normAutofit/>
          </a:bodyPr>
          <a:lstStyle>
            <a:lvl1pPr>
              <a:defRPr sz="3733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Horizont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rtboard 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5067" cy="68580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048125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609601" y="1682751"/>
            <a:ext cx="10047817" cy="4548716"/>
          </a:xfrm>
          <a:prstGeom prst="rect">
            <a:avLst/>
          </a:prstGeom>
        </p:spPr>
        <p:txBody>
          <a:bodyPr/>
          <a:lstStyle>
            <a:lvl1pPr marL="457189" indent="-457189">
              <a:buSzPct val="100000"/>
              <a:buFontTx/>
              <a:buBlip>
                <a:blip r:embed="rId3"/>
              </a:buBlip>
              <a:defRPr sz="2667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2133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2133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2133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310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rtboard 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5067" cy="68580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1" y="275167"/>
            <a:ext cx="10061825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433"/>
          </a:xfrm>
          <a:prstGeom prst="rect">
            <a:avLst/>
          </a:prstGeom>
        </p:spPr>
        <p:txBody>
          <a:bodyPr vert="eaVert"/>
          <a:lstStyle>
            <a:lvl1pPr marL="457189" indent="-457189">
              <a:buFontTx/>
              <a:buBlip>
                <a:blip r:embed="rId3"/>
              </a:buBlip>
              <a:defRPr sz="2667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2133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2133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2133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31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rtboard 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5067" cy="68580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9993331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43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Tx/>
              <a:buBlip>
                <a:blip r:embed="rId3"/>
              </a:buBlip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133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67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43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Tx/>
              <a:buBlip>
                <a:blip r:embed="rId3"/>
              </a:buBlip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133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67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4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rtboard 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5067" cy="6858000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048125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4584"/>
            <a:ext cx="5386917" cy="64134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Tx/>
              <a:buBlip>
                <a:blip r:embed="rId3"/>
              </a:buBlip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133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67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4584"/>
            <a:ext cx="5389033" cy="64134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5934"/>
            <a:ext cx="5389033" cy="3949700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Tx/>
              <a:buBlip>
                <a:blip r:embed="rId3"/>
              </a:buBlip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133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67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4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rtboard 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5067" cy="68580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09601" y="273052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258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>
              <a:buFontTx/>
              <a:buBlip>
                <a:blip r:embed="rId3"/>
              </a:buBlip>
              <a:defRPr sz="2667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2133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867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867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0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tx2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4261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7" b="0">
                <a:solidFill>
                  <a:srgbClr val="4F2D7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26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rtboard 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5067" cy="68580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867"/>
            <a:ext cx="7315200" cy="8043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tx2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21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rtboard 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5067" cy="6858000"/>
          </a:xfrm>
          <a:prstGeom prst="rect">
            <a:avLst/>
          </a:prstGeom>
        </p:spPr>
      </p:pic>
      <p:sp>
        <p:nvSpPr>
          <p:cNvPr id="10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5167"/>
            <a:ext cx="2194560" cy="585046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5167"/>
            <a:ext cx="8026400" cy="5850467"/>
          </a:xfrm>
          <a:prstGeom prst="rect">
            <a:avLst/>
          </a:prstGeom>
        </p:spPr>
        <p:txBody>
          <a:bodyPr vert="eaVert"/>
          <a:lstStyle>
            <a:lvl1pPr marL="457189" indent="-457189">
              <a:buFontTx/>
              <a:buBlip>
                <a:blip r:embed="rId3"/>
              </a:buBlip>
              <a:defRPr sz="2667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2133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2133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2133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6730" y="1"/>
            <a:ext cx="1425271" cy="1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19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Horizontal Text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rtboard 3.png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511" r="67594"/>
                    </a14:imgEffect>
                  </a14:imgLayer>
                </a14:imgProps>
              </a:ext>
            </a:extLst>
          </a:blip>
          <a:srcRect r="2489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609609" y="1682758"/>
            <a:ext cx="10047817" cy="4548716"/>
          </a:xfrm>
          <a:prstGeom prst="rect">
            <a:avLst/>
          </a:prstGeom>
        </p:spPr>
        <p:txBody>
          <a:bodyPr/>
          <a:lstStyle>
            <a:lvl1pPr marL="342874" indent="-342874">
              <a:buFontTx/>
              <a:buBlip>
                <a:blip r:embed="rId4"/>
              </a:buBlip>
              <a:defRPr sz="20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4445" y="3"/>
            <a:ext cx="1481103" cy="11837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5468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838200" y="6439007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038600" y="6439007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79" r:id="rId4"/>
    <p:sldLayoutId id="2147483680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 ftr="0" dt="0"/>
  <p:txStyles>
    <p:titleStyle>
      <a:lvl1pPr algn="l" defTabSz="609585" rtl="0" eaLnBrk="1" latinLnBrk="0" hangingPunct="1">
        <a:spcBef>
          <a:spcPct val="0"/>
        </a:spcBef>
        <a:buNone/>
        <a:defRPr sz="3733" b="1" kern="1200">
          <a:solidFill>
            <a:srgbClr val="331C58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37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pQgZJjC7O_U?feature=oembed" TargetMode="External"/><Relationship Id="rId4" Type="http://schemas.openxmlformats.org/officeDocument/2006/relationships/image" Target="../media/image1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hyperlink" Target="https://lucasbeike.pages.dev/fynnhk-presidential-debate-2025-time-wownmy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itnews.com/2020/04/16/zoom-%D9%88-microsoft-teams-%D8%A3%D9%8A%D9%87%D9%85%D8%A7-%D8%A7%D9%84%D9%85%D9%86%D8%A7%D8%B3%D8%A8-%D9%84%D9%83-%D9%88%D9%84%D9%85%D8%A7%D8%B0%D8%A7%D8%9F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bzsg.net/microsoft-teams-vs-zoom-vs-google-meet/" TargetMode="Externa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itnews.com/2020/04/16/zoom-%D9%88-microsoft-teams-%D8%A3%D9%8A%D9%87%D9%85%D8%A7-%D8%A7%D9%84%D9%85%D9%86%D8%A7%D8%B3%D8%A8-%D9%84%D9%83-%D9%88%D9%84%D9%85%D8%A7%D8%B0%D8%A7%D8%9F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bzsg.net/microsoft-teams-vs-zoom-vs-google-meet/" TargetMode="Externa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8.png"/><Relationship Id="rId7" Type="http://schemas.openxmlformats.org/officeDocument/2006/relationships/hyperlink" Target="https://www.vecteezy.com/vector-art/462680-hand-holding-a-winner-trophy-cup-awar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jpg"/><Relationship Id="rId5" Type="http://schemas.openxmlformats.org/officeDocument/2006/relationships/hyperlink" Target="https://ar.inspiredpencil.com/pictures-2023/conclusion-animation" TargetMode="External"/><Relationship Id="rId4" Type="http://schemas.openxmlformats.org/officeDocument/2006/relationships/image" Target="../media/image20.png"/><Relationship Id="rId9" Type="http://schemas.openxmlformats.org/officeDocument/2006/relationships/hyperlink" Target="https://hdclipartall.com/winner-clipart-winner-png-clipart-image-01-210x177-winner-png-images-who-is-the-real-winner-2306-242004.html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p9YUjzmiiSk?start=33&amp;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817" y="1116035"/>
            <a:ext cx="9426726" cy="2672193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zh-CN" sz="4900" dirty="0"/>
              <a:t>MGNT 5506G</a:t>
            </a:r>
            <a:br>
              <a:rPr lang="en-GB" altLang="zh-CN" sz="4900" dirty="0"/>
            </a:br>
            <a:r>
              <a:rPr lang="en-GB" altLang="zh-CN" sz="1200" dirty="0">
                <a:solidFill>
                  <a:schemeClr val="accent1"/>
                </a:solidFill>
              </a:rPr>
              <a:t>f</a:t>
            </a:r>
            <a:br>
              <a:rPr lang="en-GB" altLang="zh-CN" dirty="0"/>
            </a:br>
            <a:r>
              <a:rPr lang="en-US" sz="4900" dirty="0">
                <a:solidFill>
                  <a:schemeClr val="bg1"/>
                </a:solidFill>
              </a:rPr>
              <a:t>Strategic Management for Competitive Advantage</a:t>
            </a:r>
            <a:endParaRPr lang="en-GB" sz="4900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284817" y="4572582"/>
            <a:ext cx="8954396" cy="836083"/>
          </a:xfrm>
        </p:spPr>
        <p:txBody>
          <a:bodyPr/>
          <a:lstStyle/>
          <a:p>
            <a:pPr algn="ctr"/>
            <a:r>
              <a:rPr lang="en-GB" altLang="zh-CN" dirty="0"/>
              <a:t>J</a:t>
            </a:r>
            <a:r>
              <a:rPr lang="en-US" altLang="zh-CN" dirty="0" err="1"/>
              <a:t>ingyu</a:t>
            </a:r>
            <a:r>
              <a:rPr lang="en-US" altLang="zh-CN" dirty="0"/>
              <a:t> (Sissi) Li</a:t>
            </a:r>
            <a:endParaRPr lang="en-GB" altLang="zh-C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0288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49593" y="162137"/>
            <a:ext cx="9993331" cy="1143000"/>
          </a:xfrm>
        </p:spPr>
        <p:txBody>
          <a:bodyPr anchor="ctr">
            <a:normAutofit/>
          </a:bodyPr>
          <a:lstStyle/>
          <a:p>
            <a:r>
              <a:rPr lang="en-US" altLang="zh-CN" sz="3600" dirty="0"/>
              <a:t>Objectives for Today</a:t>
            </a:r>
            <a:endParaRPr lang="en-GB" sz="36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666750" y="2047876"/>
            <a:ext cx="10115550" cy="4219574"/>
          </a:xfrm>
        </p:spPr>
        <p:txBody>
          <a:bodyPr>
            <a:normAutofit/>
          </a:bodyPr>
          <a:lstStyle/>
          <a:p>
            <a:r>
              <a:rPr lang="en-US" altLang="zh-CN" sz="2800" kern="0" dirty="0"/>
              <a:t>Understand the definition of business level strategy</a:t>
            </a:r>
          </a:p>
          <a:p>
            <a:r>
              <a:rPr lang="en-US" altLang="zh-CN" sz="2800" kern="0" dirty="0"/>
              <a:t>Discussion of different types of business level strategy and competitive advantage</a:t>
            </a:r>
          </a:p>
          <a:p>
            <a:r>
              <a:rPr lang="en-US" sz="2800" kern="0" dirty="0"/>
              <a:t>Practice how different types of business level strategies can help mitigate unfavorable industry situations</a:t>
            </a:r>
          </a:p>
          <a:p>
            <a:endParaRPr lang="en-US" sz="2800" dirty="0"/>
          </a:p>
          <a:p>
            <a:endParaRPr lang="en-US" altLang="zh-CN" sz="2800" kern="0" dirty="0"/>
          </a:p>
        </p:txBody>
      </p:sp>
    </p:spTree>
    <p:extLst>
      <p:ext uri="{BB962C8B-B14F-4D97-AF65-F5344CB8AC3E}">
        <p14:creationId xmlns:p14="http://schemas.microsoft.com/office/powerpoint/2010/main" val="239262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4197-8E1D-2C2D-EE0D-8FABCE8FD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and Warmup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858C3-5EAA-5524-F192-9F47D4A3A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9993330" cy="4525433"/>
          </a:xfrm>
        </p:spPr>
        <p:txBody>
          <a:bodyPr/>
          <a:lstStyle/>
          <a:p>
            <a:r>
              <a:rPr lang="en-US" dirty="0"/>
              <a:t>What is the VRIN/VRIO model?</a:t>
            </a:r>
          </a:p>
          <a:p>
            <a:endParaRPr lang="en-US" dirty="0"/>
          </a:p>
          <a:p>
            <a:r>
              <a:rPr lang="en-US" dirty="0"/>
              <a:t>How would you use the VRIN/VRIO model discussed in the last class to design an actionable strategy?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18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3D591-2573-E7FB-3915-FA29C21FD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307" y="33762"/>
            <a:ext cx="9993331" cy="1143000"/>
          </a:xfrm>
        </p:spPr>
        <p:txBody>
          <a:bodyPr>
            <a:normAutofit/>
          </a:bodyPr>
          <a:lstStyle/>
          <a:p>
            <a:r>
              <a:rPr lang="en-US" sz="3600" dirty="0"/>
              <a:t>Core Competencies and Strategy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5C137C-4F68-7C36-1AA3-A7E9171FDF0F}"/>
              </a:ext>
            </a:extLst>
          </p:cNvPr>
          <p:cNvGrpSpPr/>
          <p:nvPr/>
        </p:nvGrpSpPr>
        <p:grpSpPr>
          <a:xfrm>
            <a:off x="941362" y="4859346"/>
            <a:ext cx="10791087" cy="1569660"/>
            <a:chOff x="914401" y="4927937"/>
            <a:chExt cx="8077199" cy="15696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9FFD1AC-2160-B822-63AF-DABA1C79E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4927937"/>
              <a:ext cx="5715000" cy="156966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eaLnBrk="0" hangingPunct="0"/>
              <a:r>
                <a:rPr kumimoji="1" lang="en-US" b="1" dirty="0"/>
                <a:t>Providing value to customers and gaining competitive advantage by exploiting core competencies in individual product markets</a:t>
              </a:r>
            </a:p>
          </p:txBody>
        </p:sp>
        <p:grpSp>
          <p:nvGrpSpPr>
            <p:cNvPr id="7" name="Group 11">
              <a:extLst>
                <a:ext uri="{FF2B5EF4-FFF2-40B4-BE49-F238E27FC236}">
                  <a16:creationId xmlns:a16="http://schemas.microsoft.com/office/drawing/2014/main" id="{F182A291-FC23-3A4F-29D0-E15615CB01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4401" y="4953000"/>
              <a:ext cx="2288590" cy="1447800"/>
              <a:chOff x="606" y="3023"/>
              <a:chExt cx="1026" cy="641"/>
            </a:xfrm>
          </p:grpSpPr>
          <p:sp>
            <p:nvSpPr>
              <p:cNvPr id="8" name="Rectangle 12">
                <a:extLst>
                  <a:ext uri="{FF2B5EF4-FFF2-40B4-BE49-F238E27FC236}">
                    <a16:creationId xmlns:a16="http://schemas.microsoft.com/office/drawing/2014/main" id="{35A0299E-A7C6-1C30-B054-0AEA5C198FF2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606" y="3023"/>
                <a:ext cx="1026" cy="641"/>
              </a:xfrm>
              <a:prstGeom prst="rect">
                <a:avLst/>
              </a:prstGeom>
              <a:gradFill rotWithShape="0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9" name="Rectangle 13">
                <a:extLst>
                  <a:ext uri="{FF2B5EF4-FFF2-40B4-BE49-F238E27FC236}">
                    <a16:creationId xmlns:a16="http://schemas.microsoft.com/office/drawing/2014/main" id="{92551AC7-0106-5962-6FEA-19D279A7A2D1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674" y="3143"/>
                <a:ext cx="889" cy="441"/>
              </a:xfrm>
              <a:prstGeom prst="rect">
                <a:avLst/>
              </a:prstGeom>
              <a:gradFill rotWithShape="0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Business-level Strategy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C029ED-2A24-34FD-2EC1-25C0BDFED3B2}"/>
              </a:ext>
            </a:extLst>
          </p:cNvPr>
          <p:cNvGrpSpPr/>
          <p:nvPr/>
        </p:nvGrpSpPr>
        <p:grpSpPr>
          <a:xfrm>
            <a:off x="941362" y="2773740"/>
            <a:ext cx="10397198" cy="2057400"/>
            <a:chOff x="914400" y="2895601"/>
            <a:chExt cx="8077200" cy="2057400"/>
          </a:xfrm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79EF5896-BAA1-B34C-8165-EF55C4934D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4400" y="3200400"/>
              <a:ext cx="2362200" cy="1447800"/>
              <a:chOff x="318" y="2134"/>
              <a:chExt cx="1401" cy="726"/>
            </a:xfrm>
          </p:grpSpPr>
          <p:sp>
            <p:nvSpPr>
              <p:cNvPr id="15" name="Rectangle 9">
                <a:extLst>
                  <a:ext uri="{FF2B5EF4-FFF2-40B4-BE49-F238E27FC236}">
                    <a16:creationId xmlns:a16="http://schemas.microsoft.com/office/drawing/2014/main" id="{924DB727-6EC1-9C68-4882-2CB735DB00DB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318" y="2134"/>
                <a:ext cx="1401" cy="726"/>
              </a:xfrm>
              <a:prstGeom prst="rect">
                <a:avLst/>
              </a:prstGeom>
              <a:gradFill rotWithShape="1">
                <a:gsLst>
                  <a:gs pos="0">
                    <a:srgbClr val="996633">
                      <a:gamma/>
                      <a:shade val="46275"/>
                      <a:invGamma/>
                    </a:srgbClr>
                  </a:gs>
                  <a:gs pos="100000">
                    <a:srgbClr val="996633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16" name="Rectangle 10">
                <a:extLst>
                  <a:ext uri="{FF2B5EF4-FFF2-40B4-BE49-F238E27FC236}">
                    <a16:creationId xmlns:a16="http://schemas.microsoft.com/office/drawing/2014/main" id="{8AC31528-7D48-12B1-77AC-942CB676E967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454" y="2267"/>
                <a:ext cx="1175" cy="508"/>
              </a:xfrm>
              <a:prstGeom prst="rect">
                <a:avLst/>
              </a:prstGeom>
              <a:gradFill rotWithShape="1">
                <a:gsLst>
                  <a:gs pos="0">
                    <a:srgbClr val="996633"/>
                  </a:gs>
                  <a:gs pos="100000">
                    <a:srgbClr val="996633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Strategic actions</a:t>
                </a:r>
              </a:p>
            </p:txBody>
          </p:sp>
        </p:grp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0514C641-3E2B-C0AA-8C17-3E8550F7B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3200400"/>
              <a:ext cx="5715000" cy="156966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eaLnBrk="0" hangingPunct="0"/>
              <a:r>
                <a:rPr kumimoji="1" lang="en-US" b="1" dirty="0"/>
                <a:t>An integrated and coordinated set of actions taken to exploit core competencies and gain competitive advantage</a:t>
              </a:r>
            </a:p>
          </p:txBody>
        </p:sp>
        <p:cxnSp>
          <p:nvCxnSpPr>
            <p:cNvPr id="13" name="AutoShape 15">
              <a:extLst>
                <a:ext uri="{FF2B5EF4-FFF2-40B4-BE49-F238E27FC236}">
                  <a16:creationId xmlns:a16="http://schemas.microsoft.com/office/drawing/2014/main" id="{C1EDD2B5-6011-59FC-7F0F-DB95F8EB05AB}"/>
                </a:ext>
              </a:extLst>
            </p:cNvPr>
            <p:cNvCxnSpPr>
              <a:cxnSpLocks noChangeShapeType="1"/>
            </p:cNvCxnSpPr>
            <p:nvPr/>
          </p:nvCxnSpPr>
          <p:spPr bwMode="blackWhite">
            <a:xfrm rot="5400000">
              <a:off x="1790701" y="3086101"/>
              <a:ext cx="381001" cy="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</p:spPr>
        </p:cxnSp>
        <p:cxnSp>
          <p:nvCxnSpPr>
            <p:cNvPr id="14" name="AutoShape 16">
              <a:extLst>
                <a:ext uri="{FF2B5EF4-FFF2-40B4-BE49-F238E27FC236}">
                  <a16:creationId xmlns:a16="http://schemas.microsoft.com/office/drawing/2014/main" id="{74FA9634-587B-51FF-317A-CFCA194ED0BA}"/>
                </a:ext>
              </a:extLst>
            </p:cNvPr>
            <p:cNvCxnSpPr>
              <a:cxnSpLocks noChangeShapeType="1"/>
            </p:cNvCxnSpPr>
            <p:nvPr/>
          </p:nvCxnSpPr>
          <p:spPr bwMode="blackWhite">
            <a:xfrm rot="5400000">
              <a:off x="1828802" y="4800601"/>
              <a:ext cx="304799" cy="2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</p:spPr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64758D-B695-AAF1-9D43-B8B69B0AA3C7}"/>
              </a:ext>
            </a:extLst>
          </p:cNvPr>
          <p:cNvGrpSpPr/>
          <p:nvPr/>
        </p:nvGrpSpPr>
        <p:grpSpPr>
          <a:xfrm>
            <a:off x="941362" y="1190907"/>
            <a:ext cx="9806337" cy="1600200"/>
            <a:chOff x="838200" y="1371600"/>
            <a:chExt cx="7924800" cy="1600200"/>
          </a:xfrm>
        </p:grpSpPr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C5E046B8-EC84-2D25-BDE0-0DEF121160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8200" y="1371600"/>
              <a:ext cx="2438400" cy="1600200"/>
              <a:chOff x="309" y="1122"/>
              <a:chExt cx="1401" cy="814"/>
            </a:xfrm>
          </p:grpSpPr>
          <p:sp>
            <p:nvSpPr>
              <p:cNvPr id="20" name="Rectangle 6">
                <a:extLst>
                  <a:ext uri="{FF2B5EF4-FFF2-40B4-BE49-F238E27FC236}">
                    <a16:creationId xmlns:a16="http://schemas.microsoft.com/office/drawing/2014/main" id="{60D72578-2E8A-3640-ECC1-52277C782A7E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309" y="1122"/>
                <a:ext cx="1401" cy="814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sz="2000" b="1"/>
              </a:p>
            </p:txBody>
          </p:sp>
          <p:sp>
            <p:nvSpPr>
              <p:cNvPr id="21" name="Rectangle 7">
                <a:extLst>
                  <a:ext uri="{FF2B5EF4-FFF2-40B4-BE49-F238E27FC236}">
                    <a16:creationId xmlns:a16="http://schemas.microsoft.com/office/drawing/2014/main" id="{46CA2EAD-7C2D-294D-E1F5-DBB0FB1F9E15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406" y="1262"/>
                <a:ext cx="1214" cy="560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Core Competencies</a:t>
                </a:r>
              </a:p>
            </p:txBody>
          </p:sp>
        </p:grpSp>
        <p:sp>
          <p:nvSpPr>
            <p:cNvPr id="19" name="Text Box 3">
              <a:extLst>
                <a:ext uri="{FF2B5EF4-FFF2-40B4-BE49-F238E27FC236}">
                  <a16:creationId xmlns:a16="http://schemas.microsoft.com/office/drawing/2014/main" id="{746B8357-43EE-A19F-AA97-BD4A046B2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1547365"/>
              <a:ext cx="5486400" cy="120032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eaLnBrk="0" hangingPunct="0"/>
              <a:r>
                <a:rPr kumimoji="1" lang="en-US" b="1" dirty="0"/>
                <a:t>Resources and superior capabilities that are sources of competitive advantage over a firm’s rivals</a:t>
              </a:r>
              <a:r>
                <a:rPr kumimoji="1" lang="zh-CN" altLang="en-US" b="1" dirty="0"/>
                <a:t> </a:t>
              </a:r>
              <a:r>
                <a:rPr kumimoji="1" lang="en-US" altLang="zh-CN" b="1" dirty="0"/>
                <a:t>(VRIN/VRIO)</a:t>
              </a:r>
              <a:endParaRPr kumimoji="1"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298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619A-8914-4A04-B58D-DD01D793D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0"/>
            <a:ext cx="9993331" cy="114300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Business</a:t>
            </a:r>
            <a:r>
              <a:rPr lang="en-US" altLang="zh-CN" sz="4000" dirty="0"/>
              <a:t> Level Strategy</a:t>
            </a:r>
            <a:endParaRPr lang="zh-CN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1D5CE-D44E-4869-9189-E726953BC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6569" y="1271588"/>
            <a:ext cx="9993331" cy="5586412"/>
          </a:xfrm>
        </p:spPr>
        <p:txBody>
          <a:bodyPr>
            <a:normAutofit/>
          </a:bodyPr>
          <a:lstStyle/>
          <a:p>
            <a:pPr>
              <a:spcAft>
                <a:spcPct val="5000"/>
              </a:spcAft>
            </a:pPr>
            <a:r>
              <a:rPr lang="en-US" altLang="zh-CN" dirty="0"/>
              <a:t>Definition</a:t>
            </a:r>
          </a:p>
          <a:p>
            <a:pPr lvl="1">
              <a:spcAft>
                <a:spcPct val="5000"/>
              </a:spcAft>
            </a:pPr>
            <a:r>
              <a:rPr lang="en-US" altLang="zh-CN" dirty="0"/>
              <a:t>An integrated and coordinated </a:t>
            </a:r>
            <a:r>
              <a:rPr lang="en-US" altLang="zh-CN" b="1" dirty="0"/>
              <a:t>set of commitments and actions</a:t>
            </a:r>
            <a:r>
              <a:rPr lang="en-US" altLang="zh-CN" dirty="0"/>
              <a:t> the firm uses to </a:t>
            </a:r>
            <a:r>
              <a:rPr lang="en-US" altLang="zh-CN" b="1" dirty="0"/>
              <a:t>gain a competitive advantage</a:t>
            </a:r>
            <a:r>
              <a:rPr lang="en-US" altLang="zh-CN" dirty="0"/>
              <a:t> by </a:t>
            </a:r>
            <a:r>
              <a:rPr lang="en-US" altLang="zh-CN" b="1" dirty="0"/>
              <a:t>exploiting core competencies</a:t>
            </a:r>
            <a:r>
              <a:rPr lang="en-US" altLang="zh-CN" dirty="0"/>
              <a:t> in specific </a:t>
            </a:r>
            <a:r>
              <a:rPr lang="en-US" altLang="zh-CN" b="1" dirty="0"/>
              <a:t>product markets</a:t>
            </a:r>
            <a:r>
              <a:rPr lang="en-US" altLang="zh-CN" dirty="0"/>
              <a:t>. </a:t>
            </a:r>
          </a:p>
          <a:p>
            <a:pPr>
              <a:spcAft>
                <a:spcPct val="5000"/>
              </a:spcAft>
            </a:pP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formulate the business level strategy</a:t>
            </a:r>
            <a:endParaRPr lang="en-US" altLang="zh-CN" b="1" dirty="0"/>
          </a:p>
          <a:p>
            <a:pPr lvl="1">
              <a:spcAft>
                <a:spcPct val="5000"/>
              </a:spcAft>
            </a:pPr>
            <a:r>
              <a:rPr lang="en-US" altLang="zh-CN" b="1" dirty="0"/>
              <a:t>Customers</a:t>
            </a:r>
            <a:r>
              <a:rPr lang="en-US" altLang="zh-CN" dirty="0"/>
              <a:t> are the foundation of successful business-level strategies</a:t>
            </a:r>
          </a:p>
          <a:p>
            <a:pPr lvl="1">
              <a:spcAft>
                <a:spcPct val="5000"/>
              </a:spcAft>
            </a:pPr>
            <a:r>
              <a:rPr lang="en-US" altLang="zh-CN" dirty="0"/>
              <a:t>Key issues to address when try to develop a business level strategy</a:t>
            </a:r>
          </a:p>
          <a:p>
            <a:pPr lvl="2">
              <a:spcAft>
                <a:spcPct val="5000"/>
              </a:spcAft>
            </a:pPr>
            <a:r>
              <a:rPr lang="en-US" sz="2134" b="1" dirty="0"/>
              <a:t>Who will be served?</a:t>
            </a:r>
          </a:p>
          <a:p>
            <a:pPr lvl="2">
              <a:spcAft>
                <a:spcPct val="5000"/>
              </a:spcAft>
            </a:pPr>
            <a:r>
              <a:rPr lang="en-US" sz="2133" b="1" dirty="0"/>
              <a:t>What needs will be satisfied?</a:t>
            </a:r>
          </a:p>
          <a:p>
            <a:pPr lvl="2">
              <a:spcAft>
                <a:spcPct val="5000"/>
              </a:spcAft>
            </a:pPr>
            <a:r>
              <a:rPr lang="en-US" sz="2133" b="1" dirty="0"/>
              <a:t>How will those needs be satisfied?</a:t>
            </a:r>
          </a:p>
        </p:txBody>
      </p:sp>
    </p:spTree>
    <p:extLst>
      <p:ext uri="{BB962C8B-B14F-4D97-AF65-F5344CB8AC3E}">
        <p14:creationId xmlns:p14="http://schemas.microsoft.com/office/powerpoint/2010/main" val="405175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619A-8914-4A04-B58D-DD01D793D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0"/>
            <a:ext cx="9993331" cy="114300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Business</a:t>
            </a:r>
            <a:r>
              <a:rPr lang="en-US" altLang="zh-CN" sz="4000" dirty="0"/>
              <a:t> Level Strategy</a:t>
            </a:r>
            <a:endParaRPr lang="zh-CN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1D5CE-D44E-4869-9189-E726953BC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7040" y="898398"/>
            <a:ext cx="10511693" cy="5812605"/>
          </a:xfrm>
        </p:spPr>
        <p:txBody>
          <a:bodyPr>
            <a:normAutofit/>
          </a:bodyPr>
          <a:lstStyle/>
          <a:p>
            <a:pPr>
              <a:spcAft>
                <a:spcPct val="5000"/>
              </a:spcAft>
            </a:pPr>
            <a:r>
              <a:rPr lang="en-US" altLang="zh-CN" dirty="0"/>
              <a:t>Definition</a:t>
            </a:r>
          </a:p>
          <a:p>
            <a:pPr lvl="1">
              <a:spcAft>
                <a:spcPct val="5000"/>
              </a:spcAft>
            </a:pPr>
            <a:r>
              <a:rPr lang="en-US" altLang="zh-CN" dirty="0"/>
              <a:t>An integrated and coordinated </a:t>
            </a:r>
            <a:r>
              <a:rPr lang="en-US" altLang="zh-CN" b="1" dirty="0"/>
              <a:t>set of commitments and actions</a:t>
            </a:r>
            <a:r>
              <a:rPr lang="en-US" altLang="zh-CN" dirty="0"/>
              <a:t> the firm uses to </a:t>
            </a:r>
            <a:r>
              <a:rPr lang="en-US" altLang="zh-CN" b="1" dirty="0"/>
              <a:t>gain a competitive advantage</a:t>
            </a:r>
            <a:r>
              <a:rPr lang="en-US" altLang="zh-CN" dirty="0"/>
              <a:t> by </a:t>
            </a:r>
            <a:r>
              <a:rPr lang="en-US" altLang="zh-CN" b="1" dirty="0"/>
              <a:t>exploiting core competencies</a:t>
            </a:r>
            <a:r>
              <a:rPr lang="en-US" altLang="zh-CN" dirty="0"/>
              <a:t> in specific </a:t>
            </a:r>
            <a:r>
              <a:rPr lang="en-US" altLang="zh-CN" b="1" dirty="0"/>
              <a:t>product markets</a:t>
            </a:r>
            <a:r>
              <a:rPr lang="en-US" altLang="zh-CN" dirty="0"/>
              <a:t>. </a:t>
            </a:r>
          </a:p>
          <a:p>
            <a:pPr>
              <a:spcAft>
                <a:spcPct val="5000"/>
              </a:spcAft>
            </a:pP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formulate the business level strategy</a:t>
            </a:r>
            <a:endParaRPr lang="en-US" altLang="zh-CN" b="1" dirty="0"/>
          </a:p>
          <a:p>
            <a:pPr lvl="1">
              <a:spcAft>
                <a:spcPct val="5000"/>
              </a:spcAft>
            </a:pPr>
            <a:r>
              <a:rPr lang="en-US" sz="2000" b="1" dirty="0"/>
              <a:t>Ex. Launching a Campus Food Delivery Startup</a:t>
            </a:r>
            <a:endParaRPr lang="en-US" sz="2000" dirty="0"/>
          </a:p>
          <a:p>
            <a:pPr lvl="2">
              <a:spcAft>
                <a:spcPct val="5000"/>
              </a:spcAft>
            </a:pPr>
            <a:r>
              <a:rPr lang="en-US" dirty="0"/>
              <a:t>You and a group of friends recently launched </a:t>
            </a:r>
            <a:r>
              <a:rPr lang="en-US" b="1" dirty="0"/>
              <a:t>"</a:t>
            </a:r>
            <a:r>
              <a:rPr lang="en-US" b="1" dirty="0" err="1"/>
              <a:t>SpeedBites</a:t>
            </a:r>
            <a:r>
              <a:rPr lang="en-US" b="1" dirty="0"/>
              <a:t>"</a:t>
            </a:r>
            <a:r>
              <a:rPr lang="en-US" dirty="0"/>
              <a:t>, a food delivery service designed specifically for CUHK students. Unlike large platforms like </a:t>
            </a:r>
            <a:r>
              <a:rPr lang="en-US" dirty="0" err="1"/>
              <a:t>Foodpanda</a:t>
            </a:r>
            <a:r>
              <a:rPr lang="en-US" dirty="0"/>
              <a:t> or Deliveroo, </a:t>
            </a:r>
            <a:r>
              <a:rPr lang="en-US" dirty="0" err="1"/>
              <a:t>SpeedBites</a:t>
            </a:r>
            <a:r>
              <a:rPr lang="en-US" dirty="0"/>
              <a:t> focuses only on CUHK on-campus deliveries, offering faster service and cheaper delivery fees.</a:t>
            </a:r>
          </a:p>
          <a:p>
            <a:pPr lvl="2">
              <a:spcAft>
                <a:spcPct val="5000"/>
              </a:spcAft>
            </a:pPr>
            <a:r>
              <a:rPr lang="en-US" dirty="0"/>
              <a:t>At first, the business seemed to be a great idea—students don’t have to wait long, and you have a steady stream of orders from those too busy or lazy to go out. </a:t>
            </a:r>
          </a:p>
          <a:p>
            <a:pPr lvl="2">
              <a:spcAft>
                <a:spcPct val="5000"/>
              </a:spcAft>
            </a:pPr>
            <a:r>
              <a:rPr lang="en-US" dirty="0"/>
              <a:t>However, after a month, you noticed that your order volume is lower than expected. </a:t>
            </a:r>
          </a:p>
          <a:p>
            <a:pPr lvl="2">
              <a:spcAft>
                <a:spcPct val="5000"/>
              </a:spcAft>
            </a:pPr>
            <a:r>
              <a:rPr lang="en-US" dirty="0"/>
              <a:t>As the co-founders, you realize that you need to rethink your strategy to make </a:t>
            </a:r>
            <a:r>
              <a:rPr lang="en-US" dirty="0" err="1"/>
              <a:t>SpeedBites</a:t>
            </a:r>
            <a:r>
              <a:rPr lang="en-US" dirty="0"/>
              <a:t> stand out. </a:t>
            </a:r>
          </a:p>
          <a:p>
            <a:pPr lvl="2">
              <a:spcAft>
                <a:spcPct val="5000"/>
              </a:spcAft>
            </a:pPr>
            <a:endParaRPr lang="en-US" altLang="zh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F9301-CF96-FA5C-4D41-BF2E4EF1D54D}"/>
              </a:ext>
            </a:extLst>
          </p:cNvPr>
          <p:cNvSpPr/>
          <p:nvPr/>
        </p:nvSpPr>
        <p:spPr>
          <a:xfrm>
            <a:off x="447040" y="6655294"/>
            <a:ext cx="11589116" cy="95410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lvl="1"/>
            <a:r>
              <a:rPr lang="en-US" sz="2800" b="1" dirty="0">
                <a:ln/>
                <a:solidFill>
                  <a:schemeClr val="accent3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What key questions must you address to make this business succeed?</a:t>
            </a:r>
          </a:p>
          <a:p>
            <a:pPr lvl="1"/>
            <a:r>
              <a:rPr lang="en-US" sz="2800" b="1" dirty="0">
                <a:ln/>
                <a:solidFill>
                  <a:schemeClr val="accent3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500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619A-8914-4A04-B58D-DD01D793D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0"/>
            <a:ext cx="9993331" cy="114300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Business</a:t>
            </a:r>
            <a:r>
              <a:rPr lang="en-US" altLang="zh-CN" sz="4000" dirty="0"/>
              <a:t> Level Strategy</a:t>
            </a:r>
            <a:endParaRPr lang="zh-CN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1D5CE-D44E-4869-9189-E726953BC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7039" y="1045395"/>
            <a:ext cx="10328813" cy="5812605"/>
          </a:xfrm>
        </p:spPr>
        <p:txBody>
          <a:bodyPr>
            <a:normAutofit fontScale="85000" lnSpcReduction="20000"/>
          </a:bodyPr>
          <a:lstStyle/>
          <a:p>
            <a:pPr marL="0" indent="0">
              <a:spcAft>
                <a:spcPct val="5000"/>
              </a:spcAft>
              <a:buNone/>
            </a:pPr>
            <a:r>
              <a:rPr lang="en-US" altLang="zh-CN" b="1" dirty="0"/>
              <a:t>To</a:t>
            </a:r>
            <a:r>
              <a:rPr lang="zh-CN" altLang="en-US" b="1" dirty="0"/>
              <a:t> </a:t>
            </a:r>
            <a:r>
              <a:rPr lang="en-US" altLang="zh-CN" b="1" dirty="0"/>
              <a:t>formulate the business level strategy</a:t>
            </a:r>
          </a:p>
          <a:p>
            <a:pPr>
              <a:spcAft>
                <a:spcPct val="5000"/>
              </a:spcAft>
            </a:pPr>
            <a:r>
              <a:rPr lang="en-US" altLang="zh-CN" b="1" dirty="0"/>
              <a:t>Customers</a:t>
            </a:r>
            <a:r>
              <a:rPr lang="en-US" altLang="zh-CN" dirty="0"/>
              <a:t> are the foundation of successful business-level strategies</a:t>
            </a:r>
          </a:p>
          <a:p>
            <a:pPr lvl="1">
              <a:spcAft>
                <a:spcPct val="5000"/>
              </a:spcAft>
            </a:pPr>
            <a:r>
              <a:rPr lang="en-US" sz="2400" b="1" dirty="0"/>
              <a:t>Who will be served?</a:t>
            </a:r>
          </a:p>
          <a:p>
            <a:pPr lvl="2">
              <a:spcAft>
                <a:spcPct val="5000"/>
              </a:spcAft>
            </a:pPr>
            <a:r>
              <a:rPr lang="en-US" sz="2100" dirty="0"/>
              <a:t>Should </a:t>
            </a:r>
            <a:r>
              <a:rPr lang="en-US" sz="2100" dirty="0" err="1"/>
              <a:t>SpeedBites</a:t>
            </a:r>
            <a:r>
              <a:rPr lang="en-US" sz="2100" dirty="0"/>
              <a:t> focus only on students in dorms or expand to faculty and staff?</a:t>
            </a:r>
          </a:p>
          <a:p>
            <a:pPr lvl="2">
              <a:spcAft>
                <a:spcPct val="5000"/>
              </a:spcAft>
            </a:pPr>
            <a:r>
              <a:rPr lang="en-US" sz="2100" dirty="0"/>
              <a:t>Should they serve only night-time orders when students are lazy to go out, or aim for lunch and dinner crowds?</a:t>
            </a:r>
          </a:p>
          <a:p>
            <a:pPr lvl="2">
              <a:spcAft>
                <a:spcPct val="5000"/>
              </a:spcAft>
            </a:pPr>
            <a:r>
              <a:rPr lang="en-US" sz="2100" dirty="0"/>
              <a:t>Should they target students who don’t cook, or busy students who don’t have time to eat out?</a:t>
            </a:r>
          </a:p>
          <a:p>
            <a:pPr lvl="1">
              <a:spcAft>
                <a:spcPct val="5000"/>
              </a:spcAft>
            </a:pPr>
            <a:r>
              <a:rPr lang="en-US" sz="2399" b="1" dirty="0"/>
              <a:t>What needs will be satisfied?</a:t>
            </a:r>
          </a:p>
          <a:p>
            <a:pPr lvl="2">
              <a:spcAft>
                <a:spcPct val="5000"/>
              </a:spcAft>
            </a:pPr>
            <a:r>
              <a:rPr lang="en-US" sz="2100" dirty="0"/>
              <a:t>Is the main customer need faster delivery than </a:t>
            </a:r>
            <a:r>
              <a:rPr lang="en-US" sz="2100" dirty="0" err="1"/>
              <a:t>Foodpanda</a:t>
            </a:r>
            <a:r>
              <a:rPr lang="en-US" sz="2100" dirty="0"/>
              <a:t>/Deliveroo?</a:t>
            </a:r>
          </a:p>
          <a:p>
            <a:pPr lvl="2">
              <a:spcAft>
                <a:spcPct val="5000"/>
              </a:spcAft>
            </a:pPr>
            <a:r>
              <a:rPr lang="en-US" sz="2100" dirty="0"/>
              <a:t>Or is it lower delivery fees?</a:t>
            </a:r>
          </a:p>
          <a:p>
            <a:pPr lvl="2">
              <a:spcAft>
                <a:spcPct val="5000"/>
              </a:spcAft>
            </a:pPr>
            <a:r>
              <a:rPr lang="en-US" sz="2100" dirty="0"/>
              <a:t>Should </a:t>
            </a:r>
            <a:r>
              <a:rPr lang="en-US" sz="2100" dirty="0" err="1"/>
              <a:t>SpeedBites</a:t>
            </a:r>
            <a:r>
              <a:rPr lang="en-US" sz="2100" dirty="0"/>
              <a:t> add services like bringing milk tea, late-night snacks, or even medicine?</a:t>
            </a:r>
          </a:p>
          <a:p>
            <a:pPr lvl="2">
              <a:spcAft>
                <a:spcPct val="5000"/>
              </a:spcAft>
            </a:pPr>
            <a:r>
              <a:rPr lang="en-US" sz="2100" dirty="0"/>
              <a:t>Should </a:t>
            </a:r>
            <a:r>
              <a:rPr lang="en-US" sz="2100" dirty="0" err="1"/>
              <a:t>SpeedBites</a:t>
            </a:r>
            <a:r>
              <a:rPr lang="en-US" sz="2100" dirty="0"/>
              <a:t> expand to food and drinks outside the campus?</a:t>
            </a:r>
          </a:p>
          <a:p>
            <a:pPr lvl="1">
              <a:spcAft>
                <a:spcPct val="5000"/>
              </a:spcAft>
            </a:pPr>
            <a:r>
              <a:rPr lang="en-US" sz="2399" b="1" dirty="0"/>
              <a:t>How will those needs be satisfied?</a:t>
            </a:r>
          </a:p>
          <a:p>
            <a:pPr lvl="2">
              <a:spcAft>
                <a:spcPct val="5000"/>
              </a:spcAft>
            </a:pPr>
            <a:r>
              <a:rPr lang="en-US" sz="2100" dirty="0"/>
              <a:t>Offer General service: Offer the same standard food delivery as competitors?</a:t>
            </a:r>
          </a:p>
          <a:p>
            <a:pPr lvl="2">
              <a:spcAft>
                <a:spcPct val="5000"/>
              </a:spcAft>
            </a:pPr>
            <a:r>
              <a:rPr lang="en-US" sz="2100" dirty="0"/>
              <a:t>Or Customized service: Focus on late-night deliveries, group orders, or delivering items other than food (e.g., stationery, medicine)?</a:t>
            </a:r>
          </a:p>
          <a:p>
            <a:pPr lvl="2">
              <a:spcAft>
                <a:spcPct val="5000"/>
              </a:spcAft>
            </a:pPr>
            <a:r>
              <a:rPr lang="en-US" sz="2100" dirty="0"/>
              <a:t>Should they introduce subscription models, where students pay a flat monthly fee for unlimited deliveries?</a:t>
            </a:r>
          </a:p>
          <a:p>
            <a:pPr>
              <a:spcAft>
                <a:spcPct val="5000"/>
              </a:spcAft>
            </a:pPr>
            <a:endParaRPr lang="en-US" sz="2666" dirty="0"/>
          </a:p>
          <a:p>
            <a:pPr lvl="3">
              <a:spcAft>
                <a:spcPct val="5000"/>
              </a:spcAft>
            </a:pPr>
            <a:endParaRPr lang="en-US" sz="2133" dirty="0"/>
          </a:p>
          <a:p>
            <a:pPr lvl="2">
              <a:spcAft>
                <a:spcPct val="5000"/>
              </a:spcAft>
            </a:pPr>
            <a:endParaRPr lang="en-US" altLang="zh-CN" sz="2133" dirty="0"/>
          </a:p>
          <a:p>
            <a:pPr lvl="1">
              <a:spcAft>
                <a:spcPct val="5000"/>
              </a:spcAft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4431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619A-8914-4A04-B58D-DD01D793D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0"/>
            <a:ext cx="9993331" cy="114300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Business</a:t>
            </a:r>
            <a:r>
              <a:rPr lang="en-US" altLang="zh-CN" sz="4000" dirty="0"/>
              <a:t> Level Strategy</a:t>
            </a:r>
            <a:endParaRPr lang="zh-CN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1D5CE-D44E-4869-9189-E726953BC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7039" y="1045396"/>
            <a:ext cx="10373361" cy="2193750"/>
          </a:xfrm>
        </p:spPr>
        <p:txBody>
          <a:bodyPr>
            <a:normAutofit/>
          </a:bodyPr>
          <a:lstStyle/>
          <a:p>
            <a:pPr>
              <a:spcAft>
                <a:spcPct val="5000"/>
              </a:spcAft>
            </a:pPr>
            <a:r>
              <a:rPr lang="en-US" altLang="zh-CN" b="1" dirty="0"/>
              <a:t>To</a:t>
            </a:r>
            <a:r>
              <a:rPr lang="zh-CN" altLang="en-US" b="1" dirty="0"/>
              <a:t> </a:t>
            </a:r>
            <a:r>
              <a:rPr lang="en-US" altLang="zh-CN" b="1" dirty="0"/>
              <a:t>formulate the business level strategy</a:t>
            </a:r>
          </a:p>
          <a:p>
            <a:pPr lvl="1">
              <a:spcAft>
                <a:spcPct val="5000"/>
              </a:spcAft>
            </a:pPr>
            <a:r>
              <a:rPr lang="en-US" sz="2400" dirty="0"/>
              <a:t>Step 1: Who will be served?</a:t>
            </a:r>
          </a:p>
          <a:p>
            <a:pPr lvl="2">
              <a:spcAft>
                <a:spcPct val="5000"/>
              </a:spcAft>
            </a:pPr>
            <a:r>
              <a:rPr lang="en-US" sz="2400" dirty="0"/>
              <a:t>Segment the market to identify your group of customers:</a:t>
            </a:r>
          </a:p>
          <a:p>
            <a:pPr lvl="3">
              <a:spcAft>
                <a:spcPct val="5000"/>
              </a:spcAft>
            </a:pPr>
            <a:r>
              <a:rPr lang="en-US" sz="1800" i="1" dirty="0">
                <a:solidFill>
                  <a:schemeClr val="tx1"/>
                </a:solidFill>
              </a:rPr>
              <a:t>Market Segmentation: </a:t>
            </a:r>
            <a:r>
              <a:rPr lang="en-US" sz="1800" dirty="0"/>
              <a:t>customers grouped based on differences in needs or preferences</a:t>
            </a:r>
          </a:p>
          <a:p>
            <a:pPr marL="1828755" lvl="3" indent="0">
              <a:spcAft>
                <a:spcPct val="5000"/>
              </a:spcAft>
              <a:buNone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1">
              <a:spcAft>
                <a:spcPct val="5000"/>
              </a:spcAft>
            </a:pPr>
            <a:endParaRPr lang="en-US" altLang="zh-CN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9C1F3DA-1ABE-6B08-88F3-FB04BF5C994E}"/>
              </a:ext>
            </a:extLst>
          </p:cNvPr>
          <p:cNvGrpSpPr/>
          <p:nvPr/>
        </p:nvGrpSpPr>
        <p:grpSpPr>
          <a:xfrm>
            <a:off x="-1" y="3566816"/>
            <a:ext cx="6095515" cy="2910078"/>
            <a:chOff x="431515" y="1134663"/>
            <a:chExt cx="11273846" cy="4523286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757DEC8-4CA1-D8C2-692D-F50C1E82CA04}"/>
                </a:ext>
              </a:extLst>
            </p:cNvPr>
            <p:cNvGrpSpPr/>
            <p:nvPr/>
          </p:nvGrpSpPr>
          <p:grpSpPr>
            <a:xfrm>
              <a:off x="764475" y="1134663"/>
              <a:ext cx="10940886" cy="3776922"/>
              <a:chOff x="391236" y="-196829"/>
              <a:chExt cx="8438866" cy="5097512"/>
            </a:xfrm>
          </p:grpSpPr>
          <p:pic>
            <p:nvPicPr>
              <p:cNvPr id="45" name="Picture 3" descr="la0502 no high focused mktsegm">
                <a:extLst>
                  <a:ext uri="{FF2B5EF4-FFF2-40B4-BE49-F238E27FC236}">
                    <a16:creationId xmlns:a16="http://schemas.microsoft.com/office/drawing/2014/main" id="{F9F1C164-7E47-F312-78F2-757A261C65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r="68124"/>
              <a:stretch/>
            </p:blipFill>
            <p:spPr bwMode="auto">
              <a:xfrm>
                <a:off x="391236" y="-188989"/>
                <a:ext cx="2720454" cy="5089672"/>
              </a:xfrm>
              <a:prstGeom prst="rect">
                <a:avLst/>
              </a:prstGeom>
              <a:noFill/>
              <a:ln w="28575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6" name="Picture 3" descr="la0502 no high focused mktsegm">
                <a:extLst>
                  <a:ext uri="{FF2B5EF4-FFF2-40B4-BE49-F238E27FC236}">
                    <a16:creationId xmlns:a16="http://schemas.microsoft.com/office/drawing/2014/main" id="{72C95F01-05BE-EBE0-F503-9A8BE5F12B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34648" t="6" r="33955" b="227"/>
              <a:stretch/>
            </p:blipFill>
            <p:spPr bwMode="auto">
              <a:xfrm>
                <a:off x="6150589" y="-196829"/>
                <a:ext cx="2679513" cy="5089672"/>
              </a:xfrm>
              <a:prstGeom prst="rect">
                <a:avLst/>
              </a:prstGeom>
              <a:noFill/>
              <a:ln w="28575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7" name="Picture 3" descr="la0502 no high focused mktsegm">
                <a:extLst>
                  <a:ext uri="{FF2B5EF4-FFF2-40B4-BE49-F238E27FC236}">
                    <a16:creationId xmlns:a16="http://schemas.microsoft.com/office/drawing/2014/main" id="{48B5B286-2C06-6785-0E43-C791BE2C05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64872"/>
              <a:stretch/>
            </p:blipFill>
            <p:spPr bwMode="auto">
              <a:xfrm>
                <a:off x="3143075" y="-196829"/>
                <a:ext cx="2997958" cy="5089672"/>
              </a:xfrm>
              <a:prstGeom prst="rect">
                <a:avLst/>
              </a:prstGeom>
              <a:noFill/>
              <a:ln w="28575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70C3237-07A1-6E40-A88C-4F2B54FCA81C}"/>
                </a:ext>
              </a:extLst>
            </p:cNvPr>
            <p:cNvGrpSpPr/>
            <p:nvPr/>
          </p:nvGrpSpPr>
          <p:grpSpPr>
            <a:xfrm>
              <a:off x="431515" y="5174780"/>
              <a:ext cx="5990476" cy="483169"/>
              <a:chOff x="-5813" y="421974"/>
              <a:chExt cx="3599444" cy="3649635"/>
            </a:xfrm>
          </p:grpSpPr>
          <p:sp>
            <p:nvSpPr>
              <p:cNvPr id="43" name="Rectangle: Rounded Corners 25">
                <a:extLst>
                  <a:ext uri="{FF2B5EF4-FFF2-40B4-BE49-F238E27FC236}">
                    <a16:creationId xmlns:a16="http://schemas.microsoft.com/office/drawing/2014/main" id="{63A9CBF5-7C2B-873B-8AF3-7D74A02B7D5C}"/>
                  </a:ext>
                </a:extLst>
              </p:cNvPr>
              <p:cNvSpPr/>
              <p:nvPr/>
            </p:nvSpPr>
            <p:spPr>
              <a:xfrm>
                <a:off x="-5813" y="421974"/>
                <a:ext cx="3599444" cy="3374334"/>
              </a:xfrm>
              <a:prstGeom prst="roundRect">
                <a:avLst/>
              </a:prstGeom>
              <a:solidFill>
                <a:schemeClr val="bg1">
                  <a:lumMod val="65000"/>
                  <a:alpha val="9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4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1800" dirty="0"/>
              </a:p>
            </p:txBody>
          </p:sp>
          <p:sp>
            <p:nvSpPr>
              <p:cNvPr id="44" name="Rectangle: Rounded Corners 4">
                <a:extLst>
                  <a:ext uri="{FF2B5EF4-FFF2-40B4-BE49-F238E27FC236}">
                    <a16:creationId xmlns:a16="http://schemas.microsoft.com/office/drawing/2014/main" id="{1D332FDA-8142-1729-0E4B-F8F06FD41ECA}"/>
                  </a:ext>
                </a:extLst>
              </p:cNvPr>
              <p:cNvSpPr txBox="1"/>
              <p:nvPr/>
            </p:nvSpPr>
            <p:spPr>
              <a:xfrm>
                <a:off x="54245" y="3123565"/>
                <a:ext cx="3147636" cy="94804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37160" tIns="68580" rIns="137160" bIns="68580" numCol="1" spcCol="127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600" b="1" kern="1200" dirty="0">
                    <a:latin typeface="+mj-lt"/>
                    <a:cs typeface="Arial"/>
                  </a:rPr>
                  <a:t>BROAD</a:t>
                </a:r>
                <a:endParaRPr lang="en-US" sz="1600" kern="1200" dirty="0">
                  <a:latin typeface="+mj-lt"/>
                </a:endParaRPr>
              </a:p>
              <a:p>
                <a:pPr lvl="0" algn="ctr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800" kern="1200" dirty="0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A722054-D5D3-9D37-6D9B-A94329B13042}"/>
                </a:ext>
              </a:extLst>
            </p:cNvPr>
            <p:cNvGrpSpPr/>
            <p:nvPr/>
          </p:nvGrpSpPr>
          <p:grpSpPr>
            <a:xfrm>
              <a:off x="6421989" y="5168970"/>
              <a:ext cx="5283372" cy="458970"/>
              <a:chOff x="-6948" y="3096382"/>
              <a:chExt cx="3599444" cy="3423336"/>
            </a:xfrm>
          </p:grpSpPr>
          <p:sp>
            <p:nvSpPr>
              <p:cNvPr id="41" name="Rectangle: Rounded Corners 23">
                <a:extLst>
                  <a:ext uri="{FF2B5EF4-FFF2-40B4-BE49-F238E27FC236}">
                    <a16:creationId xmlns:a16="http://schemas.microsoft.com/office/drawing/2014/main" id="{EB627BF5-D4F8-79E6-9554-91ECDCFFD3EF}"/>
                  </a:ext>
                </a:extLst>
              </p:cNvPr>
              <p:cNvSpPr/>
              <p:nvPr/>
            </p:nvSpPr>
            <p:spPr>
              <a:xfrm>
                <a:off x="-6948" y="3096382"/>
                <a:ext cx="3599444" cy="3423336"/>
              </a:xfrm>
              <a:prstGeom prst="roundRect">
                <a:avLst/>
              </a:prstGeom>
              <a:solidFill>
                <a:schemeClr val="bg2">
                  <a:lumMod val="50000"/>
                  <a:alpha val="5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4">
                  <a:alpha val="90000"/>
                  <a:hueOff val="0"/>
                  <a:satOff val="0"/>
                  <a:lumOff val="0"/>
                  <a:alphaOff val="-4000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1800" dirty="0"/>
              </a:p>
            </p:txBody>
          </p:sp>
          <p:sp>
            <p:nvSpPr>
              <p:cNvPr id="42" name="Rectangle: Rounded Corners 4">
                <a:extLst>
                  <a:ext uri="{FF2B5EF4-FFF2-40B4-BE49-F238E27FC236}">
                    <a16:creationId xmlns:a16="http://schemas.microsoft.com/office/drawing/2014/main" id="{8C2EC096-1921-0254-8873-9A248F75F569}"/>
                  </a:ext>
                </a:extLst>
              </p:cNvPr>
              <p:cNvSpPr txBox="1"/>
              <p:nvPr/>
            </p:nvSpPr>
            <p:spPr>
              <a:xfrm>
                <a:off x="154983" y="5310531"/>
                <a:ext cx="3329887" cy="28637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37160" tIns="68580" rIns="137160" bIns="6858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b="1" kern="1200" dirty="0"/>
                  <a:t>NARROW</a:t>
                </a:r>
              </a:p>
            </p:txBody>
          </p:sp>
        </p:grp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B5E47C-53B8-905D-BB38-E81A1DD36DCB}"/>
              </a:ext>
            </a:extLst>
          </p:cNvPr>
          <p:cNvSpPr txBox="1">
            <a:spLocks/>
          </p:cNvSpPr>
          <p:nvPr/>
        </p:nvSpPr>
        <p:spPr>
          <a:xfrm>
            <a:off x="6102212" y="3239146"/>
            <a:ext cx="5940986" cy="333031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7189" indent="-457189" algn="l" defTabSz="609585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133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1867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Main Approaches to Segmenting Markets</a:t>
            </a:r>
          </a:p>
          <a:p>
            <a:pPr marL="849313" lvl="1" indent="-385763">
              <a:spcBef>
                <a:spcPts val="600"/>
              </a:spcBef>
              <a:spcAft>
                <a:spcPts val="600"/>
              </a:spcAft>
              <a:buFont typeface="Wingdings" pitchFamily="2" charset="2"/>
              <a:buAutoNum type="arabicPeriod"/>
              <a:defRPr/>
            </a:pPr>
            <a:r>
              <a:rPr lang="en-US" dirty="0"/>
              <a:t>Ignore differences in segments: make product for typical/average customer</a:t>
            </a:r>
          </a:p>
          <a:p>
            <a:pPr marL="849313" lvl="1" indent="-385763">
              <a:spcBef>
                <a:spcPts val="600"/>
              </a:spcBef>
              <a:spcAft>
                <a:spcPts val="600"/>
              </a:spcAft>
              <a:buFont typeface="Wingdings" pitchFamily="2" charset="2"/>
              <a:buAutoNum type="arabicPeriod" startAt="2"/>
              <a:defRPr/>
            </a:pPr>
            <a:r>
              <a:rPr lang="en-US" dirty="0"/>
              <a:t>Recognize differences between segments: make products that meet needs of all/most segments</a:t>
            </a:r>
          </a:p>
          <a:p>
            <a:pPr marL="849313" lvl="1" indent="-385763">
              <a:spcBef>
                <a:spcPts val="600"/>
              </a:spcBef>
              <a:spcAft>
                <a:spcPts val="600"/>
              </a:spcAft>
              <a:buFont typeface="Wingdings" pitchFamily="2" charset="2"/>
              <a:buAutoNum type="arabicPeriod" startAt="3"/>
              <a:defRPr/>
            </a:pPr>
            <a:r>
              <a:rPr lang="en-US" dirty="0"/>
              <a:t>Target specific segments: focus on/serve one or two selected segments</a:t>
            </a:r>
          </a:p>
        </p:txBody>
      </p:sp>
    </p:spTree>
    <p:extLst>
      <p:ext uri="{BB962C8B-B14F-4D97-AF65-F5344CB8AC3E}">
        <p14:creationId xmlns:p14="http://schemas.microsoft.com/office/powerpoint/2010/main" val="401749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ED90-926A-6EE6-E8F2-F259D1C08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9" y="-14288"/>
            <a:ext cx="9993331" cy="114300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Market Segmentation </a:t>
            </a:r>
            <a:endParaRPr lang="en-US" sz="3600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6898071-A5AD-A5DF-E5D2-745F376C6223}"/>
              </a:ext>
            </a:extLst>
          </p:cNvPr>
          <p:cNvGraphicFramePr/>
          <p:nvPr/>
        </p:nvGraphicFramePr>
        <p:xfrm>
          <a:off x="457200" y="1857375"/>
          <a:ext cx="11530013" cy="4914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2A1AB45A-75BB-C58E-C2CA-410D7559AB1C}"/>
              </a:ext>
            </a:extLst>
          </p:cNvPr>
          <p:cNvSpPr txBox="1">
            <a:spLocks/>
          </p:cNvSpPr>
          <p:nvPr/>
        </p:nvSpPr>
        <p:spPr>
          <a:xfrm>
            <a:off x="1189038" y="1128712"/>
            <a:ext cx="1354138" cy="828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09585" rtl="0" eaLnBrk="1" latinLnBrk="0" hangingPunct="1">
              <a:spcBef>
                <a:spcPct val="0"/>
              </a:spcBef>
              <a:buNone/>
              <a:defRPr sz="3733" b="1" kern="1200">
                <a:solidFill>
                  <a:srgbClr val="331C58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/>
              <a:t>Market</a:t>
            </a:r>
            <a:endParaRPr lang="en-US" sz="3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5C313A-A251-24E4-8F7B-F566781D9680}"/>
              </a:ext>
            </a:extLst>
          </p:cNvPr>
          <p:cNvSpPr txBox="1">
            <a:spLocks/>
          </p:cNvSpPr>
          <p:nvPr/>
        </p:nvSpPr>
        <p:spPr>
          <a:xfrm>
            <a:off x="3275014" y="1128712"/>
            <a:ext cx="3497260" cy="828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09585" rtl="0" eaLnBrk="1" latinLnBrk="0" hangingPunct="1">
              <a:spcBef>
                <a:spcPct val="0"/>
              </a:spcBef>
              <a:buNone/>
              <a:defRPr sz="3733" b="1" kern="1200">
                <a:solidFill>
                  <a:srgbClr val="331C58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/>
              <a:t>Market Segments</a:t>
            </a:r>
            <a:endParaRPr lang="en-US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9C661C-21E5-8A98-D940-9CED3F90D2EE}"/>
              </a:ext>
            </a:extLst>
          </p:cNvPr>
          <p:cNvSpPr txBox="1">
            <a:spLocks/>
          </p:cNvSpPr>
          <p:nvPr/>
        </p:nvSpPr>
        <p:spPr>
          <a:xfrm>
            <a:off x="7051687" y="1128712"/>
            <a:ext cx="3714749" cy="828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609585" rtl="0" eaLnBrk="1" latinLnBrk="0" hangingPunct="1">
              <a:spcBef>
                <a:spcPct val="0"/>
              </a:spcBef>
              <a:buNone/>
              <a:defRPr sz="3733" b="1" kern="1200">
                <a:solidFill>
                  <a:srgbClr val="331C58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/>
              <a:t>Market Subsegments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02196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8F411-0779-46BC-A695-EA3744A74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20CBC9A-11BD-D754-50AB-076FD3B8EF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698"/>
          <a:stretch/>
        </p:blipFill>
        <p:spPr>
          <a:xfrm>
            <a:off x="8927282" y="2953042"/>
            <a:ext cx="3026177" cy="2094915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BB4C36-170E-2295-E665-571F5432C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0"/>
            <a:ext cx="9993331" cy="114300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Business Level Strategy</a:t>
            </a:r>
            <a:endParaRPr lang="zh-CN" alt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47040-8043-EAA5-7945-AB6FC89A3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7041" y="1143000"/>
            <a:ext cx="9568498" cy="5715000"/>
          </a:xfrm>
        </p:spPr>
        <p:txBody>
          <a:bodyPr>
            <a:normAutofit lnSpcReduction="10000"/>
          </a:bodyPr>
          <a:lstStyle/>
          <a:p>
            <a:pPr>
              <a:spcAft>
                <a:spcPct val="5000"/>
              </a:spcAft>
            </a:pPr>
            <a:r>
              <a:rPr lang="en-US" b="1" dirty="0"/>
              <a:t>Step2: What needs will be satisfied?</a:t>
            </a:r>
          </a:p>
          <a:p>
            <a:pPr lvl="1">
              <a:spcAft>
                <a:spcPct val="5000"/>
              </a:spcAft>
            </a:pPr>
            <a:r>
              <a:rPr lang="en-US" sz="2200" dirty="0"/>
              <a:t>Identify strategic opportunities in terms of customer needs</a:t>
            </a:r>
          </a:p>
          <a:p>
            <a:pPr lvl="2">
              <a:spcAft>
                <a:spcPct val="5000"/>
              </a:spcAft>
            </a:pPr>
            <a:r>
              <a:rPr lang="en-US" sz="1900" dirty="0"/>
              <a:t>Customer needs: desires, wants, or cravings to be satisfied by product attributes</a:t>
            </a:r>
          </a:p>
          <a:p>
            <a:pPr lvl="1">
              <a:spcAft>
                <a:spcPct val="5000"/>
              </a:spcAft>
            </a:pPr>
            <a:r>
              <a:rPr lang="en-US" sz="2200" dirty="0"/>
              <a:t>Opportunity discovery vs opportunity creation</a:t>
            </a:r>
          </a:p>
          <a:p>
            <a:pPr>
              <a:spcAft>
                <a:spcPct val="5000"/>
              </a:spcAft>
            </a:pPr>
            <a:r>
              <a:rPr lang="en-US" b="1" dirty="0"/>
              <a:t>Step 3: How will those needs be satisfied?</a:t>
            </a:r>
          </a:p>
          <a:p>
            <a:pPr lvl="1">
              <a:spcAft>
                <a:spcPct val="5000"/>
              </a:spcAft>
            </a:pPr>
            <a:r>
              <a:rPr lang="en-US" altLang="zh-CN" sz="2200" dirty="0"/>
              <a:t>Formulate a strategy for each targeted segment market</a:t>
            </a:r>
          </a:p>
          <a:p>
            <a:pPr lvl="1">
              <a:spcAft>
                <a:spcPct val="5000"/>
              </a:spcAft>
            </a:pPr>
            <a:r>
              <a:rPr lang="en-US" sz="2200" dirty="0"/>
              <a:t>Customers choose product based on:</a:t>
            </a:r>
          </a:p>
          <a:p>
            <a:pPr lvl="2">
              <a:spcAft>
                <a:spcPct val="5000"/>
              </a:spcAft>
            </a:pPr>
            <a:r>
              <a:rPr lang="en-US" sz="1900" dirty="0"/>
              <a:t>How product is differentiated from others: </a:t>
            </a:r>
          </a:p>
          <a:p>
            <a:pPr lvl="3">
              <a:spcAft>
                <a:spcPct val="5000"/>
              </a:spcAft>
              <a:buFont typeface="Wingdings" pitchFamily="2" charset="2"/>
              <a:buChar char="§"/>
            </a:pPr>
            <a:r>
              <a:rPr lang="en-US" altLang="en-US" sz="1900" dirty="0"/>
              <a:t>Differentiation: Produce a different product and charge sufficiently higher prices</a:t>
            </a:r>
          </a:p>
          <a:p>
            <a:pPr lvl="3">
              <a:spcAft>
                <a:spcPct val="5000"/>
              </a:spcAft>
              <a:buFont typeface="Wingdings" pitchFamily="2" charset="2"/>
              <a:buChar char="§"/>
            </a:pPr>
            <a:r>
              <a:rPr lang="en-US" sz="1900" dirty="0"/>
              <a:t>Cost reduction: </a:t>
            </a:r>
            <a:r>
              <a:rPr lang="en-US" altLang="en-US" sz="1900" dirty="0"/>
              <a:t>Produce an essentially equivalent product at a lower cost </a:t>
            </a:r>
          </a:p>
          <a:p>
            <a:pPr lvl="3">
              <a:spcAft>
                <a:spcPct val="5000"/>
              </a:spcAft>
              <a:buFont typeface="Wingdings" pitchFamily="2" charset="2"/>
              <a:buChar char="§"/>
            </a:pPr>
            <a:endParaRPr lang="en-US" altLang="en-US" sz="1900" dirty="0"/>
          </a:p>
          <a:p>
            <a:pPr>
              <a:spcAft>
                <a:spcPct val="5000"/>
              </a:spcAft>
            </a:pPr>
            <a:r>
              <a:rPr lang="en-US" sz="20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 profitable business level strategy depends on providing customer with most value while keeping cost structures viable.</a:t>
            </a:r>
            <a:endParaRPr lang="en-US" altLang="zh-CN" sz="1834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3">
              <a:spcAft>
                <a:spcPct val="5000"/>
              </a:spcAft>
              <a:buFont typeface="Wingdings" pitchFamily="2" charset="2"/>
              <a:buChar char="Ø"/>
            </a:pPr>
            <a:endParaRPr lang="en-US" altLang="zh-CN" sz="1567" dirty="0"/>
          </a:p>
          <a:p>
            <a:pPr lvl="1">
              <a:spcAft>
                <a:spcPct val="5000"/>
              </a:spcAft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3857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F11A-06AA-4E95-A56B-854A25F5C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4547"/>
            <a:ext cx="9993331" cy="114300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Five Generic Business-Level Strategies</a:t>
            </a:r>
            <a:endParaRPr lang="zh-CN" alt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E9B64A-E51A-469B-BF26-11C851865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22" y="1087597"/>
            <a:ext cx="9602286" cy="570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478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719104-E932-453C-9457-C7FC49B0E5F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10966" y="1289930"/>
            <a:ext cx="10238198" cy="5562932"/>
          </a:xfrm>
        </p:spPr>
        <p:txBody>
          <a:bodyPr/>
          <a:lstStyle/>
          <a:p>
            <a:r>
              <a:rPr lang="en-US" altLang="zh-CN" sz="24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Cost Leadership </a:t>
            </a:r>
          </a:p>
          <a:p>
            <a:pPr lvl="1"/>
            <a:r>
              <a:rPr lang="en-US" altLang="zh-CN" dirty="0">
                <a:solidFill>
                  <a:srgbClr val="002060"/>
                </a:solidFill>
                <a:latin typeface="Arial" charset="0"/>
              </a:rPr>
              <a:t>Lowest cost structure vis-à-vis competitors allowing price flexibility &amp; higher profitability</a:t>
            </a:r>
          </a:p>
          <a:p>
            <a:r>
              <a:rPr lang="en-US" altLang="zh-CN" sz="24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Focused Cost Leadership</a:t>
            </a:r>
          </a:p>
          <a:p>
            <a:pPr lvl="1"/>
            <a:r>
              <a:rPr lang="en-US" altLang="zh-CN" dirty="0">
                <a:solidFill>
                  <a:srgbClr val="002060"/>
                </a:solidFill>
                <a:latin typeface="Arial" charset="0"/>
              </a:rPr>
              <a:t>Cost leadership in selected market niches where  it has a local or unique cost advantage</a:t>
            </a:r>
          </a:p>
          <a:p>
            <a:r>
              <a:rPr lang="en-US" altLang="zh-CN" sz="24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Differentiation </a:t>
            </a:r>
          </a:p>
          <a:p>
            <a:pPr lvl="1"/>
            <a:r>
              <a:rPr lang="en-US" altLang="zh-CN" dirty="0">
                <a:solidFill>
                  <a:srgbClr val="002060"/>
                </a:solidFill>
                <a:latin typeface="Arial" charset="0"/>
              </a:rPr>
              <a:t>Features important to customers &amp; distinct from competitors that allow premium pricing</a:t>
            </a:r>
          </a:p>
          <a:p>
            <a:r>
              <a:rPr lang="en-US" altLang="zh-CN" sz="24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Focused Differentiation</a:t>
            </a:r>
          </a:p>
          <a:p>
            <a:pPr lvl="1"/>
            <a:r>
              <a:rPr lang="en-US" altLang="zh-CN" dirty="0">
                <a:solidFill>
                  <a:srgbClr val="002060"/>
                </a:solidFill>
                <a:latin typeface="Arial" charset="0"/>
              </a:rPr>
              <a:t>Distinctiveness in selected market niches where it better meets the needs of customers than the broad differentiators</a:t>
            </a:r>
          </a:p>
          <a:p>
            <a:r>
              <a:rPr lang="en-US" altLang="zh-CN" sz="24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Integrated Cost Leadership/Differentiation</a:t>
            </a:r>
          </a:p>
          <a:p>
            <a:pPr lvl="1"/>
            <a:r>
              <a:rPr lang="en-US" altLang="zh-CN" dirty="0">
                <a:solidFill>
                  <a:srgbClr val="002060"/>
                </a:solidFill>
                <a:latin typeface="Arial" charset="0"/>
              </a:rPr>
              <a:t>A strategy supposed to integrate benefits of both cost leadership and differentiation.</a:t>
            </a:r>
          </a:p>
          <a:p>
            <a:pPr lvl="1"/>
            <a:r>
              <a:rPr lang="en-US" altLang="zh-CN" dirty="0">
                <a:solidFill>
                  <a:srgbClr val="002060"/>
                </a:solidFill>
                <a:latin typeface="Arial" charset="0"/>
              </a:rPr>
              <a:t>“Stuck in the middle”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6B63B0-B027-4369-A5EE-2F610604B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75" y="14693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Generic Business-Level Strategies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12099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3001A-B04C-4611-8D63-B796E1206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681" y="23451"/>
            <a:ext cx="9993331" cy="114300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Cost Leadership Strategy</a:t>
            </a:r>
            <a:endParaRPr lang="zh-CN" alt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4E6C-65A9-45E6-A343-27FC28483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7681" y="1166451"/>
            <a:ext cx="9541267" cy="5557986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Using a cost leadership strategy, a firm</a:t>
            </a:r>
          </a:p>
          <a:p>
            <a:pPr lvl="1"/>
            <a:r>
              <a:rPr lang="en-US" altLang="en-US" sz="2000" dirty="0"/>
              <a:t>Produces no-frills, </a:t>
            </a:r>
            <a:r>
              <a:rPr lang="en-US" altLang="en-US" sz="2000" b="1" dirty="0"/>
              <a:t>standardized</a:t>
            </a:r>
            <a:r>
              <a:rPr lang="en-US" altLang="en-US" sz="2000" dirty="0"/>
              <a:t> products for typical customers</a:t>
            </a:r>
          </a:p>
          <a:p>
            <a:pPr lvl="1"/>
            <a:r>
              <a:rPr lang="en-US" altLang="en-US" sz="2000" dirty="0"/>
              <a:t>Offers these low-cost products with </a:t>
            </a:r>
            <a:r>
              <a:rPr lang="en-US" altLang="en-US" sz="2000" b="1" dirty="0"/>
              <a:t>competitive levels </a:t>
            </a:r>
            <a:r>
              <a:rPr lang="en-US" altLang="en-US" sz="2000" dirty="0"/>
              <a:t>of differentiation</a:t>
            </a:r>
          </a:p>
          <a:p>
            <a:pPr lvl="1"/>
            <a:r>
              <a:rPr lang="en-US" altLang="en-US" sz="2000" dirty="0"/>
              <a:t>Focuses on </a:t>
            </a:r>
            <a:r>
              <a:rPr lang="en-US" altLang="en-US" sz="2400" b="1" dirty="0"/>
              <a:t>efficiency</a:t>
            </a:r>
            <a:r>
              <a:rPr lang="en-US" altLang="en-US" sz="2000" dirty="0"/>
              <a:t> so costs are lower than competitors’ costs</a:t>
            </a:r>
          </a:p>
          <a:p>
            <a:pPr lvl="1"/>
            <a:r>
              <a:rPr lang="en-US" altLang="en-US" sz="2000" dirty="0"/>
              <a:t>Key drivers of cost leadership strategy</a:t>
            </a:r>
          </a:p>
          <a:p>
            <a:pPr lvl="2"/>
            <a:r>
              <a:rPr lang="en-US" altLang="en-US" sz="1800" dirty="0">
                <a:latin typeface="+mj-lt"/>
              </a:rPr>
              <a:t>Economies of scale </a:t>
            </a:r>
          </a:p>
          <a:p>
            <a:pPr lvl="2"/>
            <a:r>
              <a:rPr lang="en-US" altLang="en-US" sz="1800" dirty="0">
                <a:latin typeface="+mj-lt"/>
              </a:rPr>
              <a:t>Learning</a:t>
            </a:r>
          </a:p>
          <a:p>
            <a:pPr lvl="2"/>
            <a:r>
              <a:rPr lang="en-US" altLang="en-US" sz="1800" dirty="0">
                <a:latin typeface="+mj-lt"/>
              </a:rPr>
              <a:t>Product technology</a:t>
            </a:r>
          </a:p>
          <a:p>
            <a:pPr lvl="2"/>
            <a:r>
              <a:rPr lang="en-US" altLang="en-US" sz="1800" dirty="0">
                <a:latin typeface="+mj-lt"/>
              </a:rPr>
              <a:t>Product design</a:t>
            </a:r>
          </a:p>
          <a:p>
            <a:pPr lvl="2"/>
            <a:r>
              <a:rPr lang="en-US" altLang="en-US" sz="1800" dirty="0">
                <a:latin typeface="+mj-lt"/>
              </a:rPr>
              <a:t>Location advantages for sourcing inputs</a:t>
            </a:r>
          </a:p>
          <a:p>
            <a:r>
              <a:rPr lang="en-US" altLang="en-US" sz="2400" dirty="0">
                <a:latin typeface="+mj-lt"/>
              </a:rPr>
              <a:t>Risks</a:t>
            </a:r>
            <a:endParaRPr lang="en-US" altLang="en-US" sz="2800" dirty="0">
              <a:latin typeface="+mj-lt"/>
            </a:endParaRPr>
          </a:p>
          <a:p>
            <a:pPr lvl="1"/>
            <a:r>
              <a:rPr lang="en-US" altLang="en-US" dirty="0">
                <a:latin typeface="+mj-lt"/>
              </a:rPr>
              <a:t>Obsolescence/dated </a:t>
            </a:r>
          </a:p>
          <a:p>
            <a:pPr lvl="1"/>
            <a:r>
              <a:rPr lang="en-US" altLang="en-US" dirty="0">
                <a:latin typeface="+mj-lt"/>
              </a:rPr>
              <a:t>Overly Cost reductions/compromised quality</a:t>
            </a:r>
          </a:p>
          <a:p>
            <a:pPr lvl="1"/>
            <a:r>
              <a:rPr lang="en-US" altLang="en-US" dirty="0">
                <a:latin typeface="+mj-lt"/>
              </a:rPr>
              <a:t>Imitation </a:t>
            </a:r>
            <a:endParaRPr lang="en-US" altLang="en-US" sz="2600" dirty="0">
              <a:latin typeface="Garamond" panose="02020404030301010803" pitchFamily="18" charset="0"/>
            </a:endParaRPr>
          </a:p>
          <a:p>
            <a:endParaRPr lang="zh-CN" altLang="en-US" dirty="0"/>
          </a:p>
        </p:txBody>
      </p:sp>
      <p:pic>
        <p:nvPicPr>
          <p:cNvPr id="2050" name="Picture 2" descr="Image result for low cost">
            <a:extLst>
              <a:ext uri="{FF2B5EF4-FFF2-40B4-BE49-F238E27FC236}">
                <a16:creationId xmlns:a16="http://schemas.microsoft.com/office/drawing/2014/main" id="{8F1B74B0-6967-425D-9333-222A2A303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7003" y="4078840"/>
            <a:ext cx="4474997" cy="2645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14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348B4-BD16-5D2A-68C1-4C8C59AD7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0"/>
            <a:ext cx="9993331" cy="1143000"/>
          </a:xfrm>
        </p:spPr>
        <p:txBody>
          <a:bodyPr>
            <a:normAutofit/>
          </a:bodyPr>
          <a:lstStyle/>
          <a:p>
            <a:r>
              <a:rPr lang="en-US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Surviving in the Budget Hotel Industry 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56EBB-2CB3-6011-C249-6BC4D04B66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10716883" cy="594360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2060"/>
                </a:solidFill>
                <a:latin typeface="Arial" charset="0"/>
              </a:rPr>
              <a:t>You are an executive at </a:t>
            </a:r>
            <a:r>
              <a:rPr lang="en-US" sz="1800" dirty="0" err="1">
                <a:solidFill>
                  <a:srgbClr val="002060"/>
                </a:solidFill>
                <a:latin typeface="Arial" charset="0"/>
              </a:rPr>
              <a:t>StayCheap</a:t>
            </a:r>
            <a:r>
              <a:rPr lang="en-US" sz="1800" dirty="0">
                <a:solidFill>
                  <a:srgbClr val="002060"/>
                </a:solidFill>
                <a:latin typeface="Arial" charset="0"/>
              </a:rPr>
              <a:t> Hotels, a budget hotel chain struggling to survive in a brutal industry. The hotel industry, especially the budget hotel segment is highly unfavorable because all five forces in Porter’s model are strong, creating a challenging business environment: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002060"/>
                </a:solidFill>
                <a:latin typeface="Arial" charset="0"/>
              </a:rPr>
              <a:t>High Rivalry Among Competitors 🏨: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002060"/>
                </a:solidFill>
                <a:latin typeface="Arial" charset="0"/>
              </a:rPr>
              <a:t>Large budget hotel chains (e.g., Holiday Inn Express) are engaged in price wars, harming profit margins.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002060"/>
                </a:solidFill>
                <a:latin typeface="Arial" charset="0"/>
              </a:rPr>
              <a:t>High Threat of New Entrants 🚪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002060"/>
                </a:solidFill>
                <a:latin typeface="Arial" charset="0"/>
              </a:rPr>
              <a:t>The hotel industry has low entry barriers: anyone can open a small budget hotel.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002060"/>
                </a:solidFill>
                <a:latin typeface="Arial" charset="0"/>
              </a:rPr>
              <a:t>Airbnb and boutique hostels have flooded the market, offering cheap alternatives.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002060"/>
                </a:solidFill>
                <a:latin typeface="Arial" charset="0"/>
              </a:rPr>
              <a:t>Strong Bargaining Power of Buyers 💰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002060"/>
                </a:solidFill>
                <a:latin typeface="Arial" charset="0"/>
              </a:rPr>
              <a:t>Customers are extremely price-sensitive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002060"/>
                </a:solidFill>
                <a:latin typeface="Arial" charset="0"/>
              </a:rPr>
              <a:t>Online travel agencies like </a:t>
            </a:r>
            <a:r>
              <a:rPr lang="en-US" sz="1600" dirty="0" err="1">
                <a:solidFill>
                  <a:srgbClr val="002060"/>
                </a:solidFill>
                <a:latin typeface="Arial" charset="0"/>
              </a:rPr>
              <a:t>Booking.com</a:t>
            </a:r>
            <a:r>
              <a:rPr lang="en-US" sz="1600" dirty="0">
                <a:solidFill>
                  <a:srgbClr val="002060"/>
                </a:solidFill>
                <a:latin typeface="Arial" charset="0"/>
              </a:rPr>
              <a:t> force hotels to offer steep discounts, further eroding profits.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002060"/>
                </a:solidFill>
                <a:latin typeface="Arial" charset="0"/>
              </a:rPr>
              <a:t>Strong Bargaining Power of Suppliers 🛏️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002060"/>
                </a:solidFill>
                <a:latin typeface="Arial" charset="0"/>
              </a:rPr>
              <a:t>Costs for cleaning, utilities, furniture, and staff remain high.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002060"/>
                </a:solidFill>
                <a:latin typeface="Arial" charset="0"/>
              </a:rPr>
              <a:t>Franchise hotel brands demand high licensing fees, squeezing small operators.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002060"/>
                </a:solidFill>
                <a:latin typeface="Arial" charset="0"/>
              </a:rPr>
              <a:t>High Threat of Substitutes 🏠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002060"/>
                </a:solidFill>
                <a:latin typeface="Arial" charset="0"/>
              </a:rPr>
              <a:t>Travelers can choose Airbnb, capsule hotels, hostels, or even coworking spaces with nap rooms.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002060"/>
                </a:solidFill>
                <a:latin typeface="Arial" charset="0"/>
              </a:rPr>
              <a:t>Customers are not loyal: if another option is cheaper, they switch.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solidFill>
                  <a:srgbClr val="002060"/>
                </a:solidFill>
              </a:rPr>
              <a:t>Our CEO believes adopting a cost leadership strategy is the best approach. How can cost leadership help address each of these five forces?</a:t>
            </a:r>
            <a:endParaRPr lang="en-US" sz="2000" dirty="0">
              <a:solidFill>
                <a:srgbClr val="002060"/>
              </a:solidFill>
              <a:latin typeface="Arial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endParaRPr lang="en-US" sz="2167" dirty="0">
              <a:solidFill>
                <a:srgbClr val="00206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898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CCE69-4B47-A67F-046C-0944D960A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72187"/>
            <a:ext cx="12292013" cy="785813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A firm that successfully implements a cost leadership strategy can earn above-average returns even when the five forces are strong.</a:t>
            </a:r>
            <a:br>
              <a:rPr lang="en-US" sz="2000" b="1" dirty="0">
                <a:solidFill>
                  <a:schemeClr val="tx1"/>
                </a:solidFill>
              </a:rPr>
            </a:br>
            <a:endParaRPr lang="en-US" sz="20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BE21154-99B5-BD55-0AFC-9F046CC9E6A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0" y="0"/>
          <a:ext cx="12192000" cy="59975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8181899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5188090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35561525"/>
                    </a:ext>
                  </a:extLst>
                </a:gridCol>
              </a:tblGrid>
              <a:tr h="2747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Industry Force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How Cost Leadership Helps </a:t>
                      </a:r>
                      <a:r>
                        <a:rPr lang="en-US" sz="1600" kern="0" dirty="0" err="1">
                          <a:effectLst/>
                        </a:rPr>
                        <a:t>StayCheap</a:t>
                      </a:r>
                      <a:r>
                        <a:rPr lang="en-US" sz="1600" kern="0" dirty="0">
                          <a:effectLst/>
                        </a:rPr>
                        <a:t> Survive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Examples of Cost Leadership Strategies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extLst>
                  <a:ext uri="{0D108BD9-81ED-4DB2-BD59-A6C34878D82A}">
                    <a16:rowId xmlns:a16="http://schemas.microsoft.com/office/drawing/2014/main" val="1759705626"/>
                  </a:ext>
                </a:extLst>
              </a:tr>
              <a:tr h="85705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High Rivalry Among Competitors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By having the lowest operational costs, </a:t>
                      </a:r>
                      <a:r>
                        <a:rPr lang="en-US" sz="1600" kern="0" dirty="0" err="1">
                          <a:effectLst/>
                        </a:rPr>
                        <a:t>StayCheap</a:t>
                      </a:r>
                      <a:r>
                        <a:rPr lang="en-US" sz="1600" kern="0" dirty="0">
                          <a:effectLst/>
                        </a:rPr>
                        <a:t> can sustain lower prices than rivals while still making a profit.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kern="0" dirty="0">
                          <a:effectLst/>
                        </a:rPr>
                        <a:t>Use prefabricated hotel rooms to lower construction costs. </a:t>
                      </a:r>
                    </a:p>
                    <a:p>
                      <a:pPr marL="285750" marR="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kern="0" dirty="0">
                          <a:effectLst/>
                        </a:rPr>
                        <a:t>Operate in smaller cities &amp; suburban areas where rent is lower.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extLst>
                  <a:ext uri="{0D108BD9-81ED-4DB2-BD59-A6C34878D82A}">
                    <a16:rowId xmlns:a16="http://schemas.microsoft.com/office/drawing/2014/main" val="3258582620"/>
                  </a:ext>
                </a:extLst>
              </a:tr>
              <a:tr h="85705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High Threat of New Entrants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If StayCheap achieves extreme cost efficiency, new entrants will struggle to match its low prices, discouraging them from entering the market.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kern="0" dirty="0">
                          <a:effectLst/>
                        </a:rPr>
                        <a:t>Bulk purchase furniture &amp; supplies at lower costs. </a:t>
                      </a:r>
                    </a:p>
                    <a:p>
                      <a:pPr marL="285750" marR="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kern="0" dirty="0">
                          <a:effectLst/>
                        </a:rPr>
                        <a:t>Use self-check-in kiosks to reduce labor expenses.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extLst>
                  <a:ext uri="{0D108BD9-81ED-4DB2-BD59-A6C34878D82A}">
                    <a16:rowId xmlns:a16="http://schemas.microsoft.com/office/drawing/2014/main" val="4134510904"/>
                  </a:ext>
                </a:extLst>
              </a:tr>
              <a:tr h="114819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Strong Bargaining Power of Buyers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Customers can compare prices easily, so being the cheapest available option ensures demand.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kern="0" dirty="0">
                          <a:effectLst/>
                        </a:rPr>
                        <a:t>Offer bare-bones pricing but charge for add-ons (e.g., towels, late check-out, room cleaning). </a:t>
                      </a:r>
                    </a:p>
                    <a:p>
                      <a:pPr marL="285750" marR="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kern="0" dirty="0">
                          <a:effectLst/>
                        </a:rPr>
                        <a:t>- Introduce a membership program to lock in frequent guests.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extLst>
                  <a:ext uri="{0D108BD9-81ED-4DB2-BD59-A6C34878D82A}">
                    <a16:rowId xmlns:a16="http://schemas.microsoft.com/office/drawing/2014/main" val="64607956"/>
                  </a:ext>
                </a:extLst>
              </a:tr>
              <a:tr h="112077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Strong Bargaining Power of Suppliers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By operating at scale and cutting non-essential costs, StayCheap can negotiate better supplier contracts.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kern="0" dirty="0">
                          <a:effectLst/>
                        </a:rPr>
                        <a:t>Sign long-term contracts with cleaning companies to get bulk discounts. </a:t>
                      </a:r>
                    </a:p>
                    <a:p>
                      <a:pPr marL="285750" marR="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kern="0" dirty="0">
                          <a:effectLst/>
                        </a:rPr>
                        <a:t>Use one standardized hotel design to reduce furniture and maintenance costs.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extLst>
                  <a:ext uri="{0D108BD9-81ED-4DB2-BD59-A6C34878D82A}">
                    <a16:rowId xmlns:a16="http://schemas.microsoft.com/office/drawing/2014/main" val="3234382458"/>
                  </a:ext>
                </a:extLst>
              </a:tr>
              <a:tr h="85705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High Threat of Substitutes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If StayCheap is the cheapest and most reliable option, fewer people will switch to alternatives like Airbnb.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kern="0" dirty="0">
                          <a:effectLst/>
                        </a:rPr>
                        <a:t>Offer consistently low pricing with no seasonal fluctuations. </a:t>
                      </a:r>
                    </a:p>
                    <a:p>
                      <a:pPr marL="285750" marR="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kern="0" dirty="0">
                          <a:effectLst/>
                        </a:rPr>
                        <a:t>Locate hotels near train stations, airports, or universities to attract budget travelers.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5118" marR="35118" marT="0" marB="0"/>
                </a:tc>
                <a:extLst>
                  <a:ext uri="{0D108BD9-81ED-4DB2-BD59-A6C34878D82A}">
                    <a16:rowId xmlns:a16="http://schemas.microsoft.com/office/drawing/2014/main" val="3510875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375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3FF35-AA14-4CF9-8813-330BF9C41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0317"/>
            <a:ext cx="9383732" cy="1143000"/>
          </a:xfrm>
        </p:spPr>
        <p:txBody>
          <a:bodyPr/>
          <a:lstStyle/>
          <a:p>
            <a:r>
              <a:rPr lang="en-US" altLang="zh-CN" dirty="0"/>
              <a:t>Differentiation Strategy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86A0D-6427-47B1-B743-585F9A8CD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222791"/>
            <a:ext cx="11419726" cy="5440000"/>
          </a:xfrm>
        </p:spPr>
        <p:txBody>
          <a:bodyPr>
            <a:normAutofit/>
          </a:bodyPr>
          <a:lstStyle/>
          <a:p>
            <a:r>
              <a:rPr lang="en-US" altLang="zh-CN" dirty="0"/>
              <a:t>Firms using differentiation strategy </a:t>
            </a:r>
          </a:p>
          <a:p>
            <a:pPr marL="669925" lvl="1" indent="-325438"/>
            <a:r>
              <a:rPr lang="en-US" altLang="en-US" dirty="0"/>
              <a:t>Provide products that have </a:t>
            </a:r>
            <a:r>
              <a:rPr lang="en-US" altLang="en-US" b="1" dirty="0"/>
              <a:t>different, valued features </a:t>
            </a:r>
            <a:r>
              <a:rPr lang="en-US" altLang="en-US" dirty="0"/>
              <a:t>that are sold at a </a:t>
            </a:r>
            <a:r>
              <a:rPr lang="en-US" altLang="en-US" b="1" dirty="0"/>
              <a:t>premium</a:t>
            </a:r>
            <a:r>
              <a:rPr lang="en-US" altLang="en-US" dirty="0"/>
              <a:t> price</a:t>
            </a:r>
          </a:p>
          <a:p>
            <a:pPr marL="669925" lvl="1" indent="-325438"/>
            <a:r>
              <a:rPr lang="en-US" altLang="en-US" dirty="0"/>
              <a:t>Differentiate their products along as </a:t>
            </a:r>
            <a:r>
              <a:rPr lang="en-US" altLang="en-US" b="1" dirty="0"/>
              <a:t>many</a:t>
            </a:r>
            <a:r>
              <a:rPr lang="en-US" altLang="en-US" dirty="0"/>
              <a:t> </a:t>
            </a:r>
            <a:r>
              <a:rPr lang="en-US" altLang="en-US" b="1" dirty="0"/>
              <a:t>dimensions</a:t>
            </a:r>
            <a:r>
              <a:rPr lang="en-US" altLang="en-US" dirty="0"/>
              <a:t> as possible.</a:t>
            </a:r>
          </a:p>
          <a:p>
            <a:pPr marL="669925" lvl="1" indent="-325438"/>
            <a:r>
              <a:rPr lang="en-US" altLang="en-US" dirty="0"/>
              <a:t>The </a:t>
            </a:r>
            <a:r>
              <a:rPr lang="en-US" altLang="en-US" b="1" dirty="0"/>
              <a:t>less similarity </a:t>
            </a:r>
            <a:r>
              <a:rPr lang="en-US" altLang="en-US" dirty="0"/>
              <a:t>to competitors’ products, the more buffered a firm is from competition with its rivals</a:t>
            </a:r>
          </a:p>
          <a:p>
            <a:pPr marL="669925" lvl="1" indent="-325438"/>
            <a:endParaRPr lang="en-US" altLang="en-US" dirty="0"/>
          </a:p>
          <a:p>
            <a:pPr marL="669925" lvl="1" indent="-325438"/>
            <a:endParaRPr lang="en-US" altLang="en-US" dirty="0"/>
          </a:p>
          <a:p>
            <a:pPr marL="669925" lvl="1" indent="-325438"/>
            <a:endParaRPr lang="en-US" altLang="en-US" dirty="0"/>
          </a:p>
          <a:p>
            <a:pPr marL="669925" lvl="1" indent="-325438"/>
            <a:endParaRPr lang="en-US" altLang="en-US" dirty="0"/>
          </a:p>
          <a:p>
            <a:pPr marL="669925" lvl="1" indent="-325438"/>
            <a:endParaRPr lang="en-US" altLang="en-US" dirty="0"/>
          </a:p>
          <a:p>
            <a:pPr marL="669925" lvl="1" indent="-325438"/>
            <a:endParaRPr lang="en-US" altLang="en-US" dirty="0"/>
          </a:p>
          <a:p>
            <a:pPr marL="669925" lvl="1" indent="-325438"/>
            <a:endParaRPr lang="en-US" altLang="en-US" dirty="0"/>
          </a:p>
          <a:p>
            <a:pPr marL="136539" indent="-325438"/>
            <a:r>
              <a:rPr lang="en-US" altLang="en-US" dirty="0"/>
              <a:t>Risks: price differential; value diminished; experience; counterfeit</a:t>
            </a:r>
          </a:p>
          <a:p>
            <a:pPr marL="669925" lvl="1" indent="-325438"/>
            <a:endParaRPr lang="en-US" altLang="en-US" dirty="0"/>
          </a:p>
          <a:p>
            <a:pPr marL="669925" lvl="1" indent="-325438"/>
            <a:endParaRPr lang="en-US" altLang="en-US" dirty="0"/>
          </a:p>
          <a:p>
            <a:pPr marL="669925" lvl="1" indent="-325438"/>
            <a:endParaRPr lang="en-US" altLang="en-US" dirty="0"/>
          </a:p>
          <a:p>
            <a:pPr marL="344487" lvl="1" indent="0">
              <a:buNone/>
            </a:pPr>
            <a:endParaRPr lang="en-US" altLang="en-US" dirty="0"/>
          </a:p>
          <a:p>
            <a:pPr marL="344487" lvl="1" indent="0">
              <a:buNone/>
            </a:pPr>
            <a:endParaRPr lang="en-US" altLang="en-US" dirty="0"/>
          </a:p>
          <a:p>
            <a:pPr marL="344487" lvl="1" indent="0">
              <a:buNone/>
            </a:pPr>
            <a:endParaRPr lang="en-US" altLang="en-US" dirty="0"/>
          </a:p>
          <a:p>
            <a:pPr marL="0" indent="-188899">
              <a:buNone/>
            </a:pPr>
            <a:endParaRPr lang="en-US" altLang="en-US" dirty="0"/>
          </a:p>
          <a:p>
            <a:endParaRPr lang="zh-CN" alt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108C84-98B4-464A-A57A-48F1C083881C}"/>
              </a:ext>
            </a:extLst>
          </p:cNvPr>
          <p:cNvGrpSpPr/>
          <p:nvPr/>
        </p:nvGrpSpPr>
        <p:grpSpPr>
          <a:xfrm>
            <a:off x="1450750" y="3301732"/>
            <a:ext cx="9673312" cy="2333477"/>
            <a:chOff x="2122646" y="1347079"/>
            <a:chExt cx="6066318" cy="361366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431CED8-7C14-4541-964B-27BC4E065E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2646" y="1698222"/>
              <a:ext cx="6066318" cy="3262525"/>
              <a:chOff x="653" y="1019"/>
              <a:chExt cx="3474" cy="1299"/>
            </a:xfrm>
          </p:grpSpPr>
          <p:sp>
            <p:nvSpPr>
              <p:cNvPr id="9" name="AutoShape 5">
                <a:extLst>
                  <a:ext uri="{FF2B5EF4-FFF2-40B4-BE49-F238E27FC236}">
                    <a16:creationId xmlns:a16="http://schemas.microsoft.com/office/drawing/2014/main" id="{2F8F8C74-8332-496A-ACF9-B176A91DC31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2428" y="1040"/>
                <a:ext cx="1699" cy="1083"/>
              </a:xfrm>
              <a:prstGeom prst="roundRect">
                <a:avLst>
                  <a:gd name="adj" fmla="val 2667"/>
                </a:avLst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200"/>
              </a:p>
            </p:txBody>
          </p:sp>
          <p:sp>
            <p:nvSpPr>
              <p:cNvPr id="10" name="AutoShape 6">
                <a:extLst>
                  <a:ext uri="{FF2B5EF4-FFF2-40B4-BE49-F238E27FC236}">
                    <a16:creationId xmlns:a16="http://schemas.microsoft.com/office/drawing/2014/main" id="{8BBC7143-600D-416F-8838-255A9215364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653" y="1019"/>
                <a:ext cx="1116" cy="1299"/>
              </a:xfrm>
              <a:prstGeom prst="homePlate">
                <a:avLst>
                  <a:gd name="adj" fmla="val 12454"/>
                </a:avLst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200"/>
              </a:p>
            </p:txBody>
          </p:sp>
          <p:sp>
            <p:nvSpPr>
              <p:cNvPr id="11" name="Rectangle 7">
                <a:extLst>
                  <a:ext uri="{FF2B5EF4-FFF2-40B4-BE49-F238E27FC236}">
                    <a16:creationId xmlns:a16="http://schemas.microsoft.com/office/drawing/2014/main" id="{D3A04136-B919-4E57-ACD4-8D48B7F7404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712" y="1168"/>
                <a:ext cx="1716" cy="1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marL="342900" indent="-342900" defTabSz="8953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171450" indent="-169863" defTabSz="8953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8953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8953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8953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1" eaLnBrk="1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50000"/>
                  </a:spcAft>
                  <a:buClr>
                    <a:srgbClr val="777777"/>
                  </a:buClr>
                  <a:buFont typeface="Garamond" panose="02020404030301010803" pitchFamily="18" charset="0"/>
                  <a:buNone/>
                </a:pPr>
                <a:r>
                  <a:rPr lang="en-US" altLang="en-US" sz="1400" b="1" dirty="0">
                    <a:solidFill>
                      <a:srgbClr val="FFFFFF"/>
                    </a:solidFill>
                    <a:latin typeface="Garamond" panose="02020404030301010803" pitchFamily="18" charset="0"/>
                  </a:rPr>
                  <a:t>Premium brand image</a:t>
                </a:r>
              </a:p>
              <a:p>
                <a:pPr lvl="1" eaLnBrk="1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50000"/>
                  </a:spcAft>
                  <a:buClr>
                    <a:srgbClr val="777777"/>
                  </a:buClr>
                  <a:buFont typeface="Garamond" panose="02020404030301010803" pitchFamily="18" charset="0"/>
                  <a:buNone/>
                </a:pPr>
                <a:r>
                  <a:rPr lang="en-US" altLang="en-US" sz="1400" b="1" dirty="0">
                    <a:solidFill>
                      <a:srgbClr val="FFFFFF"/>
                    </a:solidFill>
                    <a:latin typeface="Garamond" panose="02020404030301010803" pitchFamily="18" charset="0"/>
                  </a:rPr>
                  <a:t>Customization</a:t>
                </a:r>
              </a:p>
              <a:p>
                <a:pPr lvl="1" eaLnBrk="1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50000"/>
                  </a:spcAft>
                  <a:buClr>
                    <a:srgbClr val="777777"/>
                  </a:buClr>
                  <a:buFont typeface="Garamond" panose="02020404030301010803" pitchFamily="18" charset="0"/>
                  <a:buNone/>
                </a:pPr>
                <a:r>
                  <a:rPr lang="en-US" altLang="en-US" sz="1400" b="1" dirty="0">
                    <a:solidFill>
                      <a:srgbClr val="FFFFFF"/>
                    </a:solidFill>
                    <a:latin typeface="Garamond" panose="02020404030301010803" pitchFamily="18" charset="0"/>
                  </a:rPr>
                  <a:t>Unique styling</a:t>
                </a:r>
              </a:p>
              <a:p>
                <a:pPr lvl="1" eaLnBrk="1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50000"/>
                  </a:spcAft>
                  <a:buClr>
                    <a:srgbClr val="777777"/>
                  </a:buClr>
                  <a:buFont typeface="Garamond" panose="02020404030301010803" pitchFamily="18" charset="0"/>
                  <a:buNone/>
                </a:pPr>
                <a:r>
                  <a:rPr lang="en-US" altLang="en-US" sz="1400" b="1" dirty="0">
                    <a:solidFill>
                      <a:srgbClr val="FFFFFF"/>
                    </a:solidFill>
                    <a:latin typeface="Garamond" panose="02020404030301010803" pitchFamily="18" charset="0"/>
                  </a:rPr>
                  <a:t>Speed </a:t>
                </a:r>
              </a:p>
              <a:p>
                <a:pPr lvl="1" eaLnBrk="1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50000"/>
                  </a:spcAft>
                  <a:buClr>
                    <a:srgbClr val="777777"/>
                  </a:buClr>
                  <a:buFont typeface="Garamond" panose="02020404030301010803" pitchFamily="18" charset="0"/>
                  <a:buNone/>
                </a:pPr>
                <a:r>
                  <a:rPr lang="en-US" altLang="en-US" sz="1400" b="1" dirty="0">
                    <a:solidFill>
                      <a:srgbClr val="FFFFFF"/>
                    </a:solidFill>
                    <a:latin typeface="Garamond" panose="02020404030301010803" pitchFamily="18" charset="0"/>
                  </a:rPr>
                  <a:t>More convenient access</a:t>
                </a:r>
              </a:p>
              <a:p>
                <a:pPr lvl="1" eaLnBrk="1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50000"/>
                  </a:spcAft>
                  <a:buClr>
                    <a:srgbClr val="777777"/>
                  </a:buClr>
                  <a:buFont typeface="Garamond" panose="02020404030301010803" pitchFamily="18" charset="0"/>
                  <a:buNone/>
                </a:pPr>
                <a:r>
                  <a:rPr lang="en-US" altLang="en-US" sz="1400" b="1" dirty="0">
                    <a:solidFill>
                      <a:srgbClr val="FFFFFF"/>
                    </a:solidFill>
                    <a:latin typeface="Garamond" panose="02020404030301010803" pitchFamily="18" charset="0"/>
                  </a:rPr>
                  <a:t>Unusually high-quality </a:t>
                </a:r>
              </a:p>
            </p:txBody>
          </p:sp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526BC5A4-17AB-4CF5-80FD-7E923206BBC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2529" y="1160"/>
                <a:ext cx="155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8953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8953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8953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8953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8953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50000"/>
                  </a:spcAft>
                  <a:buClr>
                    <a:srgbClr val="800000"/>
                  </a:buClr>
                  <a:buFont typeface="Garamond" panose="02020404030301010803" pitchFamily="18" charset="0"/>
                  <a:buNone/>
                </a:pPr>
                <a:r>
                  <a:rPr lang="en-US" altLang="en-US" sz="1400" b="1" dirty="0">
                    <a:solidFill>
                      <a:srgbClr val="FFFFFF"/>
                    </a:solidFill>
                    <a:latin typeface="Garamond" panose="02020404030301010803" pitchFamily="18" charset="0"/>
                  </a:rPr>
                  <a:t>To drive up customer’s willingness to pay and generate demand sufficient to</a:t>
                </a:r>
              </a:p>
            </p:txBody>
          </p:sp>
          <p:sp>
            <p:nvSpPr>
              <p:cNvPr id="13" name="Rectangle 9">
                <a:extLst>
                  <a:ext uri="{FF2B5EF4-FFF2-40B4-BE49-F238E27FC236}">
                    <a16:creationId xmlns:a16="http://schemas.microsoft.com/office/drawing/2014/main" id="{316B7750-30E8-4300-864C-7AA95BF7401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2529" y="1555"/>
                <a:ext cx="1554" cy="4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marL="357188" indent="-357188" defTabSz="8953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8953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8953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8953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8953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indent="0" eaLnBrk="1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25000"/>
                  </a:spcAft>
                  <a:buClr>
                    <a:srgbClr val="800000"/>
                  </a:buClr>
                </a:pPr>
                <a:r>
                  <a:rPr lang="en-US" altLang="en-US" sz="1400" b="1" dirty="0">
                    <a:solidFill>
                      <a:srgbClr val="FFFFFF"/>
                    </a:solidFill>
                    <a:latin typeface="Garamond" panose="02020404030301010803" pitchFamily="18" charset="0"/>
                  </a:rPr>
                  <a:t>1. Recoup added costs and</a:t>
                </a:r>
              </a:p>
              <a:p>
                <a:pPr marL="0" indent="0" eaLnBrk="1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25000"/>
                  </a:spcAft>
                  <a:buClr>
                    <a:srgbClr val="800000"/>
                  </a:buClr>
                </a:pPr>
                <a:r>
                  <a:rPr lang="en-US" altLang="en-US" sz="1400" b="1" dirty="0">
                    <a:solidFill>
                      <a:srgbClr val="FFFFFF"/>
                    </a:solidFill>
                    <a:latin typeface="Garamond" panose="02020404030301010803" pitchFamily="18" charset="0"/>
                  </a:rPr>
                  <a:t>2. Generate enough profits to make strategy worthwhile</a:t>
                </a:r>
              </a:p>
            </p:txBody>
          </p:sp>
        </p:grpSp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8B9F55D1-997A-45A5-94FA-D57338F80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2646" y="1351627"/>
              <a:ext cx="2344737" cy="244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 b="1" dirty="0"/>
                <a:t>Key Drivers</a:t>
              </a:r>
            </a:p>
          </p:txBody>
        </p:sp>
        <p:sp>
          <p:nvSpPr>
            <p:cNvPr id="8" name="Text Box 11">
              <a:extLst>
                <a:ext uri="{FF2B5EF4-FFF2-40B4-BE49-F238E27FC236}">
                  <a16:creationId xmlns:a16="http://schemas.microsoft.com/office/drawing/2014/main" id="{AF37B4C3-106A-4DA0-A3A0-316AA663DB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4607" y="1347079"/>
              <a:ext cx="2344738" cy="244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 b="1" dirty="0"/>
                <a:t>Purpose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519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FAE88-B75F-D4F9-F030-7ABF27AE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87" y="0"/>
            <a:ext cx="10360043" cy="971550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Differentiation in the Streaming Service Industry</a:t>
            </a:r>
            <a:endParaRPr lang="en-US" sz="3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88417-DB0F-EFAB-D7EE-15F03F0780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814388"/>
            <a:ext cx="10915650" cy="6043612"/>
          </a:xfrm>
        </p:spPr>
        <p:txBody>
          <a:bodyPr>
            <a:normAutofit fontScale="92500" lnSpcReduction="10000"/>
          </a:bodyPr>
          <a:lstStyle/>
          <a:p>
            <a:pPr marR="0">
              <a:lnSpc>
                <a:spcPct val="110000"/>
              </a:lnSpc>
              <a:spcBef>
                <a:spcPts val="0"/>
              </a:spcBef>
            </a:pPr>
            <a:r>
              <a:rPr lang="en-US" sz="1900" dirty="0">
                <a:solidFill>
                  <a:srgbClr val="002060"/>
                </a:solidFill>
                <a:latin typeface="Arial" charset="0"/>
              </a:rPr>
              <a:t>You are an executive at </a:t>
            </a:r>
            <a:r>
              <a:rPr lang="en-US" sz="1900" dirty="0" err="1">
                <a:solidFill>
                  <a:srgbClr val="002060"/>
                </a:solidFill>
                <a:latin typeface="Arial" charset="0"/>
              </a:rPr>
              <a:t>CineMax</a:t>
            </a:r>
            <a:r>
              <a:rPr lang="en-US" sz="1900" dirty="0">
                <a:solidFill>
                  <a:srgbClr val="002060"/>
                </a:solidFill>
                <a:latin typeface="Arial" charset="0"/>
              </a:rPr>
              <a:t>+, a new premium streaming service provider. The video streaming industry is extremely unfavorable.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00" b="1" dirty="0">
                <a:solidFill>
                  <a:srgbClr val="002060"/>
                </a:solidFill>
                <a:latin typeface="Arial" charset="0"/>
              </a:rPr>
              <a:t>High Rivalry Among Competitors 🎬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500" dirty="0">
                <a:solidFill>
                  <a:srgbClr val="002060"/>
                </a:solidFill>
                <a:latin typeface="Arial" charset="0"/>
              </a:rPr>
              <a:t>The market is dominated by global giants like Netflix, Disney+, HBO Max, Amazon Prime, and Apple TV+.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500" dirty="0">
                <a:solidFill>
                  <a:srgbClr val="002060"/>
                </a:solidFill>
                <a:latin typeface="Arial" charset="0"/>
              </a:rPr>
              <a:t>Intense competition has led to aggressive content spending and price wars.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00" b="1" dirty="0">
                <a:solidFill>
                  <a:srgbClr val="002060"/>
                </a:solidFill>
                <a:latin typeface="Arial" charset="0"/>
              </a:rPr>
              <a:t>High Threat of New Entrants 🚪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500" dirty="0">
                <a:solidFill>
                  <a:srgbClr val="002060"/>
                </a:solidFill>
                <a:latin typeface="Arial" charset="0"/>
              </a:rPr>
              <a:t>New players keep entering the market (e.g., Paramount+, Peacock, YouTube Premium).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500" dirty="0">
                <a:solidFill>
                  <a:srgbClr val="002060"/>
                </a:solidFill>
                <a:latin typeface="Arial" charset="0"/>
              </a:rPr>
              <a:t>Even non-media tech giants (e.g., Apple, Google, and TikTok) have launched video services.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00" b="1" dirty="0">
                <a:solidFill>
                  <a:srgbClr val="002060"/>
                </a:solidFill>
                <a:latin typeface="Arial" charset="0"/>
              </a:rPr>
              <a:t>Strong Bargaining Power of Buyers 💰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500" dirty="0">
                <a:solidFill>
                  <a:srgbClr val="002060"/>
                </a:solidFill>
                <a:latin typeface="Arial" charset="0"/>
              </a:rPr>
              <a:t>Consumers have many streaming options and can easily cancel subscriptions.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500" dirty="0">
                <a:solidFill>
                  <a:srgbClr val="002060"/>
                </a:solidFill>
                <a:latin typeface="Arial" charset="0"/>
              </a:rPr>
              <a:t>Some users rotate between services based on new releases.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500" dirty="0">
                <a:solidFill>
                  <a:srgbClr val="002060"/>
                </a:solidFill>
                <a:latin typeface="Arial" charset="0"/>
              </a:rPr>
              <a:t>Many customers now prefer free or ad-supported streaming instead of paying for multiple premium services.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00" b="1" dirty="0">
                <a:solidFill>
                  <a:srgbClr val="002060"/>
                </a:solidFill>
                <a:latin typeface="Arial" charset="0"/>
              </a:rPr>
              <a:t>Strong Bargaining Power of Suppliers 🎥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500" dirty="0">
                <a:solidFill>
                  <a:srgbClr val="002060"/>
                </a:solidFill>
                <a:latin typeface="Arial" charset="0"/>
              </a:rPr>
              <a:t>Hollywood studios, independent filmmakers, and content creators hold immense power by controlling content.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500" dirty="0">
                <a:solidFill>
                  <a:srgbClr val="002060"/>
                </a:solidFill>
                <a:latin typeface="Arial" charset="0"/>
              </a:rPr>
              <a:t>Large media companies sometimes pull their content to boost their own streaming services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500" dirty="0">
                <a:solidFill>
                  <a:srgbClr val="002060"/>
                </a:solidFill>
                <a:latin typeface="Arial" charset="0"/>
              </a:rPr>
              <a:t>Top-tier talent (directors, actors, scriptwriters) demand high salaries and creative control, increasing costs.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00" b="1" dirty="0">
                <a:solidFill>
                  <a:srgbClr val="002060"/>
                </a:solidFill>
                <a:latin typeface="Arial" charset="0"/>
              </a:rPr>
              <a:t>High Threat of Substitutes 📱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500" dirty="0">
                <a:solidFill>
                  <a:srgbClr val="002060"/>
                </a:solidFill>
                <a:latin typeface="Arial" charset="0"/>
              </a:rPr>
              <a:t>Consumers don’t need premium streaming when they have cheap alternatives like YouTube, TikTok, Instagram etc.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500" dirty="0">
                <a:solidFill>
                  <a:srgbClr val="002060"/>
                </a:solidFill>
                <a:latin typeface="Arial" charset="0"/>
              </a:rPr>
              <a:t>Many users pirate movies and TV shows instead of paying for legal streaming services.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900" dirty="0" err="1">
                <a:solidFill>
                  <a:srgbClr val="002060"/>
                </a:solidFill>
                <a:latin typeface="Arial" charset="0"/>
              </a:rPr>
              <a:t>CineMax</a:t>
            </a:r>
            <a:r>
              <a:rPr lang="en-US" sz="1900" dirty="0">
                <a:solidFill>
                  <a:srgbClr val="002060"/>
                </a:solidFill>
                <a:latin typeface="Arial" charset="0"/>
              </a:rPr>
              <a:t>+ is losing subscribers rapidly. The CEO decides that: “We can’t win a price war. Instead, we must offer something so unique that customers choose us over other platforms.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002060"/>
                </a:solidFill>
                <a:latin typeface="Arial" charset="0"/>
              </a:rPr>
              <a:t>How exactly can differentiation help us deal with each of the five forces?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200" i="1" kern="0" dirty="0">
              <a:effectLst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200" kern="100" dirty="0">
              <a:effectLst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4793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A1EB29-28B4-0AF4-460A-8554489391BD}"/>
              </a:ext>
            </a:extLst>
          </p:cNvPr>
          <p:cNvGraphicFramePr>
            <a:graphicFrameLocks noGrp="1"/>
          </p:cNvGraphicFramePr>
          <p:nvPr/>
        </p:nvGraphicFramePr>
        <p:xfrm>
          <a:off x="-2" y="-1"/>
          <a:ext cx="12192000" cy="59474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0596028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553004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18109462"/>
                    </a:ext>
                  </a:extLst>
                </a:gridCol>
              </a:tblGrid>
              <a:tr h="2815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Industry Force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How Differentiation Helps </a:t>
                      </a:r>
                      <a:r>
                        <a:rPr lang="en-US" sz="1600" kern="0" dirty="0" err="1">
                          <a:effectLst/>
                        </a:rPr>
                        <a:t>CineMax</a:t>
                      </a:r>
                      <a:r>
                        <a:rPr lang="en-US" sz="1600" kern="0" dirty="0">
                          <a:effectLst/>
                        </a:rPr>
                        <a:t>+ Compete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Examples of Differentiation Strategies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2971958"/>
                  </a:ext>
                </a:extLst>
              </a:tr>
              <a:tr h="1012509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High Rivalry Among Competitors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Instead of fighting a price war, </a:t>
                      </a:r>
                      <a:r>
                        <a:rPr lang="en-US" sz="1600" kern="0" dirty="0" err="1">
                          <a:effectLst/>
                        </a:rPr>
                        <a:t>CineMax</a:t>
                      </a:r>
                      <a:r>
                        <a:rPr lang="en-US" sz="1600" kern="0" dirty="0">
                          <a:effectLst/>
                        </a:rPr>
                        <a:t>+ can differentiate through exclusive content and innovative viewing experiences.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- Develop high-budget, interactive content (e.g., choose-your-own-adventure movies). - Focus on a specific niche (e.g., best sci-fi, indie films, or international cinema).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3664186"/>
                  </a:ext>
                </a:extLst>
              </a:tr>
              <a:tr h="117786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High Threat of New Entrants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A unique brand identity and strong customer loyalty can make it harder for new entrants to take market share.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- Offer personalized AI-driven recommendations better than competitors. - Provide exclusive live experiences (e.g., streaming concerts, celebrity Q&amp;A sessions).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4502699"/>
                  </a:ext>
                </a:extLst>
              </a:tr>
              <a:tr h="117786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Strong Bargaining Power of Buyers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If CineMax+ provides an irreplaceable experience, customers will keep their subscriptions even with other options available.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- Introduce bundled subscriptions (e.g., include premium podcasts, live sports, or gaming content). - Offer co-viewing features, allowing users to watch with friends in virtual rooms.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0220513"/>
                  </a:ext>
                </a:extLst>
              </a:tr>
              <a:tr h="103346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Strong Bargaining Power of Suppliers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Unique production partnerships and in-house content creation reduce dependence on Hollywood studios.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- Invest in original content and acquire exclusive streaming rights for niche categories. - Partner with independent filmmakers to showcase unique stories.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4783748"/>
                  </a:ext>
                </a:extLst>
              </a:tr>
              <a:tr h="87913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High Threat of Substitutes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If CineMax+ offers exclusive content and immersive experiences, customers will prefer it over substitutes.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- Create AI-generated, interactive stories that evolve based on viewers' choices. - Offer VR/AR-enhanced entertainment experiences.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2385573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F2366D8C-3CD0-AFB0-6476-C5DA8647DA0A}"/>
              </a:ext>
            </a:extLst>
          </p:cNvPr>
          <p:cNvSpPr txBox="1">
            <a:spLocks/>
          </p:cNvSpPr>
          <p:nvPr/>
        </p:nvSpPr>
        <p:spPr bwMode="auto">
          <a:xfrm>
            <a:off x="523116" y="6037351"/>
            <a:ext cx="11145767" cy="767994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4E000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412F8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412F8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412F8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412F86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412F86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412F86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412F86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412F86"/>
                </a:solidFill>
                <a:latin typeface="Arial" charset="0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A firm that successfully implements a differentiation strategy can earn above-average returns even when the five forces are strong</a:t>
            </a:r>
          </a:p>
          <a:p>
            <a:pPr algn="ctr"/>
            <a:endParaRPr lang="en-US" sz="2800" b="1" kern="0" dirty="0"/>
          </a:p>
        </p:txBody>
      </p:sp>
    </p:spTree>
    <p:extLst>
      <p:ext uri="{BB962C8B-B14F-4D97-AF65-F5344CB8AC3E}">
        <p14:creationId xmlns:p14="http://schemas.microsoft.com/office/powerpoint/2010/main" val="192338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ftp://Rothaermel:rothaermel_strat@ftp.eppg.com/Art%20Files/Chapter_6/rot12737_ex0607.jpg">
            <a:extLst>
              <a:ext uri="{FF2B5EF4-FFF2-40B4-BE49-F238E27FC236}">
                <a16:creationId xmlns:a16="http://schemas.microsoft.com/office/drawing/2014/main" id="{2F4CBC15-8CF2-44C4-8E10-6F9C7C9680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9" b="5290"/>
          <a:stretch/>
        </p:blipFill>
        <p:spPr bwMode="auto">
          <a:xfrm>
            <a:off x="51370" y="7707"/>
            <a:ext cx="12140630" cy="6814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7027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F11A-06AA-4E95-A56B-854A25F5C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4547"/>
            <a:ext cx="9993331" cy="1143000"/>
          </a:xfrm>
        </p:spPr>
        <p:txBody>
          <a:bodyPr/>
          <a:lstStyle/>
          <a:p>
            <a:r>
              <a:rPr lang="en-US" altLang="zh-CN" dirty="0"/>
              <a:t>Five Generic Business-Level Strategies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E9B64A-E51A-469B-BF26-11C851865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71" y="996594"/>
            <a:ext cx="9602286" cy="5705856"/>
          </a:xfrm>
          <a:prstGeom prst="rect">
            <a:avLst/>
          </a:prstGeom>
        </p:spPr>
      </p:pic>
      <p:sp>
        <p:nvSpPr>
          <p:cNvPr id="7" name="Text Box 16">
            <a:extLst>
              <a:ext uri="{FF2B5EF4-FFF2-40B4-BE49-F238E27FC236}">
                <a16:creationId xmlns:a16="http://schemas.microsoft.com/office/drawing/2014/main" id="{A752100C-EC12-4966-863E-F3BBF62F9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4044" y="2446085"/>
            <a:ext cx="2382114" cy="612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 dirty="0"/>
              <a:t>Wal-Mart; </a:t>
            </a:r>
            <a:r>
              <a:rPr lang="en-US" sz="1400" b="1" dirty="0" err="1"/>
              <a:t>Wellcome</a:t>
            </a:r>
            <a:endParaRPr lang="en-US" sz="1400" b="1" dirty="0"/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07978EC0-CECB-43F7-916F-C0470E624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1088" y="2296276"/>
            <a:ext cx="2943546" cy="990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 dirty="0"/>
              <a:t>Nike</a:t>
            </a:r>
          </a:p>
          <a:p>
            <a:pPr algn="ctr"/>
            <a:r>
              <a:rPr lang="en-US" sz="1400" b="1" dirty="0"/>
              <a:t>Huawei</a:t>
            </a:r>
          </a:p>
          <a:p>
            <a:pPr algn="ctr"/>
            <a:endParaRPr lang="en-US" sz="1400" b="1" dirty="0"/>
          </a:p>
          <a:p>
            <a:pPr algn="ctr"/>
            <a:endParaRPr lang="en-US" sz="1400" b="1" dirty="0"/>
          </a:p>
        </p:txBody>
      </p:sp>
      <p:sp>
        <p:nvSpPr>
          <p:cNvPr id="9" name="Text Box 16">
            <a:extLst>
              <a:ext uri="{FF2B5EF4-FFF2-40B4-BE49-F238E27FC236}">
                <a16:creationId xmlns:a16="http://schemas.microsoft.com/office/drawing/2014/main" id="{BDFBEB6C-5EF7-4A18-A2A4-C238CD38B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7255" y="5675808"/>
            <a:ext cx="257252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 dirty="0"/>
              <a:t>759 Store</a:t>
            </a:r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1C89C328-C4ED-4845-8C5E-B6929A3D9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7539" y="5675808"/>
            <a:ext cx="3324496" cy="612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400" b="1" dirty="0"/>
              <a:t>Abercrombie and Fitch</a:t>
            </a:r>
          </a:p>
          <a:p>
            <a:pPr algn="ctr"/>
            <a:r>
              <a:rPr lang="en-US" sz="1400" b="1" dirty="0"/>
              <a:t>Apple</a:t>
            </a:r>
          </a:p>
        </p:txBody>
      </p:sp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4EC5F0B7-CAFE-40C1-9A6F-3E44E9893122}"/>
              </a:ext>
            </a:extLst>
          </p:cNvPr>
          <p:cNvSpPr/>
          <p:nvPr/>
        </p:nvSpPr>
        <p:spPr>
          <a:xfrm>
            <a:off x="8208493" y="4036414"/>
            <a:ext cx="2933508" cy="222798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49E021-38BB-4C91-A8F2-53B7F35EFEC4}"/>
              </a:ext>
            </a:extLst>
          </p:cNvPr>
          <p:cNvSpPr txBox="1"/>
          <p:nvPr/>
        </p:nvSpPr>
        <p:spPr>
          <a:xfrm>
            <a:off x="10304187" y="3667082"/>
            <a:ext cx="1675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b="1" dirty="0"/>
              <a:t>IKEA</a:t>
            </a:r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56385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 animBg="1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70F3C-2DAE-53CF-97EE-B0DF95517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377" y="50040"/>
            <a:ext cx="9993331" cy="1143000"/>
          </a:xfrm>
        </p:spPr>
        <p:txBody>
          <a:bodyPr/>
          <a:lstStyle/>
          <a:p>
            <a:r>
              <a:rPr lang="en-US" sz="4000" dirty="0"/>
              <a:t>Business Level Strategy – TRADE-OFFS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5AABF-D62C-CC52-0A79-A2BB65859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7220" y="1378634"/>
            <a:ext cx="3988792" cy="5204199"/>
          </a:xfrm>
        </p:spPr>
        <p:txBody>
          <a:bodyPr/>
          <a:lstStyle/>
          <a:p>
            <a:r>
              <a:rPr lang="en-US" sz="2400" b="1" dirty="0"/>
              <a:t>Southwest airlines’ Competitive Advantages (rivals unable to imitate): </a:t>
            </a:r>
          </a:p>
          <a:p>
            <a:pPr lvl="1"/>
            <a:r>
              <a:rPr lang="en-US" dirty="0"/>
              <a:t>Tight integration among activities</a:t>
            </a:r>
          </a:p>
          <a:p>
            <a:pPr lvl="1"/>
            <a:r>
              <a:rPr lang="en-US" dirty="0"/>
              <a:t>Cost leadership strategy</a:t>
            </a:r>
          </a:p>
          <a:p>
            <a:pPr lvl="1"/>
            <a:r>
              <a:rPr lang="en-US" dirty="0"/>
              <a:t>Unique culture and customer service</a:t>
            </a:r>
          </a:p>
          <a:p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A5CAB91-E921-4E96-D798-987F680BE67E}"/>
              </a:ext>
            </a:extLst>
          </p:cNvPr>
          <p:cNvGrpSpPr/>
          <p:nvPr/>
        </p:nvGrpSpPr>
        <p:grpSpPr>
          <a:xfrm>
            <a:off x="4296012" y="1378633"/>
            <a:ext cx="7310511" cy="5429327"/>
            <a:chOff x="1750326" y="824552"/>
            <a:chExt cx="8612874" cy="5728648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692F0205-DEE4-04FB-C7E1-B63FA0DA2D6B}"/>
                </a:ext>
              </a:extLst>
            </p:cNvPr>
            <p:cNvSpPr/>
            <p:nvPr/>
          </p:nvSpPr>
          <p:spPr>
            <a:xfrm>
              <a:off x="5410200" y="1295400"/>
              <a:ext cx="1371600" cy="8382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Limited Passenger Service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31213BDE-9DC3-306E-85E6-4901144DA312}"/>
                </a:ext>
              </a:extLst>
            </p:cNvPr>
            <p:cNvSpPr/>
            <p:nvPr/>
          </p:nvSpPr>
          <p:spPr>
            <a:xfrm>
              <a:off x="1828800" y="2667000"/>
              <a:ext cx="1371600" cy="8382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Frequent, reliable departures</a:t>
              </a: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4D0F0002-74A0-E6E9-7676-4066934E6F1B}"/>
                </a:ext>
              </a:extLst>
            </p:cNvPr>
            <p:cNvSpPr/>
            <p:nvPr/>
          </p:nvSpPr>
          <p:spPr>
            <a:xfrm>
              <a:off x="5410200" y="5715000"/>
              <a:ext cx="1371600" cy="8382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High aircraft utilization</a:t>
              </a:r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C19E1CF7-0094-1F56-0D20-18666F1834AF}"/>
                </a:ext>
              </a:extLst>
            </p:cNvPr>
            <p:cNvSpPr/>
            <p:nvPr/>
          </p:nvSpPr>
          <p:spPr>
            <a:xfrm>
              <a:off x="3429000" y="4114800"/>
              <a:ext cx="1600200" cy="10668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Lean, highly productive ground and gate crews</a:t>
              </a: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BE3D944F-B4FA-067D-B7C8-5E3E0A31D0B2}"/>
                </a:ext>
              </a:extLst>
            </p:cNvPr>
            <p:cNvSpPr/>
            <p:nvPr/>
          </p:nvSpPr>
          <p:spPr>
            <a:xfrm>
              <a:off x="7391400" y="4191000"/>
              <a:ext cx="1524000" cy="6858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Very low ticket prices</a:t>
              </a: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114D06DA-ED96-1BD7-95B7-9449E18FF64F}"/>
                </a:ext>
              </a:extLst>
            </p:cNvPr>
            <p:cNvSpPr/>
            <p:nvPr/>
          </p:nvSpPr>
          <p:spPr>
            <a:xfrm>
              <a:off x="8458200" y="2438400"/>
              <a:ext cx="1905000" cy="9525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Short haul, point-to-point routes between midsized cities and secondary airports</a:t>
              </a:r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AFA0AB6A-F092-1766-8D16-41B18E05C941}"/>
                </a:ext>
              </a:extLst>
            </p:cNvPr>
            <p:cNvSpPr/>
            <p:nvPr/>
          </p:nvSpPr>
          <p:spPr>
            <a:xfrm>
              <a:off x="4015854" y="921224"/>
              <a:ext cx="1089546" cy="526576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No Meals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F0C24AAF-588D-B5EA-EDED-2E9E3C98A89E}"/>
                </a:ext>
              </a:extLst>
            </p:cNvPr>
            <p:cNvSpPr/>
            <p:nvPr/>
          </p:nvSpPr>
          <p:spPr>
            <a:xfrm>
              <a:off x="2667000" y="1447800"/>
              <a:ext cx="1219200" cy="665328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No seat assignment</a:t>
              </a:r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48FB34E5-E69E-5520-65D5-E3CA5E059058}"/>
                </a:ext>
              </a:extLst>
            </p:cNvPr>
            <p:cNvSpPr/>
            <p:nvPr/>
          </p:nvSpPr>
          <p:spPr>
            <a:xfrm>
              <a:off x="3733800" y="2667000"/>
              <a:ext cx="1219200" cy="9144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15-minute gate turnaround</a:t>
              </a:r>
            </a:p>
          </p:txBody>
        </p: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2ED220DC-6317-44A8-5A5C-ECAD3982EB56}"/>
                </a:ext>
              </a:extLst>
            </p:cNvPr>
            <p:cNvSpPr/>
            <p:nvPr/>
          </p:nvSpPr>
          <p:spPr>
            <a:xfrm>
              <a:off x="7086600" y="824552"/>
              <a:ext cx="1206690" cy="699448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No baggage transfers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A6B651DA-23FF-1C4C-194A-CAF5715B8144}"/>
                </a:ext>
              </a:extLst>
            </p:cNvPr>
            <p:cNvSpPr/>
            <p:nvPr/>
          </p:nvSpPr>
          <p:spPr>
            <a:xfrm>
              <a:off x="8575912" y="1136176"/>
              <a:ext cx="1177688" cy="10287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No connections with other airlines</a:t>
              </a:r>
            </a:p>
          </p:txBody>
        </p: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E575B3B8-E7F3-7CE9-F624-9FB88C7044A1}"/>
                </a:ext>
              </a:extLst>
            </p:cNvPr>
            <p:cNvSpPr/>
            <p:nvPr/>
          </p:nvSpPr>
          <p:spPr>
            <a:xfrm>
              <a:off x="7086600" y="2552700"/>
              <a:ext cx="1219200" cy="8001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Standardized fleet of 737 aircraft</a:t>
              </a:r>
            </a:p>
          </p:txBody>
        </p:sp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0333F538-DA6E-74CC-9F8D-B919CF9D84FC}"/>
                </a:ext>
              </a:extLst>
            </p:cNvPr>
            <p:cNvSpPr/>
            <p:nvPr/>
          </p:nvSpPr>
          <p:spPr>
            <a:xfrm>
              <a:off x="5541561" y="2438400"/>
              <a:ext cx="1088977" cy="7239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Limited use of travel agents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E29F510F-73A2-2284-9BED-29927A790EE0}"/>
                </a:ext>
              </a:extLst>
            </p:cNvPr>
            <p:cNvSpPr/>
            <p:nvPr/>
          </p:nvSpPr>
          <p:spPr>
            <a:xfrm>
              <a:off x="1750326" y="4191000"/>
              <a:ext cx="1297675" cy="7620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High compensation of employees</a:t>
              </a:r>
            </a:p>
          </p:txBody>
        </p:sp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2A3419C8-CD9D-9AB0-F1CC-81B0538C82AF}"/>
                </a:ext>
              </a:extLst>
            </p:cNvPr>
            <p:cNvSpPr/>
            <p:nvPr/>
          </p:nvSpPr>
          <p:spPr>
            <a:xfrm>
              <a:off x="1981200" y="5401101"/>
              <a:ext cx="1066800" cy="9144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Flexible union contracts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9C0D29BB-C0DA-3FC5-ECA7-095912AE2BA7}"/>
                </a:ext>
              </a:extLst>
            </p:cNvPr>
            <p:cNvSpPr/>
            <p:nvPr/>
          </p:nvSpPr>
          <p:spPr>
            <a:xfrm>
              <a:off x="3674660" y="5486400"/>
              <a:ext cx="1202140" cy="1001404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High level of employee stock ownership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A9855F46-A2F4-4C53-395D-A9556D7C1E45}"/>
                </a:ext>
              </a:extLst>
            </p:cNvPr>
            <p:cNvSpPr/>
            <p:nvPr/>
          </p:nvSpPr>
          <p:spPr>
            <a:xfrm>
              <a:off x="5541561" y="3733800"/>
              <a:ext cx="1088977" cy="9144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Automatic ticketing machines</a:t>
              </a:r>
            </a:p>
          </p:txBody>
        </p:sp>
        <p:sp>
          <p:nvSpPr>
            <p:cNvPr id="71" name="Rounded Rectangle 70">
              <a:extLst>
                <a:ext uri="{FF2B5EF4-FFF2-40B4-BE49-F238E27FC236}">
                  <a16:creationId xmlns:a16="http://schemas.microsoft.com/office/drawing/2014/main" id="{0395ADEB-90FA-8AFC-0FD4-DB615BABEA46}"/>
                </a:ext>
              </a:extLst>
            </p:cNvPr>
            <p:cNvSpPr/>
            <p:nvPr/>
          </p:nvSpPr>
          <p:spPr>
            <a:xfrm>
              <a:off x="8820150" y="5454555"/>
              <a:ext cx="1181100" cy="9144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“Southwest, the low-fare airline”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3B2FA33-AC70-B728-729B-18EC8B649B1A}"/>
                </a:ext>
              </a:extLst>
            </p:cNvPr>
            <p:cNvCxnSpPr/>
            <p:nvPr/>
          </p:nvCxnSpPr>
          <p:spPr>
            <a:xfrm flipV="1">
              <a:off x="3200400" y="2057400"/>
              <a:ext cx="2188760" cy="609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4E25D28-8066-6397-774B-D095101A8772}"/>
                </a:ext>
              </a:extLst>
            </p:cNvPr>
            <p:cNvCxnSpPr/>
            <p:nvPr/>
          </p:nvCxnSpPr>
          <p:spPr>
            <a:xfrm>
              <a:off x="3048001" y="3505200"/>
              <a:ext cx="412845" cy="609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3B4752F-9568-7A32-3203-7883B3912171}"/>
                </a:ext>
              </a:extLst>
            </p:cNvPr>
            <p:cNvCxnSpPr/>
            <p:nvPr/>
          </p:nvCxnSpPr>
          <p:spPr>
            <a:xfrm flipV="1">
              <a:off x="4876800" y="2164876"/>
              <a:ext cx="664760" cy="19499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509E6D7-6744-2061-0089-C13575D2A952}"/>
                </a:ext>
              </a:extLst>
            </p:cNvPr>
            <p:cNvCxnSpPr/>
            <p:nvPr/>
          </p:nvCxnSpPr>
          <p:spPr>
            <a:xfrm flipH="1" flipV="1">
              <a:off x="6553200" y="2133600"/>
              <a:ext cx="838200" cy="2057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7E4A90A-1ACF-FE08-457C-E6BEC36B989B}"/>
                </a:ext>
              </a:extLst>
            </p:cNvPr>
            <p:cNvCxnSpPr/>
            <p:nvPr/>
          </p:nvCxnSpPr>
          <p:spPr>
            <a:xfrm>
              <a:off x="6781800" y="2057400"/>
              <a:ext cx="1868606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53D4688-BBCB-917F-EB57-B1CE4A9DE0D9}"/>
                </a:ext>
              </a:extLst>
            </p:cNvPr>
            <p:cNvCxnSpPr/>
            <p:nvPr/>
          </p:nvCxnSpPr>
          <p:spPr>
            <a:xfrm flipV="1">
              <a:off x="8650406" y="3429000"/>
              <a:ext cx="590550" cy="762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95143C8-144F-F93D-2A68-B292B17CB0BA}"/>
                </a:ext>
              </a:extLst>
            </p:cNvPr>
            <p:cNvCxnSpPr/>
            <p:nvPr/>
          </p:nvCxnSpPr>
          <p:spPr>
            <a:xfrm flipV="1">
              <a:off x="6781800" y="4876800"/>
              <a:ext cx="914400" cy="838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60A4BA3-5D33-E3F5-780A-987081EAAC6A}"/>
                </a:ext>
              </a:extLst>
            </p:cNvPr>
            <p:cNvCxnSpPr/>
            <p:nvPr/>
          </p:nvCxnSpPr>
          <p:spPr>
            <a:xfrm flipV="1">
              <a:off x="5029200" y="4724400"/>
              <a:ext cx="23622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DE81608-2393-1E2F-B747-CD605F337296}"/>
                </a:ext>
              </a:extLst>
            </p:cNvPr>
            <p:cNvCxnSpPr/>
            <p:nvPr/>
          </p:nvCxnSpPr>
          <p:spPr>
            <a:xfrm>
              <a:off x="4953000" y="5181600"/>
              <a:ext cx="457200" cy="533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037755D-A06A-5CB9-C2B1-52AF3EC9016C}"/>
                </a:ext>
              </a:extLst>
            </p:cNvPr>
            <p:cNvCxnSpPr/>
            <p:nvPr/>
          </p:nvCxnSpPr>
          <p:spPr>
            <a:xfrm flipH="1" flipV="1">
              <a:off x="8458201" y="4876800"/>
              <a:ext cx="487481" cy="571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1DCA032-4ADB-1259-BE12-B25BFD8CD914}"/>
                </a:ext>
              </a:extLst>
            </p:cNvPr>
            <p:cNvCxnSpPr/>
            <p:nvPr/>
          </p:nvCxnSpPr>
          <p:spPr>
            <a:xfrm flipV="1">
              <a:off x="9601200" y="3429000"/>
              <a:ext cx="152400" cy="2019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4B38918-FEB8-20BB-5E8D-FFB6BF6E3478}"/>
                </a:ext>
              </a:extLst>
            </p:cNvPr>
            <p:cNvCxnSpPr/>
            <p:nvPr/>
          </p:nvCxnSpPr>
          <p:spPr>
            <a:xfrm flipV="1">
              <a:off x="4343400" y="5181600"/>
              <a:ext cx="0" cy="304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E09A89B-C9CF-8EF5-1EF9-61939673F73A}"/>
                </a:ext>
              </a:extLst>
            </p:cNvPr>
            <p:cNvCxnSpPr/>
            <p:nvPr/>
          </p:nvCxnSpPr>
          <p:spPr>
            <a:xfrm flipV="1">
              <a:off x="3048000" y="5162550"/>
              <a:ext cx="381000" cy="285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FC15C5E-53E6-5550-0EA7-50F8F4BC1609}"/>
                </a:ext>
              </a:extLst>
            </p:cNvPr>
            <p:cNvCxnSpPr>
              <a:stCxn id="57" idx="1"/>
              <a:endCxn id="67" idx="3"/>
            </p:cNvCxnSpPr>
            <p:nvPr/>
          </p:nvCxnSpPr>
          <p:spPr>
            <a:xfrm flipH="1" flipV="1">
              <a:off x="3048000" y="4572000"/>
              <a:ext cx="381000" cy="76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8A73122-5A97-0ADE-BAB7-6CD80C634732}"/>
                </a:ext>
              </a:extLst>
            </p:cNvPr>
            <p:cNvCxnSpPr>
              <a:stCxn id="56" idx="0"/>
              <a:endCxn id="70" idx="2"/>
            </p:cNvCxnSpPr>
            <p:nvPr/>
          </p:nvCxnSpPr>
          <p:spPr>
            <a:xfrm flipH="1" flipV="1">
              <a:off x="6086050" y="4648200"/>
              <a:ext cx="9951" cy="1066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3036AA0-3CA0-DCBC-C215-44DFF260D5A8}"/>
                </a:ext>
              </a:extLst>
            </p:cNvPr>
            <p:cNvCxnSpPr>
              <a:stCxn id="57" idx="3"/>
            </p:cNvCxnSpPr>
            <p:nvPr/>
          </p:nvCxnSpPr>
          <p:spPr>
            <a:xfrm flipV="1">
              <a:off x="5029200" y="4343400"/>
              <a:ext cx="512360" cy="304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544E3A9-CC0B-40D8-96AE-6E7C0A162596}"/>
                </a:ext>
              </a:extLst>
            </p:cNvPr>
            <p:cNvCxnSpPr>
              <a:stCxn id="62" idx="1"/>
              <a:endCxn id="55" idx="3"/>
            </p:cNvCxnSpPr>
            <p:nvPr/>
          </p:nvCxnSpPr>
          <p:spPr>
            <a:xfrm flipH="1" flipV="1">
              <a:off x="3200400" y="3086100"/>
              <a:ext cx="533400" cy="38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4D5FED6-4C64-9E5B-A2E1-68EB745BA13C}"/>
                </a:ext>
              </a:extLst>
            </p:cNvPr>
            <p:cNvCxnSpPr/>
            <p:nvPr/>
          </p:nvCxnSpPr>
          <p:spPr>
            <a:xfrm flipH="1" flipV="1">
              <a:off x="5105400" y="1409700"/>
              <a:ext cx="283762" cy="114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2BBC87F-66C3-4530-67EF-09CEFB3A975D}"/>
                </a:ext>
              </a:extLst>
            </p:cNvPr>
            <p:cNvCxnSpPr>
              <a:endCxn id="61" idx="3"/>
            </p:cNvCxnSpPr>
            <p:nvPr/>
          </p:nvCxnSpPr>
          <p:spPr>
            <a:xfrm flipH="1" flipV="1">
              <a:off x="3886200" y="1780464"/>
              <a:ext cx="1502960" cy="76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72C3218-E4C0-6780-29E1-8F1D58931CCC}"/>
                </a:ext>
              </a:extLst>
            </p:cNvPr>
            <p:cNvCxnSpPr/>
            <p:nvPr/>
          </p:nvCxnSpPr>
          <p:spPr>
            <a:xfrm flipV="1">
              <a:off x="6781800" y="1409700"/>
              <a:ext cx="30480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3FA7095-7C2C-9ABF-B1B9-187888EB1358}"/>
                </a:ext>
              </a:extLst>
            </p:cNvPr>
            <p:cNvCxnSpPr>
              <a:endCxn id="63" idx="3"/>
            </p:cNvCxnSpPr>
            <p:nvPr/>
          </p:nvCxnSpPr>
          <p:spPr>
            <a:xfrm flipH="1" flipV="1">
              <a:off x="8293290" y="1174276"/>
              <a:ext cx="282622" cy="1211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E087898-87D8-FDBC-EC33-683C9F6FFAD5}"/>
                </a:ext>
              </a:extLst>
            </p:cNvPr>
            <p:cNvCxnSpPr/>
            <p:nvPr/>
          </p:nvCxnSpPr>
          <p:spPr>
            <a:xfrm flipH="1">
              <a:off x="6781800" y="1780464"/>
              <a:ext cx="1794112" cy="38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B7E613A0-0BEE-FC43-DB42-E69F30D321CE}"/>
                </a:ext>
              </a:extLst>
            </p:cNvPr>
            <p:cNvCxnSpPr>
              <a:stCxn id="59" idx="0"/>
            </p:cNvCxnSpPr>
            <p:nvPr/>
          </p:nvCxnSpPr>
          <p:spPr>
            <a:xfrm flipV="1">
              <a:off x="9410700" y="2164876"/>
              <a:ext cx="0" cy="2735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CCDAA86-250A-565F-B808-A4D9376BB843}"/>
                </a:ext>
              </a:extLst>
            </p:cNvPr>
            <p:cNvCxnSpPr>
              <a:stCxn id="70" idx="0"/>
              <a:endCxn id="66" idx="2"/>
            </p:cNvCxnSpPr>
            <p:nvPr/>
          </p:nvCxnSpPr>
          <p:spPr>
            <a:xfrm flipV="1">
              <a:off x="6086049" y="3162300"/>
              <a:ext cx="0" cy="571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5C0CF9C0-4AF1-81B7-6943-1C98D513BD12}"/>
                </a:ext>
              </a:extLst>
            </p:cNvPr>
            <p:cNvCxnSpPr>
              <a:stCxn id="66" idx="0"/>
              <a:endCxn id="54" idx="2"/>
            </p:cNvCxnSpPr>
            <p:nvPr/>
          </p:nvCxnSpPr>
          <p:spPr>
            <a:xfrm flipV="1">
              <a:off x="6086050" y="2133600"/>
              <a:ext cx="9951" cy="304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D6B49B2-19F8-5112-AB48-416DFE410DC5}"/>
                </a:ext>
              </a:extLst>
            </p:cNvPr>
            <p:cNvCxnSpPr>
              <a:stCxn id="57" idx="0"/>
              <a:endCxn id="62" idx="2"/>
            </p:cNvCxnSpPr>
            <p:nvPr/>
          </p:nvCxnSpPr>
          <p:spPr>
            <a:xfrm flipV="1">
              <a:off x="4229100" y="3581400"/>
              <a:ext cx="114300" cy="533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C19B521F-978D-FB21-2A66-5B06280EC140}"/>
                </a:ext>
              </a:extLst>
            </p:cNvPr>
            <p:cNvCxnSpPr/>
            <p:nvPr/>
          </p:nvCxnSpPr>
          <p:spPr>
            <a:xfrm flipH="1">
              <a:off x="4876800" y="2113128"/>
              <a:ext cx="533400" cy="5538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59DA81E-9A23-C4AB-C79A-57B3BC91AAB5}"/>
                </a:ext>
              </a:extLst>
            </p:cNvPr>
            <p:cNvCxnSpPr/>
            <p:nvPr/>
          </p:nvCxnSpPr>
          <p:spPr>
            <a:xfrm flipH="1">
              <a:off x="4953000" y="3162300"/>
              <a:ext cx="2133600" cy="190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CB8FEEE9-C7A6-41D2-1F05-ADFC69EE85FD}"/>
                </a:ext>
              </a:extLst>
            </p:cNvPr>
            <p:cNvCxnSpPr>
              <a:stCxn id="59" idx="1"/>
              <a:endCxn id="65" idx="3"/>
            </p:cNvCxnSpPr>
            <p:nvPr/>
          </p:nvCxnSpPr>
          <p:spPr>
            <a:xfrm flipH="1">
              <a:off x="8305800" y="2914650"/>
              <a:ext cx="152400" cy="38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F219661-05AA-6F0E-8212-BDBE2A31ADE8}"/>
                </a:ext>
              </a:extLst>
            </p:cNvPr>
            <p:cNvCxnSpPr/>
            <p:nvPr/>
          </p:nvCxnSpPr>
          <p:spPr>
            <a:xfrm flipH="1" flipV="1">
              <a:off x="6400800" y="3162300"/>
              <a:ext cx="990600" cy="1181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5985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40FAF-CA6C-91D7-26F9-10C3F4525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9993331" cy="1143000"/>
          </a:xfrm>
        </p:spPr>
        <p:txBody>
          <a:bodyPr/>
          <a:lstStyle/>
          <a:p>
            <a:r>
              <a:rPr lang="en-US" sz="3600" dirty="0"/>
              <a:t>Business Level Strategy - Example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05067C3-9BE0-0B45-BD2A-F6110F872511}"/>
              </a:ext>
            </a:extLst>
          </p:cNvPr>
          <p:cNvGrpSpPr/>
          <p:nvPr/>
        </p:nvGrpSpPr>
        <p:grpSpPr>
          <a:xfrm>
            <a:off x="609600" y="1003300"/>
            <a:ext cx="9715836" cy="5854700"/>
            <a:chOff x="155575" y="971550"/>
            <a:chExt cx="8432800" cy="5854700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613DE100-7BFE-BCDB-5EC0-E69C910A3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925" y="1355725"/>
              <a:ext cx="7604125" cy="4572000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A23E11B1-BBE1-A212-30C0-514C4557BC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800" y="1355725"/>
              <a:ext cx="0" cy="487680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7331A15D-2316-C0FD-7635-D1C800F6FA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8563" y="1379538"/>
              <a:ext cx="0" cy="4684712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CA73EE3D-E64A-AF68-9CB4-B700DA5A63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6913" y="1355725"/>
              <a:ext cx="0" cy="495300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FFABB367-4F74-05AD-7744-537D44AB0E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7163" y="1379538"/>
              <a:ext cx="0" cy="4684712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B648A64A-4C7F-0386-7F57-62BCC56159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35513" y="1379538"/>
              <a:ext cx="0" cy="4891087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0ADC7B79-E184-C36C-8468-2496847D3F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03863" y="1379538"/>
              <a:ext cx="0" cy="4684712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310B5E0D-7C1A-4ABF-C8F2-74206D6DA8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0625" y="1379538"/>
              <a:ext cx="0" cy="4891087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E825FA10-B0C2-EF62-A48D-C06FD0D019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38975" y="1341438"/>
              <a:ext cx="0" cy="4684712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Text Box 12">
              <a:extLst>
                <a:ext uri="{FF2B5EF4-FFF2-40B4-BE49-F238E27FC236}">
                  <a16:creationId xmlns:a16="http://schemas.microsoft.com/office/drawing/2014/main" id="{E2D6F8CE-ADAC-9DB8-76CA-6FD0E5784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4300" y="6232525"/>
              <a:ext cx="619125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/>
                <a:t>Price</a:t>
              </a:r>
            </a:p>
          </p:txBody>
        </p:sp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DC5689C2-85F5-87A3-D1B0-1B8F34F34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4550" y="6040438"/>
              <a:ext cx="676275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/>
                <a:t>Meals</a:t>
              </a: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9B631594-C2C3-57CE-E0A0-F0E0D5BD6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7013" y="6348413"/>
              <a:ext cx="92075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/>
                <a:t>Lounges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BA024B6F-43D6-31C2-3D04-3A315F2C79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5363" y="6002338"/>
              <a:ext cx="823912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/>
                <a:t>Seating</a:t>
              </a:r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B0AE1B1C-1E75-FDAF-9ADE-F2F8022A23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1625" y="6308725"/>
              <a:ext cx="1255713" cy="5175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/>
                <a:t>Connections</a:t>
              </a:r>
            </a:p>
            <a:p>
              <a:r>
                <a:rPr lang="en-US" sz="1400" dirty="0"/>
                <a:t>(Hubs)</a:t>
              </a: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21C435A1-E4A1-46BB-164A-88C126777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0488" y="5976938"/>
              <a:ext cx="873125" cy="5175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/>
                <a:t>Friendly</a:t>
              </a:r>
            </a:p>
            <a:p>
              <a:r>
                <a:rPr lang="en-US" sz="1400" dirty="0"/>
                <a:t>Service</a:t>
              </a: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EDE1130F-1295-9A6E-4E44-139FAB762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6613" y="6270625"/>
              <a:ext cx="715962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/>
                <a:t>Speed</a:t>
              </a:r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2FD4C3C5-DB70-E642-39EE-52867B9127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2875" y="5964238"/>
              <a:ext cx="1120775" cy="5175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/>
                <a:t>Frequent</a:t>
              </a:r>
            </a:p>
            <a:p>
              <a:r>
                <a:rPr lang="en-US" sz="1400" dirty="0"/>
                <a:t>Departures</a:t>
              </a:r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DBEB5FA6-8EBC-EB20-B890-48A2F3C803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97800" y="1355725"/>
              <a:ext cx="0" cy="4891088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B0DAB0C1-14B6-38A0-FE97-D24A4C540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7613" y="6194425"/>
              <a:ext cx="1020762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/>
                <a:t>Reliability</a:t>
              </a: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325D7C9F-4467-DDBE-95A6-C0495E7D4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88119" y="3717132"/>
              <a:ext cx="1073150" cy="3667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dirty="0"/>
                <a:t>Offering</a:t>
              </a:r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1732C26C-3862-B24A-8DDB-45CA6FAB0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575" y="1355725"/>
              <a:ext cx="692150" cy="3667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dirty="0"/>
                <a:t>High</a:t>
              </a:r>
            </a:p>
          </p:txBody>
        </p:sp>
        <p:sp>
          <p:nvSpPr>
            <p:cNvPr id="27" name="Oval 25">
              <a:extLst>
                <a:ext uri="{FF2B5EF4-FFF2-40B4-BE49-F238E27FC236}">
                  <a16:creationId xmlns:a16="http://schemas.microsoft.com/office/drawing/2014/main" id="{2ACA1A52-CB01-2F1F-87D3-62CF13D33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2588" y="2008188"/>
              <a:ext cx="77787" cy="777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0855D268-152F-3457-EA72-64F476C45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0938" y="2430463"/>
              <a:ext cx="77787" cy="777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2F7F5FAF-BA56-4EDA-C50E-75741A8A9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288" y="2200275"/>
              <a:ext cx="77787" cy="7778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Oval 28">
              <a:extLst>
                <a:ext uri="{FF2B5EF4-FFF2-40B4-BE49-F238E27FC236}">
                  <a16:creationId xmlns:a16="http://schemas.microsoft.com/office/drawing/2014/main" id="{DFEDA1C2-FCFB-E3B8-3C41-C2C089F2F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3000" y="2776538"/>
              <a:ext cx="77788" cy="777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Oval 29">
              <a:extLst>
                <a:ext uri="{FF2B5EF4-FFF2-40B4-BE49-F238E27FC236}">
                  <a16:creationId xmlns:a16="http://schemas.microsoft.com/office/drawing/2014/main" id="{671EB8E3-0BDA-967B-A0E5-86FC22BDB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4650" y="2468563"/>
              <a:ext cx="77788" cy="777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Oval 30">
              <a:extLst>
                <a:ext uri="{FF2B5EF4-FFF2-40B4-BE49-F238E27FC236}">
                  <a16:creationId xmlns:a16="http://schemas.microsoft.com/office/drawing/2014/main" id="{0B23B16B-E6FF-4CAC-89C7-D628EAF02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1350" y="2814638"/>
              <a:ext cx="77788" cy="777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Oval 31">
              <a:extLst>
                <a:ext uri="{FF2B5EF4-FFF2-40B4-BE49-F238E27FC236}">
                  <a16:creationId xmlns:a16="http://schemas.microsoft.com/office/drawing/2014/main" id="{18BC81C0-2015-220D-6F02-585CDBA5B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7888" y="2468563"/>
              <a:ext cx="77787" cy="777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Oval 32">
              <a:extLst>
                <a:ext uri="{FF2B5EF4-FFF2-40B4-BE49-F238E27FC236}">
                  <a16:creationId xmlns:a16="http://schemas.microsoft.com/office/drawing/2014/main" id="{AEB1F244-FD7F-E3D9-AE8C-9A7402389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9538" y="1700213"/>
              <a:ext cx="77787" cy="777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Oval 33">
              <a:extLst>
                <a:ext uri="{FF2B5EF4-FFF2-40B4-BE49-F238E27FC236}">
                  <a16:creationId xmlns:a16="http://schemas.microsoft.com/office/drawing/2014/main" id="{6024C7E9-6F2A-FA12-3F95-0D6BF60A5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700" y="2968625"/>
              <a:ext cx="77788" cy="7778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6E4BDEE2-70FB-7CF0-0DC0-64E8A9DC40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2275" y="2046288"/>
              <a:ext cx="766763" cy="422275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55D306D4-27DF-79C1-3280-1A8134737F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9038" y="2238375"/>
              <a:ext cx="768350" cy="230188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FA6E9EAD-CEA4-9587-FAFD-9D146A018E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7388" y="1739900"/>
              <a:ext cx="730250" cy="498475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24C83DA3-DED4-A152-9E00-7944D8019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638" y="1739900"/>
              <a:ext cx="768350" cy="766763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86E2D7DC-F0E9-8E20-14FD-1F9E6A4BB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5988" y="2506663"/>
              <a:ext cx="768350" cy="0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90C0133D-68E1-E5D9-5DDB-F61B8C6DF3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4338" y="2506663"/>
              <a:ext cx="766762" cy="307975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1ABBD3FD-3181-13C7-2133-7AC2C686E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1100" y="2814638"/>
              <a:ext cx="768350" cy="38100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Line 41">
              <a:extLst>
                <a:ext uri="{FF2B5EF4-FFF2-40B4-BE49-F238E27FC236}">
                  <a16:creationId xmlns:a16="http://schemas.microsoft.com/office/drawing/2014/main" id="{F7AA9B17-60B4-561A-6FF5-4317F1166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29450" y="2852738"/>
              <a:ext cx="768350" cy="153987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Oval 42">
              <a:extLst>
                <a:ext uri="{FF2B5EF4-FFF2-40B4-BE49-F238E27FC236}">
                  <a16:creationId xmlns:a16="http://schemas.microsoft.com/office/drawing/2014/main" id="{1E15EA4F-8DB4-DBBD-C447-12EF2AD97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2588" y="5233988"/>
              <a:ext cx="115887" cy="1143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9D2C558C-868D-8811-514E-7A81F3CF3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0938" y="5118100"/>
              <a:ext cx="115887" cy="1143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6A611CA3-1214-752B-3B5A-FEFB5AB2C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288" y="5387975"/>
              <a:ext cx="115887" cy="1143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3E617413-7BAA-808B-894F-32A4E7228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9538" y="5541963"/>
              <a:ext cx="115887" cy="1143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0E79CFA9-B323-422B-B2CC-C58FA9F85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7888" y="5580063"/>
              <a:ext cx="115887" cy="1143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Oval 47">
              <a:extLst>
                <a:ext uri="{FF2B5EF4-FFF2-40B4-BE49-F238E27FC236}">
                  <a16:creationId xmlns:a16="http://schemas.microsoft.com/office/drawing/2014/main" id="{269879A2-A7DF-AA4F-1352-112D36F42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3000" y="1816100"/>
              <a:ext cx="115888" cy="1143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Oval 48">
              <a:extLst>
                <a:ext uri="{FF2B5EF4-FFF2-40B4-BE49-F238E27FC236}">
                  <a16:creationId xmlns:a16="http://schemas.microsoft.com/office/drawing/2014/main" id="{24FB2B40-F406-AF50-4D26-56601B01F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4650" y="1970088"/>
              <a:ext cx="115888" cy="1143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Oval 49">
              <a:extLst>
                <a:ext uri="{FF2B5EF4-FFF2-40B4-BE49-F238E27FC236}">
                  <a16:creationId xmlns:a16="http://schemas.microsoft.com/office/drawing/2014/main" id="{5CCF0D71-D860-E8C0-A958-656F1701A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1600" y="2008188"/>
              <a:ext cx="115888" cy="1143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Oval 50">
              <a:extLst>
                <a:ext uri="{FF2B5EF4-FFF2-40B4-BE49-F238E27FC236}">
                  <a16:creationId xmlns:a16="http://schemas.microsoft.com/office/drawing/2014/main" id="{FAA1640C-AC57-7D0B-C1EA-8136270FD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1350" y="1892300"/>
              <a:ext cx="115888" cy="1143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Line 51">
              <a:extLst>
                <a:ext uri="{FF2B5EF4-FFF2-40B4-BE49-F238E27FC236}">
                  <a16:creationId xmlns:a16="http://schemas.microsoft.com/office/drawing/2014/main" id="{AF088673-2FBC-A41D-8F43-DDC9084000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2275" y="5157788"/>
              <a:ext cx="766763" cy="152400"/>
            </a:xfrm>
            <a:prstGeom prst="line">
              <a:avLst/>
            </a:prstGeom>
            <a:noFill/>
            <a:ln w="38100">
              <a:solidFill>
                <a:srgbClr val="FFF6DC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Line 52">
              <a:extLst>
                <a:ext uri="{FF2B5EF4-FFF2-40B4-BE49-F238E27FC236}">
                  <a16:creationId xmlns:a16="http://schemas.microsoft.com/office/drawing/2014/main" id="{DA02FC81-9038-AB16-F819-2CDD4B5E0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9038" y="5157788"/>
              <a:ext cx="768350" cy="306387"/>
            </a:xfrm>
            <a:prstGeom prst="line">
              <a:avLst/>
            </a:prstGeom>
            <a:noFill/>
            <a:ln w="38100">
              <a:solidFill>
                <a:srgbClr val="FFF6DC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Line 53">
              <a:extLst>
                <a:ext uri="{FF2B5EF4-FFF2-40B4-BE49-F238E27FC236}">
                  <a16:creationId xmlns:a16="http://schemas.microsoft.com/office/drawing/2014/main" id="{7DC9F769-3C33-E55A-DADE-3A6470634D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7388" y="5464175"/>
              <a:ext cx="768350" cy="153988"/>
            </a:xfrm>
            <a:prstGeom prst="line">
              <a:avLst/>
            </a:prstGeom>
            <a:noFill/>
            <a:ln w="38100">
              <a:solidFill>
                <a:srgbClr val="FFF6DC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Line 54">
              <a:extLst>
                <a:ext uri="{FF2B5EF4-FFF2-40B4-BE49-F238E27FC236}">
                  <a16:creationId xmlns:a16="http://schemas.microsoft.com/office/drawing/2014/main" id="{CC157440-1359-05B5-C08A-D8E12B4CC2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5738" y="5618163"/>
              <a:ext cx="768350" cy="0"/>
            </a:xfrm>
            <a:prstGeom prst="line">
              <a:avLst/>
            </a:prstGeom>
            <a:noFill/>
            <a:ln w="38100">
              <a:solidFill>
                <a:srgbClr val="FFF6DC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Line 55">
              <a:extLst>
                <a:ext uri="{FF2B5EF4-FFF2-40B4-BE49-F238E27FC236}">
                  <a16:creationId xmlns:a16="http://schemas.microsoft.com/office/drawing/2014/main" id="{73733C80-93C8-3708-EDE0-F0A7702C09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5988" y="2008188"/>
              <a:ext cx="768350" cy="3609975"/>
            </a:xfrm>
            <a:prstGeom prst="line">
              <a:avLst/>
            </a:prstGeom>
            <a:noFill/>
            <a:ln w="38100">
              <a:solidFill>
                <a:srgbClr val="FFF6DC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Line 56">
              <a:extLst>
                <a:ext uri="{FF2B5EF4-FFF2-40B4-BE49-F238E27FC236}">
                  <a16:creationId xmlns:a16="http://schemas.microsoft.com/office/drawing/2014/main" id="{5DA40F35-5186-5FAB-FA61-4BD204F7EA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94338" y="1854200"/>
              <a:ext cx="766762" cy="153988"/>
            </a:xfrm>
            <a:prstGeom prst="line">
              <a:avLst/>
            </a:prstGeom>
            <a:noFill/>
            <a:ln w="38100">
              <a:solidFill>
                <a:srgbClr val="FFF6DC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9" name="Line 57">
              <a:extLst>
                <a:ext uri="{FF2B5EF4-FFF2-40B4-BE49-F238E27FC236}">
                  <a16:creationId xmlns:a16="http://schemas.microsoft.com/office/drawing/2014/main" id="{67D56A96-359C-C298-469A-89F8F585D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1100" y="1854200"/>
              <a:ext cx="768350" cy="76200"/>
            </a:xfrm>
            <a:prstGeom prst="line">
              <a:avLst/>
            </a:prstGeom>
            <a:noFill/>
            <a:ln w="38100">
              <a:solidFill>
                <a:srgbClr val="FFF6DC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Line 58">
              <a:extLst>
                <a:ext uri="{FF2B5EF4-FFF2-40B4-BE49-F238E27FC236}">
                  <a16:creationId xmlns:a16="http://schemas.microsoft.com/office/drawing/2014/main" id="{1A7AA391-142A-C7E8-567F-3731F2772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29450" y="1930400"/>
              <a:ext cx="768350" cy="115888"/>
            </a:xfrm>
            <a:prstGeom prst="line">
              <a:avLst/>
            </a:prstGeom>
            <a:noFill/>
            <a:ln w="38100">
              <a:solidFill>
                <a:srgbClr val="FFF6DC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AutoShape 59">
              <a:extLst>
                <a:ext uri="{FF2B5EF4-FFF2-40B4-BE49-F238E27FC236}">
                  <a16:creationId xmlns:a16="http://schemas.microsoft.com/office/drawing/2014/main" id="{82EC1D7F-A539-C59D-9F4E-0F974B89F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925" y="971550"/>
              <a:ext cx="1689100" cy="609600"/>
            </a:xfrm>
            <a:prstGeom prst="borderCallout1">
              <a:avLst>
                <a:gd name="adj1" fmla="val 50440"/>
                <a:gd name="adj2" fmla="val -4509"/>
                <a:gd name="adj3" fmla="val 176301"/>
                <a:gd name="adj4" fmla="val -29606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000" dirty="0"/>
                <a:t>Traditional</a:t>
              </a:r>
              <a:endParaRPr lang="en-US" dirty="0"/>
            </a:p>
            <a:p>
              <a:pPr algn="ctr"/>
              <a:r>
                <a:rPr lang="en-US" sz="2000" dirty="0"/>
                <a:t>Airline</a:t>
              </a:r>
              <a:endParaRPr lang="en-US" dirty="0"/>
            </a:p>
          </p:txBody>
        </p:sp>
        <p:sp>
          <p:nvSpPr>
            <p:cNvPr id="62" name="AutoShape 60">
              <a:extLst>
                <a:ext uri="{FF2B5EF4-FFF2-40B4-BE49-F238E27FC236}">
                  <a16:creationId xmlns:a16="http://schemas.microsoft.com/office/drawing/2014/main" id="{1109FC34-0EE5-8C62-A0DB-718CB3EB7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1063" y="3765550"/>
              <a:ext cx="914400" cy="914400"/>
            </a:xfrm>
            <a:prstGeom prst="borderCallout1">
              <a:avLst>
                <a:gd name="adj1" fmla="val 49178"/>
                <a:gd name="adj2" fmla="val -5458"/>
                <a:gd name="adj3" fmla="val 108333"/>
                <a:gd name="adj4" fmla="val -108509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r>
                <a:rPr lang="en-US" dirty="0"/>
                <a:t>South</a:t>
              </a:r>
            </a:p>
            <a:p>
              <a:pPr algn="ctr"/>
              <a:r>
                <a:rPr lang="en-US" dirty="0"/>
                <a:t>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4711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48A05-4115-4B8D-ACE5-8208468BB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416" y="1947126"/>
            <a:ext cx="10784840" cy="2753301"/>
          </a:xfrm>
        </p:spPr>
        <p:txBody>
          <a:bodyPr/>
          <a:lstStyle/>
          <a:p>
            <a:r>
              <a:rPr lang="en-US" altLang="zh-CN" sz="2400" b="1" dirty="0">
                <a:solidFill>
                  <a:schemeClr val="tx1"/>
                </a:solidFill>
                <a:latin typeface="Arial" charset="0"/>
              </a:rPr>
              <a:t>Companies face a choice of competing based on cost, differentiation, or some combination of these factors</a:t>
            </a:r>
          </a:p>
          <a:p>
            <a:endParaRPr lang="en-US" altLang="zh-CN" sz="2400" b="1" dirty="0">
              <a:solidFill>
                <a:schemeClr val="tx1"/>
              </a:solidFill>
              <a:latin typeface="Arial" charset="0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Arial" charset="0"/>
              </a:rPr>
              <a:t>Business strategy must fit the company, the market, and the competitive landscape</a:t>
            </a:r>
          </a:p>
          <a:p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57EBE7-4F65-4196-B47D-497D0ACD1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10784840" cy="1468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5908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descr="🙄 Google Meet vs Zoom vs Microsoft Teams | Which one is the best?">
            <a:hlinkClick r:id="" action="ppaction://media"/>
            <a:extLst>
              <a:ext uri="{FF2B5EF4-FFF2-40B4-BE49-F238E27FC236}">
                <a16:creationId xmlns:a16="http://schemas.microsoft.com/office/drawing/2014/main" id="{8A4A2D28-BA9C-9640-90E6-38F1B63E745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8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38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F09A8-399E-5EC4-E572-C08D5268D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085057" cy="1143000"/>
          </a:xfrm>
        </p:spPr>
        <p:txBody>
          <a:bodyPr>
            <a:normAutofit/>
          </a:bodyPr>
          <a:lstStyle/>
          <a:p>
            <a:r>
              <a:rPr lang="en-US" sz="3200" dirty="0"/>
              <a:t>Case Debate: </a:t>
            </a:r>
            <a:br>
              <a:rPr lang="en-US" sz="3200" dirty="0"/>
            </a:br>
            <a:r>
              <a:rPr lang="en-US" altLang="zh-CN" sz="3200" dirty="0"/>
              <a:t>Does Zoom have a sustained competitive advantage? </a:t>
            </a:r>
            <a:endParaRPr lang="en-US" sz="3200" dirty="0"/>
          </a:p>
        </p:txBody>
      </p:sp>
      <p:pic>
        <p:nvPicPr>
          <p:cNvPr id="17" name="Picture 16" descr="A person in a suit giving a speech&#10;&#10;AI-generated content may be incorrect.">
            <a:extLst>
              <a:ext uri="{FF2B5EF4-FFF2-40B4-BE49-F238E27FC236}">
                <a16:creationId xmlns:a16="http://schemas.microsoft.com/office/drawing/2014/main" id="{B3BD2300-B562-20CD-899B-DA1BC1199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940044" y="1500187"/>
            <a:ext cx="7251956" cy="4386263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661B49C-C22D-50F0-E789-14937BAF999D}"/>
              </a:ext>
            </a:extLst>
          </p:cNvPr>
          <p:cNvSpPr txBox="1">
            <a:spLocks/>
          </p:cNvSpPr>
          <p:nvPr/>
        </p:nvSpPr>
        <p:spPr>
          <a:xfrm>
            <a:off x="128586" y="1371600"/>
            <a:ext cx="4811458" cy="4829174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 algn="l" defTabSz="609585" rtl="0" eaLnBrk="1" latinLnBrk="0" hangingPunct="1">
              <a:spcBef>
                <a:spcPct val="20000"/>
              </a:spcBef>
              <a:buFontTx/>
              <a:buBlip>
                <a:blip r:embed="rId5"/>
              </a:buBlip>
              <a:defRPr sz="24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133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1867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Opening Presentations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Proposition Team (Player 1) — 1.5 min</a:t>
            </a:r>
          </a:p>
          <a:p>
            <a:r>
              <a:rPr lang="en-US" dirty="0"/>
              <a:t>Opposition Team (Player 1) — 1.5 min</a:t>
            </a:r>
          </a:p>
          <a:p>
            <a:r>
              <a:rPr lang="en-US" dirty="0"/>
              <a:t>Proposition Team (Player 2) — 1 min</a:t>
            </a:r>
          </a:p>
          <a:p>
            <a:r>
              <a:rPr lang="en-US" dirty="0"/>
              <a:t>Opposition Team (Player 2) — 1 min</a:t>
            </a:r>
            <a:endParaRPr lang="en-US" b="1" dirty="0">
              <a:solidFill>
                <a:schemeClr val="tx1"/>
              </a:solidFill>
              <a:latin typeface="Arial" charset="0"/>
            </a:endParaRPr>
          </a:p>
          <a:p>
            <a:endParaRPr lang="en-US" altLang="zh-CN" b="1" dirty="0">
              <a:solidFill>
                <a:schemeClr val="tx1"/>
              </a:solidFill>
              <a:latin typeface="Arial" charset="0"/>
            </a:endParaRPr>
          </a:p>
          <a:p>
            <a:endParaRPr lang="en-US" altLang="zh-CN" b="1" dirty="0">
              <a:solidFill>
                <a:schemeClr val="tx1"/>
              </a:solidFill>
              <a:latin typeface="Arial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900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664CD-E8CB-7CEF-F7FA-393D2D916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logo of a company&#10;&#10;AI-generated content may be incorrect.">
            <a:extLst>
              <a:ext uri="{FF2B5EF4-FFF2-40B4-BE49-F238E27FC236}">
                <a16:creationId xmlns:a16="http://schemas.microsoft.com/office/drawing/2014/main" id="{3262B30B-2E5F-F3A4-6BD9-82B8075B5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07200" y="1462534"/>
            <a:ext cx="5384800" cy="2880867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86D8D4-EE94-DC17-788D-845B5210F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02931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 b="1" kern="1200" dirty="0">
                <a:latin typeface="+mj-lt"/>
                <a:ea typeface="+mj-ea"/>
                <a:cs typeface="+mj-cs"/>
              </a:rPr>
              <a:t>Case Debate: </a:t>
            </a:r>
            <a:br>
              <a:rPr lang="en-US" sz="2900" b="1" kern="1200" dirty="0">
                <a:latin typeface="+mj-lt"/>
                <a:ea typeface="+mj-ea"/>
                <a:cs typeface="+mj-cs"/>
              </a:rPr>
            </a:br>
            <a:r>
              <a:rPr lang="en-US" altLang="zh-CN" sz="2900" b="1" kern="1200" dirty="0">
                <a:latin typeface="+mj-lt"/>
                <a:ea typeface="+mj-ea"/>
                <a:cs typeface="+mj-cs"/>
              </a:rPr>
              <a:t>Does Zoom have a sustained competitive advantage? </a:t>
            </a:r>
            <a:endParaRPr lang="en-US" sz="29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1A55F6-75D3-627A-D412-14DC3B1D22B3}"/>
              </a:ext>
            </a:extLst>
          </p:cNvPr>
          <p:cNvSpPr txBox="1">
            <a:spLocks/>
          </p:cNvSpPr>
          <p:nvPr/>
        </p:nvSpPr>
        <p:spPr>
          <a:xfrm>
            <a:off x="0" y="1377488"/>
            <a:ext cx="7892062" cy="5480512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 algn="l" defTabSz="609585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24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133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1867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dirty="0">
                <a:solidFill>
                  <a:schemeClr val="tx1"/>
                </a:solidFill>
                <a:latin typeface="Arial" charset="0"/>
              </a:rPr>
              <a:t>Q&amp;A Session 1</a:t>
            </a:r>
          </a:p>
          <a:p>
            <a:r>
              <a:rPr lang="en-US" sz="2367" dirty="0"/>
              <a:t>Proposition (Player 3) attacks — 1 min</a:t>
            </a:r>
          </a:p>
          <a:p>
            <a:r>
              <a:rPr lang="en-US" sz="2367" dirty="0"/>
              <a:t>Opposition (Player 3) defends — 1 min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Q&amp;A Session 2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Proposition (Player 4) attacks — 1 min</a:t>
            </a:r>
          </a:p>
          <a:p>
            <a:r>
              <a:rPr lang="en-US" dirty="0"/>
              <a:t>Opposition (Player 4) defends — 1 min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Q&amp;A Session 3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Proposition (Player 5) attacks — 1 min</a:t>
            </a:r>
          </a:p>
          <a:p>
            <a:r>
              <a:rPr lang="en-US" dirty="0"/>
              <a:t>Opposition (Player 5) defends — 1 min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Free Debate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Open attacks and defenses — 10 min</a:t>
            </a:r>
            <a:endParaRPr lang="en-US" b="1" dirty="0"/>
          </a:p>
          <a:p>
            <a:pPr>
              <a:lnSpc>
                <a:spcPct val="90000"/>
              </a:lnSpc>
            </a:pPr>
            <a:endParaRPr lang="en-US" b="1" dirty="0"/>
          </a:p>
          <a:p>
            <a:pPr>
              <a:lnSpc>
                <a:spcPct val="90000"/>
              </a:lnSpc>
            </a:pPr>
            <a:endParaRPr lang="en-US" b="1" dirty="0"/>
          </a:p>
          <a:p>
            <a:pPr>
              <a:lnSpc>
                <a:spcPct val="90000"/>
              </a:lnSpc>
            </a:pPr>
            <a:endParaRPr lang="en-US" altLang="zh-CN" b="1" dirty="0"/>
          </a:p>
          <a:p>
            <a:pPr>
              <a:lnSpc>
                <a:spcPct val="90000"/>
              </a:lnSpc>
            </a:pPr>
            <a:endParaRPr lang="en-US" altLang="zh-CN" b="1" dirty="0"/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  <p:pic>
        <p:nvPicPr>
          <p:cNvPr id="15" name="Picture 14" descr="A group of logos with text&#10;&#10;AI-generated content may be incorrect.">
            <a:extLst>
              <a:ext uri="{FF2B5EF4-FFF2-40B4-BE49-F238E27FC236}">
                <a16:creationId xmlns:a16="http://schemas.microsoft.com/office/drawing/2014/main" id="{07D2021D-0D60-C57A-ABDD-4F4430C4AF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892062" y="4251114"/>
            <a:ext cx="4190436" cy="235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2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066CB-D1AF-E692-BE3E-633AF3363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logo of a company&#10;&#10;AI-generated content may be incorrect.">
            <a:extLst>
              <a:ext uri="{FF2B5EF4-FFF2-40B4-BE49-F238E27FC236}">
                <a16:creationId xmlns:a16="http://schemas.microsoft.com/office/drawing/2014/main" id="{BDEE5472-78E1-FB00-8D89-08CC76500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07200" y="1462534"/>
            <a:ext cx="5384800" cy="2880867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291367-229F-9128-2337-6983C374A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02931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 b="1" kern="1200" dirty="0">
                <a:latin typeface="+mj-lt"/>
                <a:ea typeface="+mj-ea"/>
                <a:cs typeface="+mj-cs"/>
              </a:rPr>
              <a:t>Case Debate: </a:t>
            </a:r>
            <a:br>
              <a:rPr lang="en-US" sz="2900" b="1" kern="1200" dirty="0">
                <a:latin typeface="+mj-lt"/>
                <a:ea typeface="+mj-ea"/>
                <a:cs typeface="+mj-cs"/>
              </a:rPr>
            </a:br>
            <a:r>
              <a:rPr lang="en-US" altLang="zh-CN" sz="2900" b="1" kern="1200" dirty="0">
                <a:latin typeface="+mj-lt"/>
                <a:ea typeface="+mj-ea"/>
                <a:cs typeface="+mj-cs"/>
              </a:rPr>
              <a:t>Does Zoom have a sustained competitive advantage? </a:t>
            </a:r>
            <a:endParaRPr lang="en-US" sz="29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700030-7CE1-3394-1A7E-56E5B8AB77BD}"/>
              </a:ext>
            </a:extLst>
          </p:cNvPr>
          <p:cNvSpPr txBox="1">
            <a:spLocks/>
          </p:cNvSpPr>
          <p:nvPr/>
        </p:nvSpPr>
        <p:spPr>
          <a:xfrm>
            <a:off x="0" y="1462534"/>
            <a:ext cx="7892062" cy="5380503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 algn="l" defTabSz="609585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24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133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1867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Q&amp;A Session 4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Opposition (Player 6) attacks — 1 min</a:t>
            </a:r>
          </a:p>
          <a:p>
            <a:r>
              <a:rPr lang="en-US" dirty="0"/>
              <a:t>Proposition (Player 6) defends — 1 min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Q&amp;A Session 5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Opposition (Player 7) attacks — 1 min</a:t>
            </a:r>
          </a:p>
          <a:p>
            <a:r>
              <a:rPr lang="en-US" dirty="0"/>
              <a:t>Proposition (Player 7) defends — 1 min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Q&amp;A Session 6</a:t>
            </a:r>
          </a:p>
          <a:p>
            <a:r>
              <a:rPr lang="en-US" dirty="0"/>
              <a:t>Opposition (Player 8) attacks — 1 min</a:t>
            </a:r>
          </a:p>
          <a:p>
            <a:r>
              <a:rPr lang="en-US" dirty="0"/>
              <a:t>Proposition (Player 8) defends — 1 min</a:t>
            </a:r>
          </a:p>
          <a:p>
            <a:pPr>
              <a:lnSpc>
                <a:spcPct val="90000"/>
              </a:lnSpc>
            </a:pPr>
            <a:endParaRPr lang="en-US" b="1" dirty="0"/>
          </a:p>
          <a:p>
            <a:pPr>
              <a:lnSpc>
                <a:spcPct val="90000"/>
              </a:lnSpc>
            </a:pPr>
            <a:endParaRPr lang="en-US" b="1" dirty="0"/>
          </a:p>
          <a:p>
            <a:pPr>
              <a:lnSpc>
                <a:spcPct val="90000"/>
              </a:lnSpc>
            </a:pPr>
            <a:endParaRPr lang="en-US" b="1" dirty="0"/>
          </a:p>
          <a:p>
            <a:pPr>
              <a:lnSpc>
                <a:spcPct val="90000"/>
              </a:lnSpc>
            </a:pPr>
            <a:endParaRPr lang="en-US" altLang="zh-CN" b="1" dirty="0"/>
          </a:p>
          <a:p>
            <a:pPr>
              <a:lnSpc>
                <a:spcPct val="90000"/>
              </a:lnSpc>
            </a:pPr>
            <a:endParaRPr lang="en-US" altLang="zh-CN" b="1" dirty="0"/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  <p:pic>
        <p:nvPicPr>
          <p:cNvPr id="15" name="Picture 14" descr="A group of logos with text&#10;&#10;AI-generated content may be incorrect.">
            <a:extLst>
              <a:ext uri="{FF2B5EF4-FFF2-40B4-BE49-F238E27FC236}">
                <a16:creationId xmlns:a16="http://schemas.microsoft.com/office/drawing/2014/main" id="{94D08243-DEBB-4DB6-4380-4000C1A727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892062" y="4251114"/>
            <a:ext cx="4190436" cy="235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0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DD15D-7B8C-B66A-E779-DE7DFB68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62AFA-72FC-3DFF-F4C4-86BECCDD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103310"/>
            <a:ext cx="1034415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Case Debate: </a:t>
            </a:r>
            <a:br>
              <a:rPr lang="en-US" sz="3200" dirty="0"/>
            </a:br>
            <a:r>
              <a:rPr lang="en-US" altLang="zh-CN" sz="3200" dirty="0"/>
              <a:t>Does Zoom have a sustained competitive advantage? </a:t>
            </a:r>
            <a:endParaRPr lang="en-US" sz="3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CAF2D0-7B37-E629-1690-3C7B341E184A}"/>
              </a:ext>
            </a:extLst>
          </p:cNvPr>
          <p:cNvSpPr txBox="1">
            <a:spLocks/>
          </p:cNvSpPr>
          <p:nvPr/>
        </p:nvSpPr>
        <p:spPr>
          <a:xfrm>
            <a:off x="314325" y="1400175"/>
            <a:ext cx="8423275" cy="5457825"/>
          </a:xfrm>
          <a:prstGeom prst="rect">
            <a:avLst/>
          </a:prstGeom>
        </p:spPr>
        <p:txBody>
          <a:bodyPr>
            <a:normAutofit/>
          </a:bodyPr>
          <a:lstStyle>
            <a:lvl1pPr marL="457189" indent="-457189" algn="l" defTabSz="609585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133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1867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Closing Statements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Proposition (Player 1) concludes — 1.5 min</a:t>
            </a:r>
          </a:p>
          <a:p>
            <a:r>
              <a:rPr lang="en-US" dirty="0"/>
              <a:t>Opposition (Player 1) concludes — 1.5 min</a:t>
            </a:r>
          </a:p>
          <a:p>
            <a:pPr marL="0" indent="0">
              <a:buNone/>
            </a:pPr>
            <a:r>
              <a:rPr lang="en-US" sz="2500" b="1" dirty="0">
                <a:solidFill>
                  <a:schemeClr val="tx1"/>
                </a:solidFill>
              </a:rPr>
              <a:t>Final Statements</a:t>
            </a:r>
          </a:p>
          <a:p>
            <a:r>
              <a:rPr lang="en-US" dirty="0"/>
              <a:t>Proposition (Player 2) finalizes — 1.5 min</a:t>
            </a:r>
          </a:p>
          <a:p>
            <a:r>
              <a:rPr lang="en-US" dirty="0"/>
              <a:t>Opposition (Player 2) finalizes — 1.5 min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Judges’ Deliberation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Break — 5 min</a:t>
            </a:r>
          </a:p>
          <a:p>
            <a:r>
              <a:rPr lang="en-US" dirty="0"/>
              <a:t>Feedback and results — 3 min</a:t>
            </a:r>
          </a:p>
          <a:p>
            <a:pPr lvl="1"/>
            <a:r>
              <a:rPr lang="en-US" sz="2000" dirty="0">
                <a:solidFill>
                  <a:srgbClr val="262827"/>
                </a:solidFill>
                <a:latin typeface="Arial" charset="0"/>
              </a:rPr>
              <a:t>Best and worst practices you observed during the debate?</a:t>
            </a:r>
          </a:p>
          <a:p>
            <a:pPr lvl="1"/>
            <a:r>
              <a:rPr lang="en-US" sz="2000" dirty="0">
                <a:solidFill>
                  <a:srgbClr val="262827"/>
                </a:solidFill>
                <a:latin typeface="Arial" charset="0"/>
              </a:rPr>
              <a:t>Which team win this round of debate? Why?</a:t>
            </a:r>
          </a:p>
          <a:p>
            <a:pPr lvl="1"/>
            <a:r>
              <a:rPr lang="en-US" sz="2000" dirty="0">
                <a:solidFill>
                  <a:srgbClr val="262827"/>
                </a:solidFill>
                <a:latin typeface="Arial" charset="0"/>
              </a:rPr>
              <a:t>Who is the best debater? Why?</a:t>
            </a:r>
          </a:p>
          <a:p>
            <a:endParaRPr lang="en-US" b="1" dirty="0">
              <a:solidFill>
                <a:schemeClr val="tx1"/>
              </a:solidFill>
              <a:latin typeface="Arial" charset="0"/>
            </a:endParaRPr>
          </a:p>
          <a:p>
            <a:endParaRPr lang="en-US" altLang="zh-CN" b="1" dirty="0">
              <a:solidFill>
                <a:schemeClr val="tx1"/>
              </a:solidFill>
              <a:latin typeface="Arial" charset="0"/>
            </a:endParaRPr>
          </a:p>
          <a:p>
            <a:endParaRPr lang="en-US" altLang="zh-CN" b="1" dirty="0">
              <a:solidFill>
                <a:schemeClr val="tx1"/>
              </a:solidFill>
              <a:latin typeface="Arial" charset="0"/>
            </a:endParaRPr>
          </a:p>
          <a:p>
            <a:endParaRPr lang="zh-CN" altLang="en-US" dirty="0"/>
          </a:p>
        </p:txBody>
      </p:sp>
      <p:pic>
        <p:nvPicPr>
          <p:cNvPr id="5" name="Picture 4" descr="A close-up of words&#10;&#10;AI-generated content may be incorrect.">
            <a:extLst>
              <a:ext uri="{FF2B5EF4-FFF2-40B4-BE49-F238E27FC236}">
                <a16:creationId xmlns:a16="http://schemas.microsoft.com/office/drawing/2014/main" id="{61609A46-8DA3-2FFE-4046-2896D3265E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910955" y="1760220"/>
            <a:ext cx="2966720" cy="1668780"/>
          </a:xfrm>
          <a:prstGeom prst="rect">
            <a:avLst/>
          </a:prstGeom>
        </p:spPr>
      </p:pic>
      <p:pic>
        <p:nvPicPr>
          <p:cNvPr id="7" name="Picture 6" descr="A hand holding a trophy&#10;&#10;AI-generated content may be incorrect.">
            <a:extLst>
              <a:ext uri="{FF2B5EF4-FFF2-40B4-BE49-F238E27FC236}">
                <a16:creationId xmlns:a16="http://schemas.microsoft.com/office/drawing/2014/main" id="{8C4531E2-6FB4-CB1D-A62F-2A2C05591D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493760" y="3264851"/>
            <a:ext cx="1869217" cy="1869217"/>
          </a:xfrm>
          <a:prstGeom prst="rect">
            <a:avLst/>
          </a:prstGeom>
        </p:spPr>
      </p:pic>
      <p:pic>
        <p:nvPicPr>
          <p:cNvPr id="11" name="Picture 10" descr="A gold laurel wreath with stars&#10;&#10;AI-generated content may be incorrect.">
            <a:extLst>
              <a:ext uri="{FF2B5EF4-FFF2-40B4-BE49-F238E27FC236}">
                <a16:creationId xmlns:a16="http://schemas.microsoft.com/office/drawing/2014/main" id="{A23D6A46-C496-FA36-0878-14514633CF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951179" y="4969919"/>
            <a:ext cx="2240821" cy="188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84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descr="Zoom company story: How Eric Yuan defeated Skype">
            <a:hlinkClick r:id="" action="ppaction://media"/>
            <a:extLst>
              <a:ext uri="{FF2B5EF4-FFF2-40B4-BE49-F238E27FC236}">
                <a16:creationId xmlns:a16="http://schemas.microsoft.com/office/drawing/2014/main" id="{A1AE0F44-49E3-347E-E0F9-9C3247C52BB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-15240"/>
            <a:ext cx="12192000" cy="688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M7nMK6Jk6_d.5UuC6OR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Uq7qK6qjk0uRkTUxAI9Sn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NqVdT9NUu0m856y7iDPmv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NqVdT9NUu0m856y7iDPmv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NqVdT9NUu0m856y7iDPmvg"/>
</p:tagLst>
</file>

<file path=ppt/theme/theme1.xml><?xml version="1.0" encoding="utf-8"?>
<a:theme xmlns:a="http://schemas.openxmlformats.org/drawingml/2006/main" name="Purple Version (Single Colour Logo)">
  <a:themeElements>
    <a:clrScheme name="CUHKBSchool">
      <a:dk1>
        <a:srgbClr val="331C58"/>
      </a:dk1>
      <a:lt1>
        <a:srgbClr val="FFFFFF"/>
      </a:lt1>
      <a:dk2>
        <a:srgbClr val="646569"/>
      </a:dk2>
      <a:lt2>
        <a:srgbClr val="9FA0A0"/>
      </a:lt2>
      <a:accent1>
        <a:srgbClr val="4F2D7F"/>
      </a:accent1>
      <a:accent2>
        <a:srgbClr val="931163"/>
      </a:accent2>
      <a:accent3>
        <a:srgbClr val="ED6D0F"/>
      </a:accent3>
      <a:accent4>
        <a:srgbClr val="F0AB00"/>
      </a:accent4>
      <a:accent5>
        <a:srgbClr val="00693C"/>
      </a:accent5>
      <a:accent6>
        <a:srgbClr val="0095D8"/>
      </a:accent6>
      <a:hlink>
        <a:srgbClr val="9D7D93"/>
      </a:hlink>
      <a:folHlink>
        <a:srgbClr val="9FA0A0"/>
      </a:folHlink>
    </a:clrScheme>
    <a:fontScheme name="CUHKBSchool">
      <a:majorFont>
        <a:latin typeface="Arial"/>
        <a:ea typeface="Microsoft JhengHei"/>
        <a:cs typeface=""/>
      </a:majorFont>
      <a:minorFont>
        <a:latin typeface="Arial"/>
        <a:ea typeface="Microsoft Jheng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935C4AE7BFA14D9FEA47E9D4F5D914" ma:contentTypeVersion="10" ma:contentTypeDescription="Create a new document." ma:contentTypeScope="" ma:versionID="9580cd91a103e7459dc0cd956d2ee7ed">
  <xsd:schema xmlns:xsd="http://www.w3.org/2001/XMLSchema" xmlns:xs="http://www.w3.org/2001/XMLSchema" xmlns:p="http://schemas.microsoft.com/office/2006/metadata/properties" xmlns:ns2="df2ba4ab-9b85-44d4-9782-eedd67c2414d" xmlns:ns3="8bc8151f-f9eb-4fd4-a284-b18c458832d3" targetNamespace="http://schemas.microsoft.com/office/2006/metadata/properties" ma:root="true" ma:fieldsID="f723c48471fdd26c66ea758e11aa05f4" ns2:_="" ns3:_="">
    <xsd:import namespace="df2ba4ab-9b85-44d4-9782-eedd67c2414d"/>
    <xsd:import namespace="8bc8151f-f9eb-4fd4-a284-b18c458832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2ba4ab-9b85-44d4-9782-eedd67c241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c8151f-f9eb-4fd4-a284-b18c458832d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15A20D-BD7A-48AF-9D7F-A22FF5259D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12DADE-8814-407B-95B5-C1B21089B28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92FDE0E-C15B-457A-BC2A-2FA68C6B1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2ba4ab-9b85-44d4-9782-eedd67c2414d"/>
    <ds:schemaRef ds:uri="8bc8151f-f9eb-4fd4-a284-b18c458832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2533</TotalTime>
  <Words>2670</Words>
  <Application>Microsoft Macintosh PowerPoint</Application>
  <PresentationFormat>Widescreen</PresentationFormat>
  <Paragraphs>360</Paragraphs>
  <Slides>29</Slides>
  <Notes>5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DengXian</vt:lpstr>
      <vt:lpstr>Aptos</vt:lpstr>
      <vt:lpstr>Arial</vt:lpstr>
      <vt:lpstr>Calibri</vt:lpstr>
      <vt:lpstr>Garamond</vt:lpstr>
      <vt:lpstr>Times New Roman</vt:lpstr>
      <vt:lpstr>Wingdings</vt:lpstr>
      <vt:lpstr>Purple Version (Single Colour Logo)</vt:lpstr>
      <vt:lpstr>MGNT 5506G f Strategic Management for Competitive Advantage</vt:lpstr>
      <vt:lpstr>Objectives for Today</vt:lpstr>
      <vt:lpstr>Recall and Warmup</vt:lpstr>
      <vt:lpstr>Core Competencies and Strategy</vt:lpstr>
      <vt:lpstr>Business Level Strategy</vt:lpstr>
      <vt:lpstr>Business Level Strategy</vt:lpstr>
      <vt:lpstr>Business Level Strategy</vt:lpstr>
      <vt:lpstr>Business Level Strategy</vt:lpstr>
      <vt:lpstr>Market Segmentation </vt:lpstr>
      <vt:lpstr>Business Level Strategy</vt:lpstr>
      <vt:lpstr>Five Generic Business-Level Strategies</vt:lpstr>
      <vt:lpstr>Generic Business-Level Strategies</vt:lpstr>
      <vt:lpstr>Cost Leadership Strategy</vt:lpstr>
      <vt:lpstr>Surviving in the Budget Hotel Industry </vt:lpstr>
      <vt:lpstr>A firm that successfully implements a cost leadership strategy can earn above-average returns even when the five forces are strong. </vt:lpstr>
      <vt:lpstr>Differentiation Strategy</vt:lpstr>
      <vt:lpstr>Differentiation in the Streaming Service Industry</vt:lpstr>
      <vt:lpstr>PowerPoint Presentation</vt:lpstr>
      <vt:lpstr>PowerPoint Presentation</vt:lpstr>
      <vt:lpstr>Five Generic Business-Level Strategies</vt:lpstr>
      <vt:lpstr>Business Level Strategy – TRADE-OFFS</vt:lpstr>
      <vt:lpstr>Business Level Strategy - Example</vt:lpstr>
      <vt:lpstr>PowerPoint Presentation</vt:lpstr>
      <vt:lpstr>PowerPoint Presentation</vt:lpstr>
      <vt:lpstr>Case Debate:  Does Zoom have a sustained competitive advantage? </vt:lpstr>
      <vt:lpstr>Case Debate:  Does Zoom have a sustained competitive advantage? </vt:lpstr>
      <vt:lpstr>Case Debate:  Does Zoom have a sustained competitive advantage? </vt:lpstr>
      <vt:lpstr>Case Debate:  Does Zoom have a sustained competitive advantage?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MGNT 4010 Strategic Management</dc:title>
  <dc:creator>Jingyu Li (MGT)</dc:creator>
  <cp:lastModifiedBy>Jingyu Li (MGT)</cp:lastModifiedBy>
  <cp:revision>41</cp:revision>
  <dcterms:created xsi:type="dcterms:W3CDTF">2021-02-09T03:24:56Z</dcterms:created>
  <dcterms:modified xsi:type="dcterms:W3CDTF">2026-04-10T04:40:27Z</dcterms:modified>
</cp:coreProperties>
</file>