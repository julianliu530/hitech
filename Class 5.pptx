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91" r:id="rId5"/>
    <p:sldId id="642" r:id="rId6"/>
    <p:sldId id="671" r:id="rId7"/>
    <p:sldId id="648" r:id="rId8"/>
    <p:sldId id="655" r:id="rId9"/>
    <p:sldId id="654" r:id="rId10"/>
    <p:sldId id="629" r:id="rId11"/>
    <p:sldId id="643" r:id="rId12"/>
    <p:sldId id="389" r:id="rId13"/>
    <p:sldId id="375" r:id="rId14"/>
    <p:sldId id="377" r:id="rId15"/>
    <p:sldId id="378" r:id="rId16"/>
    <p:sldId id="684" r:id="rId17"/>
    <p:sldId id="372" r:id="rId18"/>
    <p:sldId id="670" r:id="rId19"/>
    <p:sldId id="657" r:id="rId20"/>
    <p:sldId id="659" r:id="rId21"/>
    <p:sldId id="661" r:id="rId22"/>
    <p:sldId id="662" r:id="rId23"/>
    <p:sldId id="663" r:id="rId24"/>
    <p:sldId id="664" r:id="rId25"/>
    <p:sldId id="665" r:id="rId26"/>
    <p:sldId id="666" r:id="rId27"/>
    <p:sldId id="668" r:id="rId28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1C58"/>
    <a:srgbClr val="262827"/>
    <a:srgbClr val="DEBDD4"/>
    <a:srgbClr val="7E499D"/>
    <a:srgbClr val="BEAF9B"/>
    <a:srgbClr val="9D7D93"/>
    <a:srgbClr val="7E039D"/>
    <a:srgbClr val="4F2D7F"/>
    <a:srgbClr val="F0AB00"/>
    <a:srgbClr val="EEA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1187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76" y="7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230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CD98B-DB93-A444-B339-AFA43F1B7091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D0A96-F412-2847-B350-2F07A409CC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1B7E0-9D4F-354F-813F-0DA73ADCE65A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A9514-9494-884D-8088-2187CF26A72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33867" y="-33867"/>
            <a:ext cx="12310533" cy="6934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pic>
        <p:nvPicPr>
          <p:cNvPr id="8" name="Picture 7" descr="Artboard 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867" y="-33864"/>
            <a:ext cx="12310533" cy="6934304"/>
          </a:xfrm>
          <a:prstGeom prst="rect">
            <a:avLst/>
          </a:prstGeom>
        </p:spPr>
      </p:pic>
      <p:pic>
        <p:nvPicPr>
          <p:cNvPr id="9" name="Picture 8" descr="Artboard 5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9181" y="182879"/>
            <a:ext cx="1497371" cy="108288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5192" y="1512276"/>
            <a:ext cx="8954021" cy="2442072"/>
          </a:xfrm>
        </p:spPr>
        <p:txBody>
          <a:bodyPr anchor="ctr">
            <a:normAutofit/>
          </a:bodyPr>
          <a:lstStyle>
            <a:lvl1pPr algn="l">
              <a:defRPr sz="5067" b="1" cap="all">
                <a:solidFill>
                  <a:srgbClr val="F0AB0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7464" y="5130800"/>
            <a:ext cx="1431729" cy="1524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284817" y="4236680"/>
            <a:ext cx="8954396" cy="836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rtboard 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" y="0"/>
            <a:ext cx="12183533" cy="6858000"/>
          </a:xfrm>
          <a:prstGeom prst="rect">
            <a:avLst/>
          </a:prstGeom>
        </p:spPr>
      </p:pic>
      <p:pic>
        <p:nvPicPr>
          <p:cNvPr id="7" name="Picture 6" descr="Artboard 7.png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2579" y="-1"/>
            <a:ext cx="12214579" cy="6858001"/>
          </a:xfrm>
          <a:prstGeom prst="rect">
            <a:avLst/>
          </a:prstGeom>
          <a:solidFill>
            <a:schemeClr val="bg1">
              <a:lumMod val="85000"/>
              <a:alpha val="73000"/>
            </a:schemeClr>
          </a:solidFill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20184" y="1407836"/>
            <a:ext cx="4917016" cy="2465664"/>
          </a:xfrm>
        </p:spPr>
        <p:txBody>
          <a:bodyPr anchor="t">
            <a:normAutofit/>
          </a:bodyPr>
          <a:lstStyle>
            <a:lvl1pPr algn="l">
              <a:defRPr sz="5067" b="1" cap="all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620184" y="4111725"/>
            <a:ext cx="4917016" cy="150071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048125" cy="1143000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Horizont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0481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09601" y="1682751"/>
            <a:ext cx="10047817" cy="4548716"/>
          </a:xfrm>
          <a:prstGeom prst="rect">
            <a:avLst/>
          </a:prstGeom>
        </p:spPr>
        <p:txBody>
          <a:bodyPr/>
          <a:lstStyle>
            <a:lvl1pPr marL="457189" indent="-457189">
              <a:buSzPct val="100000"/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133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2133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1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1" y="275167"/>
            <a:ext cx="10061825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eaVert"/>
          <a:lstStyle>
            <a:lvl1pPr marL="457189" indent="-457189"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133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2133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3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9993331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4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0481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4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867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867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4261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7" b="0">
                <a:solidFill>
                  <a:srgbClr val="4F2D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2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0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194560" cy="585046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  <a:prstGeom prst="rect">
            <a:avLst/>
          </a:prstGeom>
        </p:spPr>
        <p:txBody>
          <a:bodyPr vert="eaVert"/>
          <a:lstStyle>
            <a:lvl1pPr marL="457189" indent="-457189"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133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2133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1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838200" y="643900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038600" y="6439007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79" r:id="rId4"/>
    <p:sldLayoutId id="2147483680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3733" b="1" kern="1200">
          <a:solidFill>
            <a:srgbClr val="331C58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7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rMz7JBRbmNo?feature=oembe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817" y="1116035"/>
            <a:ext cx="9426726" cy="2672193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zh-CN" sz="4900" dirty="0"/>
              <a:t>MGNT 5506G</a:t>
            </a:r>
            <a:br>
              <a:rPr lang="en-GB" altLang="zh-CN" sz="4900" dirty="0"/>
            </a:br>
            <a:r>
              <a:rPr lang="en-GB" altLang="zh-CN" sz="1200" dirty="0">
                <a:solidFill>
                  <a:schemeClr val="accent1"/>
                </a:solidFill>
              </a:rPr>
              <a:t>f</a:t>
            </a:r>
            <a:br>
              <a:rPr lang="en-GB" altLang="zh-CN" dirty="0"/>
            </a:br>
            <a:r>
              <a:rPr lang="en-US" sz="4900" dirty="0">
                <a:solidFill>
                  <a:schemeClr val="bg1"/>
                </a:solidFill>
              </a:rPr>
              <a:t>Strategic Management for Competitive Advantage</a:t>
            </a:r>
            <a:endParaRPr lang="en-GB" sz="4900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284817" y="4572582"/>
            <a:ext cx="8954396" cy="836083"/>
          </a:xfrm>
        </p:spPr>
        <p:txBody>
          <a:bodyPr/>
          <a:lstStyle/>
          <a:p>
            <a:pPr algn="ctr"/>
            <a:r>
              <a:rPr lang="en-GB" altLang="zh-CN" dirty="0"/>
              <a:t>J</a:t>
            </a:r>
            <a:r>
              <a:rPr lang="en-US" altLang="zh-CN" dirty="0" err="1"/>
              <a:t>ingyu</a:t>
            </a:r>
            <a:r>
              <a:rPr lang="en-US" altLang="zh-CN" dirty="0"/>
              <a:t> (Sissi) Li</a:t>
            </a:r>
            <a:endParaRPr lang="en-GB" altLang="zh-C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028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387382" y="2332567"/>
            <a:ext cx="5384800" cy="4525433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331C58"/>
                </a:solidFill>
                <a:latin typeface="+mj-lt"/>
                <a:ea typeface="+mj-ea"/>
                <a:cs typeface="+mj-cs"/>
              </a:rPr>
              <a:t>“I have been up against tough competition all my life. I wouldn't know how to get along without it.”</a:t>
            </a:r>
            <a:endParaRPr lang="en-US" altLang="zh-CN" sz="3600" b="1" dirty="0">
              <a:solidFill>
                <a:srgbClr val="331C58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F495EB7-36A6-FF66-2328-AED08AE707E9}"/>
              </a:ext>
            </a:extLst>
          </p:cNvPr>
          <p:cNvSpPr txBox="1">
            <a:spLocks/>
          </p:cNvSpPr>
          <p:nvPr/>
        </p:nvSpPr>
        <p:spPr>
          <a:xfrm>
            <a:off x="8890000" y="5172415"/>
            <a:ext cx="301105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1867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b="1" kern="1200" dirty="0">
                <a:solidFill>
                  <a:srgbClr val="331C58"/>
                </a:solidFill>
                <a:latin typeface="+mj-lt"/>
                <a:ea typeface="+mj-ea"/>
                <a:cs typeface="+mj-cs"/>
              </a:rPr>
              <a:t> -</a:t>
            </a:r>
            <a:r>
              <a:rPr lang="en-US" sz="3200" b="1" kern="1200" dirty="0">
                <a:solidFill>
                  <a:srgbClr val="331C5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>
                <a:solidFill>
                  <a:srgbClr val="331C58"/>
                </a:solidFill>
                <a:latin typeface="+mj-lt"/>
                <a:ea typeface="+mj-ea"/>
                <a:cs typeface="+mj-cs"/>
              </a:rPr>
              <a:t>Walt Disney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altLang="zh-CN" sz="3200" b="1" kern="1200" dirty="0">
              <a:solidFill>
                <a:srgbClr val="331C58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6" name="Picture 4" descr="Entradas para parques temáticos | Disney World, Universal Orlando, SeaWorld">
            <a:extLst>
              <a:ext uri="{FF2B5EF4-FFF2-40B4-BE49-F238E27FC236}">
                <a16:creationId xmlns:a16="http://schemas.microsoft.com/office/drawing/2014/main" id="{ADF56AE5-D8C6-F2E9-3F00-A8F8C6E2C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19" y="1115483"/>
            <a:ext cx="5435600" cy="347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50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3880" y="219287"/>
            <a:ext cx="9993331" cy="1143000"/>
          </a:xfrm>
        </p:spPr>
        <p:txBody>
          <a:bodyPr anchor="ctr">
            <a:normAutofit/>
          </a:bodyPr>
          <a:lstStyle/>
          <a:p>
            <a:r>
              <a:rPr lang="en-US" altLang="zh-CN" sz="4000" dirty="0"/>
              <a:t>Objectives for Today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666750" y="1698555"/>
            <a:ext cx="10115550" cy="4219574"/>
          </a:xfrm>
        </p:spPr>
        <p:txBody>
          <a:bodyPr>
            <a:normAutofit/>
          </a:bodyPr>
          <a:lstStyle/>
          <a:p>
            <a:r>
              <a:rPr lang="en-US" altLang="zh-CN" sz="2800" kern="0" dirty="0"/>
              <a:t>Define competitive rivalry and dynamics</a:t>
            </a:r>
          </a:p>
          <a:p>
            <a:r>
              <a:rPr lang="en-US" altLang="zh-CN" sz="2800" kern="0" dirty="0"/>
              <a:t>Understand factors that influence likelihood of competition among firms</a:t>
            </a:r>
          </a:p>
          <a:p>
            <a:r>
              <a:rPr lang="en-US" altLang="zh-TW" sz="2800" kern="0" dirty="0"/>
              <a:t>Exercise</a:t>
            </a:r>
            <a:r>
              <a:rPr lang="zh-TW" altLang="en-US" sz="2800" kern="0" dirty="0"/>
              <a:t> </a:t>
            </a:r>
            <a:r>
              <a:rPr lang="en-US" altLang="zh-TW" sz="2800" kern="0" dirty="0"/>
              <a:t>on</a:t>
            </a:r>
            <a:r>
              <a:rPr lang="zh-TW" altLang="en-US" sz="2800" kern="0" dirty="0"/>
              <a:t> </a:t>
            </a:r>
            <a:r>
              <a:rPr lang="en-US" altLang="zh-TW" sz="2800" kern="0" dirty="0"/>
              <a:t>the</a:t>
            </a:r>
            <a:r>
              <a:rPr lang="zh-CN" altLang="en-US" sz="2800" kern="0" dirty="0"/>
              <a:t> </a:t>
            </a:r>
            <a:r>
              <a:rPr lang="en-US" altLang="zh-CN" sz="2800" kern="0" dirty="0"/>
              <a:t>competitive</a:t>
            </a:r>
            <a:r>
              <a:rPr lang="zh-CN" altLang="en-US" sz="2800" kern="0" dirty="0"/>
              <a:t> </a:t>
            </a:r>
            <a:r>
              <a:rPr lang="en-US" altLang="zh-CN" sz="2800" kern="0" dirty="0"/>
              <a:t>dynamics</a:t>
            </a:r>
          </a:p>
        </p:txBody>
      </p:sp>
    </p:spTree>
    <p:extLst>
      <p:ext uri="{BB962C8B-B14F-4D97-AF65-F5344CB8AC3E}">
        <p14:creationId xmlns:p14="http://schemas.microsoft.com/office/powerpoint/2010/main" val="288431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5E78-5E30-4887-B851-F9BDEC05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10602930" cy="983673"/>
          </a:xfrm>
        </p:spPr>
        <p:txBody>
          <a:bodyPr>
            <a:noAutofit/>
          </a:bodyPr>
          <a:lstStyle/>
          <a:p>
            <a:r>
              <a:rPr lang="en-US" altLang="zh-CN" sz="3200" dirty="0">
                <a:cs typeface="Times New Roman" panose="02020603050405020304" pitchFamily="18" charset="0"/>
              </a:rPr>
              <a:t>Opening Exercise: Rides-share apps</a:t>
            </a:r>
            <a:endParaRPr lang="zh-CN" alt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DFB80-3903-499A-90ED-A6294ED9B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3638550"/>
            <a:ext cx="11296650" cy="3219450"/>
          </a:xfrm>
        </p:spPr>
        <p:txBody>
          <a:bodyPr>
            <a:noAutofit/>
          </a:bodyPr>
          <a:lstStyle/>
          <a:p>
            <a:pPr marL="0" indent="0">
              <a:spcBef>
                <a:spcPct val="30000"/>
              </a:spcBef>
              <a:buNone/>
            </a:pPr>
            <a:r>
              <a:rPr lang="en-US" altLang="zh-CN" sz="2800" b="1" dirty="0"/>
              <a:t>2009-2012</a:t>
            </a:r>
          </a:p>
          <a:p>
            <a:pPr>
              <a:spcBef>
                <a:spcPct val="30000"/>
              </a:spcBef>
            </a:pPr>
            <a:r>
              <a:rPr lang="en-US" altLang="zh-CN" sz="2800" b="1" dirty="0"/>
              <a:t>In March 2009</a:t>
            </a:r>
            <a:r>
              <a:rPr lang="en-US" altLang="zh-CN" sz="2800" dirty="0"/>
              <a:t>, Uber was founded. </a:t>
            </a:r>
          </a:p>
          <a:p>
            <a:pPr>
              <a:spcBef>
                <a:spcPct val="30000"/>
              </a:spcBef>
            </a:pPr>
            <a:r>
              <a:rPr lang="en-US" altLang="zh-CN" sz="2800" dirty="0"/>
              <a:t>In </a:t>
            </a:r>
            <a:r>
              <a:rPr lang="en-US" altLang="zh-CN" sz="2800" b="1" dirty="0"/>
              <a:t>March 2012</a:t>
            </a:r>
            <a:r>
              <a:rPr lang="en-US" altLang="zh-CN" sz="2800" dirty="0"/>
              <a:t>, Kuai Di was founded. </a:t>
            </a:r>
          </a:p>
          <a:p>
            <a:pPr>
              <a:spcBef>
                <a:spcPct val="30000"/>
              </a:spcBef>
            </a:pPr>
            <a:r>
              <a:rPr lang="en-US" altLang="zh-CN" sz="2800" dirty="0"/>
              <a:t>In </a:t>
            </a:r>
            <a:r>
              <a:rPr lang="en-US" altLang="zh-CN" sz="2800" b="1" dirty="0"/>
              <a:t>June 2012</a:t>
            </a:r>
            <a:r>
              <a:rPr lang="en-US" altLang="zh-CN" sz="2800" dirty="0"/>
              <a:t>, Didi was founded. </a:t>
            </a:r>
          </a:p>
          <a:p>
            <a:pPr>
              <a:spcBef>
                <a:spcPct val="30000"/>
              </a:spcBef>
            </a:pPr>
            <a:r>
              <a:rPr lang="en-US" altLang="zh-CN" sz="2800" dirty="0"/>
              <a:t>In </a:t>
            </a:r>
            <a:r>
              <a:rPr lang="en-US" altLang="zh-CN" sz="2800" b="1" dirty="0"/>
              <a:t>June 2012</a:t>
            </a:r>
            <a:r>
              <a:rPr lang="en-US" altLang="zh-CN" sz="2800" dirty="0"/>
              <a:t>, Lyft was founded.</a:t>
            </a:r>
          </a:p>
        </p:txBody>
      </p:sp>
      <p:pic>
        <p:nvPicPr>
          <p:cNvPr id="1026" name="Picture 2" descr="Uber - Request a ride on the App Store">
            <a:extLst>
              <a:ext uri="{FF2B5EF4-FFF2-40B4-BE49-F238E27FC236}">
                <a16:creationId xmlns:a16="http://schemas.microsoft.com/office/drawing/2014/main" id="{F562CE10-472D-F71D-44A0-2DEA4CB3C9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11797" r="30781" b="13095"/>
          <a:stretch/>
        </p:blipFill>
        <p:spPr bwMode="auto">
          <a:xfrm>
            <a:off x="179370" y="1035445"/>
            <a:ext cx="2411430" cy="242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Di se regulariza para brindar nuevamente servicio de transporte privado  en el estado - AGENCIA DE MOVILIDAD">
            <a:extLst>
              <a:ext uri="{FF2B5EF4-FFF2-40B4-BE49-F238E27FC236}">
                <a16:creationId xmlns:a16="http://schemas.microsoft.com/office/drawing/2014/main" id="{2FF18BD9-976E-3EB9-9A6E-F5CAE8962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6" t="14343" r="17778" b="15556"/>
          <a:stretch/>
        </p:blipFill>
        <p:spPr bwMode="auto">
          <a:xfrm>
            <a:off x="5561329" y="1122030"/>
            <a:ext cx="2133600" cy="233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uaidi Dache (快的打车) - Tech in Asia">
            <a:extLst>
              <a:ext uri="{FF2B5EF4-FFF2-40B4-BE49-F238E27FC236}">
                <a16:creationId xmlns:a16="http://schemas.microsoft.com/office/drawing/2014/main" id="{D00991F3-0299-722C-BE8F-A23BCB4CA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981" y="1180176"/>
            <a:ext cx="2142167" cy="214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yft Success Story - Founders, Business Model, Competitors and More">
            <a:extLst>
              <a:ext uri="{FF2B5EF4-FFF2-40B4-BE49-F238E27FC236}">
                <a16:creationId xmlns:a16="http://schemas.microsoft.com/office/drawing/2014/main" id="{EB092937-EDAF-84EF-B6EE-597BAC1DA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0" t="14562" r="23083" b="16288"/>
          <a:stretch/>
        </p:blipFill>
        <p:spPr bwMode="auto">
          <a:xfrm>
            <a:off x="7895895" y="1180176"/>
            <a:ext cx="2769563" cy="20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07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9E2A4-7753-A764-7F5A-B908BD82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DD82B-B0BA-DC00-E35C-EA4D95AD9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0" y="983672"/>
            <a:ext cx="10363200" cy="5675545"/>
          </a:xfrm>
        </p:spPr>
        <p:txBody>
          <a:bodyPr>
            <a:noAutofit/>
          </a:bodyPr>
          <a:lstStyle/>
          <a:p>
            <a:pPr marL="0" indent="0">
              <a:spcBef>
                <a:spcPct val="30000"/>
              </a:spcBef>
              <a:buNone/>
            </a:pPr>
            <a:r>
              <a:rPr lang="en-US" altLang="zh-CN" b="1" dirty="0"/>
              <a:t>2013-2014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November 2013</a:t>
            </a:r>
            <a:r>
              <a:rPr lang="en-US" altLang="zh-CN" dirty="0"/>
              <a:t>, Uber entered China by offering premium services.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January 2014</a:t>
            </a:r>
            <a:r>
              <a:rPr lang="en-US" altLang="zh-CN" dirty="0"/>
              <a:t>, Didi announced a 5 RMB/order discount promotion. 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Several days later</a:t>
            </a:r>
            <a:r>
              <a:rPr lang="en-US" altLang="zh-CN" dirty="0"/>
              <a:t>, Kuai Di announced a similar promotion. 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Several</a:t>
            </a:r>
            <a:r>
              <a:rPr lang="zh-CN" altLang="en-US" b="1" dirty="0"/>
              <a:t> </a:t>
            </a:r>
            <a:r>
              <a:rPr lang="en-US" altLang="zh-CN" b="1" dirty="0"/>
              <a:t>days</a:t>
            </a:r>
            <a:r>
              <a:rPr lang="zh-CN" altLang="en-US" b="1" dirty="0"/>
              <a:t> </a:t>
            </a:r>
            <a:r>
              <a:rPr lang="en-US" altLang="zh-CN" b="1" dirty="0"/>
              <a:t>later</a:t>
            </a:r>
            <a:r>
              <a:rPr lang="en-US" altLang="zh-CN" dirty="0"/>
              <a:t>, Didi increased their promotion daily. 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One day later</a:t>
            </a:r>
            <a:r>
              <a:rPr lang="en-US" altLang="zh-CN" dirty="0"/>
              <a:t>, Kuai Di offered slightly higher discounts daily. 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Another day later</a:t>
            </a:r>
            <a:r>
              <a:rPr lang="en-US" altLang="zh-CN" dirty="0"/>
              <a:t>, </a:t>
            </a:r>
            <a:r>
              <a:rPr lang="en-US" altLang="zh-CN" dirty="0" err="1"/>
              <a:t>DiDi</a:t>
            </a:r>
            <a:r>
              <a:rPr lang="en-US" altLang="zh-CN" dirty="0"/>
              <a:t> randomized discounts per order. 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May 2014</a:t>
            </a:r>
            <a:r>
              <a:rPr lang="en-US" altLang="zh-CN" dirty="0"/>
              <a:t>, Didi and Kuai Di stopped all promotions and discounts.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What are these firms competing for?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Who are their primary competitors at this stage?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07CB8E-055C-CF2D-FA8C-460FF0F6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10602930" cy="983673"/>
          </a:xfrm>
        </p:spPr>
        <p:txBody>
          <a:bodyPr>
            <a:noAutofit/>
          </a:bodyPr>
          <a:lstStyle/>
          <a:p>
            <a:r>
              <a:rPr lang="en-US" altLang="zh-CN" sz="3200" dirty="0">
                <a:cs typeface="Times New Roman" panose="02020603050405020304" pitchFamily="18" charset="0"/>
              </a:rPr>
              <a:t>Opening Exercise: Rides-share apps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1729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E6B1-D8E8-AB50-5635-CA4E9956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90178-A62E-F682-6BF7-0CC368A44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550" y="819150"/>
            <a:ext cx="11029950" cy="5715001"/>
          </a:xfrm>
        </p:spPr>
        <p:txBody>
          <a:bodyPr>
            <a:noAutofit/>
          </a:bodyPr>
          <a:lstStyle/>
          <a:p>
            <a:pPr marL="0" indent="0">
              <a:spcBef>
                <a:spcPct val="30000"/>
              </a:spcBef>
              <a:buNone/>
            </a:pPr>
            <a:r>
              <a:rPr lang="en-US" altLang="zh-CN" b="1" dirty="0"/>
              <a:t>2014-2016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August 2014</a:t>
            </a:r>
            <a:r>
              <a:rPr lang="en-US" altLang="zh-CN" dirty="0"/>
              <a:t>, Uber </a:t>
            </a:r>
            <a:r>
              <a:rPr lang="en-US" altLang="zh-CN" b="1" dirty="0"/>
              <a:t>repositioned</a:t>
            </a:r>
            <a:r>
              <a:rPr lang="en-US" altLang="zh-CN" dirty="0"/>
              <a:t> itself to offer affordable rides.</a:t>
            </a:r>
            <a:endParaRPr lang="en-US" altLang="zh-CN" b="1" dirty="0"/>
          </a:p>
          <a:p>
            <a:pPr>
              <a:spcBef>
                <a:spcPct val="30000"/>
              </a:spcBef>
            </a:pPr>
            <a:r>
              <a:rPr lang="en-US" altLang="zh-CN" b="1" dirty="0"/>
              <a:t>In February 2015</a:t>
            </a:r>
            <a:r>
              <a:rPr lang="en-US" altLang="zh-CN" dirty="0"/>
              <a:t>, Didi and Kuai Di announced their </a:t>
            </a:r>
            <a:r>
              <a:rPr lang="en-US" altLang="zh-CN" b="1" dirty="0"/>
              <a:t>merger as DDKD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March 2015</a:t>
            </a:r>
            <a:r>
              <a:rPr lang="en-US" altLang="zh-CN" dirty="0"/>
              <a:t>, Uber proposed </a:t>
            </a:r>
            <a:r>
              <a:rPr lang="en-US" altLang="zh-CN" b="1" dirty="0"/>
              <a:t>investing in DDKD </a:t>
            </a:r>
            <a:r>
              <a:rPr lang="en-US" altLang="zh-CN" dirty="0"/>
              <a:t>but got rejected. 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March 2015</a:t>
            </a:r>
            <a:r>
              <a:rPr lang="en-US" altLang="zh-CN" dirty="0"/>
              <a:t>, Uber raised </a:t>
            </a:r>
            <a:r>
              <a:rPr lang="en-US" altLang="zh-CN" b="1" dirty="0"/>
              <a:t>one billion USD to compete in China</a:t>
            </a:r>
            <a:endParaRPr lang="en-US" altLang="zh-CN" dirty="0"/>
          </a:p>
          <a:p>
            <a:pPr>
              <a:spcBef>
                <a:spcPct val="30000"/>
              </a:spcBef>
            </a:pPr>
            <a:r>
              <a:rPr lang="en-US" altLang="zh-CN" b="1" dirty="0"/>
              <a:t>In March 2015</a:t>
            </a:r>
            <a:r>
              <a:rPr lang="en-US" altLang="zh-CN" dirty="0"/>
              <a:t>, DDKD </a:t>
            </a:r>
          </a:p>
          <a:p>
            <a:pPr lvl="1">
              <a:spcBef>
                <a:spcPct val="30000"/>
              </a:spcBef>
            </a:pPr>
            <a:r>
              <a:rPr lang="en-US" altLang="zh-CN" sz="2400" dirty="0"/>
              <a:t>Raised </a:t>
            </a:r>
            <a:r>
              <a:rPr lang="en-US" altLang="zh-CN" sz="2400" b="1" dirty="0"/>
              <a:t>3 billion USD</a:t>
            </a:r>
            <a:endParaRPr lang="en-US" altLang="zh-CN" sz="2400" dirty="0"/>
          </a:p>
          <a:p>
            <a:pPr lvl="1">
              <a:spcBef>
                <a:spcPct val="30000"/>
              </a:spcBef>
            </a:pPr>
            <a:r>
              <a:rPr lang="en-US" altLang="zh-CN" sz="2400" dirty="0"/>
              <a:t>Invested </a:t>
            </a:r>
            <a:r>
              <a:rPr lang="en-US" altLang="zh-CN" sz="2400" b="1" dirty="0"/>
              <a:t>1 billion USD in Lyft</a:t>
            </a:r>
            <a:r>
              <a:rPr lang="en-US" altLang="zh-CN" sz="2400" dirty="0"/>
              <a:t>.</a:t>
            </a:r>
          </a:p>
          <a:p>
            <a:pPr>
              <a:spcBef>
                <a:spcPct val="30000"/>
              </a:spcBef>
            </a:pPr>
            <a:r>
              <a:rPr lang="en-US" altLang="zh-CN" b="1" dirty="0"/>
              <a:t>In August 2016, </a:t>
            </a:r>
            <a:r>
              <a:rPr lang="en-US" altLang="zh-CN" dirty="0"/>
              <a:t>Uber China merged with DDKD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At this stage, what are these firms competing for?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Who are their primary competitors?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altLang="zh-CN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07A212-4385-F35F-0558-42F40FBA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10602930" cy="983673"/>
          </a:xfrm>
        </p:spPr>
        <p:txBody>
          <a:bodyPr>
            <a:noAutofit/>
          </a:bodyPr>
          <a:lstStyle/>
          <a:p>
            <a:r>
              <a:rPr lang="en-US" altLang="zh-CN" sz="3200" dirty="0">
                <a:cs typeface="Times New Roman" panose="02020603050405020304" pitchFamily="18" charset="0"/>
              </a:rPr>
              <a:t>Opening Exercise: Rides-share apps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686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9FB1-6BE4-2A92-EF11-68DF7C41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59816"/>
            <a:ext cx="9993331" cy="1143000"/>
          </a:xfrm>
        </p:spPr>
        <p:txBody>
          <a:bodyPr/>
          <a:lstStyle/>
          <a:p>
            <a:r>
              <a:rPr lang="en-US" sz="4000" dirty="0"/>
              <a:t>Competitive Action and Response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60EDD5-A247-E3DE-3BAA-37A261503EB8}"/>
              </a:ext>
            </a:extLst>
          </p:cNvPr>
          <p:cNvGrpSpPr/>
          <p:nvPr/>
        </p:nvGrpSpPr>
        <p:grpSpPr>
          <a:xfrm>
            <a:off x="410547" y="1223962"/>
            <a:ext cx="10338318" cy="5410200"/>
            <a:chOff x="836613" y="1066800"/>
            <a:chExt cx="8002587" cy="4876800"/>
          </a:xfrm>
        </p:grpSpPr>
        <p:grpSp>
          <p:nvGrpSpPr>
            <p:cNvPr id="6" name="Group 51">
              <a:extLst>
                <a:ext uri="{FF2B5EF4-FFF2-40B4-BE49-F238E27FC236}">
                  <a16:creationId xmlns:a16="http://schemas.microsoft.com/office/drawing/2014/main" id="{12F8A698-59C4-D5B7-E139-E237AD484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613" y="1066800"/>
              <a:ext cx="4191000" cy="4876800"/>
              <a:chOff x="527" y="672"/>
              <a:chExt cx="2640" cy="3072"/>
            </a:xfrm>
          </p:grpSpPr>
          <p:sp>
            <p:nvSpPr>
              <p:cNvPr id="18" name="Line 13">
                <a:extLst>
                  <a:ext uri="{FF2B5EF4-FFF2-40B4-BE49-F238E27FC236}">
                    <a16:creationId xmlns:a16="http://schemas.microsoft.com/office/drawing/2014/main" id="{ECE8168B-7AC6-8AD5-F1ED-AB108E382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7" y="684"/>
                <a:ext cx="2592" cy="0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2">
                <a:extLst>
                  <a:ext uri="{FF2B5EF4-FFF2-40B4-BE49-F238E27FC236}">
                    <a16:creationId xmlns:a16="http://schemas.microsoft.com/office/drawing/2014/main" id="{A77BCFA8-2C83-EF52-42CA-1BE0B613E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7" y="3456"/>
                <a:ext cx="0" cy="288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11">
                <a:extLst>
                  <a:ext uri="{FF2B5EF4-FFF2-40B4-BE49-F238E27FC236}">
                    <a16:creationId xmlns:a16="http://schemas.microsoft.com/office/drawing/2014/main" id="{4EAA96E0-BE47-F544-4A4D-8AF703641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7" y="3744"/>
                <a:ext cx="2640" cy="0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12">
                <a:extLst>
                  <a:ext uri="{FF2B5EF4-FFF2-40B4-BE49-F238E27FC236}">
                    <a16:creationId xmlns:a16="http://schemas.microsoft.com/office/drawing/2014/main" id="{EDC43CC6-09E3-8D80-7F40-42B855A58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7" y="672"/>
                <a:ext cx="0" cy="3072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A07DA0AD-C9E6-2BCB-FBCA-08CACBE2D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9" y="672"/>
                <a:ext cx="0" cy="33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A761386-9894-AA94-A592-4090C4E563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0013" y="1600200"/>
              <a:ext cx="7469187" cy="3887788"/>
              <a:chOff x="863" y="1008"/>
              <a:chExt cx="4705" cy="2449"/>
            </a:xfrm>
          </p:grpSpPr>
          <p:sp>
            <p:nvSpPr>
              <p:cNvPr id="8" name="Freeform 3">
                <a:extLst>
                  <a:ext uri="{FF2B5EF4-FFF2-40B4-BE49-F238E27FC236}">
                    <a16:creationId xmlns:a16="http://schemas.microsoft.com/office/drawing/2014/main" id="{9712CFD0-3636-131A-13EE-C1F91B412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" y="2016"/>
                <a:ext cx="4657" cy="385"/>
              </a:xfrm>
              <a:custGeom>
                <a:avLst/>
                <a:gdLst>
                  <a:gd name="T0" fmla="*/ 0 w 4657"/>
                  <a:gd name="T1" fmla="*/ 384 h 385"/>
                  <a:gd name="T2" fmla="*/ 240 w 4657"/>
                  <a:gd name="T3" fmla="*/ 0 h 385"/>
                  <a:gd name="T4" fmla="*/ 4656 w 4657"/>
                  <a:gd name="T5" fmla="*/ 0 h 385"/>
                  <a:gd name="T6" fmla="*/ 4464 w 4657"/>
                  <a:gd name="T7" fmla="*/ 307 h 385"/>
                  <a:gd name="T8" fmla="*/ 4416 w 4657"/>
                  <a:gd name="T9" fmla="*/ 384 h 385"/>
                  <a:gd name="T10" fmla="*/ 0 w 4657"/>
                  <a:gd name="T11" fmla="*/ 384 h 3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57"/>
                  <a:gd name="T19" fmla="*/ 0 h 385"/>
                  <a:gd name="T20" fmla="*/ 4657 w 4657"/>
                  <a:gd name="T21" fmla="*/ 385 h 38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57" h="385">
                    <a:moveTo>
                      <a:pt x="0" y="384"/>
                    </a:moveTo>
                    <a:lnTo>
                      <a:pt x="240" y="0"/>
                    </a:lnTo>
                    <a:lnTo>
                      <a:pt x="4656" y="0"/>
                    </a:lnTo>
                    <a:lnTo>
                      <a:pt x="4464" y="307"/>
                    </a:lnTo>
                    <a:lnTo>
                      <a:pt x="4416" y="384"/>
                    </a:lnTo>
                    <a:lnTo>
                      <a:pt x="0" y="384"/>
                    </a:lnTo>
                  </a:path>
                </a:pathLst>
              </a:custGeom>
              <a:solidFill>
                <a:srgbClr val="CECECE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305C5E4B-0212-CDA0-E146-EBA4331E3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" y="1008"/>
                <a:ext cx="4657" cy="385"/>
              </a:xfrm>
              <a:custGeom>
                <a:avLst/>
                <a:gdLst>
                  <a:gd name="T0" fmla="*/ 0 w 4657"/>
                  <a:gd name="T1" fmla="*/ 384 h 385"/>
                  <a:gd name="T2" fmla="*/ 0 w 4657"/>
                  <a:gd name="T3" fmla="*/ 0 h 385"/>
                  <a:gd name="T4" fmla="*/ 4656 w 4657"/>
                  <a:gd name="T5" fmla="*/ 0 h 385"/>
                  <a:gd name="T6" fmla="*/ 4656 w 4657"/>
                  <a:gd name="T7" fmla="*/ 384 h 385"/>
                  <a:gd name="T8" fmla="*/ 0 w 4657"/>
                  <a:gd name="T9" fmla="*/ 384 h 3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57"/>
                  <a:gd name="T16" fmla="*/ 0 h 385"/>
                  <a:gd name="T17" fmla="*/ 4657 w 4657"/>
                  <a:gd name="T18" fmla="*/ 385 h 3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57" h="385">
                    <a:moveTo>
                      <a:pt x="0" y="384"/>
                    </a:moveTo>
                    <a:lnTo>
                      <a:pt x="0" y="0"/>
                    </a:lnTo>
                    <a:lnTo>
                      <a:pt x="4656" y="0"/>
                    </a:lnTo>
                    <a:lnTo>
                      <a:pt x="4656" y="384"/>
                    </a:lnTo>
                    <a:lnTo>
                      <a:pt x="0" y="384"/>
                    </a:lnTo>
                  </a:path>
                </a:pathLst>
              </a:custGeom>
              <a:solidFill>
                <a:srgbClr val="CECECE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797D87C0-7518-C4DA-F8C1-7FB009097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" y="3072"/>
                <a:ext cx="4657" cy="385"/>
              </a:xfrm>
              <a:custGeom>
                <a:avLst/>
                <a:gdLst>
                  <a:gd name="T0" fmla="*/ 0 w 4657"/>
                  <a:gd name="T1" fmla="*/ 0 h 385"/>
                  <a:gd name="T2" fmla="*/ 240 w 4657"/>
                  <a:gd name="T3" fmla="*/ 384 h 385"/>
                  <a:gd name="T4" fmla="*/ 4656 w 4657"/>
                  <a:gd name="T5" fmla="*/ 384 h 385"/>
                  <a:gd name="T6" fmla="*/ 4464 w 4657"/>
                  <a:gd name="T7" fmla="*/ 77 h 385"/>
                  <a:gd name="T8" fmla="*/ 4416 w 4657"/>
                  <a:gd name="T9" fmla="*/ 0 h 385"/>
                  <a:gd name="T10" fmla="*/ 0 w 4657"/>
                  <a:gd name="T11" fmla="*/ 0 h 3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57"/>
                  <a:gd name="T19" fmla="*/ 0 h 385"/>
                  <a:gd name="T20" fmla="*/ 4657 w 4657"/>
                  <a:gd name="T21" fmla="*/ 385 h 38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57" h="385">
                    <a:moveTo>
                      <a:pt x="0" y="0"/>
                    </a:moveTo>
                    <a:lnTo>
                      <a:pt x="240" y="384"/>
                    </a:lnTo>
                    <a:lnTo>
                      <a:pt x="4656" y="384"/>
                    </a:lnTo>
                    <a:lnTo>
                      <a:pt x="4464" y="77"/>
                    </a:lnTo>
                    <a:lnTo>
                      <a:pt x="44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ECECE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8B548CF4-7845-3D4C-EEB5-F88AD3DA2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3" y="2103"/>
                <a:ext cx="41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1" i="1">
                    <a:latin typeface="Arial" panose="020B0604020202020204" pitchFamily="34" charset="0"/>
                  </a:rPr>
                  <a:t>Industry Environment is Changed</a:t>
                </a:r>
              </a:p>
            </p:txBody>
          </p:sp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9A66EB58-9C11-4EB7-1A55-8BF453883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1083"/>
                <a:ext cx="22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1" i="1" dirty="0">
                    <a:latin typeface="Arial" panose="020B0604020202020204" pitchFamily="34" charset="0"/>
                  </a:rPr>
                  <a:t>Industry Environment</a:t>
                </a:r>
              </a:p>
            </p:txBody>
          </p:sp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4F895A42-B4B1-2503-69AB-5FB3C50FF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159"/>
                <a:ext cx="374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1" i="1">
                    <a:latin typeface="Arial" panose="020B0604020202020204" pitchFamily="34" charset="0"/>
                  </a:rPr>
                  <a:t>Industry Environment is Changed Again</a:t>
                </a:r>
              </a:p>
            </p:txBody>
          </p:sp>
          <p:sp>
            <p:nvSpPr>
              <p:cNvPr id="14" name="Rectangle 15">
                <a:extLst>
                  <a:ext uri="{FF2B5EF4-FFF2-40B4-BE49-F238E27FC236}">
                    <a16:creationId xmlns:a16="http://schemas.microsoft.com/office/drawing/2014/main" id="{03273B12-8FDF-F798-1DA9-B01D59DAB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462"/>
                <a:ext cx="3793" cy="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2800" b="1" dirty="0">
                    <a:solidFill>
                      <a:schemeClr val="tx2"/>
                    </a:solidFill>
                    <a:latin typeface="Arial" panose="020B0604020202020204" pitchFamily="34" charset="0"/>
                  </a:rPr>
                  <a:t>Company ‘B’ Initiates Competitive Response</a:t>
                </a:r>
              </a:p>
            </p:txBody>
          </p:sp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470CCB58-3EA5-88FB-B675-134C39AD5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4" y="1221"/>
                <a:ext cx="831" cy="927"/>
              </a:xfrm>
              <a:custGeom>
                <a:avLst/>
                <a:gdLst>
                  <a:gd name="T0" fmla="*/ 707 w 831"/>
                  <a:gd name="T1" fmla="*/ 125 h 927"/>
                  <a:gd name="T2" fmla="*/ 523 w 831"/>
                  <a:gd name="T3" fmla="*/ 76 h 927"/>
                  <a:gd name="T4" fmla="*/ 381 w 831"/>
                  <a:gd name="T5" fmla="*/ 38 h 927"/>
                  <a:gd name="T6" fmla="*/ 339 w 831"/>
                  <a:gd name="T7" fmla="*/ 27 h 927"/>
                  <a:gd name="T8" fmla="*/ 296 w 831"/>
                  <a:gd name="T9" fmla="*/ 15 h 927"/>
                  <a:gd name="T10" fmla="*/ 240 w 831"/>
                  <a:gd name="T11" fmla="*/ 0 h 927"/>
                  <a:gd name="T12" fmla="*/ 127 w 831"/>
                  <a:gd name="T13" fmla="*/ 423 h 927"/>
                  <a:gd name="T14" fmla="*/ 0 w 831"/>
                  <a:gd name="T15" fmla="*/ 389 h 927"/>
                  <a:gd name="T16" fmla="*/ 311 w 831"/>
                  <a:gd name="T17" fmla="*/ 926 h 927"/>
                  <a:gd name="T18" fmla="*/ 830 w 831"/>
                  <a:gd name="T19" fmla="*/ 627 h 927"/>
                  <a:gd name="T20" fmla="*/ 675 w 831"/>
                  <a:gd name="T21" fmla="*/ 585 h 927"/>
                  <a:gd name="T22" fmla="*/ 792 w 831"/>
                  <a:gd name="T23" fmla="*/ 148 h 927"/>
                  <a:gd name="T24" fmla="*/ 707 w 831"/>
                  <a:gd name="T25" fmla="*/ 125 h 92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31"/>
                  <a:gd name="T40" fmla="*/ 0 h 927"/>
                  <a:gd name="T41" fmla="*/ 831 w 831"/>
                  <a:gd name="T42" fmla="*/ 927 h 92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31" h="927">
                    <a:moveTo>
                      <a:pt x="707" y="125"/>
                    </a:moveTo>
                    <a:lnTo>
                      <a:pt x="523" y="76"/>
                    </a:lnTo>
                    <a:lnTo>
                      <a:pt x="381" y="38"/>
                    </a:lnTo>
                    <a:lnTo>
                      <a:pt x="339" y="27"/>
                    </a:lnTo>
                    <a:lnTo>
                      <a:pt x="296" y="15"/>
                    </a:lnTo>
                    <a:lnTo>
                      <a:pt x="240" y="0"/>
                    </a:lnTo>
                    <a:lnTo>
                      <a:pt x="127" y="423"/>
                    </a:lnTo>
                    <a:lnTo>
                      <a:pt x="0" y="389"/>
                    </a:lnTo>
                    <a:lnTo>
                      <a:pt x="311" y="926"/>
                    </a:lnTo>
                    <a:lnTo>
                      <a:pt x="830" y="627"/>
                    </a:lnTo>
                    <a:lnTo>
                      <a:pt x="675" y="585"/>
                    </a:lnTo>
                    <a:lnTo>
                      <a:pt x="792" y="148"/>
                    </a:lnTo>
                    <a:lnTo>
                      <a:pt x="707" y="125"/>
                    </a:lnTo>
                  </a:path>
                </a:pathLst>
              </a:custGeom>
              <a:solidFill>
                <a:srgbClr val="CC0000">
                  <a:alpha val="32941"/>
                </a:srgbClr>
              </a:solidFill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Rectangle 17">
                <a:extLst>
                  <a:ext uri="{FF2B5EF4-FFF2-40B4-BE49-F238E27FC236}">
                    <a16:creationId xmlns:a16="http://schemas.microsoft.com/office/drawing/2014/main" id="{02C9CB27-9F67-277C-89A4-03EAA2355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" y="1440"/>
                <a:ext cx="3743" cy="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2800" b="1" dirty="0">
                    <a:solidFill>
                      <a:schemeClr val="tx2"/>
                    </a:solidFill>
                    <a:latin typeface="Arial" panose="020B0604020202020204" pitchFamily="34" charset="0"/>
                  </a:rPr>
                  <a:t>Company ‘A’ Initiates Competitive Action</a:t>
                </a:r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9FC741B9-ACDC-87ED-4C4D-46B85FE0D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2229"/>
                <a:ext cx="831" cy="927"/>
              </a:xfrm>
              <a:custGeom>
                <a:avLst/>
                <a:gdLst>
                  <a:gd name="T0" fmla="*/ 123 w 831"/>
                  <a:gd name="T1" fmla="*/ 125 h 927"/>
                  <a:gd name="T2" fmla="*/ 307 w 831"/>
                  <a:gd name="T3" fmla="*/ 76 h 927"/>
                  <a:gd name="T4" fmla="*/ 449 w 831"/>
                  <a:gd name="T5" fmla="*/ 38 h 927"/>
                  <a:gd name="T6" fmla="*/ 491 w 831"/>
                  <a:gd name="T7" fmla="*/ 27 h 927"/>
                  <a:gd name="T8" fmla="*/ 534 w 831"/>
                  <a:gd name="T9" fmla="*/ 15 h 927"/>
                  <a:gd name="T10" fmla="*/ 590 w 831"/>
                  <a:gd name="T11" fmla="*/ 0 h 927"/>
                  <a:gd name="T12" fmla="*/ 703 w 831"/>
                  <a:gd name="T13" fmla="*/ 423 h 927"/>
                  <a:gd name="T14" fmla="*/ 830 w 831"/>
                  <a:gd name="T15" fmla="*/ 389 h 927"/>
                  <a:gd name="T16" fmla="*/ 519 w 831"/>
                  <a:gd name="T17" fmla="*/ 926 h 927"/>
                  <a:gd name="T18" fmla="*/ 0 w 831"/>
                  <a:gd name="T19" fmla="*/ 627 h 927"/>
                  <a:gd name="T20" fmla="*/ 155 w 831"/>
                  <a:gd name="T21" fmla="*/ 585 h 927"/>
                  <a:gd name="T22" fmla="*/ 38 w 831"/>
                  <a:gd name="T23" fmla="*/ 148 h 927"/>
                  <a:gd name="T24" fmla="*/ 123 w 831"/>
                  <a:gd name="T25" fmla="*/ 125 h 92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31"/>
                  <a:gd name="T40" fmla="*/ 0 h 927"/>
                  <a:gd name="T41" fmla="*/ 831 w 831"/>
                  <a:gd name="T42" fmla="*/ 927 h 92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31" h="927">
                    <a:moveTo>
                      <a:pt x="123" y="125"/>
                    </a:moveTo>
                    <a:lnTo>
                      <a:pt x="307" y="76"/>
                    </a:lnTo>
                    <a:lnTo>
                      <a:pt x="449" y="38"/>
                    </a:lnTo>
                    <a:lnTo>
                      <a:pt x="491" y="27"/>
                    </a:lnTo>
                    <a:lnTo>
                      <a:pt x="534" y="15"/>
                    </a:lnTo>
                    <a:lnTo>
                      <a:pt x="590" y="0"/>
                    </a:lnTo>
                    <a:lnTo>
                      <a:pt x="703" y="423"/>
                    </a:lnTo>
                    <a:lnTo>
                      <a:pt x="830" y="389"/>
                    </a:lnTo>
                    <a:lnTo>
                      <a:pt x="519" y="926"/>
                    </a:lnTo>
                    <a:lnTo>
                      <a:pt x="0" y="627"/>
                    </a:lnTo>
                    <a:lnTo>
                      <a:pt x="155" y="585"/>
                    </a:lnTo>
                    <a:lnTo>
                      <a:pt x="38" y="148"/>
                    </a:lnTo>
                    <a:lnTo>
                      <a:pt x="123" y="125"/>
                    </a:lnTo>
                  </a:path>
                </a:pathLst>
              </a:custGeom>
              <a:solidFill>
                <a:srgbClr val="CC0000">
                  <a:alpha val="32941"/>
                </a:srgbClr>
              </a:solidFill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388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1FE0-64B6-4580-8B87-D8C0EF11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275"/>
            <a:ext cx="11133762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Competitive Dynamics:  Key Definitions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30AB-ADE5-40FE-81DC-2524C0688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8672" y="1298275"/>
            <a:ext cx="9958383" cy="555972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zh-CN" b="1" dirty="0"/>
              <a:t>Competitors</a:t>
            </a:r>
          </a:p>
          <a:p>
            <a:pPr lvl="1">
              <a:spcBef>
                <a:spcPts val="300"/>
              </a:spcBef>
            </a:pPr>
            <a:r>
              <a:rPr lang="en-US" altLang="zh-CN" sz="2000" dirty="0"/>
              <a:t>Firms operating in the same market, offering similar products and targeting similar customers</a:t>
            </a:r>
          </a:p>
          <a:p>
            <a:pPr lvl="1">
              <a:spcBef>
                <a:spcPts val="300"/>
              </a:spcBef>
            </a:pPr>
            <a:endParaRPr lang="en-US" altLang="zh-CN" sz="2000" dirty="0"/>
          </a:p>
          <a:p>
            <a:pPr>
              <a:spcBef>
                <a:spcPts val="300"/>
              </a:spcBef>
            </a:pPr>
            <a:r>
              <a:rPr lang="en-US" altLang="zh-CN" b="1" dirty="0"/>
              <a:t>Competitive Rivalry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en-US" altLang="zh-CN" sz="2000" b="1" dirty="0"/>
              <a:t>Firm-to-firm</a:t>
            </a:r>
            <a:r>
              <a:rPr lang="en-US" altLang="zh-CN" sz="2000" dirty="0"/>
              <a:t> competitive actions</a:t>
            </a:r>
          </a:p>
          <a:p>
            <a:pPr lvl="1">
              <a:spcBef>
                <a:spcPts val="300"/>
              </a:spcBef>
            </a:pPr>
            <a:r>
              <a:rPr lang="en-US" altLang="zh-CN" sz="2000" dirty="0"/>
              <a:t>Ongoing set of actions and responses occurring between competitors as they contend with each other for an advantageous market position</a:t>
            </a:r>
          </a:p>
          <a:p>
            <a:pPr lvl="1">
              <a:spcBef>
                <a:spcPts val="300"/>
              </a:spcBef>
            </a:pPr>
            <a:r>
              <a:rPr lang="en-US" altLang="zh-CN" sz="2000" dirty="0"/>
              <a:t>Also called interfirm rivalry or rivalry</a:t>
            </a:r>
          </a:p>
          <a:p>
            <a:pPr lvl="1">
              <a:spcBef>
                <a:spcPts val="300"/>
              </a:spcBef>
            </a:pPr>
            <a:endParaRPr lang="en-US" altLang="zh-CN" sz="2000" dirty="0"/>
          </a:p>
          <a:p>
            <a:pPr>
              <a:spcBef>
                <a:spcPts val="300"/>
              </a:spcBef>
            </a:pPr>
            <a:r>
              <a:rPr lang="en-US" altLang="zh-CN" b="1" dirty="0"/>
              <a:t>Competitive Dynamics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en-US" altLang="zh-CN" sz="2000" dirty="0"/>
              <a:t>Sum of all firm competitive actions</a:t>
            </a:r>
          </a:p>
          <a:p>
            <a:pPr lvl="1">
              <a:spcBef>
                <a:spcPts val="300"/>
              </a:spcBef>
            </a:pPr>
            <a:r>
              <a:rPr lang="en-US" altLang="zh-CN" sz="2000" dirty="0"/>
              <a:t>Total set of actions and responses of all firms competing </a:t>
            </a:r>
            <a:r>
              <a:rPr lang="en-US" altLang="zh-CN" sz="2000" b="1" dirty="0"/>
              <a:t>within a market</a:t>
            </a:r>
          </a:p>
        </p:txBody>
      </p:sp>
    </p:spTree>
    <p:extLst>
      <p:ext uri="{BB962C8B-B14F-4D97-AF65-F5344CB8AC3E}">
        <p14:creationId xmlns:p14="http://schemas.microsoft.com/office/powerpoint/2010/main" val="374079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6E37-8E2F-4765-A11E-1BFA6A00B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9993331" cy="1143000"/>
          </a:xfrm>
        </p:spPr>
        <p:txBody>
          <a:bodyPr/>
          <a:lstStyle/>
          <a:p>
            <a:r>
              <a:rPr lang="en-US" altLang="zh-CN" dirty="0"/>
              <a:t>Strategic Action vs Tactical Action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1EAD-DC70-414E-A6EB-37BD3F924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017918"/>
            <a:ext cx="10207925" cy="540013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zh-CN" b="1" dirty="0">
                <a:solidFill>
                  <a:schemeClr val="tx2"/>
                </a:solidFill>
              </a:rPr>
              <a:t>Strategic Action</a:t>
            </a:r>
            <a:r>
              <a:rPr lang="en-US" altLang="zh-CN" dirty="0"/>
              <a:t> </a:t>
            </a:r>
          </a:p>
          <a:p>
            <a:pPr lvl="1">
              <a:spcBef>
                <a:spcPts val="300"/>
              </a:spcBef>
            </a:pPr>
            <a:r>
              <a:rPr lang="en-US" altLang="zh-CN" sz="2000" b="1" dirty="0"/>
              <a:t>Significant</a:t>
            </a:r>
            <a:r>
              <a:rPr lang="en-US" altLang="zh-CN" sz="2000" dirty="0"/>
              <a:t> commitment of a specific and distinctive resource that is </a:t>
            </a:r>
            <a:r>
              <a:rPr lang="en-US" altLang="zh-CN" sz="2000" b="1" dirty="0"/>
              <a:t>difficult to implement</a:t>
            </a:r>
            <a:r>
              <a:rPr lang="en-US" altLang="zh-CN" sz="2000" dirty="0"/>
              <a:t>, and </a:t>
            </a:r>
            <a:r>
              <a:rPr lang="en-US" altLang="zh-CN" sz="2000" b="1" dirty="0"/>
              <a:t>irreversible</a:t>
            </a:r>
            <a:r>
              <a:rPr lang="en-US" altLang="zh-CN" sz="2000" dirty="0"/>
              <a:t> (Boeing’s midsized jet liner; Guess positioning to be more upscale)</a:t>
            </a:r>
          </a:p>
          <a:p>
            <a:pPr>
              <a:spcBef>
                <a:spcPts val="300"/>
              </a:spcBef>
            </a:pPr>
            <a:r>
              <a:rPr lang="en-US" altLang="zh-CN" b="1" dirty="0">
                <a:solidFill>
                  <a:schemeClr val="tx2"/>
                </a:solidFill>
              </a:rPr>
              <a:t>Tactical Action</a:t>
            </a:r>
            <a:r>
              <a:rPr lang="en-US" altLang="zh-CN" dirty="0"/>
              <a:t> </a:t>
            </a:r>
          </a:p>
          <a:p>
            <a:pPr lvl="1">
              <a:spcBef>
                <a:spcPts val="300"/>
              </a:spcBef>
            </a:pPr>
            <a:r>
              <a:rPr lang="en-US" altLang="zh-CN" sz="2000" dirty="0"/>
              <a:t>Commitment of less specific resources, taken to fine-tune a strategy, that is </a:t>
            </a:r>
            <a:r>
              <a:rPr lang="en-US" altLang="zh-CN" sz="2000" b="1" dirty="0"/>
              <a:t>easier to implement</a:t>
            </a:r>
            <a:r>
              <a:rPr lang="en-US" altLang="zh-CN" sz="2000" dirty="0"/>
              <a:t>, and </a:t>
            </a:r>
            <a:r>
              <a:rPr lang="en-US" altLang="zh-CN" sz="2000" b="1" dirty="0"/>
              <a:t>reversible</a:t>
            </a:r>
            <a:r>
              <a:rPr lang="en-US" altLang="zh-CN" sz="2000" dirty="0"/>
              <a:t> (e.g., pricing, advertising)</a:t>
            </a:r>
            <a:endParaRPr lang="en-US" altLang="zh-CN" sz="2400" dirty="0"/>
          </a:p>
          <a:p>
            <a:pPr>
              <a:spcBef>
                <a:spcPts val="300"/>
              </a:spcBef>
            </a:pPr>
            <a:r>
              <a:rPr lang="en-US" altLang="zh-CN" b="1" dirty="0">
                <a:solidFill>
                  <a:schemeClr val="tx2"/>
                </a:solidFill>
              </a:rPr>
              <a:t>Exercise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Strategic Action or Tactical Action?</a:t>
            </a:r>
          </a:p>
          <a:p>
            <a:pPr lvl="1"/>
            <a:r>
              <a:rPr lang="en-US" altLang="zh-CN" sz="2000" dirty="0"/>
              <a:t>A "two movies for the price of one" campaign by Redbox</a:t>
            </a:r>
          </a:p>
          <a:p>
            <a:pPr lvl="1"/>
            <a:r>
              <a:rPr lang="en-US" altLang="zh-CN" sz="2000" dirty="0"/>
              <a:t>Use of product coupons by a local grocer</a:t>
            </a:r>
          </a:p>
          <a:p>
            <a:pPr lvl="1"/>
            <a:r>
              <a:rPr lang="en-US" altLang="zh-CN" sz="2000" dirty="0"/>
              <a:t>Entry into the European market by Home Depot</a:t>
            </a:r>
          </a:p>
          <a:p>
            <a:pPr lvl="1"/>
            <a:r>
              <a:rPr lang="en-US" altLang="zh-CN" sz="2000" dirty="0"/>
              <a:t>Fare increases by Southwest Airlines</a:t>
            </a:r>
          </a:p>
          <a:p>
            <a:pPr lvl="1"/>
            <a:r>
              <a:rPr lang="en-US" altLang="zh-CN" sz="2000" dirty="0"/>
              <a:t>Decision to introduce other brands by Aldi</a:t>
            </a:r>
          </a:p>
          <a:p>
            <a:pPr lvl="1"/>
            <a:r>
              <a:rPr lang="en-US" altLang="zh-CN" sz="2000" dirty="0"/>
              <a:t>Amazon acquired whole foods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05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E200-D0A5-4BE5-8855-94DD37AB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Competitive Analysis</a:t>
            </a:r>
            <a:br>
              <a:rPr lang="en-US" altLang="zh-CN" sz="3200" dirty="0"/>
            </a:br>
            <a:r>
              <a:rPr lang="en-US" altLang="zh-CN" sz="3200" dirty="0"/>
              <a:t>Step 1:  General Competitive Analysis</a:t>
            </a:r>
            <a:endParaRPr lang="zh-CN" alt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0295F-CF8E-4478-9122-BFBAAA58E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1529" y="1659174"/>
            <a:ext cx="11508828" cy="4650899"/>
          </a:xfrm>
        </p:spPr>
        <p:txBody>
          <a:bodyPr>
            <a:normAutofit/>
          </a:bodyPr>
          <a:lstStyle/>
          <a:p>
            <a:pPr marL="350838" indent="-350838"/>
            <a:r>
              <a:rPr lang="en-US" altLang="zh-CN" sz="2400" b="1" dirty="0"/>
              <a:t>Purpose</a:t>
            </a:r>
            <a:r>
              <a:rPr lang="en-US" altLang="zh-CN" sz="2400" dirty="0"/>
              <a:t>: Determine the extent to which firms are competitors</a:t>
            </a:r>
          </a:p>
          <a:p>
            <a:pPr marL="350838" indent="-350838"/>
            <a:r>
              <a:rPr lang="en-US" altLang="zh-CN" sz="2400" b="1" dirty="0"/>
              <a:t>Components</a:t>
            </a:r>
            <a:r>
              <a:rPr lang="en-US" altLang="zh-CN" sz="2400" dirty="0"/>
              <a:t>: Market commonality and resource similarity</a:t>
            </a:r>
          </a:p>
          <a:p>
            <a:pPr marL="884224" lvl="1" indent="-350838"/>
            <a:r>
              <a:rPr lang="en-US" altLang="zh-CN" dirty="0"/>
              <a:t>Market Commonality (MC): Increases when firms compete in similar markets</a:t>
            </a:r>
          </a:p>
          <a:p>
            <a:pPr marL="1222362" lvl="2" indent="-341313"/>
            <a:r>
              <a:rPr lang="en-US" altLang="zh-CN" dirty="0"/>
              <a:t>The more overlapping markets (e.g., multimarket competition), the higher the MC</a:t>
            </a:r>
          </a:p>
          <a:p>
            <a:pPr marL="1638285" lvl="3"/>
            <a:r>
              <a:rPr lang="en-US" altLang="zh-CN" dirty="0"/>
              <a:t>E.g., geographic, product, customer, etc. Burger King and KFC:  High MC</a:t>
            </a:r>
          </a:p>
          <a:p>
            <a:pPr marL="884224" lvl="1" indent="-350838"/>
            <a:r>
              <a:rPr lang="en-US" altLang="zh-CN" dirty="0"/>
              <a:t> Resource Similarity (RS): How comparable are competitor’s tangible and intangible resources in type and amount?</a:t>
            </a:r>
          </a:p>
          <a:p>
            <a:pPr marL="1222362" lvl="2" indent="-341313"/>
            <a:r>
              <a:rPr lang="en-US" altLang="zh-CN" dirty="0"/>
              <a:t>FedEx and UPS:  High RS</a:t>
            </a:r>
          </a:p>
          <a:p>
            <a:pPr marL="1222362" lvl="2" indent="-341313"/>
            <a:r>
              <a:rPr lang="en-US" altLang="zh-CN" dirty="0"/>
              <a:t>McDonalds and Hyatt Café House: Low RS</a:t>
            </a:r>
          </a:p>
          <a:p>
            <a:pPr marL="350838" indent="-350838"/>
            <a:endParaRPr lang="en-US" altLang="zh-CN" dirty="0"/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6923A31E-29B6-49CA-B5F5-80D7FC628468}"/>
              </a:ext>
            </a:extLst>
          </p:cNvPr>
          <p:cNvGrpSpPr>
            <a:grpSpLocks/>
          </p:cNvGrpSpPr>
          <p:nvPr/>
        </p:nvGrpSpPr>
        <p:grpSpPr bwMode="auto">
          <a:xfrm>
            <a:off x="890555" y="5122315"/>
            <a:ext cx="10410889" cy="1428765"/>
            <a:chOff x="96" y="2016"/>
            <a:chExt cx="5360" cy="810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E050968E-85B9-45CB-9BE6-2D2ECB102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0"/>
              <a:ext cx="1008" cy="440"/>
            </a:xfrm>
            <a:prstGeom prst="rect">
              <a:avLst/>
            </a:prstGeom>
            <a:solidFill>
              <a:srgbClr val="CC0000">
                <a:alpha val="32941"/>
              </a:srgbClr>
            </a:solidFill>
            <a:ln w="57150">
              <a:solidFill>
                <a:srgbClr val="CC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sz="1800" dirty="0"/>
                <a:t>Market Commonality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84579294-022F-4A78-A5A1-81F492451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200"/>
              <a:ext cx="768" cy="440"/>
            </a:xfrm>
            <a:prstGeom prst="rect">
              <a:avLst/>
            </a:prstGeom>
            <a:solidFill>
              <a:srgbClr val="CC0000">
                <a:alpha val="32941"/>
              </a:srgbClr>
            </a:solidFill>
            <a:ln w="57150">
              <a:solidFill>
                <a:srgbClr val="CC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sz="1800" dirty="0"/>
                <a:t>Resource Similarity</a:t>
              </a:r>
            </a:p>
          </p:txBody>
        </p:sp>
        <p:pic>
          <p:nvPicPr>
            <p:cNvPr id="8" name="Picture 7" descr="MCj04325310000[1]">
              <a:extLst>
                <a:ext uri="{FF2B5EF4-FFF2-40B4-BE49-F238E27FC236}">
                  <a16:creationId xmlns:a16="http://schemas.microsoft.com/office/drawing/2014/main" id="{D7BC1DF0-CA60-418E-8E80-2B1D2D15F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2208"/>
              <a:ext cx="38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7D792EB5-FD29-414A-9E3F-FF86B820C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2" y="2040"/>
              <a:ext cx="864" cy="786"/>
            </a:xfrm>
            <a:prstGeom prst="rect">
              <a:avLst/>
            </a:prstGeom>
            <a:solidFill>
              <a:srgbClr val="CC0000">
                <a:alpha val="32941"/>
              </a:srgbClr>
            </a:solidFill>
            <a:ln w="57150">
              <a:solidFill>
                <a:srgbClr val="CC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800" dirty="0"/>
                <a:t>Extent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800" dirty="0"/>
                <a:t>of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800" dirty="0"/>
                <a:t>Competitive Rivals</a:t>
              </a:r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83046CA5-3E08-4080-B902-D2D506A5C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016"/>
              <a:ext cx="240" cy="624"/>
            </a:xfrm>
            <a:prstGeom prst="upArrow">
              <a:avLst>
                <a:gd name="adj1" fmla="val 50000"/>
                <a:gd name="adj2" fmla="val 65000"/>
              </a:avLst>
            </a:prstGeom>
            <a:solidFill>
              <a:srgbClr val="CC0000">
                <a:alpha val="32941"/>
              </a:srgbClr>
            </a:solidFill>
            <a:ln w="38100">
              <a:solidFill>
                <a:srgbClr val="CC00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1734D65E-2AC5-4C7C-957D-82AE9DE42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016"/>
              <a:ext cx="240" cy="624"/>
            </a:xfrm>
            <a:prstGeom prst="upArrow">
              <a:avLst>
                <a:gd name="adj1" fmla="val 50000"/>
                <a:gd name="adj2" fmla="val 65000"/>
              </a:avLst>
            </a:prstGeom>
            <a:solidFill>
              <a:srgbClr val="CC0000">
                <a:alpha val="32941"/>
              </a:srgbClr>
            </a:solidFill>
            <a:ln w="38100">
              <a:solidFill>
                <a:srgbClr val="CC00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2" name="AutoShape 17">
              <a:extLst>
                <a:ext uri="{FF2B5EF4-FFF2-40B4-BE49-F238E27FC236}">
                  <a16:creationId xmlns:a16="http://schemas.microsoft.com/office/drawing/2014/main" id="{11DD884E-CE94-41B7-980C-7CD419DA8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256"/>
              <a:ext cx="864" cy="336"/>
            </a:xfrm>
            <a:prstGeom prst="rightArrow">
              <a:avLst>
                <a:gd name="adj1" fmla="val 50000"/>
                <a:gd name="adj2" fmla="val 64286"/>
              </a:avLst>
            </a:prstGeom>
            <a:solidFill>
              <a:srgbClr val="CC0000">
                <a:alpha val="32941"/>
              </a:srgbClr>
            </a:solidFill>
            <a:ln w="3810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519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F6EC-4D4C-4C90-B710-56D90914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880"/>
            <a:ext cx="9993331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2:  Study Drivers of Competitive Behavior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EE09-61B5-426F-801D-5F7CB9447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52423"/>
            <a:ext cx="10184524" cy="5530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Competitive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Tension</a:t>
            </a:r>
          </a:p>
          <a:p>
            <a:r>
              <a:rPr lang="en-US" altLang="zh-CN" sz="2400" b="1" dirty="0"/>
              <a:t>Awareness</a:t>
            </a:r>
          </a:p>
          <a:p>
            <a:pPr lvl="1"/>
            <a:r>
              <a:rPr lang="en-US" altLang="zh-CN" dirty="0"/>
              <a:t>Are managers aware of and do they understand key competitors?</a:t>
            </a:r>
          </a:p>
          <a:p>
            <a:pPr lvl="1"/>
            <a:r>
              <a:rPr lang="en-US" altLang="zh-CN" dirty="0"/>
              <a:t>The greater the scale of a given rival relative to a focal firm, the higher the competitive tension</a:t>
            </a:r>
          </a:p>
          <a:p>
            <a:r>
              <a:rPr lang="en-US" altLang="zh-CN" sz="2400" b="1" dirty="0"/>
              <a:t>Motivation</a:t>
            </a:r>
          </a:p>
          <a:p>
            <a:pPr lvl="1"/>
            <a:r>
              <a:rPr lang="en-US" altLang="zh-CN" dirty="0"/>
              <a:t>Does the competing firm have an “incentive” to take action or respond?</a:t>
            </a:r>
          </a:p>
          <a:p>
            <a:pPr lvl="1"/>
            <a:r>
              <a:rPr lang="en-US" altLang="zh-CN" dirty="0"/>
              <a:t>The greater the volume of a given rival’s attack on a focal firm’s market, the higher the competitive tension</a:t>
            </a:r>
          </a:p>
          <a:p>
            <a:r>
              <a:rPr lang="en-US" altLang="zh-CN" sz="2400" b="1" dirty="0"/>
              <a:t>Ability</a:t>
            </a:r>
          </a:p>
          <a:p>
            <a:pPr lvl="1"/>
            <a:r>
              <a:rPr lang="en-US" altLang="zh-CN" dirty="0"/>
              <a:t>Does the competing firm have the necessary resources to attack?</a:t>
            </a:r>
          </a:p>
          <a:p>
            <a:pPr lvl="1"/>
            <a:r>
              <a:rPr lang="en-US" altLang="zh-CN" dirty="0"/>
              <a:t>The greater a given rival’s ability to contest a focal firm, the higher the competitive tension</a:t>
            </a:r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893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4EF5-949E-48CC-8E17-4ADB3906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3" y="96491"/>
            <a:ext cx="10520855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3: Examine Likelihood of Attack &amp; Response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DF612-38B6-49E5-853A-D3A62FCEB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883" y="1165918"/>
            <a:ext cx="11361684" cy="5595591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Likelihood of Attack (</a:t>
            </a:r>
            <a:r>
              <a:rPr lang="en-US" altLang="zh-CN" sz="2400" dirty="0" err="1"/>
              <a:t>LoA</a:t>
            </a:r>
            <a:r>
              <a:rPr lang="en-US" altLang="zh-CN" sz="2400" dirty="0"/>
              <a:t>) Factors</a:t>
            </a:r>
          </a:p>
          <a:p>
            <a:pPr lvl="1"/>
            <a:r>
              <a:rPr lang="en-US" altLang="zh-CN" sz="2000" dirty="0"/>
              <a:t>Benefits, i.e., First-mover advantages</a:t>
            </a:r>
          </a:p>
          <a:p>
            <a:pPr lvl="1"/>
            <a:r>
              <a:rPr lang="en-US" altLang="zh-CN" sz="2000" dirty="0"/>
              <a:t>A firm that is likely to retaliate</a:t>
            </a:r>
          </a:p>
          <a:p>
            <a:pPr lvl="1"/>
            <a:r>
              <a:rPr lang="en-US" altLang="zh-CN" sz="2000" dirty="0"/>
              <a:t>Competitive tension</a:t>
            </a:r>
          </a:p>
          <a:p>
            <a:pPr>
              <a:defRPr/>
            </a:pPr>
            <a:r>
              <a:rPr lang="en-US" altLang="zh-CN" dirty="0"/>
              <a:t>Likelihood of Response (</a:t>
            </a:r>
            <a:r>
              <a:rPr lang="en-US" altLang="zh-CN" dirty="0" err="1"/>
              <a:t>LoR</a:t>
            </a:r>
            <a:r>
              <a:rPr lang="en-US" altLang="zh-CN" dirty="0"/>
              <a:t>) Factors: When the competitors’ action </a:t>
            </a:r>
          </a:p>
          <a:p>
            <a:pPr lvl="1">
              <a:defRPr/>
            </a:pPr>
            <a:r>
              <a:rPr lang="en-US" altLang="zh-CN" sz="2000" dirty="0"/>
              <a:t>Benefits, i.e., might produce a stronger competitive advantage for the focal firm</a:t>
            </a:r>
          </a:p>
          <a:p>
            <a:pPr lvl="1"/>
            <a:r>
              <a:rPr lang="en-US" altLang="zh-CN" sz="2000" dirty="0"/>
              <a:t>Threats, i.e., damages the firm’s ability to create/maintain an advantage</a:t>
            </a:r>
          </a:p>
          <a:p>
            <a:pPr lvl="2"/>
            <a:r>
              <a:rPr lang="en-US" altLang="zh-CN" sz="1734" dirty="0"/>
              <a:t>The firm’s market position is less defensible</a:t>
            </a:r>
          </a:p>
          <a:p>
            <a:pPr lvl="1"/>
            <a:r>
              <a:rPr lang="en-US" altLang="zh-CN" sz="2000" dirty="0"/>
              <a:t>Competitive tension</a:t>
            </a:r>
          </a:p>
          <a:p>
            <a:pPr lvl="1"/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factors</a:t>
            </a:r>
            <a:r>
              <a:rPr lang="zh-CN" altLang="en-US" sz="2000" dirty="0"/>
              <a:t> </a:t>
            </a:r>
            <a:r>
              <a:rPr lang="en-US" altLang="zh-CN" sz="2000" dirty="0"/>
              <a:t>to consider</a:t>
            </a:r>
          </a:p>
          <a:p>
            <a:pPr lvl="2"/>
            <a:r>
              <a:rPr lang="en-US" altLang="zh-CN" sz="1734" dirty="0"/>
              <a:t>Types of competitive action</a:t>
            </a:r>
          </a:p>
          <a:p>
            <a:pPr lvl="2"/>
            <a:r>
              <a:rPr lang="en-US" altLang="zh-CN" sz="1734" dirty="0"/>
              <a:t>Reputation of attacker</a:t>
            </a:r>
          </a:p>
          <a:p>
            <a:pPr lvl="2"/>
            <a:r>
              <a:rPr lang="en-US" altLang="zh-CN" sz="1734" dirty="0"/>
              <a:t>Market dependence</a:t>
            </a:r>
          </a:p>
          <a:p>
            <a:pPr lvl="2"/>
            <a:endParaRPr lang="en-US" altLang="zh-CN" sz="1734" dirty="0"/>
          </a:p>
        </p:txBody>
      </p:sp>
    </p:spTree>
    <p:extLst>
      <p:ext uri="{BB962C8B-B14F-4D97-AF65-F5344CB8AC3E}">
        <p14:creationId xmlns:p14="http://schemas.microsoft.com/office/powerpoint/2010/main" val="127389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9EEA-8FE0-6BCD-1735-0E063B2D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2B9C-A019-FD73-7E19-85EFE40B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02" y="0"/>
            <a:ext cx="10602931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Exercise: Likelihood of Attack &amp; Response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006B-DC2E-BF22-88E3-34AD3A375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006" y="1465050"/>
            <a:ext cx="10207925" cy="5323376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The greater A’s market commonality with B, the (</a:t>
            </a:r>
            <a:r>
              <a:rPr lang="en-US" altLang="zh-CN" sz="3300" dirty="0">
                <a:solidFill>
                  <a:schemeClr val="bg1"/>
                </a:solidFill>
              </a:rPr>
              <a:t>less</a:t>
            </a:r>
            <a:r>
              <a:rPr lang="en-US" altLang="zh-CN" sz="2800" dirty="0">
                <a:solidFill>
                  <a:schemeClr val="tx1"/>
                </a:solidFill>
              </a:rPr>
              <a:t>) likely A is to </a:t>
            </a:r>
            <a:r>
              <a:rPr lang="en-US" altLang="zh-CN" sz="2800" b="1" dirty="0">
                <a:solidFill>
                  <a:schemeClr val="tx1"/>
                </a:solidFill>
              </a:rPr>
              <a:t>initiate an attack </a:t>
            </a:r>
            <a:r>
              <a:rPr lang="en-US" altLang="zh-CN" sz="2800" dirty="0">
                <a:solidFill>
                  <a:schemeClr val="tx1"/>
                </a:solidFill>
              </a:rPr>
              <a:t>against B, all else being equal.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The greater A’s market commonality with B, the (</a:t>
            </a:r>
            <a:r>
              <a:rPr lang="en-US" altLang="zh-CN" sz="2800" dirty="0">
                <a:solidFill>
                  <a:schemeClr val="bg1"/>
                </a:solidFill>
              </a:rPr>
              <a:t>more</a:t>
            </a:r>
            <a:r>
              <a:rPr lang="en-US" altLang="zh-CN" sz="2800" dirty="0">
                <a:solidFill>
                  <a:schemeClr val="tx1"/>
                </a:solidFill>
              </a:rPr>
              <a:t>) likely A is to </a:t>
            </a:r>
            <a:r>
              <a:rPr lang="en-US" altLang="zh-CN" sz="2800" b="1" dirty="0">
                <a:solidFill>
                  <a:schemeClr val="tx1"/>
                </a:solidFill>
              </a:rPr>
              <a:t>response</a:t>
            </a:r>
            <a:r>
              <a:rPr lang="en-US" altLang="zh-CN" sz="2800" dirty="0">
                <a:solidFill>
                  <a:schemeClr val="tx1"/>
                </a:solidFill>
              </a:rPr>
              <a:t> an attack from B, all else being equal.</a:t>
            </a:r>
            <a:endParaRPr lang="en-US" sz="2800" dirty="0"/>
          </a:p>
          <a:p>
            <a:r>
              <a:rPr lang="en-US" altLang="zh-CN" sz="2800" dirty="0">
                <a:solidFill>
                  <a:schemeClr val="tx1"/>
                </a:solidFill>
              </a:rPr>
              <a:t>The greater A’s resource similarity with B, the (</a:t>
            </a:r>
            <a:r>
              <a:rPr lang="en-US" altLang="zh-CN" sz="3300" dirty="0">
                <a:solidFill>
                  <a:schemeClr val="bg1"/>
                </a:solidFill>
              </a:rPr>
              <a:t>less</a:t>
            </a:r>
            <a:r>
              <a:rPr lang="en-US" altLang="zh-CN" sz="2800" dirty="0">
                <a:solidFill>
                  <a:schemeClr val="tx1"/>
                </a:solidFill>
              </a:rPr>
              <a:t>) likely A is to </a:t>
            </a:r>
            <a:r>
              <a:rPr lang="en-US" altLang="zh-CN" sz="2800" b="1" dirty="0">
                <a:solidFill>
                  <a:schemeClr val="tx1"/>
                </a:solidFill>
              </a:rPr>
              <a:t>initiate an attack </a:t>
            </a:r>
            <a:r>
              <a:rPr lang="en-US" altLang="zh-CN" sz="2800" dirty="0">
                <a:solidFill>
                  <a:schemeClr val="tx1"/>
                </a:solidFill>
              </a:rPr>
              <a:t>against B, all else being equal.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The greater A’s resource similarity with B, the (</a:t>
            </a:r>
            <a:r>
              <a:rPr lang="en-US" altLang="zh-CN" sz="2800" dirty="0">
                <a:solidFill>
                  <a:schemeClr val="bg1"/>
                </a:solidFill>
              </a:rPr>
              <a:t>more</a:t>
            </a:r>
            <a:r>
              <a:rPr lang="en-US" altLang="zh-CN" sz="2800" dirty="0">
                <a:solidFill>
                  <a:schemeClr val="tx1"/>
                </a:solidFill>
              </a:rPr>
              <a:t>) likely A is to </a:t>
            </a:r>
            <a:r>
              <a:rPr lang="en-US" altLang="zh-CN" sz="2800" b="1" dirty="0">
                <a:solidFill>
                  <a:schemeClr val="tx1"/>
                </a:solidFill>
              </a:rPr>
              <a:t>response</a:t>
            </a:r>
            <a:r>
              <a:rPr lang="en-US" altLang="zh-CN" sz="2800" dirty="0">
                <a:solidFill>
                  <a:schemeClr val="tx1"/>
                </a:solidFill>
              </a:rPr>
              <a:t> an attack from B, all else being equal.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The greater the perceived competitive tension, the (</a:t>
            </a:r>
            <a:r>
              <a:rPr lang="en-US" altLang="zh-CN" sz="2100" dirty="0">
                <a:solidFill>
                  <a:schemeClr val="bg1"/>
                </a:solidFill>
              </a:rPr>
              <a:t>greater</a:t>
            </a:r>
            <a:r>
              <a:rPr lang="en-US" altLang="zh-CN" sz="2800" dirty="0">
                <a:solidFill>
                  <a:schemeClr val="tx1"/>
                </a:solidFill>
              </a:rPr>
              <a:t>) the volume of a focal firm’s attack on the rival’s market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2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descr="The Princess Bride (5/12) Movie CLIP - The Battle of Wits (1987) HD">
            <a:hlinkClick r:id="" action="ppaction://media"/>
            <a:extLst>
              <a:ext uri="{FF2B5EF4-FFF2-40B4-BE49-F238E27FC236}">
                <a16:creationId xmlns:a16="http://schemas.microsoft.com/office/drawing/2014/main" id="{E7E8F9B3-401C-E69B-B9ED-70EA29B5847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68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5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1FE0-64B6-4580-8B87-D8C0EF11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28" y="0"/>
            <a:ext cx="11133762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Cola-War: The Taste Test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30AB-ADE5-40FE-81DC-2524C0688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528" y="1323110"/>
            <a:ext cx="10373163" cy="4634345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altLang="zh-CN" sz="2200" b="1" dirty="0"/>
              <a:t>Can you tell the differences between Coke and Pepsi?</a:t>
            </a:r>
          </a:p>
          <a:p>
            <a:pPr>
              <a:spcBef>
                <a:spcPts val="300"/>
              </a:spcBef>
            </a:pPr>
            <a:endParaRPr lang="en-US" altLang="zh-CN" sz="2200" b="1" dirty="0"/>
          </a:p>
          <a:p>
            <a:pPr>
              <a:spcBef>
                <a:spcPts val="300"/>
              </a:spcBef>
            </a:pPr>
            <a:r>
              <a:rPr lang="en-US" altLang="zh-CN" sz="2200" b="1" dirty="0"/>
              <a:t>Can you distinguish between the various varieties of Coke?</a:t>
            </a:r>
          </a:p>
          <a:p>
            <a:pPr>
              <a:spcBef>
                <a:spcPts val="300"/>
              </a:spcBef>
            </a:pPr>
            <a:endParaRPr lang="en-US" altLang="zh-CN" sz="2200" b="1" dirty="0"/>
          </a:p>
          <a:p>
            <a:pPr>
              <a:spcBef>
                <a:spcPts val="300"/>
              </a:spcBef>
            </a:pPr>
            <a:endParaRPr lang="en-US" altLang="zh-CN" sz="2200" b="1" dirty="0"/>
          </a:p>
          <a:p>
            <a:pPr>
              <a:spcBef>
                <a:spcPts val="300"/>
              </a:spcBef>
            </a:pPr>
            <a:endParaRPr lang="en-US" altLang="zh-CN" sz="2200" b="1" dirty="0"/>
          </a:p>
          <a:p>
            <a:pPr>
              <a:spcBef>
                <a:spcPts val="300"/>
              </a:spcBef>
            </a:pPr>
            <a:endParaRPr lang="en-US" altLang="zh-CN" sz="2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E1A33-B8F3-1DBC-EEB3-8BC6BDEF2A05}"/>
              </a:ext>
            </a:extLst>
          </p:cNvPr>
          <p:cNvSpPr/>
          <p:nvPr/>
        </p:nvSpPr>
        <p:spPr>
          <a:xfrm>
            <a:off x="3522135" y="2720568"/>
            <a:ext cx="3544496" cy="923330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Let’s try it</a:t>
            </a:r>
          </a:p>
        </p:txBody>
      </p:sp>
      <p:pic>
        <p:nvPicPr>
          <p:cNvPr id="1032" name="Picture 8" descr="Coke vs. Pepsi vs. Art">
            <a:extLst>
              <a:ext uri="{FF2B5EF4-FFF2-40B4-BE49-F238E27FC236}">
                <a16:creationId xmlns:a16="http://schemas.microsoft.com/office/drawing/2014/main" id="{5FBC936D-6C3E-AC2C-FE57-E837BB909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663" y="4282209"/>
            <a:ext cx="6659418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88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AF39-C6FF-9DB2-988A-6BE08FCD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64A2-EB01-A6B2-28C3-5EEE525F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3A6CB-4A80-BDD6-DEC0-014200574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971550"/>
            <a:ext cx="10325100" cy="5734050"/>
          </a:xfrm>
        </p:spPr>
        <p:txBody>
          <a:bodyPr>
            <a:normAutofit/>
          </a:bodyPr>
          <a:lstStyle/>
          <a:p>
            <a:r>
              <a:rPr lang="en-US" dirty="0"/>
              <a:t>You need to join either the </a:t>
            </a:r>
            <a:r>
              <a:rPr lang="en-US" b="1" dirty="0"/>
              <a:t>Coke Group </a:t>
            </a:r>
            <a:r>
              <a:rPr lang="en-US" dirty="0"/>
              <a:t>or the </a:t>
            </a:r>
            <a:r>
              <a:rPr lang="en-US" b="1" dirty="0"/>
              <a:t>Pepsi Group</a:t>
            </a:r>
          </a:p>
          <a:p>
            <a:pPr lvl="1"/>
            <a:r>
              <a:rPr lang="en-US" dirty="0"/>
              <a:t>SID ending in an odd number → Coke group</a:t>
            </a:r>
          </a:p>
          <a:p>
            <a:pPr lvl="1"/>
            <a:r>
              <a:rPr lang="en-US" dirty="0"/>
              <a:t>SID ending in an even number → Pepsi group</a:t>
            </a:r>
          </a:p>
          <a:p>
            <a:r>
              <a:rPr lang="en-US" dirty="0"/>
              <a:t>You will participate in </a:t>
            </a:r>
            <a:r>
              <a:rPr lang="en-US" b="1" dirty="0"/>
              <a:t>Three</a:t>
            </a:r>
            <a:r>
              <a:rPr lang="en-US" dirty="0"/>
              <a:t> rounds</a:t>
            </a:r>
          </a:p>
          <a:p>
            <a:r>
              <a:rPr lang="en-US" dirty="0"/>
              <a:t>Each round, you 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discussion within your group to one</a:t>
            </a:r>
            <a:r>
              <a:rPr lang="en-US" dirty="0"/>
              <a:t> selection as your group's strategic decision </a:t>
            </a:r>
          </a:p>
          <a:p>
            <a:r>
              <a:rPr lang="en-US" b="1" dirty="0"/>
              <a:t>Keep in mind that each solution will result in different competitive implications and subsequent responses from your competitor</a:t>
            </a:r>
          </a:p>
        </p:txBody>
      </p:sp>
    </p:spTree>
    <p:extLst>
      <p:ext uri="{BB962C8B-B14F-4D97-AF65-F5344CB8AC3E}">
        <p14:creationId xmlns:p14="http://schemas.microsoft.com/office/powerpoint/2010/main" val="211468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F5C4-5784-1265-6242-D6665796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C4BB-B836-89BD-B458-4A3311A48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43000"/>
            <a:ext cx="10617419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/>
              <a:t>Round 1: The "Pepsi Challenge" Crisis</a:t>
            </a:r>
            <a:endParaRPr lang="en-US" dirty="0"/>
          </a:p>
          <a:p>
            <a:r>
              <a:rPr lang="en-US" dirty="0"/>
              <a:t>Pepsi successfully launches the "Pepsi Challenge," showing consumers prefer Pepsi's sweeter taste in blind tests, significantly eroding Coca-Cola's market share.</a:t>
            </a:r>
          </a:p>
          <a:p>
            <a:r>
              <a:rPr lang="en-US" dirty="0"/>
              <a:t>Coca-Cola considers responding by adjusting its century-old formula.</a:t>
            </a:r>
          </a:p>
          <a:p>
            <a:r>
              <a:rPr lang="en-US" dirty="0"/>
              <a:t>Each group will have 5 minutes to discuss and decide on their strategic action.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EF7376-2E87-E55E-41BC-AA7CFBEE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56356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BF86-FC18-F8F7-B80C-1AF3A332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FC06-C11A-1C0C-8233-1DF638B9C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990600"/>
            <a:ext cx="10541218" cy="5715000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/>
              <a:t>Pepsi Alternatives: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Aggressively expand "Pepsi Challenge" nationwide, significantly increasing advertising spending. 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Launch a new formula to further emphasize taste superiority.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Publicly challenge Coca-Cola to televised taste-tests as a direct public-relations confrontation.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Temporarily pause the "Pepsi Challenge," shifting to broader brand advertising campaigns instead.</a:t>
            </a:r>
          </a:p>
          <a:p>
            <a:r>
              <a:rPr lang="en-US" sz="2600" b="1" dirty="0"/>
              <a:t>Coca-Cola Alternatives: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Aggressively launch "New Coke," completely replacing original Coca-Cola nationwide.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Introduce "New Coke" gradually alongside original Coca-Cola, testing consumer response first.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Ignore Pepsi’s challenge entirely, doubling down on traditional marketing emphasizing brand heritage.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Publicly reject the blind-test methodology used by Pepsi, emphasizing consumer loyalty over taste alone.</a:t>
            </a:r>
          </a:p>
          <a:p>
            <a:pPr marL="990586" lvl="1" indent="-457200">
              <a:buFont typeface="+mj-lt"/>
              <a:buAutoNum type="alphaU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5E1563A-C47A-612A-EB93-62063D2F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04970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46A2-00E9-B790-E97A-CA8AA50F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632C-271C-B33D-A04A-8617190A4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43000"/>
            <a:ext cx="10617419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/>
              <a:t>Round 2: Crisis Response Decision</a:t>
            </a:r>
            <a:endParaRPr lang="en-US" dirty="0"/>
          </a:p>
          <a:p>
            <a:r>
              <a:rPr lang="en-US" dirty="0"/>
              <a:t>Following Coca-Cola’s aggressive launch of "New Coke", consumers responded </a:t>
            </a:r>
            <a:r>
              <a:rPr lang="en-US" b="1" dirty="0"/>
              <a:t>extremely negatively</a:t>
            </a:r>
            <a:r>
              <a:rPr lang="en-US" dirty="0"/>
              <a:t>. </a:t>
            </a:r>
          </a:p>
          <a:p>
            <a:r>
              <a:rPr lang="en-US" dirty="0"/>
              <a:t>Sales plummeted, loyal customers openly protested, and Coca-Cola’s management faced a severe brand crisis.</a:t>
            </a:r>
          </a:p>
          <a:p>
            <a:r>
              <a:rPr lang="en-US" dirty="0"/>
              <a:t>Simultaneously, </a:t>
            </a:r>
            <a:r>
              <a:rPr lang="en-US" b="1" dirty="0"/>
              <a:t>Pepsi</a:t>
            </a:r>
            <a:r>
              <a:rPr lang="en-US" dirty="0"/>
              <a:t> experienced a significant market share gain, </a:t>
            </a:r>
          </a:p>
          <a:p>
            <a:r>
              <a:rPr lang="en-US" dirty="0"/>
              <a:t>However, Pepsi faced </a:t>
            </a:r>
            <a:r>
              <a:rPr lang="en-US" b="1" dirty="0"/>
              <a:t>growing public criticism </a:t>
            </a:r>
            <a:r>
              <a:rPr lang="en-US" dirty="0"/>
              <a:t>and fatigue over its aggressive, confrontational advertising strategy.</a:t>
            </a:r>
          </a:p>
          <a:p>
            <a:r>
              <a:rPr lang="en-US" dirty="0"/>
              <a:t>Each group will have 5 minutes to discuss and decide on their strategic action.</a:t>
            </a:r>
          </a:p>
          <a:p>
            <a:endParaRPr lang="en-US" sz="2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DE0C0B-496D-68DA-4A5E-30EC509C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25686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CF80-2F1E-BF40-9970-C217B080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52332-34A5-89A8-01A9-CA02017F7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43000"/>
            <a:ext cx="10344151" cy="5562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Coca-Cola decisions: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Immediately revert to original Coca-Cola formula, publicly acknowledging the error. </a:t>
            </a:r>
            <a:endParaRPr lang="en-US" sz="2200" i="1" dirty="0"/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Keep New Coke, but simultaneously reintroduce Classic Coke quietly, without admitting mistakes publicly.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Persist aggressively with New Coke, investing heavily in marketing to reshape consumer preferences.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Publicly challenge Pepsi to a second round of blind tests, confident that long-term consumers will return.</a:t>
            </a:r>
          </a:p>
          <a:p>
            <a:r>
              <a:rPr lang="en-US" b="1" dirty="0"/>
              <a:t>Pepsi Decisions: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dirty="0"/>
              <a:t>Moderate aggressive marketing, shifting toward a more balanced, brand-focused campaign to avoid consumer fatigue. </a:t>
            </a:r>
            <a:endParaRPr lang="en-US" i="1" dirty="0"/>
          </a:p>
          <a:p>
            <a:pPr marL="990586" lvl="1" indent="-457200">
              <a:buFont typeface="+mj-lt"/>
              <a:buAutoNum type="alphaUcPeriod"/>
            </a:pPr>
            <a:r>
              <a:rPr lang="en-US" dirty="0"/>
              <a:t>Increase aggressive marketing, openly mocking Coca-Cola’s quick reversal as indecisive and unreliable.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dirty="0"/>
              <a:t>Introduce a "Pepsi Loyalty Guarantee" emphasizing consistency, contrasting Coca-Cola’s rapid product changes.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dirty="0"/>
              <a:t>Launch a new healthier Pepsi product (Diet Pepsi Plus) to further differentiate clearly from Coca-Cola’s confusion.</a:t>
            </a:r>
          </a:p>
          <a:p>
            <a:pPr marL="990586" lvl="1" indent="-457200">
              <a:buFont typeface="+mj-lt"/>
              <a:buAutoNum type="alphaU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A69C3A-31A0-A3DE-EDEC-461CE6656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29056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B02C-5281-460A-A540-08D76FBA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5BF6-D7E2-F2BA-7E17-04D4070DE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43000"/>
            <a:ext cx="10617419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/>
              <a:t>Round 3: Cola Brand Homogeneity Crisis</a:t>
            </a:r>
          </a:p>
          <a:p>
            <a:r>
              <a:rPr lang="en-US" dirty="0"/>
              <a:t>Nowadays, consumer research confirms virtually no discernible taste difference between Coca-Cola and Pepsi. </a:t>
            </a:r>
          </a:p>
          <a:p>
            <a:r>
              <a:rPr lang="en-US" dirty="0"/>
              <a:t>Brand differentiation is challenging, creating fierce competition focused primarily on marketing and branding strategies.</a:t>
            </a:r>
          </a:p>
          <a:p>
            <a:r>
              <a:rPr lang="en-US" b="1" dirty="0"/>
              <a:t>Both Coca-Cola</a:t>
            </a:r>
            <a:r>
              <a:rPr lang="en-US" dirty="0"/>
              <a:t> and Pepsi is considering new ways to differentiate.</a:t>
            </a:r>
          </a:p>
          <a:p>
            <a:r>
              <a:rPr lang="en-US" dirty="0"/>
              <a:t>Each group will have 5 minutes to discuss and decide on their strategic action.</a:t>
            </a:r>
          </a:p>
          <a:p>
            <a:endParaRPr lang="en-US" sz="2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190D99-33F5-6C29-DF87-B321709F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99388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5C8F7-1EAB-E258-5A56-31AAEDBE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E12F-8BD1-DE12-6192-DE5F8F324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990600"/>
            <a:ext cx="10344151" cy="5867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Pepsi Decisions: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Launch "Better with Pepsi," focusing on exclusive restaurant and food delivery partnerships to promote Pepsi as the ideal meal pairing beverage. 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Publicly challenge Coca-Cola to an online "taste &amp; meal pairing" showdown, directly attacking Coca-Cola’s market image.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Introduce clearly differentiated new flavors (e.g., Citrus Pepsi) nationwide, explicitly contrasting Coca-Cola's limited innovation.</a:t>
            </a:r>
          </a:p>
          <a:p>
            <a:pPr marL="990586" lvl="1" indent="-457200">
              <a:buFont typeface="+mj-lt"/>
              <a:buAutoNum type="alphaUcPeriod"/>
            </a:pPr>
            <a:r>
              <a:rPr lang="en-US" sz="2200" dirty="0"/>
              <a:t>Temporarily pause marketing innovations, waiting to respond directly to Coca-Cola’s next move.</a:t>
            </a:r>
          </a:p>
          <a:p>
            <a:r>
              <a:rPr lang="en-US" b="1" dirty="0"/>
              <a:t>Coca-Cola Decisions:</a:t>
            </a:r>
          </a:p>
          <a:p>
            <a:pPr lvl="1">
              <a:buFont typeface="+mj-lt"/>
              <a:buAutoNum type="alphaUcPeriod"/>
            </a:pPr>
            <a:r>
              <a:rPr lang="en-US" sz="2200" dirty="0"/>
              <a:t>Launch the global emotional branding campaign "Real Magic," emphasizing cultural connections, joy, and the unique emotional experience Coca-Cola offers. </a:t>
            </a:r>
            <a:endParaRPr lang="en-US" sz="2200" i="1" dirty="0"/>
          </a:p>
          <a:p>
            <a:pPr lvl="1">
              <a:buFont typeface="+mj-lt"/>
              <a:buAutoNum type="alphaUcPeriod"/>
            </a:pPr>
            <a:r>
              <a:rPr lang="en-US" sz="2200" dirty="0"/>
              <a:t>Immediately counter Pepsi’s restaurant strategy by forming competitive exclusive partnerships with major global food chains (e.g., McDonald's, Subway).</a:t>
            </a:r>
          </a:p>
          <a:p>
            <a:pPr lvl="1">
              <a:buFont typeface="+mj-lt"/>
              <a:buAutoNum type="alphaUcPeriod"/>
            </a:pPr>
            <a:r>
              <a:rPr lang="en-US" sz="2200" dirty="0"/>
              <a:t>Launch a direct advertising campaign dismissing Pepsi’s new food-pairing strategy as superficial marketing hype.</a:t>
            </a:r>
          </a:p>
          <a:p>
            <a:pPr lvl="1">
              <a:buFont typeface="+mj-lt"/>
              <a:buAutoNum type="alphaUcPeriod"/>
            </a:pPr>
            <a:r>
              <a:rPr lang="en-US" sz="2200" dirty="0"/>
              <a:t>D. Challenge Pepsi’s differentiation by launching a public campaign claiming Coke pairs equally well or better with meals, directly confronting Pepsi’s claims.</a:t>
            </a:r>
          </a:p>
          <a:p>
            <a:pPr marL="990586" lvl="1" indent="-457200">
              <a:buFont typeface="+mj-lt"/>
              <a:buAutoNum type="alphaUcPeriod"/>
            </a:pPr>
            <a:endParaRPr lang="en-US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6D07B9-C573-A9B1-966C-AF5D4790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71619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E230-0D26-FE55-3853-0C7521A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AA1E-499F-8265-EA46-A3E04E1D2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43000"/>
            <a:ext cx="10617419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/>
              <a:t>Current situation: Cola Brand Homogeneity Crisis</a:t>
            </a:r>
          </a:p>
          <a:p>
            <a:r>
              <a:rPr lang="en-US" dirty="0"/>
              <a:t>Both companies find previous differentiation strategies yielded limited success</a:t>
            </a:r>
          </a:p>
          <a:p>
            <a:r>
              <a:rPr lang="en-US" dirty="0"/>
              <a:t>They must think of some other approaches to help gain competitive advantages</a:t>
            </a:r>
          </a:p>
          <a:p>
            <a:r>
              <a:rPr lang="en-US" dirty="0"/>
              <a:t>Take-home question: What else can both companies do?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F170C4-9294-B483-D90D-04E058A13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75055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3B2E-FB23-FF4F-FA9E-9787F9FB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806B-D38E-4110-3582-7655FD5B8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43000"/>
            <a:ext cx="10210801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/>
              <a:t>Take Aways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Firms do not act in isolation; each strategic move directly affects competitors' actions and responses, shaping market dynamics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Understanding competitor reactions is essential when making decisions.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Aggressive moves provoke direct competitive responses.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Successful companies adapt quickly when their initial strategies do not yield expected results.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Companies must balance commitment to chosen strategies with the flexibility to adjust based on competitor behavior.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When products are similar, differentiation through branding, emotional appeal, or niche market strategies becomes vital.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8DBD7-589B-44D7-8EA6-951A2D2A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41218" cy="11430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Optional</a:t>
            </a:r>
            <a:r>
              <a:rPr lang="zh-TW" altLang="en-US" sz="3200" dirty="0"/>
              <a:t> </a:t>
            </a:r>
            <a:r>
              <a:rPr lang="en-US" altLang="zh-CN" sz="3200" dirty="0"/>
              <a:t>Class-Exercise: The Cola-War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5578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urple Version (Single Colour Logo)">
  <a:themeElements>
    <a:clrScheme name="CUHKBSchool">
      <a:dk1>
        <a:srgbClr val="331C58"/>
      </a:dk1>
      <a:lt1>
        <a:srgbClr val="FFFFFF"/>
      </a:lt1>
      <a:dk2>
        <a:srgbClr val="646569"/>
      </a:dk2>
      <a:lt2>
        <a:srgbClr val="9FA0A0"/>
      </a:lt2>
      <a:accent1>
        <a:srgbClr val="4F2D7F"/>
      </a:accent1>
      <a:accent2>
        <a:srgbClr val="931163"/>
      </a:accent2>
      <a:accent3>
        <a:srgbClr val="ED6D0F"/>
      </a:accent3>
      <a:accent4>
        <a:srgbClr val="F0AB00"/>
      </a:accent4>
      <a:accent5>
        <a:srgbClr val="00693C"/>
      </a:accent5>
      <a:accent6>
        <a:srgbClr val="0095D8"/>
      </a:accent6>
      <a:hlink>
        <a:srgbClr val="9D7D93"/>
      </a:hlink>
      <a:folHlink>
        <a:srgbClr val="9FA0A0"/>
      </a:folHlink>
    </a:clrScheme>
    <a:fontScheme name="CUHKBSchool">
      <a:majorFont>
        <a:latin typeface="Arial"/>
        <a:ea typeface="Microsoft JhengHei"/>
        <a:cs typeface=""/>
      </a:majorFont>
      <a:minorFont>
        <a:latin typeface="Arial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935C4AE7BFA14D9FEA47E9D4F5D914" ma:contentTypeVersion="10" ma:contentTypeDescription="Create a new document." ma:contentTypeScope="" ma:versionID="9580cd91a103e7459dc0cd956d2ee7ed">
  <xsd:schema xmlns:xsd="http://www.w3.org/2001/XMLSchema" xmlns:xs="http://www.w3.org/2001/XMLSchema" xmlns:p="http://schemas.microsoft.com/office/2006/metadata/properties" xmlns:ns2="df2ba4ab-9b85-44d4-9782-eedd67c2414d" xmlns:ns3="8bc8151f-f9eb-4fd4-a284-b18c458832d3" targetNamespace="http://schemas.microsoft.com/office/2006/metadata/properties" ma:root="true" ma:fieldsID="f723c48471fdd26c66ea758e11aa05f4" ns2:_="" ns3:_="">
    <xsd:import namespace="df2ba4ab-9b85-44d4-9782-eedd67c2414d"/>
    <xsd:import namespace="8bc8151f-f9eb-4fd4-a284-b18c458832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ba4ab-9b85-44d4-9782-eedd67c241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c8151f-f9eb-4fd4-a284-b18c458832d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2FDE0E-C15B-457A-BC2A-2FA68C6B1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2ba4ab-9b85-44d4-9782-eedd67c2414d"/>
    <ds:schemaRef ds:uri="8bc8151f-f9eb-4fd4-a284-b18c458832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12DADE-8814-407B-95B5-C1B21089B2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415A20D-BD7A-48AF-9D7F-A22FF5259D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2467</TotalTime>
  <Words>1876</Words>
  <Application>Microsoft Macintosh PowerPoint</Application>
  <PresentationFormat>Widescreen</PresentationFormat>
  <Paragraphs>193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Purple Version (Single Colour Logo)</vt:lpstr>
      <vt:lpstr>MGNT 5506G f Strategic Management for Competitive Advantage</vt:lpstr>
      <vt:lpstr>PowerPoint Presentation</vt:lpstr>
      <vt:lpstr>Objectives for Today</vt:lpstr>
      <vt:lpstr>Opening Exercise: Rides-share apps</vt:lpstr>
      <vt:lpstr>Opening Exercise: Rides-share apps</vt:lpstr>
      <vt:lpstr>Opening Exercise: Rides-share apps</vt:lpstr>
      <vt:lpstr>Competitive Action and Response</vt:lpstr>
      <vt:lpstr> Competitive Dynamics:  Key Definitions</vt:lpstr>
      <vt:lpstr>Strategic Action vs Tactical Action</vt:lpstr>
      <vt:lpstr>Competitive Analysis Step 1:  General Competitive Analysis</vt:lpstr>
      <vt:lpstr>Step 2:  Study Drivers of Competitive Behavior</vt:lpstr>
      <vt:lpstr>Step 3: Examine Likelihood of Attack &amp; Response</vt:lpstr>
      <vt:lpstr>Exercise: Likelihood of Attack &amp; Response</vt:lpstr>
      <vt:lpstr>PowerPoint Presentation</vt:lpstr>
      <vt:lpstr>Cola-War: The Taste Test</vt:lpstr>
      <vt:lpstr>Optional Class-Exercise: The Cola-War</vt:lpstr>
      <vt:lpstr>Optional Class-Exercise: The Cola-War</vt:lpstr>
      <vt:lpstr>Class-Exercise: The Cola-War</vt:lpstr>
      <vt:lpstr>Optional Class-Exercise: The Cola-War</vt:lpstr>
      <vt:lpstr>Optional Class-Exercise: The Cola-War</vt:lpstr>
      <vt:lpstr>Optional Class-Exercise: The Cola-War</vt:lpstr>
      <vt:lpstr>Optional Class-Exercise: The Cola-War</vt:lpstr>
      <vt:lpstr>Optional Class-Exercise: The Cola-War</vt:lpstr>
      <vt:lpstr>Optional Class-Exercise: The Cola-War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MGNT 4010 Strategic Management</dc:title>
  <dc:creator>Jingyu Li (MGT)</dc:creator>
  <cp:lastModifiedBy>Jingyu Li (MGT)</cp:lastModifiedBy>
  <cp:revision>96</cp:revision>
  <dcterms:created xsi:type="dcterms:W3CDTF">2021-02-09T03:24:56Z</dcterms:created>
  <dcterms:modified xsi:type="dcterms:W3CDTF">2026-04-17T04:48:59Z</dcterms:modified>
</cp:coreProperties>
</file>