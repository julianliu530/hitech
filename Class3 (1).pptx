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4"/>
  </p:notesMasterIdLst>
  <p:handoutMasterIdLst>
    <p:handoutMasterId r:id="rId45"/>
  </p:handoutMasterIdLst>
  <p:sldIdLst>
    <p:sldId id="359" r:id="rId5"/>
    <p:sldId id="258" r:id="rId6"/>
    <p:sldId id="259" r:id="rId7"/>
    <p:sldId id="362" r:id="rId8"/>
    <p:sldId id="299" r:id="rId9"/>
    <p:sldId id="322" r:id="rId10"/>
    <p:sldId id="323" r:id="rId11"/>
    <p:sldId id="334" r:id="rId12"/>
    <p:sldId id="325" r:id="rId13"/>
    <p:sldId id="367" r:id="rId14"/>
    <p:sldId id="369" r:id="rId15"/>
    <p:sldId id="370" r:id="rId16"/>
    <p:sldId id="372" r:id="rId17"/>
    <p:sldId id="368" r:id="rId18"/>
    <p:sldId id="404" r:id="rId19"/>
    <p:sldId id="405" r:id="rId20"/>
    <p:sldId id="406" r:id="rId21"/>
    <p:sldId id="407" r:id="rId22"/>
    <p:sldId id="408" r:id="rId23"/>
    <p:sldId id="398" r:id="rId24"/>
    <p:sldId id="399" r:id="rId25"/>
    <p:sldId id="400" r:id="rId26"/>
    <p:sldId id="401" r:id="rId27"/>
    <p:sldId id="402" r:id="rId28"/>
    <p:sldId id="343" r:id="rId29"/>
    <p:sldId id="403" r:id="rId30"/>
    <p:sldId id="396" r:id="rId31"/>
    <p:sldId id="321" r:id="rId32"/>
    <p:sldId id="397" r:id="rId33"/>
    <p:sldId id="313" r:id="rId34"/>
    <p:sldId id="345" r:id="rId35"/>
    <p:sldId id="409" r:id="rId36"/>
    <p:sldId id="412" r:id="rId37"/>
    <p:sldId id="411" r:id="rId38"/>
    <p:sldId id="413" r:id="rId39"/>
    <p:sldId id="410" r:id="rId40"/>
    <p:sldId id="415" r:id="rId41"/>
    <p:sldId id="414" r:id="rId42"/>
    <p:sldId id="416" r:id="rId43"/>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827"/>
    <a:srgbClr val="DEBDD4"/>
    <a:srgbClr val="7E499D"/>
    <a:srgbClr val="BEAF9B"/>
    <a:srgbClr val="9D7D93"/>
    <a:srgbClr val="7E039D"/>
    <a:srgbClr val="4F2D7F"/>
    <a:srgbClr val="331C58"/>
    <a:srgbClr val="F0AB00"/>
    <a:srgbClr val="EEA4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182" autoAdjust="0"/>
    <p:restoredTop sz="94660"/>
  </p:normalViewPr>
  <p:slideViewPr>
    <p:cSldViewPr snapToGrid="0" snapToObjects="1">
      <p:cViewPr>
        <p:scale>
          <a:sx n="81" d="100"/>
          <a:sy n="81" d="100"/>
        </p:scale>
        <p:origin x="344" y="488"/>
      </p:cViewPr>
      <p:guideLst>
        <p:guide orient="horz" pos="2160"/>
        <p:guide pos="3840"/>
      </p:guideLst>
    </p:cSldViewPr>
  </p:slideViewPr>
  <p:notesTextViewPr>
    <p:cViewPr>
      <p:scale>
        <a:sx n="100" d="100"/>
        <a:sy n="100" d="100"/>
      </p:scale>
      <p:origin x="0" y="0"/>
    </p:cViewPr>
  </p:notesTextViewPr>
  <p:notesViewPr>
    <p:cSldViewPr snapToGrid="0" snapToObjects="1">
      <p:cViewPr varScale="1">
        <p:scale>
          <a:sx n="70" d="100"/>
          <a:sy n="70" d="100"/>
        </p:scale>
        <p:origin x="2304"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91CD98B-DB93-A444-B339-AFA43F1B7091}" type="datetimeFigureOut">
              <a:rPr lang="en-US" smtClean="0"/>
              <a:t>3/27/26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BAD0A96-F412-2847-B350-2F07A409CC28}"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81B7E0-9D4F-354F-813F-0DA73ADCE65A}" type="datetimeFigureOut">
              <a:rPr lang="en-US" smtClean="0"/>
              <a:t>3/27/26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EA9514-9494-884D-8088-2187CF26A723}"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609585" rtl="0" eaLnBrk="1" latinLnBrk="0" hangingPunct="1">
      <a:defRPr sz="1600" kern="1200">
        <a:solidFill>
          <a:schemeClr val="tx1"/>
        </a:solidFill>
        <a:latin typeface="+mn-lt"/>
        <a:ea typeface="+mn-ea"/>
        <a:cs typeface="+mn-cs"/>
      </a:defRPr>
    </a:lvl1pPr>
    <a:lvl2pPr marL="609585" algn="l" defTabSz="609585" rtl="0" eaLnBrk="1" latinLnBrk="0" hangingPunct="1">
      <a:defRPr sz="1600" kern="1200">
        <a:solidFill>
          <a:schemeClr val="tx1"/>
        </a:solidFill>
        <a:latin typeface="+mn-lt"/>
        <a:ea typeface="+mn-ea"/>
        <a:cs typeface="+mn-cs"/>
      </a:defRPr>
    </a:lvl2pPr>
    <a:lvl3pPr marL="1219170" algn="l" defTabSz="609585" rtl="0" eaLnBrk="1" latinLnBrk="0" hangingPunct="1">
      <a:defRPr sz="1600" kern="1200">
        <a:solidFill>
          <a:schemeClr val="tx1"/>
        </a:solidFill>
        <a:latin typeface="+mn-lt"/>
        <a:ea typeface="+mn-ea"/>
        <a:cs typeface="+mn-cs"/>
      </a:defRPr>
    </a:lvl3pPr>
    <a:lvl4pPr marL="1828754" algn="l" defTabSz="609585" rtl="0" eaLnBrk="1" latinLnBrk="0" hangingPunct="1">
      <a:defRPr sz="1600" kern="1200">
        <a:solidFill>
          <a:schemeClr val="tx1"/>
        </a:solidFill>
        <a:latin typeface="+mn-lt"/>
        <a:ea typeface="+mn-ea"/>
        <a:cs typeface="+mn-cs"/>
      </a:defRPr>
    </a:lvl4pPr>
    <a:lvl5pPr marL="2438339" algn="l" defTabSz="609585" rtl="0" eaLnBrk="1" latinLnBrk="0" hangingPunct="1">
      <a:defRPr sz="1600" kern="1200">
        <a:solidFill>
          <a:schemeClr val="tx1"/>
        </a:solidFill>
        <a:latin typeface="+mn-lt"/>
        <a:ea typeface="+mn-ea"/>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33867" y="-33867"/>
            <a:ext cx="12310533" cy="6934307"/>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dirty="0"/>
          </a:p>
        </p:txBody>
      </p:sp>
      <p:pic>
        <p:nvPicPr>
          <p:cNvPr id="8" name="Picture 7" descr="Artboard 1.png"/>
          <p:cNvPicPr>
            <a:picLocks noChangeAspect="1"/>
          </p:cNvPicPr>
          <p:nvPr userDrawn="1"/>
        </p:nvPicPr>
        <p:blipFill>
          <a:blip r:embed="rId2"/>
          <a:stretch>
            <a:fillRect/>
          </a:stretch>
        </p:blipFill>
        <p:spPr>
          <a:xfrm>
            <a:off x="-33867" y="-33864"/>
            <a:ext cx="12310533" cy="6934304"/>
          </a:xfrm>
          <a:prstGeom prst="rect">
            <a:avLst/>
          </a:prstGeom>
        </p:spPr>
      </p:pic>
      <p:pic>
        <p:nvPicPr>
          <p:cNvPr id="9" name="Picture 8" descr="Artboard 5.png"/>
          <p:cNvPicPr>
            <a:picLocks noChangeAspect="1"/>
          </p:cNvPicPr>
          <p:nvPr userDrawn="1"/>
        </p:nvPicPr>
        <p:blipFill>
          <a:blip r:embed="rId3"/>
          <a:stretch>
            <a:fillRect/>
          </a:stretch>
        </p:blipFill>
        <p:spPr>
          <a:xfrm>
            <a:off x="10559181" y="182879"/>
            <a:ext cx="1497371" cy="1082887"/>
          </a:xfrm>
          <a:prstGeom prst="rect">
            <a:avLst/>
          </a:prstGeom>
        </p:spPr>
      </p:pic>
      <p:sp>
        <p:nvSpPr>
          <p:cNvPr id="6" name="Title 1"/>
          <p:cNvSpPr>
            <a:spLocks noGrp="1"/>
          </p:cNvSpPr>
          <p:nvPr>
            <p:ph type="title"/>
          </p:nvPr>
        </p:nvSpPr>
        <p:spPr>
          <a:xfrm>
            <a:off x="1285192" y="1512276"/>
            <a:ext cx="8954021" cy="2442072"/>
          </a:xfrm>
        </p:spPr>
        <p:txBody>
          <a:bodyPr anchor="ctr">
            <a:normAutofit/>
          </a:bodyPr>
          <a:lstStyle>
            <a:lvl1pPr algn="l">
              <a:defRPr sz="5067" b="1" cap="all">
                <a:solidFill>
                  <a:srgbClr val="F0AB00"/>
                </a:solidFill>
                <a:latin typeface="+mj-lt"/>
              </a:defRPr>
            </a:lvl1pPr>
          </a:lstStyle>
          <a:p>
            <a:r>
              <a:rPr lang="en-US" dirty="0"/>
              <a:t>Click to edit Master title style</a:t>
            </a:r>
          </a:p>
        </p:txBody>
      </p:sp>
      <p:pic>
        <p:nvPicPr>
          <p:cNvPr id="15" name="Picture 14"/>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617464" y="5130800"/>
            <a:ext cx="1431729" cy="1524000"/>
          </a:xfrm>
          <a:prstGeom prst="rect">
            <a:avLst/>
          </a:prstGeom>
        </p:spPr>
      </p:pic>
      <p:sp>
        <p:nvSpPr>
          <p:cNvPr id="5" name="Text Placeholder 4"/>
          <p:cNvSpPr>
            <a:spLocks noGrp="1"/>
          </p:cNvSpPr>
          <p:nvPr>
            <p:ph type="body" sz="quarter" idx="10" hasCustomPrompt="1"/>
          </p:nvPr>
        </p:nvSpPr>
        <p:spPr>
          <a:xfrm>
            <a:off x="1284817" y="4236680"/>
            <a:ext cx="8954396" cy="836083"/>
          </a:xfrm>
          <a:prstGeom prst="rect">
            <a:avLst/>
          </a:prstGeom>
        </p:spPr>
        <p:txBody>
          <a:bodyPr/>
          <a:lstStyle>
            <a:lvl1pPr marL="0" indent="0">
              <a:buNone/>
              <a:defRPr sz="2667">
                <a:solidFill>
                  <a:schemeClr val="bg1"/>
                </a:solidFill>
              </a:defRPr>
            </a:lvl1pPr>
          </a:lstStyle>
          <a:p>
            <a:pPr lvl="0"/>
            <a:r>
              <a:rPr lang="en-US" dirty="0"/>
              <a:t>Click to edit master text styles</a:t>
            </a:r>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descr="Artboard 2.png"/>
          <p:cNvPicPr>
            <a:picLocks noChangeAspect="1"/>
          </p:cNvPicPr>
          <p:nvPr userDrawn="1"/>
        </p:nvPicPr>
        <p:blipFill>
          <a:blip r:embed="rId2"/>
          <a:stretch>
            <a:fillRect/>
          </a:stretch>
        </p:blipFill>
        <p:spPr>
          <a:xfrm>
            <a:off x="8467" y="0"/>
            <a:ext cx="12183533" cy="6858000"/>
          </a:xfrm>
          <a:prstGeom prst="rect">
            <a:avLst/>
          </a:prstGeom>
        </p:spPr>
      </p:pic>
      <p:pic>
        <p:nvPicPr>
          <p:cNvPr id="7" name="Picture 6" descr="Artboard 7.png"/>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22579" y="-1"/>
            <a:ext cx="12214579" cy="6858001"/>
          </a:xfrm>
          <a:prstGeom prst="rect">
            <a:avLst/>
          </a:prstGeom>
          <a:solidFill>
            <a:schemeClr val="bg1">
              <a:lumMod val="85000"/>
              <a:alpha val="73000"/>
            </a:schemeClr>
          </a:solidFill>
        </p:spPr>
      </p:pic>
      <p:sp>
        <p:nvSpPr>
          <p:cNvPr id="14" name="Title 1"/>
          <p:cNvSpPr>
            <a:spLocks noGrp="1"/>
          </p:cNvSpPr>
          <p:nvPr>
            <p:ph type="title"/>
          </p:nvPr>
        </p:nvSpPr>
        <p:spPr>
          <a:xfrm>
            <a:off x="620184" y="1407836"/>
            <a:ext cx="4917016" cy="2465664"/>
          </a:xfrm>
        </p:spPr>
        <p:txBody>
          <a:bodyPr anchor="t">
            <a:normAutofit/>
          </a:bodyPr>
          <a:lstStyle>
            <a:lvl1pPr algn="l">
              <a:defRPr sz="5067" b="1" cap="all">
                <a:latin typeface="+mj-lt"/>
              </a:defRPr>
            </a:lvl1pPr>
          </a:lstStyle>
          <a:p>
            <a:r>
              <a:rPr lang="en-US" dirty="0"/>
              <a:t>Click to edit Master title style</a:t>
            </a:r>
          </a:p>
        </p:txBody>
      </p:sp>
      <p:sp>
        <p:nvSpPr>
          <p:cNvPr id="15" name="Text Placeholder 2"/>
          <p:cNvSpPr>
            <a:spLocks noGrp="1"/>
          </p:cNvSpPr>
          <p:nvPr>
            <p:ph type="body" idx="1"/>
          </p:nvPr>
        </p:nvSpPr>
        <p:spPr>
          <a:xfrm>
            <a:off x="620184" y="4111725"/>
            <a:ext cx="4917016" cy="1500716"/>
          </a:xfrm>
          <a:prstGeom prst="rect">
            <a:avLst/>
          </a:prstGeom>
        </p:spPr>
        <p:txBody>
          <a:bodyPr anchor="t"/>
          <a:lstStyle>
            <a:lvl1pPr marL="0" indent="0">
              <a:buNone/>
              <a:defRPr sz="2667">
                <a:solidFill>
                  <a:schemeClr val="tx1">
                    <a:tint val="75000"/>
                  </a:schemeClr>
                </a:solidFill>
                <a:latin typeface="+mj-lt"/>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dirty="0"/>
              <a:t>Click to edit Master text styles</a:t>
            </a:r>
          </a:p>
        </p:txBody>
      </p:sp>
      <p:pic>
        <p:nvPicPr>
          <p:cNvPr id="4" name="Picture 3"/>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5" name="Picture 4"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1" name="Title 1"/>
          <p:cNvSpPr>
            <a:spLocks noGrp="1"/>
          </p:cNvSpPr>
          <p:nvPr>
            <p:ph type="title"/>
          </p:nvPr>
        </p:nvSpPr>
        <p:spPr>
          <a:xfrm>
            <a:off x="609600" y="275167"/>
            <a:ext cx="10048125" cy="1143000"/>
          </a:xfrm>
        </p:spPr>
        <p:txBody>
          <a:bodyPr>
            <a:normAutofit/>
          </a:bodyPr>
          <a:lstStyle>
            <a:lvl1pPr>
              <a:defRPr sz="3733"/>
            </a:lvl1pPr>
          </a:lstStyle>
          <a:p>
            <a:r>
              <a:rPr lang="en-US" dirty="0"/>
              <a:t>Click to edit Master title style</a:t>
            </a:r>
          </a:p>
        </p:txBody>
      </p:sp>
      <p:pic>
        <p:nvPicPr>
          <p:cNvPr id="7" name="Picture 6"/>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Horizontal Text">
    <p:spTree>
      <p:nvGrpSpPr>
        <p:cNvPr id="1" name=""/>
        <p:cNvGrpSpPr/>
        <p:nvPr/>
      </p:nvGrpSpPr>
      <p:grpSpPr>
        <a:xfrm>
          <a:off x="0" y="0"/>
          <a:ext cx="0" cy="0"/>
          <a:chOff x="0" y="0"/>
          <a:chExt cx="0" cy="0"/>
        </a:xfrm>
      </p:grpSpPr>
      <p:pic>
        <p:nvPicPr>
          <p:cNvPr id="5" name="Picture 4"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1" name="Title 1"/>
          <p:cNvSpPr>
            <a:spLocks noGrp="1"/>
          </p:cNvSpPr>
          <p:nvPr>
            <p:ph type="title"/>
          </p:nvPr>
        </p:nvSpPr>
        <p:spPr>
          <a:xfrm>
            <a:off x="609600" y="275167"/>
            <a:ext cx="10048125" cy="1143000"/>
          </a:xfrm>
        </p:spPr>
        <p:txBody>
          <a:bodyPr/>
          <a:lstStyle>
            <a:lvl1pPr>
              <a:defRPr/>
            </a:lvl1pPr>
          </a:lstStyle>
          <a:p>
            <a:r>
              <a:rPr lang="en-US" dirty="0"/>
              <a:t>Click to edit Master title style</a:t>
            </a:r>
          </a:p>
        </p:txBody>
      </p:sp>
      <p:sp>
        <p:nvSpPr>
          <p:cNvPr id="8" name="Content Placeholder 7"/>
          <p:cNvSpPr>
            <a:spLocks noGrp="1"/>
          </p:cNvSpPr>
          <p:nvPr>
            <p:ph sz="quarter" idx="10"/>
          </p:nvPr>
        </p:nvSpPr>
        <p:spPr>
          <a:xfrm>
            <a:off x="609601" y="1682751"/>
            <a:ext cx="10047817" cy="4548716"/>
          </a:xfrm>
          <a:prstGeom prst="rect">
            <a:avLst/>
          </a:prstGeom>
        </p:spPr>
        <p:txBody>
          <a:bodyPr/>
          <a:lstStyle>
            <a:lvl1pPr marL="457189" indent="-457189">
              <a:buSzPct val="100000"/>
              <a:buFontTx/>
              <a:buBlip>
                <a:blip r:embed="rId3"/>
              </a:buBlip>
              <a:defRPr sz="2667">
                <a:solidFill>
                  <a:schemeClr val="tx2">
                    <a:lumMod val="50000"/>
                  </a:schemeClr>
                </a:solidFill>
              </a:defRPr>
            </a:lvl1pPr>
            <a:lvl2pPr>
              <a:defRPr sz="2400">
                <a:solidFill>
                  <a:schemeClr val="tx2">
                    <a:lumMod val="50000"/>
                  </a:schemeClr>
                </a:solidFill>
              </a:defRPr>
            </a:lvl2pPr>
            <a:lvl3pPr>
              <a:defRPr sz="2133">
                <a:solidFill>
                  <a:schemeClr val="tx2">
                    <a:lumMod val="50000"/>
                  </a:schemeClr>
                </a:solidFill>
              </a:defRPr>
            </a:lvl3pPr>
            <a:lvl4pPr>
              <a:defRPr sz="2133">
                <a:solidFill>
                  <a:schemeClr val="tx2">
                    <a:lumMod val="50000"/>
                  </a:schemeClr>
                </a:solidFill>
              </a:defRPr>
            </a:lvl4pPr>
            <a:lvl5pPr>
              <a:defRPr sz="2133">
                <a:solidFill>
                  <a:schemeClr val="tx2">
                    <a:lumMod val="50000"/>
                  </a:schemeClr>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7" name="Picture 6"/>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1607310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pic>
        <p:nvPicPr>
          <p:cNvPr id="7" name="Picture 6"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0" name="Title 1"/>
          <p:cNvSpPr>
            <a:spLocks noGrp="1"/>
          </p:cNvSpPr>
          <p:nvPr>
            <p:ph type="title"/>
          </p:nvPr>
        </p:nvSpPr>
        <p:spPr>
          <a:xfrm>
            <a:off x="609601" y="275167"/>
            <a:ext cx="10061825" cy="1143000"/>
          </a:xfrm>
        </p:spPr>
        <p:txBody>
          <a:bodyPr/>
          <a:lstStyle/>
          <a:p>
            <a:r>
              <a:rPr lang="en-US" dirty="0"/>
              <a:t>Click to edit Master title style</a:t>
            </a:r>
          </a:p>
        </p:txBody>
      </p:sp>
      <p:sp>
        <p:nvSpPr>
          <p:cNvPr id="11" name="Vertical Text Placeholder 2"/>
          <p:cNvSpPr>
            <a:spLocks noGrp="1"/>
          </p:cNvSpPr>
          <p:nvPr>
            <p:ph type="body" orient="vert" idx="1"/>
          </p:nvPr>
        </p:nvSpPr>
        <p:spPr>
          <a:xfrm>
            <a:off x="609600" y="1600201"/>
            <a:ext cx="10972800" cy="4525433"/>
          </a:xfrm>
          <a:prstGeom prst="rect">
            <a:avLst/>
          </a:prstGeom>
        </p:spPr>
        <p:txBody>
          <a:bodyPr vert="eaVert"/>
          <a:lstStyle>
            <a:lvl1pPr marL="457189" indent="-457189">
              <a:buFontTx/>
              <a:buBlip>
                <a:blip r:embed="rId3"/>
              </a:buBlip>
              <a:defRPr sz="2667">
                <a:solidFill>
                  <a:schemeClr val="tx2">
                    <a:lumMod val="50000"/>
                  </a:schemeClr>
                </a:solidFill>
              </a:defRPr>
            </a:lvl1pPr>
            <a:lvl2pPr>
              <a:defRPr sz="2400">
                <a:solidFill>
                  <a:schemeClr val="tx2">
                    <a:lumMod val="50000"/>
                  </a:schemeClr>
                </a:solidFill>
              </a:defRPr>
            </a:lvl2pPr>
            <a:lvl3pPr>
              <a:defRPr sz="2133">
                <a:solidFill>
                  <a:schemeClr val="tx2">
                    <a:lumMod val="50000"/>
                  </a:schemeClr>
                </a:solidFill>
              </a:defRPr>
            </a:lvl3pPr>
            <a:lvl4pPr>
              <a:defRPr sz="2133">
                <a:solidFill>
                  <a:schemeClr val="tx2">
                    <a:lumMod val="50000"/>
                  </a:schemeClr>
                </a:solidFill>
              </a:defRPr>
            </a:lvl4pPr>
            <a:lvl5pPr>
              <a:defRPr sz="2133">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1344031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8" name="Picture 7"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1" name="Title 1"/>
          <p:cNvSpPr>
            <a:spLocks noGrp="1"/>
          </p:cNvSpPr>
          <p:nvPr>
            <p:ph type="title"/>
          </p:nvPr>
        </p:nvSpPr>
        <p:spPr>
          <a:xfrm>
            <a:off x="609600" y="275167"/>
            <a:ext cx="9993331" cy="1143000"/>
          </a:xfrm>
        </p:spPr>
        <p:txBody>
          <a:bodyPr/>
          <a:lstStyle/>
          <a:p>
            <a:r>
              <a:rPr lang="en-US" dirty="0"/>
              <a:t>Click to edit Master title style</a:t>
            </a:r>
          </a:p>
        </p:txBody>
      </p:sp>
      <p:sp>
        <p:nvSpPr>
          <p:cNvPr id="12" name="Content Placeholder 2"/>
          <p:cNvSpPr>
            <a:spLocks noGrp="1"/>
          </p:cNvSpPr>
          <p:nvPr>
            <p:ph sz="half" idx="1"/>
          </p:nvPr>
        </p:nvSpPr>
        <p:spPr>
          <a:xfrm>
            <a:off x="609600" y="1600201"/>
            <a:ext cx="5384800" cy="4525433"/>
          </a:xfrm>
          <a:prstGeom prst="rect">
            <a:avLst/>
          </a:prstGeom>
        </p:spPr>
        <p:txBody>
          <a:bodyPr>
            <a:normAutofit/>
          </a:bodyPr>
          <a:lstStyle>
            <a:lvl1pPr marL="457189" indent="-457189">
              <a:buFontTx/>
              <a:buBlip>
                <a:blip r:embed="rId3"/>
              </a:buBlip>
              <a:defRPr sz="2400">
                <a:solidFill>
                  <a:schemeClr val="tx2">
                    <a:lumMod val="50000"/>
                  </a:schemeClr>
                </a:solidFill>
              </a:defRPr>
            </a:lvl1pPr>
            <a:lvl2pPr>
              <a:defRPr sz="2133">
                <a:solidFill>
                  <a:schemeClr val="tx2">
                    <a:lumMod val="50000"/>
                  </a:schemeClr>
                </a:solidFill>
              </a:defRPr>
            </a:lvl2pPr>
            <a:lvl3pPr>
              <a:defRPr sz="1867">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3"/>
          <p:cNvSpPr>
            <a:spLocks noGrp="1"/>
          </p:cNvSpPr>
          <p:nvPr>
            <p:ph sz="half" idx="2"/>
          </p:nvPr>
        </p:nvSpPr>
        <p:spPr>
          <a:xfrm>
            <a:off x="6197600" y="1600201"/>
            <a:ext cx="5384800" cy="4525433"/>
          </a:xfrm>
          <a:prstGeom prst="rect">
            <a:avLst/>
          </a:prstGeom>
        </p:spPr>
        <p:txBody>
          <a:bodyPr>
            <a:normAutofit/>
          </a:bodyPr>
          <a:lstStyle>
            <a:lvl1pPr marL="457189" indent="-457189">
              <a:buFontTx/>
              <a:buBlip>
                <a:blip r:embed="rId3"/>
              </a:buBlip>
              <a:defRPr sz="2400">
                <a:solidFill>
                  <a:schemeClr val="tx2">
                    <a:lumMod val="50000"/>
                  </a:schemeClr>
                </a:solidFill>
              </a:defRPr>
            </a:lvl1pPr>
            <a:lvl2pPr>
              <a:defRPr sz="2133">
                <a:solidFill>
                  <a:schemeClr val="tx2">
                    <a:lumMod val="50000"/>
                  </a:schemeClr>
                </a:solidFill>
              </a:defRPr>
            </a:lvl2pPr>
            <a:lvl3pPr>
              <a:defRPr sz="1867">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607749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0" name="Picture 9"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3" name="Title 1"/>
          <p:cNvSpPr>
            <a:spLocks noGrp="1"/>
          </p:cNvSpPr>
          <p:nvPr>
            <p:ph type="title"/>
          </p:nvPr>
        </p:nvSpPr>
        <p:spPr>
          <a:xfrm>
            <a:off x="609600" y="275167"/>
            <a:ext cx="10048125" cy="1143000"/>
          </a:xfrm>
        </p:spPr>
        <p:txBody>
          <a:bodyPr/>
          <a:lstStyle>
            <a:lvl1pPr>
              <a:defRPr/>
            </a:lvl1pPr>
          </a:lstStyle>
          <a:p>
            <a:r>
              <a:rPr lang="en-US" dirty="0"/>
              <a:t>Click to edit Master title style</a:t>
            </a:r>
          </a:p>
        </p:txBody>
      </p:sp>
      <p:sp>
        <p:nvSpPr>
          <p:cNvPr id="14" name="Text Placeholder 2"/>
          <p:cNvSpPr>
            <a:spLocks noGrp="1"/>
          </p:cNvSpPr>
          <p:nvPr>
            <p:ph type="body" idx="1"/>
          </p:nvPr>
        </p:nvSpPr>
        <p:spPr>
          <a:xfrm>
            <a:off x="609600" y="1534584"/>
            <a:ext cx="5386917" cy="641349"/>
          </a:xfrm>
          <a:prstGeom prst="rect">
            <a:avLst/>
          </a:prstGeom>
        </p:spPr>
        <p:txBody>
          <a:bodyPr anchor="b">
            <a:normAutofit/>
          </a:bodyPr>
          <a:lstStyle>
            <a:lvl1pPr marL="0" indent="0">
              <a:buNone/>
              <a:defRPr sz="2400" b="1">
                <a:solidFill>
                  <a:schemeClr val="tx2">
                    <a:lumMod val="5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15" name="Content Placeholder 3"/>
          <p:cNvSpPr>
            <a:spLocks noGrp="1"/>
          </p:cNvSpPr>
          <p:nvPr>
            <p:ph sz="half" idx="2"/>
          </p:nvPr>
        </p:nvSpPr>
        <p:spPr>
          <a:xfrm>
            <a:off x="609600" y="2175934"/>
            <a:ext cx="5386917" cy="3949700"/>
          </a:xfrm>
          <a:prstGeom prst="rect">
            <a:avLst/>
          </a:prstGeom>
        </p:spPr>
        <p:txBody>
          <a:bodyPr>
            <a:normAutofit/>
          </a:bodyPr>
          <a:lstStyle>
            <a:lvl1pPr marL="457189" indent="-457189">
              <a:buFontTx/>
              <a:buBlip>
                <a:blip r:embed="rId3"/>
              </a:buBlip>
              <a:defRPr sz="2400">
                <a:solidFill>
                  <a:schemeClr val="tx2">
                    <a:lumMod val="50000"/>
                  </a:schemeClr>
                </a:solidFill>
              </a:defRPr>
            </a:lvl1pPr>
            <a:lvl2pPr>
              <a:defRPr sz="2133">
                <a:solidFill>
                  <a:schemeClr val="tx2">
                    <a:lumMod val="50000"/>
                  </a:schemeClr>
                </a:solidFill>
              </a:defRPr>
            </a:lvl2pPr>
            <a:lvl3pPr>
              <a:defRPr sz="1867">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2133"/>
            </a:lvl6pPr>
            <a:lvl7pPr>
              <a:defRPr sz="2133"/>
            </a:lvl7pPr>
            <a:lvl8pPr>
              <a:defRPr sz="2133"/>
            </a:lvl8pPr>
            <a:lvl9pPr>
              <a:defRPr sz="213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4"/>
          <p:cNvSpPr>
            <a:spLocks noGrp="1"/>
          </p:cNvSpPr>
          <p:nvPr>
            <p:ph type="body" sz="quarter" idx="3"/>
          </p:nvPr>
        </p:nvSpPr>
        <p:spPr>
          <a:xfrm>
            <a:off x="6193368" y="1534584"/>
            <a:ext cx="5389033" cy="641349"/>
          </a:xfrm>
          <a:prstGeom prst="rect">
            <a:avLst/>
          </a:prstGeom>
        </p:spPr>
        <p:txBody>
          <a:bodyPr anchor="b">
            <a:normAutofit/>
          </a:bodyPr>
          <a:lstStyle>
            <a:lvl1pPr marL="0" indent="0">
              <a:buNone/>
              <a:defRPr sz="2400" b="1">
                <a:solidFill>
                  <a:schemeClr val="tx2">
                    <a:lumMod val="5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17" name="Content Placeholder 5"/>
          <p:cNvSpPr>
            <a:spLocks noGrp="1"/>
          </p:cNvSpPr>
          <p:nvPr>
            <p:ph sz="quarter" idx="4"/>
          </p:nvPr>
        </p:nvSpPr>
        <p:spPr>
          <a:xfrm>
            <a:off x="6193368" y="2175934"/>
            <a:ext cx="5389033" cy="3949700"/>
          </a:xfrm>
          <a:prstGeom prst="rect">
            <a:avLst/>
          </a:prstGeom>
        </p:spPr>
        <p:txBody>
          <a:bodyPr>
            <a:normAutofit/>
          </a:bodyPr>
          <a:lstStyle>
            <a:lvl1pPr marL="457189" indent="-457189">
              <a:buFontTx/>
              <a:buBlip>
                <a:blip r:embed="rId3"/>
              </a:buBlip>
              <a:defRPr sz="2400">
                <a:solidFill>
                  <a:schemeClr val="tx2">
                    <a:lumMod val="50000"/>
                  </a:schemeClr>
                </a:solidFill>
              </a:defRPr>
            </a:lvl1pPr>
            <a:lvl2pPr>
              <a:defRPr sz="2133">
                <a:solidFill>
                  <a:schemeClr val="tx2">
                    <a:lumMod val="50000"/>
                  </a:schemeClr>
                </a:solidFill>
              </a:defRPr>
            </a:lvl2pPr>
            <a:lvl3pPr>
              <a:defRPr sz="1867">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2133"/>
            </a:lvl6pPr>
            <a:lvl7pPr>
              <a:defRPr sz="2133"/>
            </a:lvl7pPr>
            <a:lvl8pPr>
              <a:defRPr sz="2133"/>
            </a:lvl8pPr>
            <a:lvl9pPr>
              <a:defRPr sz="213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4251845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pic>
        <p:nvPicPr>
          <p:cNvPr id="8" name="Picture 7"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1" name="Title 1"/>
          <p:cNvSpPr>
            <a:spLocks noGrp="1"/>
          </p:cNvSpPr>
          <p:nvPr>
            <p:ph type="title"/>
          </p:nvPr>
        </p:nvSpPr>
        <p:spPr>
          <a:xfrm>
            <a:off x="609601" y="273052"/>
            <a:ext cx="4011084" cy="1162049"/>
          </a:xfrm>
        </p:spPr>
        <p:txBody>
          <a:bodyPr anchor="b"/>
          <a:lstStyle>
            <a:lvl1pPr algn="l">
              <a:defRPr sz="2667" b="1"/>
            </a:lvl1pPr>
          </a:lstStyle>
          <a:p>
            <a:r>
              <a:rPr lang="en-US" dirty="0"/>
              <a:t>Click to edit Master title style</a:t>
            </a:r>
          </a:p>
        </p:txBody>
      </p:sp>
      <p:sp>
        <p:nvSpPr>
          <p:cNvPr id="12" name="Content Placeholder 2"/>
          <p:cNvSpPr>
            <a:spLocks noGrp="1"/>
          </p:cNvSpPr>
          <p:nvPr>
            <p:ph idx="1"/>
          </p:nvPr>
        </p:nvSpPr>
        <p:spPr>
          <a:xfrm>
            <a:off x="4766733" y="273051"/>
            <a:ext cx="6815667" cy="5852583"/>
          </a:xfrm>
          <a:prstGeom prst="rect">
            <a:avLst/>
          </a:prstGeom>
        </p:spPr>
        <p:txBody>
          <a:bodyPr>
            <a:normAutofit/>
          </a:bodyPr>
          <a:lstStyle>
            <a:lvl1pPr marL="457189" indent="-457189">
              <a:buFontTx/>
              <a:buBlip>
                <a:blip r:embed="rId3"/>
              </a:buBlip>
              <a:defRPr sz="2667">
                <a:solidFill>
                  <a:schemeClr val="tx2">
                    <a:lumMod val="50000"/>
                  </a:schemeClr>
                </a:solidFill>
              </a:defRPr>
            </a:lvl1pPr>
            <a:lvl2pPr>
              <a:defRPr sz="2400">
                <a:solidFill>
                  <a:schemeClr val="tx2">
                    <a:lumMod val="50000"/>
                  </a:schemeClr>
                </a:solidFill>
              </a:defRPr>
            </a:lvl2pPr>
            <a:lvl3pPr>
              <a:defRPr sz="2133">
                <a:solidFill>
                  <a:schemeClr val="tx2">
                    <a:lumMod val="50000"/>
                  </a:schemeClr>
                </a:solidFill>
              </a:defRPr>
            </a:lvl3pPr>
            <a:lvl4pPr>
              <a:defRPr sz="1867">
                <a:solidFill>
                  <a:schemeClr val="tx2">
                    <a:lumMod val="50000"/>
                  </a:schemeClr>
                </a:solidFill>
              </a:defRPr>
            </a:lvl4pPr>
            <a:lvl5pPr>
              <a:defRPr sz="1867">
                <a:solidFill>
                  <a:schemeClr val="tx2">
                    <a:lumMod val="50000"/>
                  </a:schemeClr>
                </a:solidFill>
              </a:defRPr>
            </a:lvl5pPr>
            <a:lvl6pPr>
              <a:defRPr sz="2667"/>
            </a:lvl6pPr>
            <a:lvl7pPr>
              <a:defRPr sz="2667"/>
            </a:lvl7pPr>
            <a:lvl8pPr>
              <a:defRPr sz="2667"/>
            </a:lvl8pPr>
            <a:lvl9pPr>
              <a:defRPr sz="2667"/>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3"/>
          <p:cNvSpPr>
            <a:spLocks noGrp="1"/>
          </p:cNvSpPr>
          <p:nvPr>
            <p:ph type="body" sz="half" idx="2"/>
          </p:nvPr>
        </p:nvSpPr>
        <p:spPr>
          <a:xfrm>
            <a:off x="609601" y="1435100"/>
            <a:ext cx="4011084" cy="4690533"/>
          </a:xfrm>
          <a:prstGeom prst="rect">
            <a:avLst/>
          </a:prstGeom>
        </p:spPr>
        <p:txBody>
          <a:bodyPr/>
          <a:lstStyle>
            <a:lvl1pPr marL="0" indent="0">
              <a:buNone/>
              <a:defRPr sz="1867">
                <a:solidFill>
                  <a:schemeClr val="tx2">
                    <a:lumMod val="50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Click to edit Master text styles</a:t>
            </a:r>
          </a:p>
        </p:txBody>
      </p:sp>
      <p:sp>
        <p:nvSpPr>
          <p:cNvPr id="17" name="Date Placeholder 3"/>
          <p:cNvSpPr>
            <a:spLocks noGrp="1"/>
          </p:cNvSpPr>
          <p:nvPr>
            <p:ph type="dt" sz="half" idx="10"/>
          </p:nvPr>
        </p:nvSpPr>
        <p:spPr>
          <a:xfrm>
            <a:off x="609600" y="6542618"/>
            <a:ext cx="2844800" cy="365125"/>
          </a:xfrm>
          <a:prstGeom prst="rect">
            <a:avLst/>
          </a:prstGeom>
        </p:spPr>
        <p:txBody>
          <a:bodyPr vert="horz" lIns="91440" tIns="45720" rIns="91440" bIns="45720" rtlCol="0" anchor="ctr"/>
          <a:lstStyle>
            <a:lvl1pPr algn="l">
              <a:defRPr sz="1467" b="0">
                <a:solidFill>
                  <a:srgbClr val="4F2D7F"/>
                </a:solidFill>
                <a:latin typeface="Arial" panose="020B0604020202020204" pitchFamily="34" charset="0"/>
                <a:cs typeface="Arial" panose="020B0604020202020204" pitchFamily="34" charset="0"/>
              </a:defRPr>
            </a:lvl1pPr>
          </a:lstStyle>
          <a:p>
            <a:endParaRPr lang="en-US" dirty="0"/>
          </a:p>
        </p:txBody>
      </p:sp>
      <p:pic>
        <p:nvPicPr>
          <p:cNvPr id="10" name="Picture 9"/>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180326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1" name="Title 1"/>
          <p:cNvSpPr>
            <a:spLocks noGrp="1"/>
          </p:cNvSpPr>
          <p:nvPr>
            <p:ph type="title"/>
          </p:nvPr>
        </p:nvSpPr>
        <p:spPr>
          <a:xfrm>
            <a:off x="2389717" y="4800600"/>
            <a:ext cx="7315200" cy="567267"/>
          </a:xfrm>
        </p:spPr>
        <p:txBody>
          <a:bodyPr anchor="b"/>
          <a:lstStyle>
            <a:lvl1pPr algn="l">
              <a:defRPr sz="2667" b="1"/>
            </a:lvl1pPr>
          </a:lstStyle>
          <a:p>
            <a:r>
              <a:rPr lang="en-US" dirty="0"/>
              <a:t>Click to edit Master title style</a:t>
            </a:r>
          </a:p>
        </p:txBody>
      </p:sp>
      <p:sp>
        <p:nvSpPr>
          <p:cNvPr id="12" name="Picture Placeholder 2"/>
          <p:cNvSpPr>
            <a:spLocks noGrp="1"/>
          </p:cNvSpPr>
          <p:nvPr>
            <p:ph type="pic" idx="1"/>
          </p:nvPr>
        </p:nvSpPr>
        <p:spPr>
          <a:xfrm>
            <a:off x="2389717" y="613833"/>
            <a:ext cx="7315200" cy="4114800"/>
          </a:xfrm>
          <a:prstGeom prst="rect">
            <a:avLst/>
          </a:prstGeo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lang="en-US" dirty="0"/>
          </a:p>
        </p:txBody>
      </p:sp>
      <p:sp>
        <p:nvSpPr>
          <p:cNvPr id="13" name="Text Placeholder 3"/>
          <p:cNvSpPr>
            <a:spLocks noGrp="1"/>
          </p:cNvSpPr>
          <p:nvPr>
            <p:ph type="body" sz="half" idx="2"/>
          </p:nvPr>
        </p:nvSpPr>
        <p:spPr>
          <a:xfrm>
            <a:off x="2389717" y="5367867"/>
            <a:ext cx="7315200" cy="804333"/>
          </a:xfrm>
          <a:prstGeom prst="rect">
            <a:avLst/>
          </a:prstGeom>
        </p:spPr>
        <p:txBody>
          <a:bodyPr/>
          <a:lstStyle>
            <a:lvl1pPr marL="0" indent="0">
              <a:buNone/>
              <a:defRPr sz="1867">
                <a:solidFill>
                  <a:schemeClr val="tx2">
                    <a:lumMod val="50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Click to edit Master text styles</a:t>
            </a:r>
          </a:p>
        </p:txBody>
      </p:sp>
      <p:pic>
        <p:nvPicPr>
          <p:cNvPr id="10" name="Picture 9"/>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1649021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7" name="Picture 6"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0" name="Vertical Title 1"/>
          <p:cNvSpPr>
            <a:spLocks noGrp="1"/>
          </p:cNvSpPr>
          <p:nvPr>
            <p:ph type="title" orient="vert"/>
          </p:nvPr>
        </p:nvSpPr>
        <p:spPr>
          <a:xfrm>
            <a:off x="8839200" y="275167"/>
            <a:ext cx="2194560" cy="5850467"/>
          </a:xfrm>
        </p:spPr>
        <p:txBody>
          <a:bodyPr vert="eaVert"/>
          <a:lstStyle/>
          <a:p>
            <a:r>
              <a:rPr lang="en-US" dirty="0"/>
              <a:t>Click to edit Master title style</a:t>
            </a:r>
          </a:p>
        </p:txBody>
      </p:sp>
      <p:sp>
        <p:nvSpPr>
          <p:cNvPr id="11" name="Vertical Text Placeholder 2"/>
          <p:cNvSpPr>
            <a:spLocks noGrp="1"/>
          </p:cNvSpPr>
          <p:nvPr>
            <p:ph type="body" orient="vert" idx="1"/>
          </p:nvPr>
        </p:nvSpPr>
        <p:spPr>
          <a:xfrm>
            <a:off x="609600" y="275167"/>
            <a:ext cx="8026400" cy="5850467"/>
          </a:xfrm>
          <a:prstGeom prst="rect">
            <a:avLst/>
          </a:prstGeom>
        </p:spPr>
        <p:txBody>
          <a:bodyPr vert="eaVert"/>
          <a:lstStyle>
            <a:lvl1pPr marL="457189" indent="-457189">
              <a:buFontTx/>
              <a:buBlip>
                <a:blip r:embed="rId3"/>
              </a:buBlip>
              <a:defRPr sz="2667">
                <a:solidFill>
                  <a:schemeClr val="tx2">
                    <a:lumMod val="50000"/>
                  </a:schemeClr>
                </a:solidFill>
              </a:defRPr>
            </a:lvl1pPr>
            <a:lvl2pPr>
              <a:defRPr sz="2400">
                <a:solidFill>
                  <a:schemeClr val="tx2">
                    <a:lumMod val="50000"/>
                  </a:schemeClr>
                </a:solidFill>
              </a:defRPr>
            </a:lvl2pPr>
            <a:lvl3pPr>
              <a:defRPr sz="2133">
                <a:solidFill>
                  <a:schemeClr val="tx2">
                    <a:lumMod val="50000"/>
                  </a:schemeClr>
                </a:solidFill>
              </a:defRPr>
            </a:lvl3pPr>
            <a:lvl4pPr>
              <a:defRPr sz="2133">
                <a:solidFill>
                  <a:schemeClr val="tx2">
                    <a:lumMod val="50000"/>
                  </a:schemeClr>
                </a:solidFill>
              </a:defRPr>
            </a:lvl4pPr>
            <a:lvl5pPr>
              <a:defRPr sz="2133">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1418019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9" name="Date Placeholder 8"/>
          <p:cNvSpPr>
            <a:spLocks noGrp="1"/>
          </p:cNvSpPr>
          <p:nvPr>
            <p:ph type="dt" sz="half" idx="2"/>
          </p:nvPr>
        </p:nvSpPr>
        <p:spPr>
          <a:xfrm>
            <a:off x="838200" y="6439007"/>
            <a:ext cx="2743200" cy="366183"/>
          </a:xfrm>
          <a:prstGeom prst="rect">
            <a:avLst/>
          </a:prstGeom>
        </p:spPr>
        <p:txBody>
          <a:bodyPr vert="horz" lIns="91440" tIns="45720" rIns="91440" bIns="45720" rtlCol="0" anchor="ctr"/>
          <a:lstStyle>
            <a:lvl1pPr algn="l">
              <a:defRPr sz="1333">
                <a:solidFill>
                  <a:schemeClr val="tx1">
                    <a:tint val="75000"/>
                  </a:schemeClr>
                </a:solidFill>
                <a:latin typeface="Arial" panose="020B0604020202020204" pitchFamily="34" charset="0"/>
                <a:cs typeface="Arial" panose="020B0604020202020204" pitchFamily="34" charset="0"/>
              </a:defRPr>
            </a:lvl1pPr>
          </a:lstStyle>
          <a:p>
            <a:endParaRPr lang="en-GB" dirty="0"/>
          </a:p>
        </p:txBody>
      </p:sp>
      <p:sp>
        <p:nvSpPr>
          <p:cNvPr id="10" name="Footer Placeholder 9"/>
          <p:cNvSpPr>
            <a:spLocks noGrp="1"/>
          </p:cNvSpPr>
          <p:nvPr>
            <p:ph type="ftr" sz="quarter" idx="3"/>
          </p:nvPr>
        </p:nvSpPr>
        <p:spPr>
          <a:xfrm>
            <a:off x="4038600" y="6439007"/>
            <a:ext cx="4114800" cy="366183"/>
          </a:xfrm>
          <a:prstGeom prst="rect">
            <a:avLst/>
          </a:prstGeom>
        </p:spPr>
        <p:txBody>
          <a:bodyPr vert="horz" lIns="91440" tIns="45720" rIns="91440" bIns="45720" rtlCol="0" anchor="ctr"/>
          <a:lstStyle>
            <a:lvl1pPr algn="ctr">
              <a:defRPr sz="1333">
                <a:solidFill>
                  <a:schemeClr val="tx1">
                    <a:tint val="75000"/>
                  </a:schemeClr>
                </a:solidFill>
                <a:latin typeface="Arial" panose="020B0604020202020204" pitchFamily="34" charset="0"/>
                <a:cs typeface="Arial" panose="020B0604020202020204" pitchFamily="34" charset="0"/>
              </a:defRPr>
            </a:lvl1pPr>
          </a:lstStyle>
          <a:p>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79" r:id="rId4"/>
    <p:sldLayoutId id="2147483680" r:id="rId5"/>
    <p:sldLayoutId id="2147483682" r:id="rId6"/>
    <p:sldLayoutId id="2147483683" r:id="rId7"/>
    <p:sldLayoutId id="2147483684" r:id="rId8"/>
    <p:sldLayoutId id="2147483685" r:id="rId9"/>
    <p:sldLayoutId id="2147483686" r:id="rId10"/>
  </p:sldLayoutIdLst>
  <p:hf hdr="0" ftr="0" dt="0"/>
  <p:txStyles>
    <p:titleStyle>
      <a:lvl1pPr algn="l" defTabSz="609585" rtl="0" eaLnBrk="1" latinLnBrk="0" hangingPunct="1">
        <a:spcBef>
          <a:spcPct val="0"/>
        </a:spcBef>
        <a:buNone/>
        <a:defRPr sz="3733" b="1" kern="1200">
          <a:solidFill>
            <a:srgbClr val="331C58"/>
          </a:solidFill>
          <a:latin typeface="+mj-lt"/>
          <a:ea typeface="+mj-ea"/>
          <a:cs typeface="+mj-cs"/>
        </a:defRPr>
      </a:lvl1pPr>
    </p:titleStyle>
    <p:bodyStyle>
      <a:lvl1pPr marL="457189" indent="-457189" algn="l" defTabSz="609585" rtl="0" eaLnBrk="1" latinLnBrk="0" hangingPunct="1">
        <a:spcBef>
          <a:spcPct val="20000"/>
        </a:spcBef>
        <a:buFont typeface="Arial"/>
        <a:buChar char="•"/>
        <a:defRPr sz="3733" kern="1200">
          <a:solidFill>
            <a:schemeClr val="tx1"/>
          </a:solidFill>
          <a:latin typeface="Arial" panose="020B0604020202020204" pitchFamily="34" charset="0"/>
          <a:ea typeface="+mn-ea"/>
          <a:cs typeface="Arial" panose="020B0604020202020204" pitchFamily="34" charset="0"/>
        </a:defRPr>
      </a:lvl1pPr>
      <a:lvl2pPr marL="990575" indent="-380990" algn="l" defTabSz="609585" rtl="0" eaLnBrk="1" latinLnBrk="0" hangingPunct="1">
        <a:spcBef>
          <a:spcPct val="20000"/>
        </a:spcBef>
        <a:buFont typeface="Arial"/>
        <a:buChar char="–"/>
        <a:defRPr sz="3200" kern="1200">
          <a:solidFill>
            <a:schemeClr val="tx1"/>
          </a:solidFill>
          <a:latin typeface="Arial" panose="020B0604020202020204" pitchFamily="34" charset="0"/>
          <a:ea typeface="+mn-ea"/>
          <a:cs typeface="Arial" panose="020B0604020202020204" pitchFamily="34" charset="0"/>
        </a:defRPr>
      </a:lvl2pPr>
      <a:lvl3pPr marL="1523962" indent="-304792" algn="l" defTabSz="609585" rtl="0" eaLnBrk="1" latinLnBrk="0" hangingPunct="1">
        <a:spcBef>
          <a:spcPct val="20000"/>
        </a:spcBef>
        <a:buFont typeface="Arial"/>
        <a:buChar char="•"/>
        <a:defRPr sz="2667" kern="1200">
          <a:solidFill>
            <a:schemeClr val="tx1"/>
          </a:solidFill>
          <a:latin typeface="Arial" panose="020B0604020202020204" pitchFamily="34" charset="0"/>
          <a:ea typeface="+mn-ea"/>
          <a:cs typeface="Arial" panose="020B0604020202020204" pitchFamily="34" charset="0"/>
        </a:defRPr>
      </a:lvl3pPr>
      <a:lvl4pPr marL="2133547" indent="-304792" algn="l" defTabSz="609585"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4pPr>
      <a:lvl5pPr marL="2743131" indent="-304792" algn="l" defTabSz="609585"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1.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6.xml"/><Relationship Id="rId1" Type="http://schemas.openxmlformats.org/officeDocument/2006/relationships/video" Target="https://www.youtube.com/embed/494dUevcqJM?start=2&amp;feature=oembe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6.xml"/><Relationship Id="rId1" Type="http://schemas.openxmlformats.org/officeDocument/2006/relationships/video" Target="https://www.youtube.com/embed/AaktzUQsIkE?feature=oembed"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4817" y="1116035"/>
            <a:ext cx="9426726" cy="2672193"/>
          </a:xfrm>
        </p:spPr>
        <p:txBody>
          <a:bodyPr>
            <a:normAutofit fontScale="90000"/>
          </a:bodyPr>
          <a:lstStyle/>
          <a:p>
            <a:pPr algn="ctr"/>
            <a:r>
              <a:rPr lang="en-GB" altLang="zh-CN" sz="4900" dirty="0"/>
              <a:t>MGNT 5506GA</a:t>
            </a:r>
            <a:br>
              <a:rPr lang="en-GB" altLang="zh-CN" sz="4900" dirty="0"/>
            </a:br>
            <a:r>
              <a:rPr lang="en-GB" altLang="zh-CN" sz="1200" dirty="0">
                <a:solidFill>
                  <a:schemeClr val="accent1"/>
                </a:solidFill>
              </a:rPr>
              <a:t>f</a:t>
            </a:r>
            <a:br>
              <a:rPr lang="en-GB" altLang="zh-CN" dirty="0"/>
            </a:br>
            <a:r>
              <a:rPr lang="en-US" sz="4900" dirty="0">
                <a:solidFill>
                  <a:schemeClr val="bg1"/>
                </a:solidFill>
              </a:rPr>
              <a:t>Strategic Management for Competitive Advantage</a:t>
            </a:r>
            <a:endParaRPr lang="en-GB" sz="4900" dirty="0">
              <a:solidFill>
                <a:schemeClr val="bg1"/>
              </a:solidFill>
            </a:endParaRPr>
          </a:p>
        </p:txBody>
      </p:sp>
      <p:sp>
        <p:nvSpPr>
          <p:cNvPr id="3" name="Text Placeholder 2"/>
          <p:cNvSpPr>
            <a:spLocks noGrp="1"/>
          </p:cNvSpPr>
          <p:nvPr>
            <p:ph type="body" sz="quarter" idx="10"/>
          </p:nvPr>
        </p:nvSpPr>
        <p:spPr>
          <a:xfrm>
            <a:off x="1284817" y="4572582"/>
            <a:ext cx="8954396" cy="836083"/>
          </a:xfrm>
        </p:spPr>
        <p:txBody>
          <a:bodyPr/>
          <a:lstStyle/>
          <a:p>
            <a:pPr algn="ctr"/>
            <a:r>
              <a:rPr lang="en-GB" altLang="zh-CN" dirty="0"/>
              <a:t>J</a:t>
            </a:r>
            <a:r>
              <a:rPr lang="en-US" altLang="zh-CN" dirty="0" err="1"/>
              <a:t>ingyu</a:t>
            </a:r>
            <a:r>
              <a:rPr lang="en-US" altLang="zh-CN" dirty="0"/>
              <a:t> (Sissi) Li</a:t>
            </a:r>
            <a:endParaRPr lang="en-GB" altLang="zh-CN" dirty="0"/>
          </a:p>
          <a:p>
            <a:endParaRPr lang="en-GB" dirty="0"/>
          </a:p>
        </p:txBody>
      </p:sp>
    </p:spTree>
    <p:extLst>
      <p:ext uri="{BB962C8B-B14F-4D97-AF65-F5344CB8AC3E}">
        <p14:creationId xmlns:p14="http://schemas.microsoft.com/office/powerpoint/2010/main" val="3760288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63880" y="219287"/>
            <a:ext cx="9993331" cy="1143000"/>
          </a:xfrm>
        </p:spPr>
        <p:txBody>
          <a:bodyPr anchor="ctr">
            <a:normAutofit/>
          </a:bodyPr>
          <a:lstStyle/>
          <a:p>
            <a:r>
              <a:rPr lang="en-US" altLang="zh-CN" sz="4000" dirty="0"/>
              <a:t>Objectives for Today</a:t>
            </a:r>
            <a:endParaRPr lang="en-GB" dirty="0"/>
          </a:p>
        </p:txBody>
      </p:sp>
      <p:sp>
        <p:nvSpPr>
          <p:cNvPr id="6" name="Content Placeholder 5"/>
          <p:cNvSpPr>
            <a:spLocks noGrp="1"/>
          </p:cNvSpPr>
          <p:nvPr>
            <p:ph sz="half" idx="1"/>
          </p:nvPr>
        </p:nvSpPr>
        <p:spPr>
          <a:xfrm>
            <a:off x="666750" y="2047876"/>
            <a:ext cx="10115550" cy="4219574"/>
          </a:xfrm>
        </p:spPr>
        <p:txBody>
          <a:bodyPr>
            <a:normAutofit/>
          </a:bodyPr>
          <a:lstStyle/>
          <a:p>
            <a:r>
              <a:rPr lang="en-US" altLang="zh-CN" sz="2800" kern="0" dirty="0"/>
              <a:t>What are competitive advantages from the Inside?</a:t>
            </a:r>
          </a:p>
          <a:p>
            <a:r>
              <a:rPr lang="en-US" altLang="zh-CN" sz="2800" kern="0" dirty="0"/>
              <a:t>What are resources and capabilities?</a:t>
            </a:r>
          </a:p>
          <a:p>
            <a:r>
              <a:rPr lang="en-US" altLang="zh-CN" sz="2800" kern="0" dirty="0"/>
              <a:t>How to evaluate whether a capability is a core competency?</a:t>
            </a:r>
          </a:p>
          <a:p>
            <a:r>
              <a:rPr lang="en-US" altLang="zh-CN" sz="2800" kern="0" dirty="0"/>
              <a:t>How to create competitive advantage through value chain activities</a:t>
            </a:r>
          </a:p>
        </p:txBody>
      </p:sp>
    </p:spTree>
    <p:extLst>
      <p:ext uri="{BB962C8B-B14F-4D97-AF65-F5344CB8AC3E}">
        <p14:creationId xmlns:p14="http://schemas.microsoft.com/office/powerpoint/2010/main" val="405698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Content Placeholder 3">
            <a:extLst>
              <a:ext uri="{FF2B5EF4-FFF2-40B4-BE49-F238E27FC236}">
                <a16:creationId xmlns:a16="http://schemas.microsoft.com/office/drawing/2014/main" id="{04B89E21-0F05-4EF9-BC37-0B36292E0645}"/>
              </a:ext>
            </a:extLst>
          </p:cNvPr>
          <p:cNvSpPr>
            <a:spLocks noGrp="1"/>
          </p:cNvSpPr>
          <p:nvPr>
            <p:ph sz="half" idx="2"/>
          </p:nvPr>
        </p:nvSpPr>
        <p:spPr>
          <a:xfrm>
            <a:off x="6590873" y="3970962"/>
            <a:ext cx="5524072" cy="2224355"/>
          </a:xfrm>
        </p:spPr>
        <p:txBody>
          <a:bodyPr>
            <a:normAutofit/>
          </a:bodyPr>
          <a:lstStyle/>
          <a:p>
            <a:pPr marL="0" indent="0">
              <a:buNone/>
            </a:pPr>
            <a:r>
              <a:rPr kumimoji="0" lang="en-US" altLang="zh-CN" sz="2400" b="0" i="1" u="none" strike="noStrike" kern="0" cap="none" spc="0" normalizeH="0" baseline="0" noProof="0" dirty="0">
                <a:ln>
                  <a:noFill/>
                </a:ln>
                <a:solidFill>
                  <a:srgbClr val="006666"/>
                </a:solidFill>
                <a:effectLst/>
                <a:uLnTx/>
                <a:uFillTx/>
                <a:latin typeface="+mj-lt"/>
                <a:ea typeface="+mj-ea"/>
                <a:cs typeface="+mj-cs"/>
              </a:rPr>
              <a:t>“The greatest achievement of the human spirit is to live up to one's opportunities and make the most of one's resources.”</a:t>
            </a:r>
          </a:p>
          <a:p>
            <a:pPr marL="0" indent="0" algn="r">
              <a:buNone/>
            </a:pPr>
            <a:r>
              <a:rPr lang="en-US" altLang="zh-CN" sz="1800" dirty="0">
                <a:solidFill>
                  <a:srgbClr val="A50021"/>
                </a:solidFill>
              </a:rPr>
              <a:t> </a:t>
            </a:r>
            <a:r>
              <a:rPr lang="en-US" altLang="zh-CN" sz="2400" dirty="0">
                <a:solidFill>
                  <a:srgbClr val="006666"/>
                </a:solidFill>
              </a:rPr>
              <a:t>-</a:t>
            </a:r>
            <a:r>
              <a:rPr lang="en-US" altLang="zh-CN" sz="2400" dirty="0">
                <a:solidFill>
                  <a:srgbClr val="006666"/>
                </a:solidFill>
                <a:effectLst>
                  <a:outerShdw blurRad="38100" dist="38100" dir="2700000" algn="tl">
                    <a:srgbClr val="C0C0C0"/>
                  </a:outerShdw>
                </a:effectLst>
              </a:rPr>
              <a:t> </a:t>
            </a:r>
            <a:r>
              <a:rPr lang="en-US" altLang="zh-CN" sz="2400" dirty="0">
                <a:solidFill>
                  <a:srgbClr val="006666"/>
                </a:solidFill>
              </a:rPr>
              <a:t>	- Marquis de Vauvenargues </a:t>
            </a:r>
          </a:p>
          <a:p>
            <a:pPr marL="0" indent="0" algn="r">
              <a:buNone/>
            </a:pPr>
            <a:endParaRPr lang="en-US" altLang="zh-CN" sz="2400" dirty="0">
              <a:solidFill>
                <a:srgbClr val="006666"/>
              </a:solidFill>
            </a:endParaRPr>
          </a:p>
          <a:p>
            <a:pPr marL="0" indent="0">
              <a:buNone/>
            </a:pPr>
            <a:endParaRPr lang="en-US" dirty="0"/>
          </a:p>
        </p:txBody>
      </p:sp>
      <p:pic>
        <p:nvPicPr>
          <p:cNvPr id="1028" name="Picture 4" descr="JEEVAN INDUSTRIES (HK) LIMITED">
            <a:extLst>
              <a:ext uri="{FF2B5EF4-FFF2-40B4-BE49-F238E27FC236}">
                <a16:creationId xmlns:a16="http://schemas.microsoft.com/office/drawing/2014/main" id="{C1C8D758-61BF-43E2-8227-5A4EA82D37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710" y="1345915"/>
            <a:ext cx="5128290" cy="3282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7714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739C1-FD11-B2B5-DEE7-BA7897E06275}"/>
              </a:ext>
            </a:extLst>
          </p:cNvPr>
          <p:cNvSpPr>
            <a:spLocks noGrp="1"/>
          </p:cNvSpPr>
          <p:nvPr>
            <p:ph type="title"/>
          </p:nvPr>
        </p:nvSpPr>
        <p:spPr>
          <a:xfrm>
            <a:off x="609600" y="0"/>
            <a:ext cx="9993331" cy="1143000"/>
          </a:xfrm>
        </p:spPr>
        <p:txBody>
          <a:bodyPr/>
          <a:lstStyle/>
          <a:p>
            <a:r>
              <a:rPr lang="en-US" altLang="en-US" sz="3600" dirty="0"/>
              <a:t>Why Internal Analysis</a:t>
            </a:r>
            <a:endParaRPr lang="en-US" dirty="0"/>
          </a:p>
        </p:txBody>
      </p:sp>
      <p:sp>
        <p:nvSpPr>
          <p:cNvPr id="3" name="Content Placeholder 2">
            <a:extLst>
              <a:ext uri="{FF2B5EF4-FFF2-40B4-BE49-F238E27FC236}">
                <a16:creationId xmlns:a16="http://schemas.microsoft.com/office/drawing/2014/main" id="{7798469A-11AA-C3D6-0742-CBA3A94762B5}"/>
              </a:ext>
            </a:extLst>
          </p:cNvPr>
          <p:cNvSpPr>
            <a:spLocks noGrp="1"/>
          </p:cNvSpPr>
          <p:nvPr>
            <p:ph sz="half" idx="1"/>
          </p:nvPr>
        </p:nvSpPr>
        <p:spPr>
          <a:xfrm>
            <a:off x="609600" y="1418166"/>
            <a:ext cx="6553200" cy="5245869"/>
          </a:xfrm>
        </p:spPr>
        <p:txBody>
          <a:bodyPr>
            <a:normAutofit fontScale="92500"/>
          </a:bodyPr>
          <a:lstStyle/>
          <a:p>
            <a:r>
              <a:rPr lang="en-US" dirty="0"/>
              <a:t>Recap: What Have We Learned from External Analysis?</a:t>
            </a:r>
          </a:p>
          <a:p>
            <a:pPr lvl="1"/>
            <a:r>
              <a:rPr lang="en-US" sz="2400" dirty="0"/>
              <a:t>What can external analysis tell us?</a:t>
            </a:r>
          </a:p>
          <a:p>
            <a:pPr lvl="1"/>
            <a:r>
              <a:rPr lang="en-US" sz="2400" dirty="0"/>
              <a:t>What can’t external analysis explain?</a:t>
            </a:r>
          </a:p>
          <a:p>
            <a:r>
              <a:rPr lang="en-US" dirty="0"/>
              <a:t>In the same industry, why do some firms perform better than others? </a:t>
            </a:r>
          </a:p>
          <a:p>
            <a:pPr lvl="1"/>
            <a:r>
              <a:rPr lang="en-US" sz="2400" i="1" dirty="0"/>
              <a:t>For example: Starbucks vs. Costa Coffee; Uniqlo vs. Esprit</a:t>
            </a:r>
            <a:endParaRPr lang="en-US" sz="2400" dirty="0"/>
          </a:p>
          <a:p>
            <a:r>
              <a:rPr lang="en-US" dirty="0"/>
              <a:t>Profit Rates Differ Between Firms:</a:t>
            </a:r>
          </a:p>
          <a:p>
            <a:pPr lvl="1"/>
            <a:r>
              <a:rPr lang="en-US" sz="2400" dirty="0"/>
              <a:t>20–40% of the difference comes from industry effects</a:t>
            </a:r>
          </a:p>
          <a:p>
            <a:pPr lvl="1"/>
            <a:r>
              <a:rPr lang="en-US" sz="2400" dirty="0"/>
              <a:t>55–80% comes from firm-specific factors</a:t>
            </a:r>
          </a:p>
          <a:p>
            <a:r>
              <a:rPr lang="en-US" dirty="0"/>
              <a:t>Internal analysis is necessary</a:t>
            </a:r>
          </a:p>
        </p:txBody>
      </p:sp>
      <p:pic>
        <p:nvPicPr>
          <p:cNvPr id="5" name="Picture 6">
            <a:extLst>
              <a:ext uri="{FF2B5EF4-FFF2-40B4-BE49-F238E27FC236}">
                <a16:creationId xmlns:a16="http://schemas.microsoft.com/office/drawing/2014/main" id="{0266F3B0-51C4-2C27-D622-983BE58D679A}"/>
              </a:ext>
            </a:extLst>
          </p:cNvPr>
          <p:cNvPicPr>
            <a:picLocks noChangeAspect="1" noChangeArrowheads="1"/>
          </p:cNvPicPr>
          <p:nvPr/>
        </p:nvPicPr>
        <p:blipFill>
          <a:blip r:embed="rId2" cstate="print"/>
          <a:srcRect/>
          <a:stretch>
            <a:fillRect/>
          </a:stretch>
        </p:blipFill>
        <p:spPr>
          <a:xfrm>
            <a:off x="7398326" y="4153638"/>
            <a:ext cx="4238083" cy="2704362"/>
          </a:xfrm>
          <a:prstGeom prst="rect">
            <a:avLst/>
          </a:prstGeom>
          <a:noFill/>
          <a:ln>
            <a:solidFill>
              <a:srgbClr val="262827"/>
            </a:solidFill>
          </a:ln>
        </p:spPr>
      </p:pic>
      <p:graphicFrame>
        <p:nvGraphicFramePr>
          <p:cNvPr id="6" name="Object 5">
            <a:extLst>
              <a:ext uri="{FF2B5EF4-FFF2-40B4-BE49-F238E27FC236}">
                <a16:creationId xmlns:a16="http://schemas.microsoft.com/office/drawing/2014/main" id="{AE0124C4-A0D5-1090-EE4C-E4ABDF8192DA}"/>
              </a:ext>
            </a:extLst>
          </p:cNvPr>
          <p:cNvGraphicFramePr>
            <a:graphicFrameLocks noChangeAspect="1"/>
          </p:cNvGraphicFramePr>
          <p:nvPr/>
        </p:nvGraphicFramePr>
        <p:xfrm>
          <a:off x="7398326" y="1449276"/>
          <a:ext cx="4238083" cy="2704362"/>
        </p:xfrm>
        <a:graphic>
          <a:graphicData uri="http://schemas.openxmlformats.org/presentationml/2006/ole">
            <mc:AlternateContent xmlns:mc="http://schemas.openxmlformats.org/markup-compatibility/2006">
              <mc:Choice xmlns:v="urn:schemas-microsoft-com:vml" Requires="v">
                <p:oleObj name="Chart" r:id="rId3" imgW="4137660" imgH="2484755" progId="Excel.Sheet.8">
                  <p:embed/>
                </p:oleObj>
              </mc:Choice>
              <mc:Fallback>
                <p:oleObj name="Chart" r:id="rId3" imgW="4137660" imgH="2484755" progId="Excel.Sheet.8">
                  <p:embed/>
                  <p:pic>
                    <p:nvPicPr>
                      <p:cNvPr id="6" name="Object 5">
                        <a:extLst>
                          <a:ext uri="{FF2B5EF4-FFF2-40B4-BE49-F238E27FC236}">
                            <a16:creationId xmlns:a16="http://schemas.microsoft.com/office/drawing/2014/main" id="{AE0124C4-A0D5-1090-EE4C-E4ABDF8192DA}"/>
                          </a:ext>
                        </a:extLst>
                      </p:cNvPr>
                      <p:cNvPicPr>
                        <a:picLocks noRot="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8326" y="1449276"/>
                        <a:ext cx="4238083" cy="2704362"/>
                      </a:xfrm>
                      <a:prstGeom prst="rect">
                        <a:avLst/>
                      </a:prstGeom>
                      <a:noFill/>
                      <a:ln>
                        <a:solidFill>
                          <a:srgbClr val="262827"/>
                        </a:solidFill>
                      </a:ln>
                    </p:spPr>
                  </p:pic>
                </p:oleObj>
              </mc:Fallback>
            </mc:AlternateContent>
          </a:graphicData>
        </a:graphic>
      </p:graphicFrame>
    </p:spTree>
    <p:extLst>
      <p:ext uri="{BB962C8B-B14F-4D97-AF65-F5344CB8AC3E}">
        <p14:creationId xmlns:p14="http://schemas.microsoft.com/office/powerpoint/2010/main" val="112983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D619A-8914-4A04-B58D-DD01D793D0EC}"/>
              </a:ext>
            </a:extLst>
          </p:cNvPr>
          <p:cNvSpPr>
            <a:spLocks noGrp="1"/>
          </p:cNvSpPr>
          <p:nvPr>
            <p:ph type="title"/>
          </p:nvPr>
        </p:nvSpPr>
        <p:spPr>
          <a:xfrm>
            <a:off x="447040" y="0"/>
            <a:ext cx="9993331" cy="1143000"/>
          </a:xfrm>
        </p:spPr>
        <p:txBody>
          <a:bodyPr>
            <a:normAutofit/>
          </a:bodyPr>
          <a:lstStyle/>
          <a:p>
            <a:r>
              <a:rPr lang="en-US" altLang="zh-CN" sz="4000" dirty="0"/>
              <a:t> Competitive Advantage</a:t>
            </a:r>
            <a:endParaRPr lang="zh-CN" altLang="en-US" sz="4000" dirty="0"/>
          </a:p>
        </p:txBody>
      </p:sp>
      <p:sp>
        <p:nvSpPr>
          <p:cNvPr id="3" name="Content Placeholder 2">
            <a:extLst>
              <a:ext uri="{FF2B5EF4-FFF2-40B4-BE49-F238E27FC236}">
                <a16:creationId xmlns:a16="http://schemas.microsoft.com/office/drawing/2014/main" id="{2EB1D5CE-D44E-4869-9189-E726953BC61A}"/>
              </a:ext>
            </a:extLst>
          </p:cNvPr>
          <p:cNvSpPr>
            <a:spLocks noGrp="1"/>
          </p:cNvSpPr>
          <p:nvPr>
            <p:ph sz="half" idx="1"/>
          </p:nvPr>
        </p:nvSpPr>
        <p:spPr>
          <a:xfrm>
            <a:off x="447040" y="1353620"/>
            <a:ext cx="10078720" cy="5504380"/>
          </a:xfrm>
        </p:spPr>
        <p:txBody>
          <a:bodyPr>
            <a:normAutofit/>
          </a:bodyPr>
          <a:lstStyle/>
          <a:p>
            <a:pPr>
              <a:spcAft>
                <a:spcPct val="5000"/>
              </a:spcAft>
            </a:pPr>
            <a:r>
              <a:rPr lang="en-US" altLang="zh-CN" dirty="0"/>
              <a:t>Competitive Advantage</a:t>
            </a:r>
          </a:p>
          <a:p>
            <a:pPr lvl="1">
              <a:spcAft>
                <a:spcPct val="5000"/>
              </a:spcAft>
            </a:pPr>
            <a:r>
              <a:rPr lang="en-US" altLang="zh-CN" dirty="0"/>
              <a:t>When a company’s </a:t>
            </a:r>
            <a:r>
              <a:rPr lang="en-US" altLang="zh-CN" b="1" dirty="0"/>
              <a:t>profitability is greater than the average of all other companies in the same industry </a:t>
            </a:r>
            <a:r>
              <a:rPr lang="en-US" altLang="zh-CN" dirty="0"/>
              <a:t>&amp; competing for the same customers</a:t>
            </a:r>
          </a:p>
          <a:p>
            <a:pPr lvl="1">
              <a:spcAft>
                <a:spcPct val="5000"/>
              </a:spcAft>
            </a:pPr>
            <a:r>
              <a:rPr lang="en-US" altLang="zh-CN" dirty="0"/>
              <a:t>That is, the firm implements its positioning strategies better than rivals with the same strategies </a:t>
            </a:r>
          </a:p>
          <a:p>
            <a:pPr lvl="1">
              <a:spcAft>
                <a:spcPct val="5000"/>
              </a:spcAft>
            </a:pPr>
            <a:endParaRPr lang="en-US" altLang="zh-CN" dirty="0"/>
          </a:p>
          <a:p>
            <a:pPr>
              <a:spcAft>
                <a:spcPct val="5000"/>
              </a:spcAft>
              <a:buClr>
                <a:schemeClr val="tx1"/>
              </a:buClr>
            </a:pPr>
            <a:r>
              <a:rPr lang="en-US" altLang="zh-CN" dirty="0"/>
              <a:t>Sustained Competitive Advantage</a:t>
            </a:r>
          </a:p>
          <a:p>
            <a:pPr lvl="1">
              <a:spcAft>
                <a:spcPct val="5000"/>
              </a:spcAft>
              <a:buClr>
                <a:schemeClr val="tx1"/>
              </a:buClr>
            </a:pPr>
            <a:r>
              <a:rPr lang="en-US" altLang="zh-CN" dirty="0"/>
              <a:t>When a company’s profitability is </a:t>
            </a:r>
            <a:r>
              <a:rPr lang="en-US" altLang="zh-CN" b="1" dirty="0"/>
              <a:t>maintained at above average</a:t>
            </a:r>
            <a:r>
              <a:rPr lang="en-US" altLang="zh-CN" dirty="0"/>
              <a:t> levels for a number of years</a:t>
            </a:r>
          </a:p>
          <a:p>
            <a:pPr lvl="1">
              <a:spcAft>
                <a:spcPct val="5000"/>
              </a:spcAft>
              <a:buClr>
                <a:schemeClr val="tx1"/>
              </a:buClr>
            </a:pPr>
            <a:r>
              <a:rPr lang="en-US" altLang="zh-CN" dirty="0"/>
              <a:t>Or, the firm is able to consistently </a:t>
            </a:r>
            <a:r>
              <a:rPr lang="en-US" altLang="zh-CN" b="1" dirty="0"/>
              <a:t>outperform its rivals </a:t>
            </a:r>
            <a:r>
              <a:rPr lang="en-US" altLang="zh-CN" dirty="0"/>
              <a:t>with the same positioning strategies</a:t>
            </a:r>
          </a:p>
        </p:txBody>
      </p:sp>
    </p:spTree>
    <p:extLst>
      <p:ext uri="{BB962C8B-B14F-4D97-AF65-F5344CB8AC3E}">
        <p14:creationId xmlns:p14="http://schemas.microsoft.com/office/powerpoint/2010/main" val="2788704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4134F-CC1B-4464-B750-5D6135801E7C}"/>
              </a:ext>
            </a:extLst>
          </p:cNvPr>
          <p:cNvSpPr>
            <a:spLocks noGrp="1"/>
          </p:cNvSpPr>
          <p:nvPr>
            <p:ph type="title"/>
          </p:nvPr>
        </p:nvSpPr>
        <p:spPr>
          <a:xfrm>
            <a:off x="115085" y="18671"/>
            <a:ext cx="9993331" cy="1143000"/>
          </a:xfrm>
        </p:spPr>
        <p:txBody>
          <a:bodyPr/>
          <a:lstStyle/>
          <a:p>
            <a:r>
              <a:rPr lang="en-US" altLang="zh-CN" dirty="0"/>
              <a:t>The Resource Based Model</a:t>
            </a:r>
            <a:endParaRPr lang="zh-CN" altLang="en-US" dirty="0"/>
          </a:p>
        </p:txBody>
      </p:sp>
      <p:sp>
        <p:nvSpPr>
          <p:cNvPr id="9" name="Freeform 12">
            <a:extLst>
              <a:ext uri="{FF2B5EF4-FFF2-40B4-BE49-F238E27FC236}">
                <a16:creationId xmlns:a16="http://schemas.microsoft.com/office/drawing/2014/main" id="{91B3BCA4-2129-4AFE-8561-C8D55C78BA07}"/>
              </a:ext>
            </a:extLst>
          </p:cNvPr>
          <p:cNvSpPr/>
          <p:nvPr/>
        </p:nvSpPr>
        <p:spPr>
          <a:xfrm>
            <a:off x="488081" y="4372905"/>
            <a:ext cx="3822545" cy="1254267"/>
          </a:xfrm>
          <a:custGeom>
            <a:avLst/>
            <a:gdLst>
              <a:gd name="connsiteX0" fmla="*/ 0 w 3166670"/>
              <a:gd name="connsiteY0" fmla="*/ 0 h 1174496"/>
              <a:gd name="connsiteX1" fmla="*/ 3166670 w 3166670"/>
              <a:gd name="connsiteY1" fmla="*/ 0 h 1174496"/>
              <a:gd name="connsiteX2" fmla="*/ 3166670 w 3166670"/>
              <a:gd name="connsiteY2" fmla="*/ 1174496 h 1174496"/>
              <a:gd name="connsiteX3" fmla="*/ 0 w 3166670"/>
              <a:gd name="connsiteY3" fmla="*/ 1174496 h 1174496"/>
              <a:gd name="connsiteX4" fmla="*/ 0 w 3166670"/>
              <a:gd name="connsiteY4" fmla="*/ 0 h 1174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6670" h="1174496">
                <a:moveTo>
                  <a:pt x="0" y="0"/>
                </a:moveTo>
                <a:lnTo>
                  <a:pt x="3166670" y="0"/>
                </a:lnTo>
                <a:lnTo>
                  <a:pt x="3166670" y="1174496"/>
                </a:lnTo>
                <a:lnTo>
                  <a:pt x="0" y="1174496"/>
                </a:lnTo>
                <a:lnTo>
                  <a:pt x="0" y="0"/>
                </a:lnTo>
                <a:close/>
              </a:path>
            </a:pathLst>
          </a:custGeom>
          <a:noFill/>
          <a:ln>
            <a:noFill/>
          </a:ln>
          <a:effectLst/>
        </p:spPr>
        <p:txBody>
          <a:bodyPr lIns="89583" tIns="0" rIns="0" bIns="0" spcCol="1270"/>
          <a:lstStyle/>
          <a:p>
            <a:pPr marL="0" marR="0" lvl="0" indent="0" algn="ctr" defTabSz="977900" rtl="0" eaLnBrk="1" fontAlgn="auto" latinLnBrk="0" hangingPunct="1">
              <a:lnSpc>
                <a:spcPct val="100000"/>
              </a:lnSpc>
              <a:spcBef>
                <a:spcPts val="0"/>
              </a:spcBef>
              <a:spcAft>
                <a:spcPts val="0"/>
              </a:spcAft>
              <a:buClrTx/>
              <a:buSzTx/>
              <a:buFontTx/>
              <a:buNone/>
              <a:defRPr/>
            </a:pPr>
            <a:r>
              <a:rPr kumimoji="0" lang="en-US" sz="2400" b="1" i="0" u="none" strike="noStrike" kern="0" cap="none" spc="0" normalizeH="0" baseline="0" noProof="0" dirty="0">
                <a:ln>
                  <a:noFill/>
                </a:ln>
                <a:solidFill>
                  <a:prstClr val="black">
                    <a:hueOff val="0"/>
                    <a:satOff val="0"/>
                    <a:lumOff val="0"/>
                    <a:alphaOff val="0"/>
                  </a:prstClr>
                </a:solidFill>
                <a:effectLst/>
                <a:uLnTx/>
                <a:uFillTx/>
                <a:latin typeface="Arial" panose="020B0604020202020204"/>
                <a:ea typeface="+mn-ea"/>
                <a:cs typeface="+mn-cs"/>
              </a:rPr>
              <a:t>Resources</a:t>
            </a:r>
          </a:p>
          <a:p>
            <a:pPr lvl="0" defTabSz="977900">
              <a:defRPr/>
            </a:pPr>
            <a:r>
              <a:rPr lang="en-US" sz="1800" kern="0" dirty="0">
                <a:solidFill>
                  <a:prstClr val="black">
                    <a:hueOff val="0"/>
                    <a:satOff val="0"/>
                    <a:lumOff val="0"/>
                    <a:alphaOff val="0"/>
                  </a:prstClr>
                </a:solidFill>
              </a:rPr>
              <a:t>The inputs that firms use to create goods and services</a:t>
            </a:r>
            <a:endParaRPr kumimoji="0" lang="en-US" sz="1800" i="0" u="none" strike="noStrike" kern="0" cap="none" spc="0" normalizeH="0" baseline="0" noProof="0" dirty="0">
              <a:ln>
                <a:noFill/>
              </a:ln>
              <a:solidFill>
                <a:prstClr val="black">
                  <a:hueOff val="0"/>
                  <a:satOff val="0"/>
                  <a:lumOff val="0"/>
                  <a:alphaOff val="0"/>
                </a:prstClr>
              </a:solidFill>
              <a:effectLst/>
              <a:uLnTx/>
              <a:uFillTx/>
              <a:latin typeface="Arial" panose="020B0604020202020204"/>
              <a:ea typeface="+mn-ea"/>
              <a:cs typeface="+mn-cs"/>
            </a:endParaRPr>
          </a:p>
          <a:p>
            <a:pPr marL="342900" lvl="0" indent="-342900" defTabSz="977900">
              <a:buFont typeface="Arial" panose="020B0604020202020204" pitchFamily="34" charset="0"/>
              <a:buChar char="•"/>
              <a:defRPr/>
            </a:pPr>
            <a:r>
              <a:rPr lang="en-US" sz="1600" i="1" kern="0" dirty="0">
                <a:solidFill>
                  <a:prstClr val="black">
                    <a:hueOff val="0"/>
                    <a:satOff val="0"/>
                    <a:lumOff val="0"/>
                    <a:alphaOff val="0"/>
                  </a:prstClr>
                </a:solidFill>
              </a:rPr>
              <a:t>Undifferentiated or firms-specific </a:t>
            </a:r>
          </a:p>
          <a:p>
            <a:pPr marL="342900" lvl="0" indent="-342900" defTabSz="977900">
              <a:buFont typeface="Arial" panose="020B0604020202020204" pitchFamily="34" charset="0"/>
              <a:buChar char="•"/>
              <a:defRPr/>
            </a:pPr>
            <a:r>
              <a:rPr lang="en-US" sz="1600" i="1" kern="0" dirty="0">
                <a:solidFill>
                  <a:prstClr val="black">
                    <a:hueOff val="0"/>
                    <a:satOff val="0"/>
                    <a:lumOff val="0"/>
                    <a:alphaOff val="0"/>
                  </a:prstClr>
                </a:solidFill>
              </a:rPr>
              <a:t>Tangible or intangible:</a:t>
            </a:r>
          </a:p>
          <a:p>
            <a:pPr marL="342900" lvl="0" indent="-342900" defTabSz="977900">
              <a:buFont typeface="Arial" panose="020B0604020202020204" pitchFamily="34" charset="0"/>
              <a:buChar char="•"/>
              <a:defRPr/>
            </a:pPr>
            <a:r>
              <a:rPr lang="en-US" sz="1600" i="1" kern="0" dirty="0">
                <a:solidFill>
                  <a:prstClr val="black">
                    <a:hueOff val="0"/>
                    <a:satOff val="0"/>
                    <a:lumOff val="0"/>
                    <a:alphaOff val="0"/>
                  </a:prstClr>
                </a:solidFill>
              </a:rPr>
              <a:t>Easy to acquire or difficult to get</a:t>
            </a:r>
          </a:p>
          <a:p>
            <a:pPr marL="0" marR="0" lvl="0" indent="0" algn="l" defTabSz="977900" rtl="0" eaLnBrk="1" fontAlgn="auto" latinLnBrk="0" hangingPunct="1">
              <a:lnSpc>
                <a:spcPct val="100000"/>
              </a:lnSpc>
              <a:spcBef>
                <a:spcPts val="0"/>
              </a:spcBef>
              <a:spcAft>
                <a:spcPts val="0"/>
              </a:spcAft>
              <a:buClrTx/>
              <a:buSzTx/>
              <a:buFontTx/>
              <a:buNone/>
              <a:defRPr/>
            </a:pPr>
            <a:endParaRPr kumimoji="0" lang="en-US" sz="2000" b="0" i="1" u="none" strike="noStrike" kern="0" cap="none" spc="0" normalizeH="0" baseline="0" noProof="0" dirty="0">
              <a:ln>
                <a:noFill/>
              </a:ln>
              <a:solidFill>
                <a:prstClr val="black">
                  <a:hueOff val="0"/>
                  <a:satOff val="0"/>
                  <a:lumOff val="0"/>
                  <a:alphaOff val="0"/>
                </a:prstClr>
              </a:solidFill>
              <a:effectLst/>
              <a:uLnTx/>
              <a:uFillTx/>
              <a:latin typeface="Arial" panose="020B0604020202020204"/>
              <a:ea typeface="+mn-ea"/>
              <a:cs typeface="+mn-cs"/>
            </a:endParaRPr>
          </a:p>
        </p:txBody>
      </p:sp>
      <p:sp>
        <p:nvSpPr>
          <p:cNvPr id="10" name="Freeform 14">
            <a:extLst>
              <a:ext uri="{FF2B5EF4-FFF2-40B4-BE49-F238E27FC236}">
                <a16:creationId xmlns:a16="http://schemas.microsoft.com/office/drawing/2014/main" id="{FCD36525-5661-43D6-A8D9-7BA46F5F3184}"/>
              </a:ext>
            </a:extLst>
          </p:cNvPr>
          <p:cNvSpPr/>
          <p:nvPr/>
        </p:nvSpPr>
        <p:spPr>
          <a:xfrm>
            <a:off x="3849233" y="3093829"/>
            <a:ext cx="3071430" cy="828833"/>
          </a:xfrm>
          <a:custGeom>
            <a:avLst/>
            <a:gdLst>
              <a:gd name="connsiteX0" fmla="*/ 0 w 1981229"/>
              <a:gd name="connsiteY0" fmla="*/ 0 h 1652010"/>
              <a:gd name="connsiteX1" fmla="*/ 1981229 w 1981229"/>
              <a:gd name="connsiteY1" fmla="*/ 0 h 1652010"/>
              <a:gd name="connsiteX2" fmla="*/ 1981229 w 1981229"/>
              <a:gd name="connsiteY2" fmla="*/ 1652010 h 1652010"/>
              <a:gd name="connsiteX3" fmla="*/ 0 w 1981229"/>
              <a:gd name="connsiteY3" fmla="*/ 1652010 h 1652010"/>
              <a:gd name="connsiteX4" fmla="*/ 0 w 1981229"/>
              <a:gd name="connsiteY4" fmla="*/ 0 h 1652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1229" h="1652010">
                <a:moveTo>
                  <a:pt x="0" y="0"/>
                </a:moveTo>
                <a:lnTo>
                  <a:pt x="1981229" y="0"/>
                </a:lnTo>
                <a:lnTo>
                  <a:pt x="1981229" y="1652010"/>
                </a:lnTo>
                <a:lnTo>
                  <a:pt x="0" y="1652010"/>
                </a:lnTo>
                <a:lnTo>
                  <a:pt x="0" y="0"/>
                </a:lnTo>
                <a:close/>
              </a:path>
            </a:pathLst>
          </a:custGeom>
          <a:noFill/>
          <a:ln>
            <a:noFill/>
          </a:ln>
          <a:effectLst/>
        </p:spPr>
        <p:txBody>
          <a:bodyPr lIns="161938" tIns="0" rIns="0" bIns="0" spcCol="1270"/>
          <a:lstStyle/>
          <a:p>
            <a:pPr marL="0" marR="0" lvl="0" indent="0" algn="ctr" defTabSz="977900" rtl="0" eaLnBrk="1" fontAlgn="auto" latinLnBrk="0" hangingPunct="1">
              <a:lnSpc>
                <a:spcPct val="100000"/>
              </a:lnSpc>
              <a:spcBef>
                <a:spcPts val="0"/>
              </a:spcBef>
              <a:spcAft>
                <a:spcPts val="0"/>
              </a:spcAft>
              <a:buClrTx/>
              <a:buSzTx/>
              <a:buFontTx/>
              <a:buNone/>
              <a:defRPr/>
            </a:pPr>
            <a:r>
              <a:rPr kumimoji="0" lang="en-US" sz="2400" b="1" i="0" u="none" strike="noStrike" kern="0" cap="none" spc="0" normalizeH="0" baseline="0" noProof="0" dirty="0">
                <a:ln>
                  <a:noFill/>
                </a:ln>
                <a:solidFill>
                  <a:prstClr val="black">
                    <a:hueOff val="0"/>
                    <a:satOff val="0"/>
                    <a:lumOff val="0"/>
                    <a:alphaOff val="0"/>
                  </a:prstClr>
                </a:solidFill>
                <a:effectLst/>
                <a:uLnTx/>
                <a:uFillTx/>
                <a:latin typeface="Arial" panose="020B0604020202020204"/>
                <a:ea typeface="+mn-ea"/>
                <a:cs typeface="+mn-cs"/>
              </a:rPr>
              <a:t>Capability</a:t>
            </a:r>
          </a:p>
          <a:p>
            <a:pPr marL="342900" marR="0" lvl="0" indent="-342900" algn="l" defTabSz="9779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sz="2000" b="0" i="1" u="none" strike="noStrike" kern="0" cap="none" spc="0" normalizeH="0" baseline="0" noProof="0" dirty="0">
                <a:ln>
                  <a:noFill/>
                </a:ln>
                <a:solidFill>
                  <a:prstClr val="black">
                    <a:hueOff val="0"/>
                    <a:satOff val="0"/>
                    <a:lumOff val="0"/>
                    <a:alphaOff val="0"/>
                  </a:prstClr>
                </a:solidFill>
                <a:effectLst/>
                <a:uLnTx/>
                <a:uFillTx/>
                <a:latin typeface="Arial" panose="020B0604020202020204"/>
                <a:ea typeface="+mn-ea"/>
                <a:cs typeface="+mn-cs"/>
              </a:rPr>
              <a:t>An integrated set of resources;</a:t>
            </a:r>
          </a:p>
          <a:p>
            <a:pPr marL="342900" marR="0" lvl="0" indent="-342900" algn="l" defTabSz="977900" rtl="0" eaLnBrk="1" fontAlgn="auto" latinLnBrk="0" hangingPunct="1">
              <a:lnSpc>
                <a:spcPct val="100000"/>
              </a:lnSpc>
              <a:spcBef>
                <a:spcPts val="0"/>
              </a:spcBef>
              <a:spcAft>
                <a:spcPts val="0"/>
              </a:spcAft>
              <a:buClrTx/>
              <a:buSzTx/>
              <a:buFont typeface="Arial" panose="020B0604020202020204" pitchFamily="34" charset="0"/>
              <a:buChar char="•"/>
              <a:defRPr/>
            </a:pPr>
            <a:r>
              <a:rPr lang="en-US" sz="2000" i="1" kern="0" dirty="0">
                <a:solidFill>
                  <a:prstClr val="black">
                    <a:hueOff val="0"/>
                    <a:satOff val="0"/>
                    <a:lumOff val="0"/>
                    <a:alphaOff val="0"/>
                  </a:prstClr>
                </a:solidFill>
              </a:rPr>
              <a:t>A firm’s skill in using its resources </a:t>
            </a:r>
            <a:br>
              <a:rPr lang="en-US" sz="2000" i="1" kern="0" dirty="0">
                <a:solidFill>
                  <a:prstClr val="black">
                    <a:hueOff val="0"/>
                    <a:satOff val="0"/>
                    <a:lumOff val="0"/>
                    <a:alphaOff val="0"/>
                  </a:prstClr>
                </a:solidFill>
              </a:rPr>
            </a:br>
            <a:r>
              <a:rPr lang="en-US" sz="2000" i="1" kern="0" dirty="0">
                <a:solidFill>
                  <a:prstClr val="black">
                    <a:hueOff val="0"/>
                    <a:satOff val="0"/>
                    <a:lumOff val="0"/>
                    <a:alphaOff val="0"/>
                  </a:prstClr>
                </a:solidFill>
              </a:rPr>
              <a:t>to create goods and services. </a:t>
            </a:r>
            <a:endParaRPr kumimoji="0" lang="en-US" sz="2000" b="0" i="1" u="none" strike="noStrike" kern="0" cap="none" spc="0" normalizeH="0" baseline="0" noProof="0" dirty="0">
              <a:ln>
                <a:noFill/>
              </a:ln>
              <a:solidFill>
                <a:prstClr val="black">
                  <a:hueOff val="0"/>
                  <a:satOff val="0"/>
                  <a:lumOff val="0"/>
                  <a:alphaOff val="0"/>
                </a:prstClr>
              </a:solidFill>
              <a:effectLst/>
              <a:uLnTx/>
              <a:uFillTx/>
              <a:latin typeface="Arial" panose="020B0604020202020204"/>
              <a:ea typeface="+mn-ea"/>
              <a:cs typeface="+mn-cs"/>
            </a:endParaRPr>
          </a:p>
          <a:p>
            <a:pPr marL="0" marR="0" lvl="0" indent="0" algn="l" defTabSz="977900" rtl="0" eaLnBrk="1" fontAlgn="auto" latinLnBrk="0" hangingPunct="1">
              <a:lnSpc>
                <a:spcPct val="100000"/>
              </a:lnSpc>
              <a:spcBef>
                <a:spcPts val="0"/>
              </a:spcBef>
              <a:spcAft>
                <a:spcPts val="0"/>
              </a:spcAft>
              <a:buClrTx/>
              <a:buSzTx/>
              <a:buFontTx/>
              <a:buNone/>
              <a:defRPr/>
            </a:pPr>
            <a:endParaRPr kumimoji="0" lang="en-US" sz="2000" b="0" i="1" u="none" strike="noStrike" kern="0" cap="none" spc="0" normalizeH="0" baseline="0" noProof="0" dirty="0">
              <a:ln>
                <a:noFill/>
              </a:ln>
              <a:solidFill>
                <a:prstClr val="black">
                  <a:hueOff val="0"/>
                  <a:satOff val="0"/>
                  <a:lumOff val="0"/>
                  <a:alphaOff val="0"/>
                </a:prstClr>
              </a:solidFill>
              <a:effectLst/>
              <a:uLnTx/>
              <a:uFillTx/>
              <a:latin typeface="Arial" panose="020B0604020202020204"/>
              <a:ea typeface="+mn-ea"/>
              <a:cs typeface="+mn-cs"/>
            </a:endParaRPr>
          </a:p>
        </p:txBody>
      </p:sp>
      <p:sp>
        <p:nvSpPr>
          <p:cNvPr id="11" name="Freeform 16">
            <a:extLst>
              <a:ext uri="{FF2B5EF4-FFF2-40B4-BE49-F238E27FC236}">
                <a16:creationId xmlns:a16="http://schemas.microsoft.com/office/drawing/2014/main" id="{80126D0F-1E95-4DC3-AE55-E20EBCDAEC03}"/>
              </a:ext>
            </a:extLst>
          </p:cNvPr>
          <p:cNvSpPr/>
          <p:nvPr/>
        </p:nvSpPr>
        <p:spPr>
          <a:xfrm>
            <a:off x="6920663" y="2683125"/>
            <a:ext cx="3839153" cy="1400838"/>
          </a:xfrm>
          <a:custGeom>
            <a:avLst/>
            <a:gdLst>
              <a:gd name="connsiteX0" fmla="*/ 0 w 2999224"/>
              <a:gd name="connsiteY0" fmla="*/ 0 h 2824480"/>
              <a:gd name="connsiteX1" fmla="*/ 2999224 w 2999224"/>
              <a:gd name="connsiteY1" fmla="*/ 0 h 2824480"/>
              <a:gd name="connsiteX2" fmla="*/ 2999224 w 2999224"/>
              <a:gd name="connsiteY2" fmla="*/ 2824480 h 2824480"/>
              <a:gd name="connsiteX3" fmla="*/ 0 w 2999224"/>
              <a:gd name="connsiteY3" fmla="*/ 2824480 h 2824480"/>
              <a:gd name="connsiteX4" fmla="*/ 0 w 2999224"/>
              <a:gd name="connsiteY4" fmla="*/ 0 h 2824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9224" h="2824480">
                <a:moveTo>
                  <a:pt x="0" y="0"/>
                </a:moveTo>
                <a:lnTo>
                  <a:pt x="2999224" y="0"/>
                </a:lnTo>
                <a:lnTo>
                  <a:pt x="2999224" y="2824480"/>
                </a:lnTo>
                <a:lnTo>
                  <a:pt x="0" y="2824480"/>
                </a:lnTo>
                <a:lnTo>
                  <a:pt x="0" y="0"/>
                </a:lnTo>
                <a:close/>
              </a:path>
            </a:pathLst>
          </a:custGeom>
          <a:noFill/>
          <a:ln>
            <a:noFill/>
          </a:ln>
          <a:effectLst/>
        </p:spPr>
        <p:txBody>
          <a:bodyPr lIns="223957" tIns="0" rIns="0" bIns="0" spcCol="1270"/>
          <a:lstStyle/>
          <a:p>
            <a:pPr lvl="0" algn="ctr" defTabSz="977900" eaLnBrk="1" hangingPunct="1">
              <a:spcBef>
                <a:spcPts val="600"/>
              </a:spcBef>
            </a:pPr>
            <a:r>
              <a:rPr lang="en-US" altLang="zh-CN" sz="2400" b="1" dirty="0">
                <a:solidFill>
                  <a:srgbClr val="000000"/>
                </a:solidFill>
                <a:latin typeface="Arial" panose="020B0604020202020204" pitchFamily="34" charset="0"/>
                <a:ea typeface="Arial" panose="020B0604020202020204" pitchFamily="34" charset="0"/>
              </a:rPr>
              <a:t>Core competence</a:t>
            </a:r>
          </a:p>
          <a:p>
            <a:pPr marL="342900" lvl="0" indent="-342900" defTabSz="977900" eaLnBrk="1" hangingPunct="1">
              <a:spcBef>
                <a:spcPts val="600"/>
              </a:spcBef>
              <a:buFont typeface="Arial" panose="020B0604020202020204" pitchFamily="34" charset="0"/>
              <a:buChar char="•"/>
            </a:pPr>
            <a:r>
              <a:rPr lang="en-US" altLang="zh-CN" sz="2000" i="1" dirty="0">
                <a:solidFill>
                  <a:srgbClr val="000000"/>
                </a:solidFill>
                <a:latin typeface="Arial" panose="020B0604020202020204" pitchFamily="34" charset="0"/>
                <a:ea typeface="Arial" panose="020B0604020202020204" pitchFamily="34" charset="0"/>
              </a:rPr>
              <a:t>A source of sustained competitive advantage </a:t>
            </a:r>
          </a:p>
          <a:p>
            <a:pPr marL="342900" lvl="0" indent="-342900" defTabSz="977900">
              <a:spcBef>
                <a:spcPts val="600"/>
              </a:spcBef>
              <a:buFont typeface="Arial" panose="020B0604020202020204" pitchFamily="34" charset="0"/>
              <a:buChar char="•"/>
            </a:pPr>
            <a:r>
              <a:rPr lang="en-US" altLang="zh-CN" sz="2000" i="1" dirty="0">
                <a:solidFill>
                  <a:srgbClr val="000000"/>
                </a:solidFill>
                <a:latin typeface="Arial" panose="020B0604020202020204" pitchFamily="34" charset="0"/>
                <a:ea typeface="Arial" panose="020B0604020202020204" pitchFamily="34" charset="0"/>
              </a:rPr>
              <a:t>“…firm-specific strengths that allow a company to differentiate its products from those offered by rivals, and/or achieve substantially lower costs….”</a:t>
            </a:r>
          </a:p>
          <a:p>
            <a:pPr marL="342900" lvl="0" indent="-342900" defTabSz="977900">
              <a:spcBef>
                <a:spcPts val="600"/>
              </a:spcBef>
              <a:buFont typeface="Arial" panose="020B0604020202020204" pitchFamily="34" charset="0"/>
              <a:buChar char="•"/>
            </a:pPr>
            <a:r>
              <a:rPr lang="en-US" altLang="zh-CN" sz="2000" i="1" dirty="0">
                <a:solidFill>
                  <a:srgbClr val="000000"/>
                </a:solidFill>
                <a:latin typeface="Arial" panose="020B0604020202020204" pitchFamily="34" charset="0"/>
                <a:ea typeface="Arial" panose="020B0604020202020204" pitchFamily="34" charset="0"/>
              </a:rPr>
              <a:t>VRIN</a:t>
            </a:r>
          </a:p>
          <a:p>
            <a:pPr marL="342900" lvl="0" indent="-342900" defTabSz="977900" eaLnBrk="1" hangingPunct="1">
              <a:spcBef>
                <a:spcPts val="600"/>
              </a:spcBef>
              <a:buFont typeface="Arial" panose="020B0604020202020204" pitchFamily="34" charset="0"/>
              <a:buChar char="•"/>
            </a:pPr>
            <a:endParaRPr lang="en-US" altLang="zh-CN" sz="2000" i="1" dirty="0">
              <a:solidFill>
                <a:srgbClr val="000000"/>
              </a:solidFill>
              <a:latin typeface="Arial" panose="020B0604020202020204" pitchFamily="34" charset="0"/>
              <a:ea typeface="Arial" panose="020B0604020202020204" pitchFamily="34" charset="0"/>
            </a:endParaRPr>
          </a:p>
          <a:p>
            <a:pPr marL="342900" lvl="0" indent="-342900" defTabSz="977900" eaLnBrk="1" hangingPunct="1">
              <a:spcBef>
                <a:spcPts val="600"/>
              </a:spcBef>
              <a:buFont typeface="Arial" panose="020B0604020202020204" pitchFamily="34" charset="0"/>
              <a:buChar char="•"/>
            </a:pPr>
            <a:endParaRPr lang="en-US" altLang="zh-CN" sz="2400" i="1" dirty="0">
              <a:solidFill>
                <a:srgbClr val="000000"/>
              </a:solidFill>
              <a:latin typeface="Arial" panose="020B0604020202020204" pitchFamily="34" charset="0"/>
              <a:ea typeface="Arial" panose="020B0604020202020204" pitchFamily="34" charset="0"/>
            </a:endParaRPr>
          </a:p>
        </p:txBody>
      </p:sp>
      <p:sp>
        <p:nvSpPr>
          <p:cNvPr id="7" name="Shape 6">
            <a:extLst>
              <a:ext uri="{FF2B5EF4-FFF2-40B4-BE49-F238E27FC236}">
                <a16:creationId xmlns:a16="http://schemas.microsoft.com/office/drawing/2014/main" id="{AAD4F0C7-879F-4EE7-9AA7-15090FDC129D}"/>
              </a:ext>
            </a:extLst>
          </p:cNvPr>
          <p:cNvSpPr/>
          <p:nvPr/>
        </p:nvSpPr>
        <p:spPr>
          <a:xfrm>
            <a:off x="546263" y="811510"/>
            <a:ext cx="9677370" cy="4102038"/>
          </a:xfrm>
          <a:prstGeom prst="swooshArrow">
            <a:avLst>
              <a:gd name="adj1" fmla="val 25000"/>
              <a:gd name="adj2" fmla="val 25000"/>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lstStyle/>
          <a:p>
            <a:endParaRPr lang="en-US" dirty="0"/>
          </a:p>
        </p:txBody>
      </p:sp>
      <p:sp>
        <p:nvSpPr>
          <p:cNvPr id="8" name="Rectangle 7">
            <a:extLst>
              <a:ext uri="{FF2B5EF4-FFF2-40B4-BE49-F238E27FC236}">
                <a16:creationId xmlns:a16="http://schemas.microsoft.com/office/drawing/2014/main" id="{A92ADFF3-3B21-418F-8F66-58999F1CFF99}"/>
              </a:ext>
            </a:extLst>
          </p:cNvPr>
          <p:cNvSpPr/>
          <p:nvPr/>
        </p:nvSpPr>
        <p:spPr>
          <a:xfrm rot="20335723">
            <a:off x="441220" y="1934823"/>
            <a:ext cx="8985902" cy="1410536"/>
          </a:xfrm>
          <a:prstGeom prst="rect">
            <a:avLst/>
          </a:prstGeom>
          <a:noFill/>
          <a:effectLst>
            <a:outerShdw blurRad="50800" dist="38100" dir="2700000" algn="tl" rotWithShape="0">
              <a:prstClr val="black">
                <a:alpha val="40000"/>
              </a:prstClr>
            </a:outerShdw>
          </a:effectLst>
          <a:scene3d>
            <a:camera prst="orthographicFront">
              <a:rot lat="0" lon="0" rev="0"/>
            </a:camera>
            <a:lightRig rig="threePt" dir="t"/>
          </a:scene3d>
          <a:sp3d/>
        </p:spPr>
        <p:txBody>
          <a:bodyPr spcFirstLastPara="1" numCol="1">
            <a:prstTxWarp prst="textArchUp">
              <a:avLst>
                <a:gd name="adj" fmla="val 10926275"/>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40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Arial" panose="020B0604020202020204"/>
                <a:ea typeface="+mn-ea"/>
                <a:cs typeface="+mn-cs"/>
              </a:rPr>
              <a:t>Building sustained competitive advantage</a:t>
            </a:r>
          </a:p>
        </p:txBody>
      </p:sp>
      <p:sp>
        <p:nvSpPr>
          <p:cNvPr id="12" name="Oval 11">
            <a:extLst>
              <a:ext uri="{FF2B5EF4-FFF2-40B4-BE49-F238E27FC236}">
                <a16:creationId xmlns:a16="http://schemas.microsoft.com/office/drawing/2014/main" id="{30A29379-1655-4AD9-A081-13A9AABA93D6}"/>
              </a:ext>
            </a:extLst>
          </p:cNvPr>
          <p:cNvSpPr/>
          <p:nvPr/>
        </p:nvSpPr>
        <p:spPr>
          <a:xfrm>
            <a:off x="2006761" y="3586720"/>
            <a:ext cx="257926" cy="224599"/>
          </a:xfrm>
          <a:prstGeom prst="ellipse">
            <a:avLst/>
          </a:prstGeom>
          <a:solidFill>
            <a:srgbClr val="C0504D">
              <a:hueOff val="0"/>
              <a:satOff val="0"/>
              <a:lumOff val="0"/>
              <a:alphaOff val="0"/>
            </a:srgbClr>
          </a:solidFill>
          <a:ln w="25400" cap="flat" cmpd="sng" algn="ctr">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endParaRPr lang="en-US"/>
          </a:p>
        </p:txBody>
      </p:sp>
      <p:sp>
        <p:nvSpPr>
          <p:cNvPr id="13" name="Oval 12">
            <a:extLst>
              <a:ext uri="{FF2B5EF4-FFF2-40B4-BE49-F238E27FC236}">
                <a16:creationId xmlns:a16="http://schemas.microsoft.com/office/drawing/2014/main" id="{D5635026-126D-443C-9FB4-AC943F2290C8}"/>
              </a:ext>
            </a:extLst>
          </p:cNvPr>
          <p:cNvSpPr/>
          <p:nvPr/>
        </p:nvSpPr>
        <p:spPr>
          <a:xfrm>
            <a:off x="4709730" y="2396081"/>
            <a:ext cx="448882" cy="382476"/>
          </a:xfrm>
          <a:prstGeom prst="ellipse">
            <a:avLst/>
          </a:prstGeom>
          <a:solidFill>
            <a:srgbClr val="9BBB59">
              <a:hueOff val="0"/>
              <a:satOff val="0"/>
              <a:lumOff val="0"/>
              <a:alphaOff val="0"/>
            </a:srgbClr>
          </a:solidFill>
          <a:ln w="25400" cap="flat" cmpd="sng" algn="ctr">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endParaRPr lang="en-US"/>
          </a:p>
        </p:txBody>
      </p:sp>
      <p:sp>
        <p:nvSpPr>
          <p:cNvPr id="14" name="Oval 13">
            <a:extLst>
              <a:ext uri="{FF2B5EF4-FFF2-40B4-BE49-F238E27FC236}">
                <a16:creationId xmlns:a16="http://schemas.microsoft.com/office/drawing/2014/main" id="{350040A5-FEBE-416D-88E2-2F33A0CBA899}"/>
              </a:ext>
            </a:extLst>
          </p:cNvPr>
          <p:cNvSpPr/>
          <p:nvPr/>
        </p:nvSpPr>
        <p:spPr>
          <a:xfrm>
            <a:off x="8300624" y="1648966"/>
            <a:ext cx="706234" cy="560204"/>
          </a:xfrm>
          <a:prstGeom prst="ellipse">
            <a:avLst/>
          </a:prstGeom>
          <a:solidFill>
            <a:srgbClr val="8064A2">
              <a:hueOff val="0"/>
              <a:satOff val="0"/>
              <a:lumOff val="0"/>
              <a:alphaOff val="0"/>
            </a:srgbClr>
          </a:solidFill>
          <a:ln w="25400" cap="flat" cmpd="sng" algn="ctr">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endParaRPr lang="en-US"/>
          </a:p>
        </p:txBody>
      </p:sp>
    </p:spTree>
    <p:extLst>
      <p:ext uri="{BB962C8B-B14F-4D97-AF65-F5344CB8AC3E}">
        <p14:creationId xmlns:p14="http://schemas.microsoft.com/office/powerpoint/2010/main" val="4185986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7" grpId="0" animBg="1"/>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B28B-34B1-4457-AE75-02A7D82D806E}"/>
              </a:ext>
            </a:extLst>
          </p:cNvPr>
          <p:cNvSpPr>
            <a:spLocks noGrp="1"/>
          </p:cNvSpPr>
          <p:nvPr>
            <p:ph type="title"/>
          </p:nvPr>
        </p:nvSpPr>
        <p:spPr/>
        <p:txBody>
          <a:bodyPr/>
          <a:lstStyle/>
          <a:p>
            <a:r>
              <a:rPr lang="en-US" altLang="en-US" dirty="0">
                <a:cs typeface="Arial" panose="020B0604020202020204" pitchFamily="34" charset="0"/>
              </a:rPr>
              <a:t>The Four Criteria of Sustainable Advantage</a:t>
            </a:r>
            <a:endParaRPr lang="zh-CN" altLang="en-US" dirty="0"/>
          </a:p>
        </p:txBody>
      </p:sp>
      <p:sp>
        <p:nvSpPr>
          <p:cNvPr id="10" name="Freeform: Shape 9">
            <a:extLst>
              <a:ext uri="{FF2B5EF4-FFF2-40B4-BE49-F238E27FC236}">
                <a16:creationId xmlns:a16="http://schemas.microsoft.com/office/drawing/2014/main" id="{9896BBFF-9E2A-432A-8853-BAF46201AF90}"/>
              </a:ext>
            </a:extLst>
          </p:cNvPr>
          <p:cNvSpPr/>
          <p:nvPr/>
        </p:nvSpPr>
        <p:spPr>
          <a:xfrm>
            <a:off x="354434" y="1277130"/>
            <a:ext cx="10405487" cy="1514882"/>
          </a:xfrm>
          <a:custGeom>
            <a:avLst/>
            <a:gdLst>
              <a:gd name="connsiteX0" fmla="*/ 0 w 10405487"/>
              <a:gd name="connsiteY0" fmla="*/ 378721 h 1514882"/>
              <a:gd name="connsiteX1" fmla="*/ 9648046 w 10405487"/>
              <a:gd name="connsiteY1" fmla="*/ 378721 h 1514882"/>
              <a:gd name="connsiteX2" fmla="*/ 9648046 w 10405487"/>
              <a:gd name="connsiteY2" fmla="*/ 0 h 1514882"/>
              <a:gd name="connsiteX3" fmla="*/ 10405487 w 10405487"/>
              <a:gd name="connsiteY3" fmla="*/ 757441 h 1514882"/>
              <a:gd name="connsiteX4" fmla="*/ 9648046 w 10405487"/>
              <a:gd name="connsiteY4" fmla="*/ 1514882 h 1514882"/>
              <a:gd name="connsiteX5" fmla="*/ 9648046 w 10405487"/>
              <a:gd name="connsiteY5" fmla="*/ 1136162 h 1514882"/>
              <a:gd name="connsiteX6" fmla="*/ 0 w 10405487"/>
              <a:gd name="connsiteY6" fmla="*/ 1136162 h 1514882"/>
              <a:gd name="connsiteX7" fmla="*/ 0 w 10405487"/>
              <a:gd name="connsiteY7" fmla="*/ 378721 h 1514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05487" h="1514882">
                <a:moveTo>
                  <a:pt x="0" y="378721"/>
                </a:moveTo>
                <a:lnTo>
                  <a:pt x="9648046" y="378721"/>
                </a:lnTo>
                <a:lnTo>
                  <a:pt x="9648046" y="0"/>
                </a:lnTo>
                <a:lnTo>
                  <a:pt x="10405487" y="757441"/>
                </a:lnTo>
                <a:lnTo>
                  <a:pt x="9648046" y="1514882"/>
                </a:lnTo>
                <a:lnTo>
                  <a:pt x="9648046" y="1136162"/>
                </a:lnTo>
                <a:lnTo>
                  <a:pt x="0" y="1136162"/>
                </a:lnTo>
                <a:lnTo>
                  <a:pt x="0" y="378721"/>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06680" tIns="485401" rIns="632720" bIns="619208" numCol="1" spcCol="1270" anchor="ctr" anchorCtr="0">
            <a:noAutofit/>
          </a:bodyPr>
          <a:lstStyle/>
          <a:p>
            <a:pPr marL="0" lvl="0" indent="0" algn="l" defTabSz="1244600">
              <a:lnSpc>
                <a:spcPct val="90000"/>
              </a:lnSpc>
              <a:spcBef>
                <a:spcPct val="0"/>
              </a:spcBef>
              <a:spcAft>
                <a:spcPct val="35000"/>
              </a:spcAft>
              <a:buNone/>
            </a:pPr>
            <a:r>
              <a:rPr lang="en-US" sz="2800" kern="1200" dirty="0"/>
              <a:t>Valuable</a:t>
            </a:r>
            <a:endParaRPr lang="zh-CN" altLang="en-US" sz="2800" kern="1200" dirty="0"/>
          </a:p>
        </p:txBody>
      </p:sp>
      <p:sp>
        <p:nvSpPr>
          <p:cNvPr id="11" name="Freeform: Shape 10">
            <a:extLst>
              <a:ext uri="{FF2B5EF4-FFF2-40B4-BE49-F238E27FC236}">
                <a16:creationId xmlns:a16="http://schemas.microsoft.com/office/drawing/2014/main" id="{2EB6C9C4-D4DF-4320-B167-909CB60D083C}"/>
              </a:ext>
            </a:extLst>
          </p:cNvPr>
          <p:cNvSpPr/>
          <p:nvPr/>
        </p:nvSpPr>
        <p:spPr>
          <a:xfrm>
            <a:off x="354434" y="2447794"/>
            <a:ext cx="2398464" cy="2802076"/>
          </a:xfrm>
          <a:custGeom>
            <a:avLst/>
            <a:gdLst>
              <a:gd name="connsiteX0" fmla="*/ 0 w 2398464"/>
              <a:gd name="connsiteY0" fmla="*/ 0 h 2802076"/>
              <a:gd name="connsiteX1" fmla="*/ 2398464 w 2398464"/>
              <a:gd name="connsiteY1" fmla="*/ 0 h 2802076"/>
              <a:gd name="connsiteX2" fmla="*/ 2398464 w 2398464"/>
              <a:gd name="connsiteY2" fmla="*/ 2802076 h 2802076"/>
              <a:gd name="connsiteX3" fmla="*/ 0 w 2398464"/>
              <a:gd name="connsiteY3" fmla="*/ 2802076 h 2802076"/>
              <a:gd name="connsiteX4" fmla="*/ 0 w 2398464"/>
              <a:gd name="connsiteY4" fmla="*/ 0 h 2802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464" h="2802076">
                <a:moveTo>
                  <a:pt x="0" y="0"/>
                </a:moveTo>
                <a:lnTo>
                  <a:pt x="2398464" y="0"/>
                </a:lnTo>
                <a:lnTo>
                  <a:pt x="2398464" y="2802076"/>
                </a:lnTo>
                <a:lnTo>
                  <a:pt x="0" y="2802076"/>
                </a:lnTo>
                <a:lnTo>
                  <a:pt x="0" y="0"/>
                </a:lnTo>
                <a:close/>
              </a:path>
            </a:pathLst>
          </a:cu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ClrTx/>
              <a:buSzTx/>
              <a:buFont typeface="Arial" panose="020B0604020202020204" pitchFamily="34" charset="0"/>
              <a:buNone/>
            </a:pPr>
            <a:r>
              <a:rPr lang="en-US" sz="1600" kern="1200" dirty="0"/>
              <a:t>Help a firm neutralize threats or exploit opportunities</a:t>
            </a:r>
            <a:endParaRPr lang="zh-CN" altLang="en-US" sz="1600" kern="1200" dirty="0"/>
          </a:p>
        </p:txBody>
      </p:sp>
      <p:sp>
        <p:nvSpPr>
          <p:cNvPr id="12" name="Freeform: Shape 11">
            <a:extLst>
              <a:ext uri="{FF2B5EF4-FFF2-40B4-BE49-F238E27FC236}">
                <a16:creationId xmlns:a16="http://schemas.microsoft.com/office/drawing/2014/main" id="{2BC0CAD5-E448-45C0-8D0D-14DC0716BB84}"/>
              </a:ext>
            </a:extLst>
          </p:cNvPr>
          <p:cNvSpPr/>
          <p:nvPr/>
        </p:nvSpPr>
        <p:spPr>
          <a:xfrm>
            <a:off x="2752899" y="1781912"/>
            <a:ext cx="8007022" cy="1514882"/>
          </a:xfrm>
          <a:custGeom>
            <a:avLst/>
            <a:gdLst>
              <a:gd name="connsiteX0" fmla="*/ 0 w 8007022"/>
              <a:gd name="connsiteY0" fmla="*/ 378721 h 1514882"/>
              <a:gd name="connsiteX1" fmla="*/ 7249581 w 8007022"/>
              <a:gd name="connsiteY1" fmla="*/ 378721 h 1514882"/>
              <a:gd name="connsiteX2" fmla="*/ 7249581 w 8007022"/>
              <a:gd name="connsiteY2" fmla="*/ 0 h 1514882"/>
              <a:gd name="connsiteX3" fmla="*/ 8007022 w 8007022"/>
              <a:gd name="connsiteY3" fmla="*/ 757441 h 1514882"/>
              <a:gd name="connsiteX4" fmla="*/ 7249581 w 8007022"/>
              <a:gd name="connsiteY4" fmla="*/ 1514882 h 1514882"/>
              <a:gd name="connsiteX5" fmla="*/ 7249581 w 8007022"/>
              <a:gd name="connsiteY5" fmla="*/ 1136162 h 1514882"/>
              <a:gd name="connsiteX6" fmla="*/ 0 w 8007022"/>
              <a:gd name="connsiteY6" fmla="*/ 1136162 h 1514882"/>
              <a:gd name="connsiteX7" fmla="*/ 0 w 8007022"/>
              <a:gd name="connsiteY7" fmla="*/ 378721 h 1514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07022" h="1514882">
                <a:moveTo>
                  <a:pt x="0" y="378721"/>
                </a:moveTo>
                <a:lnTo>
                  <a:pt x="7249581" y="378721"/>
                </a:lnTo>
                <a:lnTo>
                  <a:pt x="7249581" y="0"/>
                </a:lnTo>
                <a:lnTo>
                  <a:pt x="8007022" y="757441"/>
                </a:lnTo>
                <a:lnTo>
                  <a:pt x="7249581" y="1514882"/>
                </a:lnTo>
                <a:lnTo>
                  <a:pt x="7249581" y="1136162"/>
                </a:lnTo>
                <a:lnTo>
                  <a:pt x="0" y="1136162"/>
                </a:lnTo>
                <a:lnTo>
                  <a:pt x="0" y="378721"/>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06680" tIns="485401" rIns="632720" bIns="619208" numCol="1" spcCol="1270" anchor="ctr" anchorCtr="0">
            <a:noAutofit/>
          </a:bodyPr>
          <a:lstStyle/>
          <a:p>
            <a:pPr marL="0" lvl="0" indent="0" algn="l" defTabSz="1244600">
              <a:lnSpc>
                <a:spcPct val="90000"/>
              </a:lnSpc>
              <a:spcBef>
                <a:spcPct val="0"/>
              </a:spcBef>
              <a:spcAft>
                <a:spcPct val="35000"/>
              </a:spcAft>
              <a:buNone/>
            </a:pPr>
            <a:r>
              <a:rPr lang="en-US" sz="2800" kern="1200" dirty="0"/>
              <a:t>Rare</a:t>
            </a:r>
            <a:endParaRPr lang="zh-CN" altLang="en-US" sz="2800" kern="1200" dirty="0"/>
          </a:p>
        </p:txBody>
      </p:sp>
      <p:sp>
        <p:nvSpPr>
          <p:cNvPr id="13" name="Freeform: Shape 12">
            <a:extLst>
              <a:ext uri="{FF2B5EF4-FFF2-40B4-BE49-F238E27FC236}">
                <a16:creationId xmlns:a16="http://schemas.microsoft.com/office/drawing/2014/main" id="{416CBE3F-5AF3-4005-B317-51D4A58DB81B}"/>
              </a:ext>
            </a:extLst>
          </p:cNvPr>
          <p:cNvSpPr/>
          <p:nvPr/>
        </p:nvSpPr>
        <p:spPr>
          <a:xfrm>
            <a:off x="2773443" y="2941030"/>
            <a:ext cx="2398464" cy="2730655"/>
          </a:xfrm>
          <a:custGeom>
            <a:avLst/>
            <a:gdLst>
              <a:gd name="connsiteX0" fmla="*/ 0 w 2398464"/>
              <a:gd name="connsiteY0" fmla="*/ 0 h 2730655"/>
              <a:gd name="connsiteX1" fmla="*/ 2398464 w 2398464"/>
              <a:gd name="connsiteY1" fmla="*/ 0 h 2730655"/>
              <a:gd name="connsiteX2" fmla="*/ 2398464 w 2398464"/>
              <a:gd name="connsiteY2" fmla="*/ 2730655 h 2730655"/>
              <a:gd name="connsiteX3" fmla="*/ 0 w 2398464"/>
              <a:gd name="connsiteY3" fmla="*/ 2730655 h 2730655"/>
              <a:gd name="connsiteX4" fmla="*/ 0 w 2398464"/>
              <a:gd name="connsiteY4" fmla="*/ 0 h 2730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464" h="2730655">
                <a:moveTo>
                  <a:pt x="0" y="0"/>
                </a:moveTo>
                <a:lnTo>
                  <a:pt x="2398464" y="0"/>
                </a:lnTo>
                <a:lnTo>
                  <a:pt x="2398464" y="2730655"/>
                </a:lnTo>
                <a:lnTo>
                  <a:pt x="0" y="2730655"/>
                </a:lnTo>
                <a:lnTo>
                  <a:pt x="0" y="0"/>
                </a:lnTo>
                <a:close/>
              </a:path>
            </a:pathLst>
          </a:custGeom>
        </p:spPr>
        <p:style>
          <a:lnRef idx="2">
            <a:schemeClr val="accent3">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ClrTx/>
              <a:buSzTx/>
              <a:buFont typeface="Arial" panose="020B0604020202020204" pitchFamily="34" charset="0"/>
              <a:buNone/>
            </a:pPr>
            <a:r>
              <a:rPr lang="en-US" sz="1600" kern="1200" dirty="0"/>
              <a:t>Are not possessed by many others</a:t>
            </a:r>
            <a:endParaRPr lang="zh-CN" altLang="en-US" sz="1600" kern="1200" dirty="0"/>
          </a:p>
        </p:txBody>
      </p:sp>
      <p:sp>
        <p:nvSpPr>
          <p:cNvPr id="14" name="Freeform: Shape 13">
            <a:extLst>
              <a:ext uri="{FF2B5EF4-FFF2-40B4-BE49-F238E27FC236}">
                <a16:creationId xmlns:a16="http://schemas.microsoft.com/office/drawing/2014/main" id="{C20C8FE4-DB01-4A61-B9BE-8258A41D1686}"/>
              </a:ext>
            </a:extLst>
          </p:cNvPr>
          <p:cNvSpPr/>
          <p:nvPr/>
        </p:nvSpPr>
        <p:spPr>
          <a:xfrm>
            <a:off x="4777484" y="2286694"/>
            <a:ext cx="5982438" cy="1514882"/>
          </a:xfrm>
          <a:custGeom>
            <a:avLst/>
            <a:gdLst>
              <a:gd name="connsiteX0" fmla="*/ 0 w 5608557"/>
              <a:gd name="connsiteY0" fmla="*/ 378721 h 1514882"/>
              <a:gd name="connsiteX1" fmla="*/ 4851116 w 5608557"/>
              <a:gd name="connsiteY1" fmla="*/ 378721 h 1514882"/>
              <a:gd name="connsiteX2" fmla="*/ 4851116 w 5608557"/>
              <a:gd name="connsiteY2" fmla="*/ 0 h 1514882"/>
              <a:gd name="connsiteX3" fmla="*/ 5608557 w 5608557"/>
              <a:gd name="connsiteY3" fmla="*/ 757441 h 1514882"/>
              <a:gd name="connsiteX4" fmla="*/ 4851116 w 5608557"/>
              <a:gd name="connsiteY4" fmla="*/ 1514882 h 1514882"/>
              <a:gd name="connsiteX5" fmla="*/ 4851116 w 5608557"/>
              <a:gd name="connsiteY5" fmla="*/ 1136162 h 1514882"/>
              <a:gd name="connsiteX6" fmla="*/ 0 w 5608557"/>
              <a:gd name="connsiteY6" fmla="*/ 1136162 h 1514882"/>
              <a:gd name="connsiteX7" fmla="*/ 0 w 5608557"/>
              <a:gd name="connsiteY7" fmla="*/ 378721 h 1514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08557" h="1514882">
                <a:moveTo>
                  <a:pt x="0" y="378721"/>
                </a:moveTo>
                <a:lnTo>
                  <a:pt x="4851116" y="378721"/>
                </a:lnTo>
                <a:lnTo>
                  <a:pt x="4851116" y="0"/>
                </a:lnTo>
                <a:lnTo>
                  <a:pt x="5608557" y="757441"/>
                </a:lnTo>
                <a:lnTo>
                  <a:pt x="4851116" y="1514882"/>
                </a:lnTo>
                <a:lnTo>
                  <a:pt x="4851116" y="1136162"/>
                </a:lnTo>
                <a:lnTo>
                  <a:pt x="0" y="1136162"/>
                </a:lnTo>
                <a:lnTo>
                  <a:pt x="0" y="378721"/>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06680" tIns="485401" rIns="632720" bIns="619208" numCol="1" spcCol="1270" anchor="ctr" anchorCtr="0">
            <a:noAutofit/>
          </a:bodyPr>
          <a:lstStyle/>
          <a:p>
            <a:pPr marL="0" lvl="0" indent="0" algn="l" defTabSz="1244600">
              <a:lnSpc>
                <a:spcPct val="90000"/>
              </a:lnSpc>
              <a:spcBef>
                <a:spcPct val="0"/>
              </a:spcBef>
              <a:spcAft>
                <a:spcPct val="35000"/>
              </a:spcAft>
              <a:buNone/>
            </a:pPr>
            <a:r>
              <a:rPr lang="en-US" sz="2800" kern="1200" dirty="0"/>
              <a:t>Costly-to-Imitate</a:t>
            </a:r>
            <a:endParaRPr lang="zh-CN" altLang="en-US" sz="2800" kern="1200" dirty="0"/>
          </a:p>
        </p:txBody>
      </p:sp>
      <p:sp>
        <p:nvSpPr>
          <p:cNvPr id="15" name="Freeform: Shape 14">
            <a:extLst>
              <a:ext uri="{FF2B5EF4-FFF2-40B4-BE49-F238E27FC236}">
                <a16:creationId xmlns:a16="http://schemas.microsoft.com/office/drawing/2014/main" id="{0D61FADB-010F-4462-A48C-F86D851C9A2C}"/>
              </a:ext>
            </a:extLst>
          </p:cNvPr>
          <p:cNvSpPr/>
          <p:nvPr/>
        </p:nvSpPr>
        <p:spPr>
          <a:xfrm>
            <a:off x="4818580" y="3457358"/>
            <a:ext cx="2710703" cy="2645491"/>
          </a:xfrm>
          <a:custGeom>
            <a:avLst/>
            <a:gdLst>
              <a:gd name="connsiteX0" fmla="*/ 0 w 2398464"/>
              <a:gd name="connsiteY0" fmla="*/ 0 h 2748913"/>
              <a:gd name="connsiteX1" fmla="*/ 2398464 w 2398464"/>
              <a:gd name="connsiteY1" fmla="*/ 0 h 2748913"/>
              <a:gd name="connsiteX2" fmla="*/ 2398464 w 2398464"/>
              <a:gd name="connsiteY2" fmla="*/ 2748913 h 2748913"/>
              <a:gd name="connsiteX3" fmla="*/ 0 w 2398464"/>
              <a:gd name="connsiteY3" fmla="*/ 2748913 h 2748913"/>
              <a:gd name="connsiteX4" fmla="*/ 0 w 2398464"/>
              <a:gd name="connsiteY4" fmla="*/ 0 h 2748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464" h="2748913">
                <a:moveTo>
                  <a:pt x="0" y="0"/>
                </a:moveTo>
                <a:lnTo>
                  <a:pt x="2398464" y="0"/>
                </a:lnTo>
                <a:lnTo>
                  <a:pt x="2398464" y="2748913"/>
                </a:lnTo>
                <a:lnTo>
                  <a:pt x="0" y="2748913"/>
                </a:lnTo>
                <a:lnTo>
                  <a:pt x="0" y="0"/>
                </a:lnTo>
                <a:close/>
              </a:path>
            </a:pathLst>
          </a:custGeom>
        </p:spPr>
        <p:style>
          <a:lnRef idx="2">
            <a:schemeClr val="accent4">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ClrTx/>
              <a:buSzTx/>
              <a:buFont typeface="Arial" panose="020B0604020202020204" pitchFamily="34" charset="0"/>
              <a:buNone/>
            </a:pPr>
            <a:r>
              <a:rPr lang="en-US" sz="1600" kern="1200" dirty="0"/>
              <a:t>Historical: A unique and a valuable organizational culture or brand name</a:t>
            </a:r>
            <a:endParaRPr lang="zh-CN" altLang="en-US" sz="1600" kern="1200" dirty="0"/>
          </a:p>
          <a:p>
            <a:pPr marL="0" lvl="0" indent="0" algn="l" defTabSz="711200">
              <a:lnSpc>
                <a:spcPct val="90000"/>
              </a:lnSpc>
              <a:spcBef>
                <a:spcPct val="0"/>
              </a:spcBef>
              <a:spcAft>
                <a:spcPct val="35000"/>
              </a:spcAft>
              <a:buNone/>
            </a:pPr>
            <a:r>
              <a:rPr lang="en-US" sz="1600" kern="1200" dirty="0"/>
              <a:t>Ambiguous cause: The causes and uses of a competence are unclear</a:t>
            </a:r>
          </a:p>
          <a:p>
            <a:pPr marL="0" lvl="0" indent="0" algn="l" defTabSz="711200">
              <a:lnSpc>
                <a:spcPct val="90000"/>
              </a:lnSpc>
              <a:spcBef>
                <a:spcPct val="0"/>
              </a:spcBef>
              <a:spcAft>
                <a:spcPct val="35000"/>
              </a:spcAft>
              <a:buNone/>
            </a:pPr>
            <a:r>
              <a:rPr lang="en-US" sz="1600" kern="1200" dirty="0"/>
              <a:t>Social complexity: Interpersonal relationships, trust, and friendship among managers, suppliers, and customers</a:t>
            </a:r>
          </a:p>
        </p:txBody>
      </p:sp>
      <p:sp>
        <p:nvSpPr>
          <p:cNvPr id="16" name="Freeform: Shape 15">
            <a:extLst>
              <a:ext uri="{FF2B5EF4-FFF2-40B4-BE49-F238E27FC236}">
                <a16:creationId xmlns:a16="http://schemas.microsoft.com/office/drawing/2014/main" id="{ECAD5079-63B9-4567-910E-BC7829C5844C}"/>
              </a:ext>
            </a:extLst>
          </p:cNvPr>
          <p:cNvSpPr/>
          <p:nvPr/>
        </p:nvSpPr>
        <p:spPr>
          <a:xfrm>
            <a:off x="7539556" y="2650210"/>
            <a:ext cx="3220365" cy="1701247"/>
          </a:xfrm>
          <a:custGeom>
            <a:avLst/>
            <a:gdLst>
              <a:gd name="connsiteX0" fmla="*/ 0 w 3210092"/>
              <a:gd name="connsiteY0" fmla="*/ 378721 h 1514882"/>
              <a:gd name="connsiteX1" fmla="*/ 2452651 w 3210092"/>
              <a:gd name="connsiteY1" fmla="*/ 378721 h 1514882"/>
              <a:gd name="connsiteX2" fmla="*/ 2452651 w 3210092"/>
              <a:gd name="connsiteY2" fmla="*/ 0 h 1514882"/>
              <a:gd name="connsiteX3" fmla="*/ 3210092 w 3210092"/>
              <a:gd name="connsiteY3" fmla="*/ 757441 h 1514882"/>
              <a:gd name="connsiteX4" fmla="*/ 2452651 w 3210092"/>
              <a:gd name="connsiteY4" fmla="*/ 1514882 h 1514882"/>
              <a:gd name="connsiteX5" fmla="*/ 2452651 w 3210092"/>
              <a:gd name="connsiteY5" fmla="*/ 1136162 h 1514882"/>
              <a:gd name="connsiteX6" fmla="*/ 0 w 3210092"/>
              <a:gd name="connsiteY6" fmla="*/ 1136162 h 1514882"/>
              <a:gd name="connsiteX7" fmla="*/ 0 w 3210092"/>
              <a:gd name="connsiteY7" fmla="*/ 378721 h 1514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10092" h="1514882">
                <a:moveTo>
                  <a:pt x="0" y="378721"/>
                </a:moveTo>
                <a:lnTo>
                  <a:pt x="2452651" y="378721"/>
                </a:lnTo>
                <a:lnTo>
                  <a:pt x="2452651" y="0"/>
                </a:lnTo>
                <a:lnTo>
                  <a:pt x="3210092" y="757441"/>
                </a:lnTo>
                <a:lnTo>
                  <a:pt x="2452651" y="1514882"/>
                </a:lnTo>
                <a:lnTo>
                  <a:pt x="2452651" y="1136162"/>
                </a:lnTo>
                <a:lnTo>
                  <a:pt x="0" y="1136162"/>
                </a:lnTo>
                <a:lnTo>
                  <a:pt x="0" y="378721"/>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06680" tIns="485401" rIns="632720" bIns="619208" numCol="1" spcCol="1270" anchor="ctr" anchorCtr="0">
            <a:noAutofit/>
          </a:bodyPr>
          <a:lstStyle/>
          <a:p>
            <a:pPr marL="0" lvl="0" indent="0" algn="l" defTabSz="1244600">
              <a:lnSpc>
                <a:spcPct val="90000"/>
              </a:lnSpc>
              <a:spcBef>
                <a:spcPct val="0"/>
              </a:spcBef>
              <a:spcAft>
                <a:spcPct val="35000"/>
              </a:spcAft>
              <a:buNone/>
            </a:pPr>
            <a:r>
              <a:rPr lang="en-US" sz="2800" kern="1200" dirty="0"/>
              <a:t>Non-substitutable</a:t>
            </a:r>
            <a:endParaRPr lang="zh-CN" altLang="en-US" sz="2800" kern="1200" dirty="0"/>
          </a:p>
        </p:txBody>
      </p:sp>
      <p:sp>
        <p:nvSpPr>
          <p:cNvPr id="17" name="Freeform: Shape 16">
            <a:extLst>
              <a:ext uri="{FF2B5EF4-FFF2-40B4-BE49-F238E27FC236}">
                <a16:creationId xmlns:a16="http://schemas.microsoft.com/office/drawing/2014/main" id="{1FC092DD-3823-4A25-82ED-B52BD66B4960}"/>
              </a:ext>
            </a:extLst>
          </p:cNvPr>
          <p:cNvSpPr/>
          <p:nvPr/>
        </p:nvSpPr>
        <p:spPr>
          <a:xfrm>
            <a:off x="7549828" y="3962140"/>
            <a:ext cx="2420316" cy="2781133"/>
          </a:xfrm>
          <a:custGeom>
            <a:avLst/>
            <a:gdLst>
              <a:gd name="connsiteX0" fmla="*/ 0 w 2420316"/>
              <a:gd name="connsiteY0" fmla="*/ 0 h 2781133"/>
              <a:gd name="connsiteX1" fmla="*/ 2420316 w 2420316"/>
              <a:gd name="connsiteY1" fmla="*/ 0 h 2781133"/>
              <a:gd name="connsiteX2" fmla="*/ 2420316 w 2420316"/>
              <a:gd name="connsiteY2" fmla="*/ 2781133 h 2781133"/>
              <a:gd name="connsiteX3" fmla="*/ 0 w 2420316"/>
              <a:gd name="connsiteY3" fmla="*/ 2781133 h 2781133"/>
              <a:gd name="connsiteX4" fmla="*/ 0 w 2420316"/>
              <a:gd name="connsiteY4" fmla="*/ 0 h 278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0316" h="2781133">
                <a:moveTo>
                  <a:pt x="0" y="0"/>
                </a:moveTo>
                <a:lnTo>
                  <a:pt x="2420316" y="0"/>
                </a:lnTo>
                <a:lnTo>
                  <a:pt x="2420316" y="2781133"/>
                </a:lnTo>
                <a:lnTo>
                  <a:pt x="0" y="2781133"/>
                </a:lnTo>
                <a:lnTo>
                  <a:pt x="0" y="0"/>
                </a:lnTo>
                <a:close/>
              </a:path>
            </a:pathLst>
          </a:custGeom>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ClrTx/>
              <a:buSzTx/>
              <a:buFont typeface="Arial" panose="020B0604020202020204" pitchFamily="34" charset="0"/>
              <a:buNone/>
            </a:pPr>
            <a:r>
              <a:rPr lang="en-US" sz="1600" kern="1200" dirty="0"/>
              <a:t>No strategic equivalent</a:t>
            </a:r>
            <a:endParaRPr lang="zh-CN" altLang="en-US" sz="1600" kern="1200" dirty="0"/>
          </a:p>
          <a:p>
            <a:pPr marL="114300" lvl="1" indent="-114300" algn="l" defTabSz="622300">
              <a:lnSpc>
                <a:spcPct val="90000"/>
              </a:lnSpc>
              <a:spcBef>
                <a:spcPct val="0"/>
              </a:spcBef>
              <a:spcAft>
                <a:spcPct val="15000"/>
              </a:spcAft>
              <a:buChar char="•"/>
            </a:pPr>
            <a:r>
              <a:rPr lang="en-US" sz="1400" kern="1200" dirty="0"/>
              <a:t>Firm-specific knowledge</a:t>
            </a:r>
          </a:p>
          <a:p>
            <a:pPr marL="114300" lvl="1" indent="-114300" algn="l" defTabSz="622300">
              <a:lnSpc>
                <a:spcPct val="90000"/>
              </a:lnSpc>
              <a:spcBef>
                <a:spcPct val="0"/>
              </a:spcBef>
              <a:spcAft>
                <a:spcPct val="15000"/>
              </a:spcAft>
              <a:buChar char="•"/>
            </a:pPr>
            <a:r>
              <a:rPr lang="en-US" sz="1400" kern="1200" dirty="0"/>
              <a:t>Organizational culture</a:t>
            </a:r>
          </a:p>
          <a:p>
            <a:pPr marL="114300" lvl="1" indent="-114300" algn="l" defTabSz="622300">
              <a:lnSpc>
                <a:spcPct val="90000"/>
              </a:lnSpc>
              <a:spcBef>
                <a:spcPct val="0"/>
              </a:spcBef>
              <a:spcAft>
                <a:spcPct val="15000"/>
              </a:spcAft>
              <a:buChar char="•"/>
            </a:pPr>
            <a:r>
              <a:rPr lang="en-US" sz="1400" kern="1200" dirty="0"/>
              <a:t>Superior execution of the chosen business model</a:t>
            </a:r>
          </a:p>
        </p:txBody>
      </p:sp>
      <p:sp>
        <p:nvSpPr>
          <p:cNvPr id="8" name="TextBox 7">
            <a:extLst>
              <a:ext uri="{FF2B5EF4-FFF2-40B4-BE49-F238E27FC236}">
                <a16:creationId xmlns:a16="http://schemas.microsoft.com/office/drawing/2014/main" id="{94D68973-3214-4C37-A013-B2642008E025}"/>
              </a:ext>
            </a:extLst>
          </p:cNvPr>
          <p:cNvSpPr txBox="1"/>
          <p:nvPr/>
        </p:nvSpPr>
        <p:spPr>
          <a:xfrm>
            <a:off x="11096023" y="1633592"/>
            <a:ext cx="738664" cy="5265980"/>
          </a:xfrm>
          <a:prstGeom prst="rect">
            <a:avLst/>
          </a:prstGeom>
          <a:noFill/>
        </p:spPr>
        <p:txBody>
          <a:bodyPr vert="eaVert" wrap="square" rtlCol="0">
            <a:spAutoFit/>
          </a:bodyPr>
          <a:lstStyle/>
          <a:p>
            <a:r>
              <a:rPr lang="en-US" altLang="en-US" sz="3600" b="1" dirty="0">
                <a:cs typeface="Arial" panose="020B0604020202020204" pitchFamily="34" charset="0"/>
              </a:rPr>
              <a:t>Sustainable Advantage</a:t>
            </a:r>
            <a:endParaRPr lang="zh-CN" altLang="en-US" sz="3600" b="1" dirty="0"/>
          </a:p>
        </p:txBody>
      </p:sp>
    </p:spTree>
    <p:extLst>
      <p:ext uri="{BB962C8B-B14F-4D97-AF65-F5344CB8AC3E}">
        <p14:creationId xmlns:p14="http://schemas.microsoft.com/office/powerpoint/2010/main" val="2597306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5"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E44D16-3F32-62D5-0C96-DCE829A662A4}"/>
              </a:ext>
            </a:extLst>
          </p:cNvPr>
          <p:cNvSpPr/>
          <p:nvPr/>
        </p:nvSpPr>
        <p:spPr>
          <a:xfrm>
            <a:off x="679342" y="980268"/>
            <a:ext cx="10324455" cy="4897463"/>
          </a:xfrm>
          <a:prstGeom prst="rect">
            <a:avLst/>
          </a:prstGeom>
          <a:noFill/>
        </p:spPr>
        <p:txBody>
          <a:bodyPr wrap="none" lIns="91440" tIns="45720" rIns="91440" bIns="45720">
            <a:prstTxWarp prst="textArchUp">
              <a:avLst>
                <a:gd name="adj" fmla="val 10799578"/>
              </a:avLst>
            </a:prstTxWarp>
            <a:spAutoFit/>
          </a:bodyPr>
          <a:lstStyle/>
          <a:p>
            <a:pPr algn="ctr"/>
            <a:r>
              <a:rPr lang="en-US" sz="4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ARE THE FOLLOWING SKILLS CORE COMPETENCIES? </a:t>
            </a:r>
          </a:p>
        </p:txBody>
      </p:sp>
      <p:sp>
        <p:nvSpPr>
          <p:cNvPr id="8" name="Rectangle 7">
            <a:extLst>
              <a:ext uri="{FF2B5EF4-FFF2-40B4-BE49-F238E27FC236}">
                <a16:creationId xmlns:a16="http://schemas.microsoft.com/office/drawing/2014/main" id="{4C82C963-078B-DD7F-2A54-31147F05F451}"/>
              </a:ext>
            </a:extLst>
          </p:cNvPr>
          <p:cNvSpPr/>
          <p:nvPr/>
        </p:nvSpPr>
        <p:spPr>
          <a:xfrm>
            <a:off x="3271124" y="2967335"/>
            <a:ext cx="5649752" cy="769441"/>
          </a:xfrm>
          <a:prstGeom prst="rect">
            <a:avLst/>
          </a:prstGeom>
          <a:noFill/>
        </p:spPr>
        <p:txBody>
          <a:bodyPr wrap="none" lIns="91440" tIns="45720" rIns="91440" bIns="45720">
            <a:spAutoFit/>
          </a:bodyPr>
          <a:lstStyle/>
          <a:p>
            <a:pPr algn="ctr"/>
            <a:r>
              <a:rPr lang="en-US" sz="44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WHY OR WHY NOT?</a:t>
            </a:r>
            <a:endParaRPr lang="en-US" sz="54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endParaRPr>
          </a:p>
        </p:txBody>
      </p:sp>
    </p:spTree>
    <p:extLst>
      <p:ext uri="{BB962C8B-B14F-4D97-AF65-F5344CB8AC3E}">
        <p14:creationId xmlns:p14="http://schemas.microsoft.com/office/powerpoint/2010/main" val="4166253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descr="PEOPLE ARE AWESOME (FAST WORKERS EDITION)">
            <a:hlinkClick r:id="" action="ppaction://media"/>
            <a:extLst>
              <a:ext uri="{FF2B5EF4-FFF2-40B4-BE49-F238E27FC236}">
                <a16:creationId xmlns:a16="http://schemas.microsoft.com/office/drawing/2014/main" id="{8469BA8C-286C-6D2C-1F62-260EAD0F5CAB}"/>
              </a:ext>
            </a:extLst>
          </p:cNvPr>
          <p:cNvPicPr>
            <a:picLocks noRot="1" noChangeAspect="1"/>
          </p:cNvPicPr>
          <p:nvPr>
            <a:videoFile r:link="rId1"/>
          </p:nvPr>
        </p:nvPicPr>
        <p:blipFill>
          <a:blip r:embed="rId3"/>
          <a:stretch>
            <a:fillRect/>
          </a:stretch>
        </p:blipFill>
        <p:spPr>
          <a:xfrm>
            <a:off x="0" y="-15240"/>
            <a:ext cx="12192000" cy="6888480"/>
          </a:xfrm>
          <a:prstGeom prst="rect">
            <a:avLst/>
          </a:prstGeom>
        </p:spPr>
      </p:pic>
      <p:sp>
        <p:nvSpPr>
          <p:cNvPr id="6" name="TextBox 5">
            <a:extLst>
              <a:ext uri="{FF2B5EF4-FFF2-40B4-BE49-F238E27FC236}">
                <a16:creationId xmlns:a16="http://schemas.microsoft.com/office/drawing/2014/main" id="{73C80B50-C0EF-F649-9511-2DB6C94B7CA6}"/>
              </a:ext>
            </a:extLst>
          </p:cNvPr>
          <p:cNvSpPr txBox="1"/>
          <p:nvPr/>
        </p:nvSpPr>
        <p:spPr>
          <a:xfrm>
            <a:off x="12330545" y="2258291"/>
            <a:ext cx="184731" cy="461665"/>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575869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C4111-274E-230F-7CCA-126D48B212EE}"/>
              </a:ext>
            </a:extLst>
          </p:cNvPr>
          <p:cNvSpPr>
            <a:spLocks noGrp="1"/>
          </p:cNvSpPr>
          <p:nvPr>
            <p:ph type="title"/>
          </p:nvPr>
        </p:nvSpPr>
        <p:spPr>
          <a:xfrm>
            <a:off x="609601" y="0"/>
            <a:ext cx="10048125" cy="1143000"/>
          </a:xfrm>
        </p:spPr>
        <p:txBody>
          <a:bodyPr/>
          <a:lstStyle/>
          <a:p>
            <a:r>
              <a:rPr lang="en-US" dirty="0"/>
              <a:t>In</a:t>
            </a:r>
            <a:r>
              <a:rPr lang="en-US" altLang="zh-CN" dirty="0"/>
              <a:t>-class</a:t>
            </a:r>
            <a:r>
              <a:rPr lang="zh-CN" altLang="en-US" dirty="0"/>
              <a:t> </a:t>
            </a:r>
            <a:r>
              <a:rPr lang="en-US" altLang="zh-CN" dirty="0"/>
              <a:t>exercise: </a:t>
            </a:r>
            <a:r>
              <a:rPr lang="en-US" dirty="0"/>
              <a:t>Build to Win</a:t>
            </a:r>
          </a:p>
        </p:txBody>
      </p:sp>
      <p:sp>
        <p:nvSpPr>
          <p:cNvPr id="3" name="Content Placeholder 2">
            <a:extLst>
              <a:ext uri="{FF2B5EF4-FFF2-40B4-BE49-F238E27FC236}">
                <a16:creationId xmlns:a16="http://schemas.microsoft.com/office/drawing/2014/main" id="{F5DA3D13-049F-E606-5DD1-EC29EE1267B0}"/>
              </a:ext>
            </a:extLst>
          </p:cNvPr>
          <p:cNvSpPr>
            <a:spLocks noGrp="1"/>
          </p:cNvSpPr>
          <p:nvPr>
            <p:ph sz="quarter" idx="10"/>
          </p:nvPr>
        </p:nvSpPr>
        <p:spPr>
          <a:xfrm>
            <a:off x="609601" y="1143000"/>
            <a:ext cx="10221309" cy="5715000"/>
          </a:xfrm>
        </p:spPr>
        <p:txBody>
          <a:bodyPr/>
          <a:lstStyle/>
          <a:p>
            <a:pPr fontAlgn="base"/>
            <a:r>
              <a:rPr lang="en-US" dirty="0"/>
              <a:t>You are the CEO of a startup in the smart wearables industry. You’ve just received </a:t>
            </a:r>
            <a:r>
              <a:rPr lang="en-US" b="1" dirty="0"/>
              <a:t>$5 million</a:t>
            </a:r>
            <a:r>
              <a:rPr lang="en-US" dirty="0"/>
              <a:t> in funding. </a:t>
            </a:r>
          </a:p>
          <a:p>
            <a:pPr fontAlgn="base"/>
            <a:r>
              <a:rPr lang="en-US" dirty="0"/>
              <a:t>Your goal: make strategic decisions that lead to </a:t>
            </a:r>
            <a:r>
              <a:rPr lang="en-US" b="1" dirty="0"/>
              <a:t>sustained competitive advantage</a:t>
            </a:r>
            <a:r>
              <a:rPr lang="en-US" dirty="0"/>
              <a:t>.</a:t>
            </a:r>
          </a:p>
          <a:p>
            <a:pPr marL="0" indent="0">
              <a:buNone/>
            </a:pPr>
            <a:endParaRPr lang="en-US" sz="2400" b="1" dirty="0">
              <a:solidFill>
                <a:schemeClr val="tx1"/>
              </a:solidFill>
            </a:endParaRPr>
          </a:p>
          <a:p>
            <a:pPr marL="0" indent="0">
              <a:buNone/>
            </a:pPr>
            <a:r>
              <a:rPr lang="en-US" sz="2400" b="1" dirty="0">
                <a:solidFill>
                  <a:schemeClr val="tx1"/>
                </a:solidFill>
              </a:rPr>
              <a:t>Round 1: What to Build First?</a:t>
            </a:r>
          </a:p>
          <a:p>
            <a:r>
              <a:rPr lang="en-US" sz="2400" dirty="0"/>
              <a:t>Proprietary AI health-coaching algorithm</a:t>
            </a:r>
          </a:p>
          <a:p>
            <a:r>
              <a:rPr lang="en-US" sz="2400" dirty="0"/>
              <a:t>Celebrity co-branding</a:t>
            </a:r>
          </a:p>
          <a:p>
            <a:r>
              <a:rPr lang="en-US" sz="2400" dirty="0"/>
              <a:t>Acquire a fitness app</a:t>
            </a:r>
          </a:p>
          <a:p>
            <a:r>
              <a:rPr lang="en-US" sz="2400" dirty="0"/>
              <a:t>Hire a marketing team</a:t>
            </a:r>
            <a:endParaRPr lang="en-US" sz="2400" b="1" dirty="0">
              <a:solidFill>
                <a:schemeClr val="tx1"/>
              </a:solidFill>
            </a:endParaRPr>
          </a:p>
        </p:txBody>
      </p:sp>
    </p:spTree>
    <p:extLst>
      <p:ext uri="{BB962C8B-B14F-4D97-AF65-F5344CB8AC3E}">
        <p14:creationId xmlns:p14="http://schemas.microsoft.com/office/powerpoint/2010/main" val="1398028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DCA1A-6B0F-3C01-0B0B-0756360B1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729239-3DAA-D1C9-F0E2-02F476EF82BC}"/>
              </a:ext>
            </a:extLst>
          </p:cNvPr>
          <p:cNvSpPr>
            <a:spLocks noGrp="1"/>
          </p:cNvSpPr>
          <p:nvPr>
            <p:ph type="title"/>
          </p:nvPr>
        </p:nvSpPr>
        <p:spPr>
          <a:xfrm>
            <a:off x="609601" y="0"/>
            <a:ext cx="10048125" cy="1143000"/>
          </a:xfrm>
        </p:spPr>
        <p:txBody>
          <a:bodyPr/>
          <a:lstStyle/>
          <a:p>
            <a:r>
              <a:rPr lang="en-US" dirty="0"/>
              <a:t>In</a:t>
            </a:r>
            <a:r>
              <a:rPr lang="en-US" altLang="zh-CN" dirty="0"/>
              <a:t>-class</a:t>
            </a:r>
            <a:r>
              <a:rPr lang="zh-CN" altLang="en-US" dirty="0"/>
              <a:t> </a:t>
            </a:r>
            <a:r>
              <a:rPr lang="en-US" altLang="zh-CN" dirty="0"/>
              <a:t>exercise: </a:t>
            </a:r>
            <a:r>
              <a:rPr lang="en-US" dirty="0"/>
              <a:t>Build to Win</a:t>
            </a:r>
          </a:p>
        </p:txBody>
      </p:sp>
      <p:sp>
        <p:nvSpPr>
          <p:cNvPr id="3" name="Content Placeholder 2">
            <a:extLst>
              <a:ext uri="{FF2B5EF4-FFF2-40B4-BE49-F238E27FC236}">
                <a16:creationId xmlns:a16="http://schemas.microsoft.com/office/drawing/2014/main" id="{F2CB3F39-D458-DE4A-7BEB-7975FD7C5F08}"/>
              </a:ext>
            </a:extLst>
          </p:cNvPr>
          <p:cNvSpPr>
            <a:spLocks noGrp="1"/>
          </p:cNvSpPr>
          <p:nvPr>
            <p:ph sz="quarter" idx="10"/>
          </p:nvPr>
        </p:nvSpPr>
        <p:spPr>
          <a:xfrm>
            <a:off x="537411" y="1271337"/>
            <a:ext cx="11117177" cy="5466347"/>
          </a:xfrm>
        </p:spPr>
        <p:txBody>
          <a:bodyPr/>
          <a:lstStyle/>
          <a:p>
            <a:pPr marL="0" indent="0">
              <a:buNone/>
            </a:pPr>
            <a:r>
              <a:rPr lang="en-US" sz="2400" b="1" dirty="0">
                <a:solidFill>
                  <a:schemeClr val="tx1"/>
                </a:solidFill>
              </a:rPr>
              <a:t>Round 2: Go-To-Market Strategy</a:t>
            </a:r>
          </a:p>
          <a:p>
            <a:r>
              <a:rPr lang="en-US" sz="2400" dirty="0"/>
              <a:t>Go direct-to-consumer with tight integration</a:t>
            </a:r>
          </a:p>
          <a:p>
            <a:r>
              <a:rPr lang="en-US" sz="2400" dirty="0"/>
              <a:t>License algorithm</a:t>
            </a:r>
            <a:endParaRPr lang="en-US" sz="2000" dirty="0"/>
          </a:p>
          <a:p>
            <a:r>
              <a:rPr lang="en-US" sz="2400" dirty="0"/>
              <a:t>Bundle with premium content</a:t>
            </a:r>
            <a:endParaRPr lang="en-US" sz="2000" dirty="0"/>
          </a:p>
          <a:p>
            <a:r>
              <a:rPr lang="en-US" sz="2400" dirty="0"/>
              <a:t>Enter global markets</a:t>
            </a:r>
          </a:p>
          <a:p>
            <a:pPr marL="0" indent="0">
              <a:buNone/>
            </a:pPr>
            <a:endParaRPr lang="en-US" sz="2400" b="1" dirty="0">
              <a:solidFill>
                <a:schemeClr val="tx1"/>
              </a:solidFill>
            </a:endParaRPr>
          </a:p>
          <a:p>
            <a:pPr marL="0" indent="0">
              <a:buNone/>
            </a:pPr>
            <a:r>
              <a:rPr lang="en-US" sz="2400" b="1" dirty="0">
                <a:solidFill>
                  <a:schemeClr val="tx1"/>
                </a:solidFill>
              </a:rPr>
              <a:t>Round 3: Post-Traction Growth Path?</a:t>
            </a:r>
          </a:p>
          <a:p>
            <a:r>
              <a:rPr lang="en-US" sz="2400" dirty="0"/>
              <a:t>Invest internally to deepen your sensor and analytics technology</a:t>
            </a:r>
          </a:p>
          <a:p>
            <a:r>
              <a:rPr lang="en-US" sz="2400" dirty="0"/>
              <a:t>Outsource production</a:t>
            </a:r>
            <a:endParaRPr lang="en-US" sz="2133" dirty="0"/>
          </a:p>
          <a:p>
            <a:r>
              <a:rPr lang="en-US" sz="2400" dirty="0"/>
              <a:t>JV with global sportswear brand</a:t>
            </a:r>
            <a:endParaRPr lang="en-US" sz="2133" dirty="0"/>
          </a:p>
          <a:p>
            <a:r>
              <a:rPr lang="en-US" sz="2400" dirty="0"/>
              <a:t>Launch a budget version</a:t>
            </a:r>
          </a:p>
          <a:p>
            <a:pPr marL="0" indent="0">
              <a:buNone/>
            </a:pPr>
            <a:endParaRPr lang="en-US" sz="2400" b="1" dirty="0">
              <a:solidFill>
                <a:schemeClr val="tx1"/>
              </a:solidFill>
            </a:endParaRPr>
          </a:p>
          <a:p>
            <a:endParaRPr lang="en-US" sz="2400" dirty="0">
              <a:solidFill>
                <a:schemeClr val="tx1"/>
              </a:solidFill>
            </a:endParaRPr>
          </a:p>
        </p:txBody>
      </p:sp>
    </p:spTree>
    <p:extLst>
      <p:ext uri="{BB962C8B-B14F-4D97-AF65-F5344CB8AC3E}">
        <p14:creationId xmlns:p14="http://schemas.microsoft.com/office/powerpoint/2010/main" val="2889389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B6BC1-BE4F-E762-0733-395D30FD1F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D06F56-BBB5-C3E1-9DC3-A718AF13792E}"/>
              </a:ext>
            </a:extLst>
          </p:cNvPr>
          <p:cNvSpPr>
            <a:spLocks noGrp="1"/>
          </p:cNvSpPr>
          <p:nvPr>
            <p:ph type="title"/>
          </p:nvPr>
        </p:nvSpPr>
        <p:spPr>
          <a:xfrm>
            <a:off x="609601" y="0"/>
            <a:ext cx="10048125" cy="1143000"/>
          </a:xfrm>
        </p:spPr>
        <p:txBody>
          <a:bodyPr/>
          <a:lstStyle/>
          <a:p>
            <a:r>
              <a:rPr lang="en-US" dirty="0"/>
              <a:t>In</a:t>
            </a:r>
            <a:r>
              <a:rPr lang="en-US" altLang="zh-CN" dirty="0"/>
              <a:t>-class</a:t>
            </a:r>
            <a:r>
              <a:rPr lang="zh-CN" altLang="en-US" dirty="0"/>
              <a:t> </a:t>
            </a:r>
            <a:r>
              <a:rPr lang="en-US" altLang="zh-CN" dirty="0"/>
              <a:t>exercise: </a:t>
            </a:r>
            <a:r>
              <a:rPr lang="en-US" dirty="0"/>
              <a:t>Build to Win</a:t>
            </a:r>
          </a:p>
        </p:txBody>
      </p:sp>
      <p:sp>
        <p:nvSpPr>
          <p:cNvPr id="3" name="Content Placeholder 2">
            <a:extLst>
              <a:ext uri="{FF2B5EF4-FFF2-40B4-BE49-F238E27FC236}">
                <a16:creationId xmlns:a16="http://schemas.microsoft.com/office/drawing/2014/main" id="{914E00F1-C84B-DEC0-A17D-0554CE395079}"/>
              </a:ext>
            </a:extLst>
          </p:cNvPr>
          <p:cNvSpPr>
            <a:spLocks noGrp="1"/>
          </p:cNvSpPr>
          <p:nvPr>
            <p:ph sz="quarter" idx="10"/>
          </p:nvPr>
        </p:nvSpPr>
        <p:spPr>
          <a:xfrm>
            <a:off x="609601" y="1143000"/>
            <a:ext cx="10395283" cy="5715000"/>
          </a:xfrm>
        </p:spPr>
        <p:txBody>
          <a:bodyPr/>
          <a:lstStyle/>
          <a:p>
            <a:pPr marL="0" indent="0">
              <a:buNone/>
            </a:pPr>
            <a:r>
              <a:rPr lang="en-US" sz="2400" b="1" dirty="0">
                <a:solidFill>
                  <a:schemeClr val="tx1"/>
                </a:solidFill>
              </a:rPr>
              <a:t>Round 4: Internal Structuring</a:t>
            </a:r>
          </a:p>
          <a:p>
            <a:r>
              <a:rPr lang="en-US" sz="2400" dirty="0"/>
              <a:t>Align incentives across teams to algorithm adoption and user retention</a:t>
            </a:r>
          </a:p>
          <a:p>
            <a:r>
              <a:rPr lang="en-US" sz="2400" dirty="0"/>
              <a:t>Keep R&amp;D separate</a:t>
            </a:r>
          </a:p>
          <a:p>
            <a:r>
              <a:rPr lang="en-US" sz="2400" dirty="0"/>
              <a:t>Let teams chase independent revenue</a:t>
            </a:r>
            <a:endParaRPr lang="en-US" sz="2000" dirty="0"/>
          </a:p>
          <a:p>
            <a:r>
              <a:rPr lang="en-US" sz="2400" dirty="0"/>
              <a:t>Let branding lead</a:t>
            </a:r>
          </a:p>
          <a:p>
            <a:pPr marL="0" indent="0">
              <a:buNone/>
            </a:pPr>
            <a:endParaRPr lang="en-US" sz="2000" b="1" dirty="0">
              <a:solidFill>
                <a:schemeClr val="tx1"/>
              </a:solidFill>
            </a:endParaRPr>
          </a:p>
          <a:p>
            <a:pPr marL="0" indent="0">
              <a:buNone/>
            </a:pPr>
            <a:r>
              <a:rPr lang="en-US" sz="2400" b="1" dirty="0">
                <a:solidFill>
                  <a:schemeClr val="tx1"/>
                </a:solidFill>
              </a:rPr>
              <a:t>Round 5: Internal Structuring</a:t>
            </a:r>
          </a:p>
          <a:p>
            <a:r>
              <a:rPr lang="en-US" sz="2400" dirty="0"/>
              <a:t>Build a proprietary OS to unify wearables and health data</a:t>
            </a:r>
          </a:p>
          <a:p>
            <a:r>
              <a:rPr lang="en-US" sz="2400" dirty="0"/>
              <a:t>Expand into other smart product lines</a:t>
            </a:r>
          </a:p>
          <a:p>
            <a:r>
              <a:rPr lang="en-US" sz="2400" dirty="0"/>
              <a:t>License AI to third parties</a:t>
            </a:r>
          </a:p>
          <a:p>
            <a:r>
              <a:rPr lang="en-US" sz="2400" dirty="0"/>
              <a:t>Launch IPO, extend brand</a:t>
            </a:r>
            <a:endParaRPr lang="en-US" sz="2400" b="1" dirty="0">
              <a:solidFill>
                <a:schemeClr val="tx1"/>
              </a:solidFill>
            </a:endParaRPr>
          </a:p>
        </p:txBody>
      </p:sp>
    </p:spTree>
    <p:extLst>
      <p:ext uri="{BB962C8B-B14F-4D97-AF65-F5344CB8AC3E}">
        <p14:creationId xmlns:p14="http://schemas.microsoft.com/office/powerpoint/2010/main" val="957373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DFF06-0296-BEE0-A7CF-38003B3EFA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AB3F18-B704-7B2A-2801-CACD121AE8A9}"/>
              </a:ext>
            </a:extLst>
          </p:cNvPr>
          <p:cNvSpPr>
            <a:spLocks noGrp="1"/>
          </p:cNvSpPr>
          <p:nvPr>
            <p:ph type="title"/>
          </p:nvPr>
        </p:nvSpPr>
        <p:spPr>
          <a:xfrm>
            <a:off x="609601" y="0"/>
            <a:ext cx="10048125" cy="1143000"/>
          </a:xfrm>
        </p:spPr>
        <p:txBody>
          <a:bodyPr/>
          <a:lstStyle/>
          <a:p>
            <a:r>
              <a:rPr lang="en-US" dirty="0"/>
              <a:t>In</a:t>
            </a:r>
            <a:r>
              <a:rPr lang="en-US" altLang="zh-CN" dirty="0"/>
              <a:t>-class</a:t>
            </a:r>
            <a:r>
              <a:rPr lang="zh-CN" altLang="en-US" dirty="0"/>
              <a:t> </a:t>
            </a:r>
            <a:r>
              <a:rPr lang="en-US" altLang="zh-CN" dirty="0"/>
              <a:t>exercise: </a:t>
            </a:r>
            <a:r>
              <a:rPr lang="en-US" dirty="0"/>
              <a:t>Build to Win</a:t>
            </a:r>
          </a:p>
        </p:txBody>
      </p:sp>
      <p:sp>
        <p:nvSpPr>
          <p:cNvPr id="3" name="Content Placeholder 2">
            <a:extLst>
              <a:ext uri="{FF2B5EF4-FFF2-40B4-BE49-F238E27FC236}">
                <a16:creationId xmlns:a16="http://schemas.microsoft.com/office/drawing/2014/main" id="{C3102227-3117-35AE-1FA4-E602EB567935}"/>
              </a:ext>
            </a:extLst>
          </p:cNvPr>
          <p:cNvSpPr>
            <a:spLocks noGrp="1"/>
          </p:cNvSpPr>
          <p:nvPr>
            <p:ph sz="quarter" idx="10"/>
          </p:nvPr>
        </p:nvSpPr>
        <p:spPr>
          <a:xfrm>
            <a:off x="609601" y="1143000"/>
            <a:ext cx="10395283" cy="5715000"/>
          </a:xfrm>
        </p:spPr>
        <p:txBody>
          <a:bodyPr/>
          <a:lstStyle/>
          <a:p>
            <a:pPr marL="0" indent="0">
              <a:buNone/>
            </a:pPr>
            <a:r>
              <a:rPr lang="en-US" sz="2400" b="1" dirty="0">
                <a:solidFill>
                  <a:schemeClr val="tx1"/>
                </a:solidFill>
              </a:rPr>
              <a:t>Round 5: Internal Structuring</a:t>
            </a:r>
          </a:p>
          <a:p>
            <a:r>
              <a:rPr lang="en-US" sz="2400" dirty="0"/>
              <a:t>Build a proprietary OS to unify wearables and health data</a:t>
            </a:r>
          </a:p>
          <a:p>
            <a:pPr lvl="1"/>
            <a:r>
              <a:rPr lang="en-US" sz="2000" dirty="0"/>
              <a:t>Extends the core resource into a platform</a:t>
            </a:r>
          </a:p>
          <a:p>
            <a:pPr lvl="1"/>
            <a:r>
              <a:rPr lang="en-US" sz="2000" dirty="0"/>
              <a:t>Adds network effects, switching costs, and ecosystem control</a:t>
            </a:r>
          </a:p>
          <a:p>
            <a:pPr lvl="1"/>
            <a:r>
              <a:rPr lang="en-US" sz="2000" dirty="0"/>
              <a:t>Enhances all four VRIN dimensions — especially N (non-substitutability)</a:t>
            </a:r>
          </a:p>
          <a:p>
            <a:r>
              <a:rPr lang="en-US" sz="2400" dirty="0"/>
              <a:t>Expand into other smart product lines: </a:t>
            </a:r>
            <a:r>
              <a:rPr lang="en-US" sz="2000" dirty="0"/>
              <a:t>Good for growth, bad for focus</a:t>
            </a:r>
            <a:endParaRPr lang="en-US" sz="2400" dirty="0"/>
          </a:p>
          <a:p>
            <a:r>
              <a:rPr lang="en-US" sz="2400" dirty="0"/>
              <a:t>License AI to third parties: </a:t>
            </a:r>
            <a:r>
              <a:rPr lang="en-US" sz="2000" dirty="0"/>
              <a:t>Quick revenue, long-term erosion of rarity</a:t>
            </a:r>
            <a:endParaRPr lang="en-US" sz="2400" dirty="0"/>
          </a:p>
          <a:p>
            <a:r>
              <a:rPr lang="en-US" sz="2400" dirty="0"/>
              <a:t>Launch IPO, extend brand: </a:t>
            </a:r>
            <a:r>
              <a:rPr lang="en-US" sz="2000" dirty="0"/>
              <a:t>Focus shifts from strategy to storytelling; resources get spread thin</a:t>
            </a:r>
            <a:endParaRPr lang="en-US" sz="2400" dirty="0"/>
          </a:p>
          <a:p>
            <a:pPr marL="0" indent="0">
              <a:buNone/>
            </a:pPr>
            <a:endParaRPr lang="en-US" sz="2000" b="1" dirty="0">
              <a:solidFill>
                <a:schemeClr val="tx1"/>
              </a:solidFill>
            </a:endParaRPr>
          </a:p>
          <a:p>
            <a:pPr marL="0" indent="0">
              <a:buNone/>
            </a:pPr>
            <a:r>
              <a:rPr lang="en-US" sz="2400" b="1" dirty="0">
                <a:solidFill>
                  <a:schemeClr val="tx1"/>
                </a:solidFill>
              </a:rPr>
              <a:t>VRIO Insight: Scaling should reinforce your uniqueness — not replace it with scale for its own sake.</a:t>
            </a:r>
          </a:p>
        </p:txBody>
      </p:sp>
    </p:spTree>
    <p:extLst>
      <p:ext uri="{BB962C8B-B14F-4D97-AF65-F5344CB8AC3E}">
        <p14:creationId xmlns:p14="http://schemas.microsoft.com/office/powerpoint/2010/main" val="4161268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5AEAE-7F91-C817-5766-C3E13000A87B}"/>
              </a:ext>
            </a:extLst>
          </p:cNvPr>
          <p:cNvSpPr>
            <a:spLocks noGrp="1"/>
          </p:cNvSpPr>
          <p:nvPr>
            <p:ph type="title"/>
          </p:nvPr>
        </p:nvSpPr>
        <p:spPr>
          <a:xfrm>
            <a:off x="357313" y="143630"/>
            <a:ext cx="10048125" cy="1143000"/>
          </a:xfrm>
        </p:spPr>
        <p:txBody>
          <a:bodyPr/>
          <a:lstStyle/>
          <a:p>
            <a:r>
              <a:rPr lang="en-US" dirty="0"/>
              <a:t>Build to Win: Summary</a:t>
            </a:r>
          </a:p>
        </p:txBody>
      </p:sp>
      <p:graphicFrame>
        <p:nvGraphicFramePr>
          <p:cNvPr id="4" name="Table 3">
            <a:extLst>
              <a:ext uri="{FF2B5EF4-FFF2-40B4-BE49-F238E27FC236}">
                <a16:creationId xmlns:a16="http://schemas.microsoft.com/office/drawing/2014/main" id="{E76D8F22-749F-5348-6A8E-52335A5B1178}"/>
              </a:ext>
            </a:extLst>
          </p:cNvPr>
          <p:cNvGraphicFramePr>
            <a:graphicFrameLocks noGrp="1"/>
          </p:cNvGraphicFramePr>
          <p:nvPr/>
        </p:nvGraphicFramePr>
        <p:xfrm>
          <a:off x="357313" y="1443791"/>
          <a:ext cx="11477374" cy="5045990"/>
        </p:xfrm>
        <a:graphic>
          <a:graphicData uri="http://schemas.openxmlformats.org/drawingml/2006/table">
            <a:tbl>
              <a:tblPr/>
              <a:tblGrid>
                <a:gridCol w="3905500">
                  <a:extLst>
                    <a:ext uri="{9D8B030D-6E8A-4147-A177-3AD203B41FA5}">
                      <a16:colId xmlns:a16="http://schemas.microsoft.com/office/drawing/2014/main" val="3752472220"/>
                    </a:ext>
                  </a:extLst>
                </a:gridCol>
                <a:gridCol w="7571874">
                  <a:extLst>
                    <a:ext uri="{9D8B030D-6E8A-4147-A177-3AD203B41FA5}">
                      <a16:colId xmlns:a16="http://schemas.microsoft.com/office/drawing/2014/main" val="3611442082"/>
                    </a:ext>
                  </a:extLst>
                </a:gridCol>
              </a:tblGrid>
              <a:tr h="426691">
                <a:tc>
                  <a:txBody>
                    <a:bodyPr/>
                    <a:lstStyle/>
                    <a:p>
                      <a:r>
                        <a:rPr lang="en-US" sz="2400" b="1" dirty="0"/>
                        <a:t>VRIO Dimension</a:t>
                      </a:r>
                    </a:p>
                  </a:txBody>
                  <a:tcPr marL="75023" marR="75023" marT="37512" marB="37512" anchor="ctr">
                    <a:lnL>
                      <a:noFill/>
                    </a:lnL>
                    <a:lnR>
                      <a:noFill/>
                    </a:lnR>
                    <a:lnT>
                      <a:noFill/>
                    </a:lnT>
                    <a:lnB>
                      <a:noFill/>
                    </a:lnB>
                    <a:noFill/>
                  </a:tcPr>
                </a:tc>
                <a:tc>
                  <a:txBody>
                    <a:bodyPr/>
                    <a:lstStyle/>
                    <a:p>
                      <a:r>
                        <a:rPr lang="en-US" sz="2400"/>
                        <a:t>Embedded in These Choices</a:t>
                      </a:r>
                    </a:p>
                  </a:txBody>
                  <a:tcPr marL="75023" marR="75023" marT="37512" marB="37512" anchor="ctr">
                    <a:lnL>
                      <a:noFill/>
                    </a:lnL>
                    <a:lnR>
                      <a:noFill/>
                    </a:lnR>
                    <a:lnT>
                      <a:noFill/>
                    </a:lnT>
                    <a:lnB>
                      <a:noFill/>
                    </a:lnB>
                    <a:noFill/>
                  </a:tcPr>
                </a:tc>
                <a:extLst>
                  <a:ext uri="{0D108BD9-81ED-4DB2-BD59-A6C34878D82A}">
                    <a16:rowId xmlns:a16="http://schemas.microsoft.com/office/drawing/2014/main" val="896709936"/>
                  </a:ext>
                </a:extLst>
              </a:tr>
              <a:tr h="769100">
                <a:tc>
                  <a:txBody>
                    <a:bodyPr/>
                    <a:lstStyle/>
                    <a:p>
                      <a:r>
                        <a:rPr lang="en-US" sz="2400" b="1"/>
                        <a:t>Valuable (V)</a:t>
                      </a:r>
                      <a:endParaRPr lang="en-US" sz="2400"/>
                    </a:p>
                  </a:txBody>
                  <a:tcPr marL="75023" marR="75023" marT="37512" marB="37512" anchor="ctr">
                    <a:lnL>
                      <a:noFill/>
                    </a:lnL>
                    <a:lnR>
                      <a:noFill/>
                    </a:lnR>
                    <a:lnT>
                      <a:noFill/>
                    </a:lnT>
                    <a:lnB>
                      <a:noFill/>
                    </a:lnB>
                    <a:noFill/>
                  </a:tcPr>
                </a:tc>
                <a:tc>
                  <a:txBody>
                    <a:bodyPr/>
                    <a:lstStyle/>
                    <a:p>
                      <a:r>
                        <a:rPr lang="en-US" sz="2400" dirty="0"/>
                        <a:t>Round 1 – Choose a resource that creates true value</a:t>
                      </a:r>
                    </a:p>
                  </a:txBody>
                  <a:tcPr marL="75023" marR="75023" marT="37512" marB="37512" anchor="ctr">
                    <a:lnL>
                      <a:noFill/>
                    </a:lnL>
                    <a:lnR>
                      <a:noFill/>
                    </a:lnR>
                    <a:lnT>
                      <a:noFill/>
                    </a:lnT>
                    <a:lnB>
                      <a:noFill/>
                    </a:lnB>
                    <a:noFill/>
                  </a:tcPr>
                </a:tc>
                <a:extLst>
                  <a:ext uri="{0D108BD9-81ED-4DB2-BD59-A6C34878D82A}">
                    <a16:rowId xmlns:a16="http://schemas.microsoft.com/office/drawing/2014/main" val="3617566049"/>
                  </a:ext>
                </a:extLst>
              </a:tr>
              <a:tr h="769100">
                <a:tc>
                  <a:txBody>
                    <a:bodyPr/>
                    <a:lstStyle/>
                    <a:p>
                      <a:r>
                        <a:rPr lang="en-US" sz="2400" b="1" dirty="0"/>
                        <a:t>Rare (R)</a:t>
                      </a:r>
                      <a:endParaRPr lang="en-US" sz="2400" dirty="0"/>
                    </a:p>
                  </a:txBody>
                  <a:tcPr marL="75023" marR="75023" marT="37512" marB="37512" anchor="ctr">
                    <a:lnL>
                      <a:noFill/>
                    </a:lnL>
                    <a:lnR>
                      <a:noFill/>
                    </a:lnR>
                    <a:lnT>
                      <a:noFill/>
                    </a:lnT>
                    <a:lnB>
                      <a:noFill/>
                    </a:lnB>
                    <a:noFill/>
                  </a:tcPr>
                </a:tc>
                <a:tc>
                  <a:txBody>
                    <a:bodyPr/>
                    <a:lstStyle/>
                    <a:p>
                      <a:r>
                        <a:rPr lang="en-US" sz="2400" dirty="0"/>
                        <a:t>Round 1–2 – Not just rare in technology, but rare in application</a:t>
                      </a:r>
                    </a:p>
                  </a:txBody>
                  <a:tcPr marL="75023" marR="75023" marT="37512" marB="37512" anchor="ctr">
                    <a:lnL>
                      <a:noFill/>
                    </a:lnL>
                    <a:lnR>
                      <a:noFill/>
                    </a:lnR>
                    <a:lnT>
                      <a:noFill/>
                    </a:lnT>
                    <a:lnB>
                      <a:noFill/>
                    </a:lnB>
                    <a:noFill/>
                  </a:tcPr>
                </a:tc>
                <a:extLst>
                  <a:ext uri="{0D108BD9-81ED-4DB2-BD59-A6C34878D82A}">
                    <a16:rowId xmlns:a16="http://schemas.microsoft.com/office/drawing/2014/main" val="3650731451"/>
                  </a:ext>
                </a:extLst>
              </a:tr>
              <a:tr h="1111509">
                <a:tc>
                  <a:txBody>
                    <a:bodyPr/>
                    <a:lstStyle/>
                    <a:p>
                      <a:r>
                        <a:rPr lang="en-US" sz="2400" b="1"/>
                        <a:t>Inimitable (I)</a:t>
                      </a:r>
                      <a:endParaRPr lang="en-US" sz="2400"/>
                    </a:p>
                  </a:txBody>
                  <a:tcPr marL="75023" marR="75023" marT="37512" marB="37512" anchor="ctr">
                    <a:lnL>
                      <a:noFill/>
                    </a:lnL>
                    <a:lnR>
                      <a:noFill/>
                    </a:lnR>
                    <a:lnT>
                      <a:noFill/>
                    </a:lnT>
                    <a:lnB>
                      <a:noFill/>
                    </a:lnB>
                    <a:noFill/>
                  </a:tcPr>
                </a:tc>
                <a:tc>
                  <a:txBody>
                    <a:bodyPr/>
                    <a:lstStyle/>
                    <a:p>
                      <a:r>
                        <a:rPr lang="en-US" sz="2400"/>
                        <a:t>Round 2–3 – Deepening &amp; integration make resources hard to copy</a:t>
                      </a:r>
                    </a:p>
                  </a:txBody>
                  <a:tcPr marL="75023" marR="75023" marT="37512" marB="37512" anchor="ctr">
                    <a:lnL>
                      <a:noFill/>
                    </a:lnL>
                    <a:lnR>
                      <a:noFill/>
                    </a:lnR>
                    <a:lnT>
                      <a:noFill/>
                    </a:lnT>
                    <a:lnB>
                      <a:noFill/>
                    </a:lnB>
                    <a:noFill/>
                  </a:tcPr>
                </a:tc>
                <a:extLst>
                  <a:ext uri="{0D108BD9-81ED-4DB2-BD59-A6C34878D82A}">
                    <a16:rowId xmlns:a16="http://schemas.microsoft.com/office/drawing/2014/main" val="3013567927"/>
                  </a:ext>
                </a:extLst>
              </a:tr>
              <a:tr h="1111509">
                <a:tc>
                  <a:txBody>
                    <a:bodyPr/>
                    <a:lstStyle/>
                    <a:p>
                      <a:r>
                        <a:rPr lang="en-US" sz="2400" b="1"/>
                        <a:t>Non-substitutable (N)</a:t>
                      </a:r>
                      <a:endParaRPr lang="en-US" sz="2400"/>
                    </a:p>
                  </a:txBody>
                  <a:tcPr marL="75023" marR="75023" marT="37512" marB="37512" anchor="ctr">
                    <a:lnL>
                      <a:noFill/>
                    </a:lnL>
                    <a:lnR>
                      <a:noFill/>
                    </a:lnR>
                    <a:lnT>
                      <a:noFill/>
                    </a:lnT>
                    <a:lnB>
                      <a:noFill/>
                    </a:lnB>
                    <a:noFill/>
                  </a:tcPr>
                </a:tc>
                <a:tc>
                  <a:txBody>
                    <a:bodyPr/>
                    <a:lstStyle/>
                    <a:p>
                      <a:r>
                        <a:rPr lang="en-US" sz="2400" dirty="0"/>
                        <a:t>Round 3–5 – Avoiding paths where other firms can offer close substitutes</a:t>
                      </a:r>
                    </a:p>
                  </a:txBody>
                  <a:tcPr marL="75023" marR="75023" marT="37512" marB="37512" anchor="ctr">
                    <a:lnL>
                      <a:noFill/>
                    </a:lnL>
                    <a:lnR>
                      <a:noFill/>
                    </a:lnR>
                    <a:lnT>
                      <a:noFill/>
                    </a:lnT>
                    <a:lnB>
                      <a:noFill/>
                    </a:lnB>
                    <a:noFill/>
                  </a:tcPr>
                </a:tc>
                <a:extLst>
                  <a:ext uri="{0D108BD9-81ED-4DB2-BD59-A6C34878D82A}">
                    <a16:rowId xmlns:a16="http://schemas.microsoft.com/office/drawing/2014/main" val="3586355965"/>
                  </a:ext>
                </a:extLst>
              </a:tr>
              <a:tr h="769100">
                <a:tc>
                  <a:txBody>
                    <a:bodyPr/>
                    <a:lstStyle/>
                    <a:p>
                      <a:r>
                        <a:rPr lang="en-US" sz="2400" b="1"/>
                        <a:t>Organized (O)</a:t>
                      </a:r>
                      <a:endParaRPr lang="en-US" sz="2400"/>
                    </a:p>
                  </a:txBody>
                  <a:tcPr marL="75023" marR="75023" marT="37512" marB="37512" anchor="ctr">
                    <a:lnL>
                      <a:noFill/>
                    </a:lnL>
                    <a:lnR>
                      <a:noFill/>
                    </a:lnR>
                    <a:lnT>
                      <a:noFill/>
                    </a:lnT>
                    <a:lnB>
                      <a:noFill/>
                    </a:lnB>
                    <a:noFill/>
                  </a:tcPr>
                </a:tc>
                <a:tc>
                  <a:txBody>
                    <a:bodyPr/>
                    <a:lstStyle/>
                    <a:p>
                      <a:r>
                        <a:rPr lang="en-US" sz="2400" dirty="0"/>
                        <a:t>Round 2–4 – Aligning the value chain around the core resource</a:t>
                      </a:r>
                    </a:p>
                  </a:txBody>
                  <a:tcPr marL="75023" marR="75023" marT="37512" marB="37512" anchor="ctr">
                    <a:lnL>
                      <a:noFill/>
                    </a:lnL>
                    <a:lnR>
                      <a:noFill/>
                    </a:lnR>
                    <a:lnT>
                      <a:noFill/>
                    </a:lnT>
                    <a:lnB>
                      <a:noFill/>
                    </a:lnB>
                    <a:noFill/>
                  </a:tcPr>
                </a:tc>
                <a:extLst>
                  <a:ext uri="{0D108BD9-81ED-4DB2-BD59-A6C34878D82A}">
                    <a16:rowId xmlns:a16="http://schemas.microsoft.com/office/drawing/2014/main" val="3149575472"/>
                  </a:ext>
                </a:extLst>
              </a:tr>
            </a:tbl>
          </a:graphicData>
        </a:graphic>
      </p:graphicFrame>
    </p:spTree>
    <p:extLst>
      <p:ext uri="{BB962C8B-B14F-4D97-AF65-F5344CB8AC3E}">
        <p14:creationId xmlns:p14="http://schemas.microsoft.com/office/powerpoint/2010/main" val="4079758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FA802-5822-2927-F039-B212CD137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E01A72-DE83-5335-EC4E-BCD1A3952E97}"/>
              </a:ext>
            </a:extLst>
          </p:cNvPr>
          <p:cNvSpPr>
            <a:spLocks noGrp="1"/>
          </p:cNvSpPr>
          <p:nvPr>
            <p:ph type="title"/>
          </p:nvPr>
        </p:nvSpPr>
        <p:spPr>
          <a:xfrm>
            <a:off x="609601" y="0"/>
            <a:ext cx="10048125" cy="1143000"/>
          </a:xfrm>
        </p:spPr>
        <p:txBody>
          <a:bodyPr/>
          <a:lstStyle/>
          <a:p>
            <a:r>
              <a:rPr lang="en-US" dirty="0"/>
              <a:t>In</a:t>
            </a:r>
            <a:r>
              <a:rPr lang="en-US" altLang="zh-CN" dirty="0"/>
              <a:t>-class</a:t>
            </a:r>
            <a:r>
              <a:rPr lang="zh-CN" altLang="en-US" dirty="0"/>
              <a:t> </a:t>
            </a:r>
            <a:r>
              <a:rPr lang="en-US" altLang="zh-CN" dirty="0"/>
              <a:t>exercise: </a:t>
            </a:r>
            <a:r>
              <a:rPr lang="en-US" dirty="0"/>
              <a:t>Build to Win</a:t>
            </a:r>
          </a:p>
        </p:txBody>
      </p:sp>
      <p:sp>
        <p:nvSpPr>
          <p:cNvPr id="3" name="Content Placeholder 2">
            <a:extLst>
              <a:ext uri="{FF2B5EF4-FFF2-40B4-BE49-F238E27FC236}">
                <a16:creationId xmlns:a16="http://schemas.microsoft.com/office/drawing/2014/main" id="{6EEDB4CE-378F-2226-403A-3AA97DA91B19}"/>
              </a:ext>
            </a:extLst>
          </p:cNvPr>
          <p:cNvSpPr>
            <a:spLocks noGrp="1"/>
          </p:cNvSpPr>
          <p:nvPr>
            <p:ph sz="quarter" idx="10"/>
          </p:nvPr>
        </p:nvSpPr>
        <p:spPr>
          <a:xfrm>
            <a:off x="609601" y="1143000"/>
            <a:ext cx="10395283" cy="5715000"/>
          </a:xfrm>
        </p:spPr>
        <p:txBody>
          <a:bodyPr/>
          <a:lstStyle/>
          <a:p>
            <a:pPr marL="0" indent="0">
              <a:buNone/>
            </a:pPr>
            <a:r>
              <a:rPr lang="en-US" sz="2400" b="1" dirty="0">
                <a:solidFill>
                  <a:schemeClr val="tx1"/>
                </a:solidFill>
              </a:rPr>
              <a:t>Round 1: What to Build First?</a:t>
            </a:r>
          </a:p>
          <a:p>
            <a:r>
              <a:rPr lang="en-US" sz="2400" dirty="0"/>
              <a:t>Proprietary AI health-coaching algorithm</a:t>
            </a:r>
          </a:p>
          <a:p>
            <a:pPr lvl="1"/>
            <a:r>
              <a:rPr lang="en-US" sz="2000" dirty="0"/>
              <a:t>Valuable: Delivers personalized experiences and improves health outcomes</a:t>
            </a:r>
          </a:p>
          <a:p>
            <a:pPr lvl="1"/>
            <a:r>
              <a:rPr lang="en-US" sz="2000" dirty="0"/>
              <a:t>Rare: Few startups have a proprietary, adaptable AI engine</a:t>
            </a:r>
          </a:p>
          <a:p>
            <a:pPr lvl="1"/>
            <a:r>
              <a:rPr lang="en-US" sz="2000" dirty="0"/>
              <a:t>Inimitable: Especially if trained with proprietary, evolving data</a:t>
            </a:r>
          </a:p>
          <a:p>
            <a:pPr lvl="1"/>
            <a:r>
              <a:rPr lang="en-US" sz="2000" dirty="0"/>
              <a:t>Non-substitutable: Alternatives exist, but not at the same depth</a:t>
            </a:r>
          </a:p>
          <a:p>
            <a:r>
              <a:rPr lang="en-US" sz="2400" dirty="0"/>
              <a:t>Celebrity co-branding: </a:t>
            </a:r>
            <a:r>
              <a:rPr lang="en-US" sz="2000" dirty="0"/>
              <a:t>easy to imitate, not rare or inimitable</a:t>
            </a:r>
            <a:endParaRPr lang="en-US" sz="2400" dirty="0"/>
          </a:p>
          <a:p>
            <a:r>
              <a:rPr lang="en-US" sz="2400" dirty="0"/>
              <a:t>Acquire a fitness app: </a:t>
            </a:r>
            <a:r>
              <a:rPr lang="en-US" sz="2000" dirty="0"/>
              <a:t>User base may be valuable, but engagement is substitutable and easily lost</a:t>
            </a:r>
          </a:p>
          <a:p>
            <a:r>
              <a:rPr lang="en-US" sz="2400" dirty="0"/>
              <a:t>Hire a marketing team: </a:t>
            </a:r>
            <a:r>
              <a:rPr lang="en-US" sz="2000" dirty="0"/>
              <a:t>Tactical advantage, not a strategic resource</a:t>
            </a:r>
            <a:endParaRPr lang="en-US" sz="2400" dirty="0">
              <a:solidFill>
                <a:schemeClr val="tx1"/>
              </a:solidFill>
            </a:endParaRPr>
          </a:p>
          <a:p>
            <a:pPr marL="0" indent="0">
              <a:buNone/>
            </a:pPr>
            <a:endParaRPr lang="en-US" sz="2400" b="1" dirty="0">
              <a:solidFill>
                <a:schemeClr val="tx1"/>
              </a:solidFill>
            </a:endParaRPr>
          </a:p>
          <a:p>
            <a:pPr marL="0" indent="0">
              <a:buNone/>
            </a:pPr>
            <a:r>
              <a:rPr lang="en-US" sz="2400" b="1" dirty="0">
                <a:solidFill>
                  <a:schemeClr val="tx1"/>
                </a:solidFill>
              </a:rPr>
              <a:t>VRIN Insight: The right resource is not just popular or visible: it needs to be embedded, hard to copy, and scalable.</a:t>
            </a:r>
          </a:p>
          <a:p>
            <a:endParaRPr lang="en-US" sz="2400" dirty="0">
              <a:solidFill>
                <a:schemeClr val="tx1"/>
              </a:solidFill>
            </a:endParaRPr>
          </a:p>
        </p:txBody>
      </p:sp>
    </p:spTree>
    <p:extLst>
      <p:ext uri="{BB962C8B-B14F-4D97-AF65-F5344CB8AC3E}">
        <p14:creationId xmlns:p14="http://schemas.microsoft.com/office/powerpoint/2010/main" val="178914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8DB44-6A84-7DF0-3A0E-466682255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D74C69-CAF8-0D6C-82F9-AB9943ADD999}"/>
              </a:ext>
            </a:extLst>
          </p:cNvPr>
          <p:cNvSpPr>
            <a:spLocks noGrp="1"/>
          </p:cNvSpPr>
          <p:nvPr>
            <p:ph type="title"/>
          </p:nvPr>
        </p:nvSpPr>
        <p:spPr>
          <a:xfrm>
            <a:off x="609601" y="0"/>
            <a:ext cx="10048125" cy="1143000"/>
          </a:xfrm>
        </p:spPr>
        <p:txBody>
          <a:bodyPr/>
          <a:lstStyle/>
          <a:p>
            <a:r>
              <a:rPr lang="en-US" dirty="0"/>
              <a:t>In</a:t>
            </a:r>
            <a:r>
              <a:rPr lang="en-US" altLang="zh-CN" dirty="0"/>
              <a:t>-class</a:t>
            </a:r>
            <a:r>
              <a:rPr lang="zh-CN" altLang="en-US" dirty="0"/>
              <a:t> </a:t>
            </a:r>
            <a:r>
              <a:rPr lang="en-US" altLang="zh-CN" dirty="0"/>
              <a:t>exercise: </a:t>
            </a:r>
            <a:r>
              <a:rPr lang="en-US" dirty="0"/>
              <a:t>Build to Win</a:t>
            </a:r>
          </a:p>
        </p:txBody>
      </p:sp>
      <p:sp>
        <p:nvSpPr>
          <p:cNvPr id="3" name="Content Placeholder 2">
            <a:extLst>
              <a:ext uri="{FF2B5EF4-FFF2-40B4-BE49-F238E27FC236}">
                <a16:creationId xmlns:a16="http://schemas.microsoft.com/office/drawing/2014/main" id="{DEBF28BF-EFF4-2AD5-2131-DCF96B8E7DB7}"/>
              </a:ext>
            </a:extLst>
          </p:cNvPr>
          <p:cNvSpPr>
            <a:spLocks noGrp="1"/>
          </p:cNvSpPr>
          <p:nvPr>
            <p:ph sz="quarter" idx="10"/>
          </p:nvPr>
        </p:nvSpPr>
        <p:spPr>
          <a:xfrm>
            <a:off x="537411" y="1271337"/>
            <a:ext cx="11117177" cy="5466347"/>
          </a:xfrm>
        </p:spPr>
        <p:txBody>
          <a:bodyPr/>
          <a:lstStyle/>
          <a:p>
            <a:pPr marL="0" indent="0">
              <a:buNone/>
            </a:pPr>
            <a:r>
              <a:rPr lang="en-US" sz="2400" b="1" dirty="0">
                <a:solidFill>
                  <a:schemeClr val="tx1"/>
                </a:solidFill>
              </a:rPr>
              <a:t>Round 2: Go-To-Market Strategy</a:t>
            </a:r>
          </a:p>
          <a:p>
            <a:r>
              <a:rPr lang="en-US" sz="2400" dirty="0"/>
              <a:t>Go direct-to-consumer with tight integration</a:t>
            </a:r>
          </a:p>
          <a:p>
            <a:pPr lvl="1"/>
            <a:r>
              <a:rPr lang="en-US" sz="2000" dirty="0"/>
              <a:t>Aligns value capture with your unique resource</a:t>
            </a:r>
          </a:p>
          <a:p>
            <a:pPr lvl="1"/>
            <a:r>
              <a:rPr lang="en-US" sz="2000" dirty="0"/>
              <a:t>Allows you to own the user experience and data loop</a:t>
            </a:r>
          </a:p>
          <a:p>
            <a:pPr lvl="1"/>
            <a:r>
              <a:rPr lang="en-US" sz="2000" dirty="0"/>
              <a:t>Reinforces O (Organized) by embedding tech in operations and brand</a:t>
            </a:r>
          </a:p>
          <a:p>
            <a:r>
              <a:rPr lang="en-US" sz="2400" dirty="0"/>
              <a:t>License algorithm: </a:t>
            </a:r>
            <a:r>
              <a:rPr lang="en-US" sz="2000" dirty="0"/>
              <a:t>Monetizes quickly but surrenders control; Weakens inimitability</a:t>
            </a:r>
          </a:p>
          <a:p>
            <a:r>
              <a:rPr lang="en-US" sz="2400" dirty="0"/>
              <a:t>Bundle with premium content: </a:t>
            </a:r>
            <a:r>
              <a:rPr lang="en-US" sz="2000" dirty="0"/>
              <a:t>Looks appealing, but margins shrink; Core resource is diluted</a:t>
            </a:r>
          </a:p>
          <a:p>
            <a:r>
              <a:rPr lang="en-US" sz="2400" dirty="0"/>
              <a:t>Enter global markets: </a:t>
            </a:r>
            <a:r>
              <a:rPr lang="en-US" sz="2000" dirty="0"/>
              <a:t>Too early — risks spreading organization thin before advantage is consolidated</a:t>
            </a:r>
            <a:endParaRPr lang="en-US" sz="2000" b="1" dirty="0">
              <a:solidFill>
                <a:schemeClr val="tx1"/>
              </a:solidFill>
            </a:endParaRPr>
          </a:p>
          <a:p>
            <a:pPr marL="0" indent="0">
              <a:buNone/>
            </a:pPr>
            <a:endParaRPr lang="en-US" sz="2400" b="1" dirty="0">
              <a:solidFill>
                <a:schemeClr val="tx1"/>
              </a:solidFill>
            </a:endParaRPr>
          </a:p>
          <a:p>
            <a:pPr marL="0" indent="0">
              <a:buNone/>
            </a:pPr>
            <a:r>
              <a:rPr lang="en-US" sz="2400" b="1" dirty="0">
                <a:solidFill>
                  <a:schemeClr val="tx1"/>
                </a:solidFill>
              </a:rPr>
              <a:t>VRIN Insight: Organizing around your resource is more important than speed or scale. Control &gt; exposure.</a:t>
            </a:r>
          </a:p>
          <a:p>
            <a:endParaRPr lang="en-US" sz="2400" dirty="0">
              <a:solidFill>
                <a:schemeClr val="tx1"/>
              </a:solidFill>
            </a:endParaRPr>
          </a:p>
        </p:txBody>
      </p:sp>
    </p:spTree>
    <p:extLst>
      <p:ext uri="{BB962C8B-B14F-4D97-AF65-F5344CB8AC3E}">
        <p14:creationId xmlns:p14="http://schemas.microsoft.com/office/powerpoint/2010/main" val="3536706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43482-7C3C-43B4-4687-70040C2A8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E30D2D-5726-061B-90B3-5438607AEEB8}"/>
              </a:ext>
            </a:extLst>
          </p:cNvPr>
          <p:cNvSpPr>
            <a:spLocks noGrp="1"/>
          </p:cNvSpPr>
          <p:nvPr>
            <p:ph type="title"/>
          </p:nvPr>
        </p:nvSpPr>
        <p:spPr>
          <a:xfrm>
            <a:off x="609601" y="0"/>
            <a:ext cx="10048125" cy="1143000"/>
          </a:xfrm>
        </p:spPr>
        <p:txBody>
          <a:bodyPr/>
          <a:lstStyle/>
          <a:p>
            <a:r>
              <a:rPr lang="en-US" dirty="0"/>
              <a:t>In</a:t>
            </a:r>
            <a:r>
              <a:rPr lang="en-US" altLang="zh-CN" dirty="0"/>
              <a:t>-class</a:t>
            </a:r>
            <a:r>
              <a:rPr lang="zh-CN" altLang="en-US" dirty="0"/>
              <a:t> </a:t>
            </a:r>
            <a:r>
              <a:rPr lang="en-US" altLang="zh-CN" dirty="0"/>
              <a:t>exercise: </a:t>
            </a:r>
            <a:r>
              <a:rPr lang="en-US" dirty="0"/>
              <a:t>Build to Win</a:t>
            </a:r>
          </a:p>
        </p:txBody>
      </p:sp>
      <p:sp>
        <p:nvSpPr>
          <p:cNvPr id="3" name="Content Placeholder 2">
            <a:extLst>
              <a:ext uri="{FF2B5EF4-FFF2-40B4-BE49-F238E27FC236}">
                <a16:creationId xmlns:a16="http://schemas.microsoft.com/office/drawing/2014/main" id="{BDCCD0A1-945F-BD45-9AF5-017423BF1646}"/>
              </a:ext>
            </a:extLst>
          </p:cNvPr>
          <p:cNvSpPr>
            <a:spLocks noGrp="1"/>
          </p:cNvSpPr>
          <p:nvPr>
            <p:ph sz="quarter" idx="10"/>
          </p:nvPr>
        </p:nvSpPr>
        <p:spPr>
          <a:xfrm>
            <a:off x="609601" y="1143000"/>
            <a:ext cx="10395283" cy="5715000"/>
          </a:xfrm>
        </p:spPr>
        <p:txBody>
          <a:bodyPr/>
          <a:lstStyle/>
          <a:p>
            <a:pPr marL="0" indent="0">
              <a:buNone/>
            </a:pPr>
            <a:r>
              <a:rPr lang="en-US" sz="2400" b="1" dirty="0">
                <a:solidFill>
                  <a:schemeClr val="tx1"/>
                </a:solidFill>
              </a:rPr>
              <a:t>Round 3: Post-Traction Growth Path?</a:t>
            </a:r>
          </a:p>
          <a:p>
            <a:r>
              <a:rPr lang="en-US" sz="2400" dirty="0"/>
              <a:t>Invest internally to deepen your sensor and analytics technology</a:t>
            </a:r>
          </a:p>
          <a:p>
            <a:pPr lvl="1"/>
            <a:r>
              <a:rPr lang="en-US" sz="2000" dirty="0"/>
              <a:t>Reinforces core capability</a:t>
            </a:r>
          </a:p>
          <a:p>
            <a:pPr lvl="1"/>
            <a:r>
              <a:rPr lang="en-US" sz="2000" dirty="0"/>
              <a:t>Increases complexity and barriers to imitation</a:t>
            </a:r>
          </a:p>
          <a:p>
            <a:pPr lvl="1"/>
            <a:r>
              <a:rPr lang="en-US" sz="2000" dirty="0"/>
              <a:t>Deepens your "I" and "N" dimensions, especially when aligned with usage data</a:t>
            </a:r>
          </a:p>
          <a:p>
            <a:r>
              <a:rPr lang="en-US" sz="2400" dirty="0"/>
              <a:t>Outsource production: </a:t>
            </a:r>
            <a:r>
              <a:rPr lang="en-US" sz="2133" dirty="0"/>
              <a:t>Reduces costs, weakens control, and standardizes your uniqueness</a:t>
            </a:r>
          </a:p>
          <a:p>
            <a:r>
              <a:rPr lang="en-US" sz="2400" dirty="0"/>
              <a:t>JV with global sportswear brand: </a:t>
            </a:r>
            <a:r>
              <a:rPr lang="en-US" sz="2133" dirty="0"/>
              <a:t>Access to channels, cedes control, and dilutes identity</a:t>
            </a:r>
          </a:p>
          <a:p>
            <a:r>
              <a:rPr lang="en-US" sz="2400" dirty="0"/>
              <a:t>Launch a budget version: </a:t>
            </a:r>
            <a:r>
              <a:rPr lang="en-US" sz="2000" dirty="0"/>
              <a:t>Trades differentiation for volume — erodes rare/inimitable status</a:t>
            </a:r>
          </a:p>
          <a:p>
            <a:endParaRPr lang="en-US" sz="2000" b="1" dirty="0">
              <a:solidFill>
                <a:schemeClr val="tx1"/>
              </a:solidFill>
            </a:endParaRPr>
          </a:p>
          <a:p>
            <a:pPr marL="0" indent="0">
              <a:buNone/>
            </a:pPr>
            <a:r>
              <a:rPr lang="en-US" sz="2400" b="1" dirty="0">
                <a:solidFill>
                  <a:schemeClr val="tx1"/>
                </a:solidFill>
              </a:rPr>
              <a:t>VRIO Insight: The most dangerous moment is when you’re tempted to scale fast. Advantage must be fortified, not diluted.</a:t>
            </a:r>
          </a:p>
        </p:txBody>
      </p:sp>
    </p:spTree>
    <p:extLst>
      <p:ext uri="{BB962C8B-B14F-4D97-AF65-F5344CB8AC3E}">
        <p14:creationId xmlns:p14="http://schemas.microsoft.com/office/powerpoint/2010/main" val="74199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6BE32-1D0A-D19F-6CA7-22D6604B3D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0C5F61-FFD0-484C-A1DD-45B88A5D316E}"/>
              </a:ext>
            </a:extLst>
          </p:cNvPr>
          <p:cNvSpPr>
            <a:spLocks noGrp="1"/>
          </p:cNvSpPr>
          <p:nvPr>
            <p:ph type="title"/>
          </p:nvPr>
        </p:nvSpPr>
        <p:spPr>
          <a:xfrm>
            <a:off x="609601" y="0"/>
            <a:ext cx="10048125" cy="1143000"/>
          </a:xfrm>
        </p:spPr>
        <p:txBody>
          <a:bodyPr/>
          <a:lstStyle/>
          <a:p>
            <a:r>
              <a:rPr lang="en-US" dirty="0"/>
              <a:t>In</a:t>
            </a:r>
            <a:r>
              <a:rPr lang="en-US" altLang="zh-CN" dirty="0"/>
              <a:t>-class</a:t>
            </a:r>
            <a:r>
              <a:rPr lang="zh-CN" altLang="en-US" dirty="0"/>
              <a:t> </a:t>
            </a:r>
            <a:r>
              <a:rPr lang="en-US" altLang="zh-CN" dirty="0"/>
              <a:t>exercise: </a:t>
            </a:r>
            <a:r>
              <a:rPr lang="en-US" dirty="0"/>
              <a:t>Build to Win</a:t>
            </a:r>
          </a:p>
        </p:txBody>
      </p:sp>
      <p:sp>
        <p:nvSpPr>
          <p:cNvPr id="3" name="Content Placeholder 2">
            <a:extLst>
              <a:ext uri="{FF2B5EF4-FFF2-40B4-BE49-F238E27FC236}">
                <a16:creationId xmlns:a16="http://schemas.microsoft.com/office/drawing/2014/main" id="{107B86CB-B546-B39E-CD04-B25BAEEB9B64}"/>
              </a:ext>
            </a:extLst>
          </p:cNvPr>
          <p:cNvSpPr>
            <a:spLocks noGrp="1"/>
          </p:cNvSpPr>
          <p:nvPr>
            <p:ph sz="quarter" idx="10"/>
          </p:nvPr>
        </p:nvSpPr>
        <p:spPr>
          <a:xfrm>
            <a:off x="609601" y="1143000"/>
            <a:ext cx="10395283" cy="5715000"/>
          </a:xfrm>
        </p:spPr>
        <p:txBody>
          <a:bodyPr/>
          <a:lstStyle/>
          <a:p>
            <a:pPr marL="0" indent="0">
              <a:buNone/>
            </a:pPr>
            <a:r>
              <a:rPr lang="en-US" sz="2400" b="1" dirty="0">
                <a:solidFill>
                  <a:schemeClr val="tx1"/>
                </a:solidFill>
              </a:rPr>
              <a:t>Round 4: Internal Structuring</a:t>
            </a:r>
          </a:p>
          <a:p>
            <a:r>
              <a:rPr lang="en-US" sz="2400" dirty="0"/>
              <a:t>Align incentives across teams to algorithm adoption and user retention</a:t>
            </a:r>
          </a:p>
          <a:p>
            <a:pPr lvl="1"/>
            <a:r>
              <a:rPr lang="en-US" sz="2000" dirty="0"/>
              <a:t>Creates cross-functional synergy</a:t>
            </a:r>
          </a:p>
          <a:p>
            <a:pPr lvl="1"/>
            <a:r>
              <a:rPr lang="en-US" sz="2000" dirty="0"/>
              <a:t>Ensures your unique capability is being used and evolved across the value chain</a:t>
            </a:r>
          </a:p>
          <a:p>
            <a:pPr lvl="1"/>
            <a:r>
              <a:rPr lang="en-US" sz="2000" dirty="0"/>
              <a:t>Classic example of "O" — Organized to exploit</a:t>
            </a:r>
          </a:p>
          <a:p>
            <a:r>
              <a:rPr lang="en-US" sz="2400" dirty="0"/>
              <a:t>Keep R&amp;D separate: </a:t>
            </a:r>
            <a:r>
              <a:rPr lang="en-US" sz="2000" dirty="0"/>
              <a:t>Agile but disconnected from value delivery</a:t>
            </a:r>
            <a:endParaRPr lang="en-US" sz="2400" dirty="0"/>
          </a:p>
          <a:p>
            <a:r>
              <a:rPr lang="en-US" sz="2400" dirty="0"/>
              <a:t>Let teams chase independent revenue: </a:t>
            </a:r>
            <a:r>
              <a:rPr lang="en-US" sz="2000" dirty="0"/>
              <a:t>Fragmented, resource loses strategic centrality</a:t>
            </a:r>
          </a:p>
          <a:p>
            <a:r>
              <a:rPr lang="en-US" sz="2400" dirty="0"/>
              <a:t>Let branding lead: </a:t>
            </a:r>
            <a:r>
              <a:rPr lang="en-US" sz="2000" dirty="0"/>
              <a:t>Branding is important, but cannot substitute for deep integration with core tech</a:t>
            </a:r>
          </a:p>
          <a:p>
            <a:endParaRPr lang="en-US" sz="2000" b="1" dirty="0">
              <a:solidFill>
                <a:schemeClr val="tx1"/>
              </a:solidFill>
            </a:endParaRPr>
          </a:p>
          <a:p>
            <a:pPr marL="0" indent="0">
              <a:buNone/>
            </a:pPr>
            <a:r>
              <a:rPr lang="en-US" sz="2400" b="1" dirty="0">
                <a:solidFill>
                  <a:schemeClr val="tx1"/>
                </a:solidFill>
              </a:rPr>
              <a:t>VRIO Insight: A strategic resource fails if the firm is not designed around it. Misalignment = wasted potential.</a:t>
            </a:r>
          </a:p>
        </p:txBody>
      </p:sp>
    </p:spTree>
    <p:extLst>
      <p:ext uri="{BB962C8B-B14F-4D97-AF65-F5344CB8AC3E}">
        <p14:creationId xmlns:p14="http://schemas.microsoft.com/office/powerpoint/2010/main" val="1098573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25C54-491E-FE35-E98E-7A0D6A385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16AD5-8695-FC2F-0108-6C38195DED65}"/>
              </a:ext>
            </a:extLst>
          </p:cNvPr>
          <p:cNvSpPr>
            <a:spLocks noGrp="1"/>
          </p:cNvSpPr>
          <p:nvPr>
            <p:ph type="title"/>
          </p:nvPr>
        </p:nvSpPr>
        <p:spPr>
          <a:xfrm>
            <a:off x="609601" y="0"/>
            <a:ext cx="10048125" cy="1143000"/>
          </a:xfrm>
        </p:spPr>
        <p:txBody>
          <a:bodyPr/>
          <a:lstStyle/>
          <a:p>
            <a:r>
              <a:rPr lang="en-US" dirty="0"/>
              <a:t>In</a:t>
            </a:r>
            <a:r>
              <a:rPr lang="en-US" altLang="zh-CN" dirty="0"/>
              <a:t>-class</a:t>
            </a:r>
            <a:r>
              <a:rPr lang="zh-CN" altLang="en-US" dirty="0"/>
              <a:t> </a:t>
            </a:r>
            <a:r>
              <a:rPr lang="en-US" altLang="zh-CN" dirty="0"/>
              <a:t>exercise: </a:t>
            </a:r>
            <a:r>
              <a:rPr lang="en-US" dirty="0"/>
              <a:t>Build to Win</a:t>
            </a:r>
          </a:p>
        </p:txBody>
      </p:sp>
      <p:sp>
        <p:nvSpPr>
          <p:cNvPr id="3" name="Content Placeholder 2">
            <a:extLst>
              <a:ext uri="{FF2B5EF4-FFF2-40B4-BE49-F238E27FC236}">
                <a16:creationId xmlns:a16="http://schemas.microsoft.com/office/drawing/2014/main" id="{9020F6D8-C331-8A65-3448-814A41DC8627}"/>
              </a:ext>
            </a:extLst>
          </p:cNvPr>
          <p:cNvSpPr>
            <a:spLocks noGrp="1"/>
          </p:cNvSpPr>
          <p:nvPr>
            <p:ph sz="quarter" idx="10"/>
          </p:nvPr>
        </p:nvSpPr>
        <p:spPr>
          <a:xfrm>
            <a:off x="609601" y="1143000"/>
            <a:ext cx="10395283" cy="5715000"/>
          </a:xfrm>
        </p:spPr>
        <p:txBody>
          <a:bodyPr/>
          <a:lstStyle/>
          <a:p>
            <a:pPr marL="0" indent="0">
              <a:buNone/>
            </a:pPr>
            <a:r>
              <a:rPr lang="en-US" sz="2400" b="1" dirty="0">
                <a:solidFill>
                  <a:schemeClr val="tx1"/>
                </a:solidFill>
              </a:rPr>
              <a:t>Round 5: Internal Structuring</a:t>
            </a:r>
          </a:p>
          <a:p>
            <a:r>
              <a:rPr lang="en-US" sz="2400" dirty="0"/>
              <a:t>Build a proprietary OS to unify wearables and health data</a:t>
            </a:r>
          </a:p>
          <a:p>
            <a:pPr lvl="1"/>
            <a:r>
              <a:rPr lang="en-US" sz="2000" dirty="0"/>
              <a:t>Extends the core resource into a platform</a:t>
            </a:r>
          </a:p>
          <a:p>
            <a:pPr lvl="1"/>
            <a:r>
              <a:rPr lang="en-US" sz="2000" dirty="0"/>
              <a:t>Adds network effects, switching costs, and ecosystem control</a:t>
            </a:r>
          </a:p>
          <a:p>
            <a:pPr lvl="1"/>
            <a:r>
              <a:rPr lang="en-US" sz="2000" dirty="0"/>
              <a:t>Enhances all four VRIN dimensions — especially N (non-substitutability)</a:t>
            </a:r>
          </a:p>
          <a:p>
            <a:r>
              <a:rPr lang="en-US" sz="2400" dirty="0"/>
              <a:t>Expand into other smart product lines: </a:t>
            </a:r>
            <a:r>
              <a:rPr lang="en-US" sz="2000" dirty="0"/>
              <a:t>Good for growth, bad for focus</a:t>
            </a:r>
            <a:endParaRPr lang="en-US" sz="2400" dirty="0"/>
          </a:p>
          <a:p>
            <a:r>
              <a:rPr lang="en-US" sz="2400" dirty="0"/>
              <a:t>License AI to third parties: </a:t>
            </a:r>
            <a:r>
              <a:rPr lang="en-US" sz="2000" dirty="0"/>
              <a:t>Quick revenue, long-term erosion of rarity</a:t>
            </a:r>
            <a:endParaRPr lang="en-US" sz="2400" dirty="0"/>
          </a:p>
          <a:p>
            <a:r>
              <a:rPr lang="en-US" sz="2400" dirty="0"/>
              <a:t>Launch IPO, extend brand: </a:t>
            </a:r>
            <a:r>
              <a:rPr lang="en-US" sz="2000" dirty="0"/>
              <a:t>Focus shifts from strategy to storytelling; resources get spread thin</a:t>
            </a:r>
            <a:endParaRPr lang="en-US" sz="2400" dirty="0"/>
          </a:p>
          <a:p>
            <a:pPr marL="0" indent="0">
              <a:buNone/>
            </a:pPr>
            <a:endParaRPr lang="en-US" sz="2000" b="1" dirty="0">
              <a:solidFill>
                <a:schemeClr val="tx1"/>
              </a:solidFill>
            </a:endParaRPr>
          </a:p>
          <a:p>
            <a:pPr marL="0" indent="0">
              <a:buNone/>
            </a:pPr>
            <a:r>
              <a:rPr lang="en-US" sz="2400" b="1" dirty="0">
                <a:solidFill>
                  <a:schemeClr val="tx1"/>
                </a:solidFill>
              </a:rPr>
              <a:t>VRIO Insight: Scaling should reinforce your uniqueness — not replace it with scale for its own sake.</a:t>
            </a:r>
          </a:p>
        </p:txBody>
      </p:sp>
    </p:spTree>
    <p:extLst>
      <p:ext uri="{BB962C8B-B14F-4D97-AF65-F5344CB8AC3E}">
        <p14:creationId xmlns:p14="http://schemas.microsoft.com/office/powerpoint/2010/main" val="2527271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3ABC5-05DE-0641-CFC2-113BB0A32B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00A016-2C9F-25BD-5742-207740E55544}"/>
              </a:ext>
            </a:extLst>
          </p:cNvPr>
          <p:cNvSpPr>
            <a:spLocks noGrp="1"/>
          </p:cNvSpPr>
          <p:nvPr>
            <p:ph type="title"/>
          </p:nvPr>
        </p:nvSpPr>
        <p:spPr>
          <a:xfrm>
            <a:off x="357883" y="9008"/>
            <a:ext cx="9993331" cy="1143000"/>
          </a:xfrm>
        </p:spPr>
        <p:txBody>
          <a:bodyPr/>
          <a:lstStyle/>
          <a:p>
            <a:r>
              <a:rPr lang="en-US" altLang="en-US" dirty="0"/>
              <a:t>Value Chain Analysis</a:t>
            </a:r>
            <a:endParaRPr lang="zh-CN" altLang="en-US" dirty="0"/>
          </a:p>
        </p:txBody>
      </p:sp>
      <p:sp>
        <p:nvSpPr>
          <p:cNvPr id="3" name="Content Placeholder 2">
            <a:extLst>
              <a:ext uri="{FF2B5EF4-FFF2-40B4-BE49-F238E27FC236}">
                <a16:creationId xmlns:a16="http://schemas.microsoft.com/office/drawing/2014/main" id="{45C6A120-D2EE-BFEE-B2CE-4F2529B9F518}"/>
              </a:ext>
            </a:extLst>
          </p:cNvPr>
          <p:cNvSpPr>
            <a:spLocks noGrp="1"/>
          </p:cNvSpPr>
          <p:nvPr>
            <p:ph sz="half" idx="1"/>
          </p:nvPr>
        </p:nvSpPr>
        <p:spPr>
          <a:xfrm>
            <a:off x="7566917" y="2064503"/>
            <a:ext cx="4376791" cy="4284926"/>
          </a:xfrm>
        </p:spPr>
        <p:txBody>
          <a:bodyPr>
            <a:normAutofit/>
          </a:bodyPr>
          <a:lstStyle/>
          <a:p>
            <a:r>
              <a:rPr lang="en-US" altLang="zh-CN" dirty="0"/>
              <a:t>Allows a firm to understand the parts of its operations that create value and those that do not</a:t>
            </a:r>
          </a:p>
          <a:p>
            <a:pPr lvl="1"/>
            <a:r>
              <a:rPr lang="en-US" altLang="zh-CN" dirty="0"/>
              <a:t>Definition: A </a:t>
            </a:r>
            <a:r>
              <a:rPr lang="en-US" altLang="zh-CN" b="1" dirty="0"/>
              <a:t>template</a:t>
            </a:r>
            <a:r>
              <a:rPr lang="en-US" altLang="zh-CN" dirty="0"/>
              <a:t> that firms use to </a:t>
            </a:r>
            <a:r>
              <a:rPr lang="en-US" altLang="zh-CN" b="1" dirty="0"/>
              <a:t>understand their cost position</a:t>
            </a:r>
          </a:p>
          <a:p>
            <a:r>
              <a:rPr lang="en-US" altLang="zh-CN" dirty="0"/>
              <a:t>Identify multiple means that might be used to facilitate implementation of a chosen business-level strategy</a:t>
            </a:r>
          </a:p>
          <a:p>
            <a:endParaRPr lang="zh-CN" altLang="en-US" dirty="0"/>
          </a:p>
        </p:txBody>
      </p:sp>
      <p:sp>
        <p:nvSpPr>
          <p:cNvPr id="6" name="Text Box 4">
            <a:extLst>
              <a:ext uri="{FF2B5EF4-FFF2-40B4-BE49-F238E27FC236}">
                <a16:creationId xmlns:a16="http://schemas.microsoft.com/office/drawing/2014/main" id="{2FD648E6-DE46-B37B-CF67-D75A429550E8}"/>
              </a:ext>
            </a:extLst>
          </p:cNvPr>
          <p:cNvSpPr txBox="1">
            <a:spLocks noChangeArrowheads="1"/>
          </p:cNvSpPr>
          <p:nvPr/>
        </p:nvSpPr>
        <p:spPr bwMode="auto">
          <a:xfrm>
            <a:off x="440076" y="1048297"/>
            <a:ext cx="10085798" cy="683264"/>
          </a:xfrm>
          <a:prstGeom prst="rect">
            <a:avLst/>
          </a:prstGeom>
          <a:noFill/>
          <a:ln w="9525">
            <a:noFill/>
            <a:miter lim="800000"/>
            <a:headEnd/>
            <a:tailEnd/>
          </a:ln>
          <a:effectLst/>
        </p:spPr>
        <p:txBody>
          <a:bodyPr wrap="square">
            <a:spAutoFit/>
          </a:bodyPr>
          <a:lstStyle>
            <a:lvl1pPr marL="457189" indent="-457189" algn="l" defTabSz="609585" rtl="0" eaLnBrk="1" latinLnBrk="0" hangingPunct="1">
              <a:spcBef>
                <a:spcPct val="20000"/>
              </a:spcBef>
              <a:buFont typeface="Arial"/>
              <a:buChar char="•"/>
              <a:defRPr sz="3733" kern="1200">
                <a:solidFill>
                  <a:schemeClr val="tx1"/>
                </a:solidFill>
                <a:latin typeface="Arial" panose="020B0604020202020204" pitchFamily="34" charset="0"/>
                <a:ea typeface="+mn-ea"/>
                <a:cs typeface="Arial" panose="020B0604020202020204" pitchFamily="34" charset="0"/>
              </a:defRPr>
            </a:lvl1pPr>
            <a:lvl2pPr marL="990575" indent="-380990" algn="l" defTabSz="609585" rtl="0" eaLnBrk="1" latinLnBrk="0" hangingPunct="1">
              <a:spcBef>
                <a:spcPct val="20000"/>
              </a:spcBef>
              <a:buFont typeface="Arial"/>
              <a:buChar char="–"/>
              <a:defRPr sz="3200" kern="1200">
                <a:solidFill>
                  <a:schemeClr val="tx1"/>
                </a:solidFill>
                <a:latin typeface="Arial" panose="020B0604020202020204" pitchFamily="34" charset="0"/>
                <a:ea typeface="+mn-ea"/>
                <a:cs typeface="Arial" panose="020B0604020202020204" pitchFamily="34" charset="0"/>
              </a:defRPr>
            </a:lvl2pPr>
            <a:lvl3pPr marL="1523962" indent="-304792" algn="l" defTabSz="609585" rtl="0" eaLnBrk="1" latinLnBrk="0" hangingPunct="1">
              <a:spcBef>
                <a:spcPct val="20000"/>
              </a:spcBef>
              <a:buFont typeface="Arial"/>
              <a:buChar char="•"/>
              <a:defRPr sz="2667" kern="1200">
                <a:solidFill>
                  <a:schemeClr val="tx1"/>
                </a:solidFill>
                <a:latin typeface="Arial" panose="020B0604020202020204" pitchFamily="34" charset="0"/>
                <a:ea typeface="+mn-ea"/>
                <a:cs typeface="Arial" panose="020B0604020202020204" pitchFamily="34" charset="0"/>
              </a:defRPr>
            </a:lvl3pPr>
            <a:lvl4pPr marL="2133547" indent="-304792" algn="l" defTabSz="609585"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4pPr>
            <a:lvl5pPr marL="2743131" indent="-304792" algn="l" defTabSz="609585"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gn="ctr">
              <a:lnSpc>
                <a:spcPct val="80000"/>
              </a:lnSpc>
              <a:spcBef>
                <a:spcPct val="10000"/>
              </a:spcBef>
              <a:spcAft>
                <a:spcPct val="10000"/>
              </a:spcAft>
              <a:buFont typeface="Arial"/>
              <a:buNone/>
              <a:defRPr/>
            </a:pPr>
            <a:r>
              <a:rPr lang="en-US" sz="2400" b="1" dirty="0">
                <a:solidFill>
                  <a:schemeClr val="accent1"/>
                </a:solidFill>
                <a:latin typeface="Arial" charset="0"/>
              </a:rPr>
              <a:t>“…company is a chain of activities for transforming inputs into outputs customers value –  including primary &amp; support activities.”</a:t>
            </a:r>
          </a:p>
        </p:txBody>
      </p:sp>
      <p:pic>
        <p:nvPicPr>
          <p:cNvPr id="7" name="Picture 2">
            <a:extLst>
              <a:ext uri="{FF2B5EF4-FFF2-40B4-BE49-F238E27FC236}">
                <a16:creationId xmlns:a16="http://schemas.microsoft.com/office/drawing/2014/main" id="{0DADC7CA-CC3E-3FE7-48FC-D4546C36B2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786" y="1916130"/>
            <a:ext cx="7368746" cy="4500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963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7D506-8A7D-6716-8C8E-2F4DBEE823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5ABF70-1801-3F3C-27AF-DEEB5B9C742E}"/>
              </a:ext>
            </a:extLst>
          </p:cNvPr>
          <p:cNvSpPr>
            <a:spLocks noGrp="1"/>
          </p:cNvSpPr>
          <p:nvPr>
            <p:ph type="title"/>
          </p:nvPr>
        </p:nvSpPr>
        <p:spPr/>
        <p:txBody>
          <a:bodyPr>
            <a:normAutofit/>
          </a:bodyPr>
          <a:lstStyle/>
          <a:p>
            <a:r>
              <a:rPr lang="en-US" altLang="zh-CN" dirty="0"/>
              <a:t>Value Chain Activities</a:t>
            </a:r>
            <a:endParaRPr lang="zh-CN" altLang="en-US" dirty="0"/>
          </a:p>
        </p:txBody>
      </p:sp>
      <p:sp>
        <p:nvSpPr>
          <p:cNvPr id="5" name="Content Placeholder 1">
            <a:extLst>
              <a:ext uri="{FF2B5EF4-FFF2-40B4-BE49-F238E27FC236}">
                <a16:creationId xmlns:a16="http://schemas.microsoft.com/office/drawing/2014/main" id="{87FAD882-9497-447C-4AAD-2896D0AB1C63}"/>
              </a:ext>
            </a:extLst>
          </p:cNvPr>
          <p:cNvSpPr>
            <a:spLocks noGrp="1"/>
          </p:cNvSpPr>
          <p:nvPr>
            <p:ph sz="half" idx="1"/>
          </p:nvPr>
        </p:nvSpPr>
        <p:spPr>
          <a:xfrm>
            <a:off x="609600" y="1600200"/>
            <a:ext cx="5384800" cy="4525963"/>
          </a:xfrm>
        </p:spPr>
        <p:txBody>
          <a:bodyPr>
            <a:normAutofit lnSpcReduction="10000"/>
          </a:bodyPr>
          <a:lstStyle/>
          <a:p>
            <a:pPr>
              <a:spcAft>
                <a:spcPts val="600"/>
              </a:spcAft>
              <a:buNone/>
              <a:defRPr/>
            </a:pPr>
            <a:r>
              <a:rPr lang="en-US" altLang="zh-CN" u="sng" dirty="0"/>
              <a:t>Primary Activities</a:t>
            </a:r>
          </a:p>
          <a:p>
            <a:pPr marL="0" indent="0">
              <a:buNone/>
              <a:defRPr/>
            </a:pPr>
            <a:r>
              <a:rPr lang="en-US" altLang="zh-CN" dirty="0"/>
              <a:t>Activities the firm completes in order to produce products and then sell, distribute, and service those products in ways that create value for customers </a:t>
            </a:r>
          </a:p>
          <a:p>
            <a:pPr marL="0" indent="0">
              <a:buNone/>
              <a:defRPr/>
            </a:pPr>
            <a:endParaRPr lang="en-US" altLang="zh-CN" dirty="0"/>
          </a:p>
          <a:p>
            <a:pPr>
              <a:spcAft>
                <a:spcPts val="600"/>
              </a:spcAft>
              <a:buNone/>
              <a:defRPr/>
            </a:pPr>
            <a:r>
              <a:rPr lang="en-US" altLang="zh-CN" u="sng" dirty="0"/>
              <a:t>Support Functions</a:t>
            </a:r>
          </a:p>
          <a:p>
            <a:pPr marL="0" indent="0">
              <a:buNone/>
              <a:defRPr/>
            </a:pPr>
            <a:r>
              <a:rPr lang="en-US" altLang="zh-CN" dirty="0"/>
              <a:t>Activities the firm completes in order to support the work being done to produce, sell, distribute, and service the products the firm is producing</a:t>
            </a:r>
          </a:p>
          <a:p>
            <a:pPr marL="0" indent="0">
              <a:buNone/>
            </a:pPr>
            <a:endParaRPr lang="zh-CN" altLang="en-US" dirty="0"/>
          </a:p>
        </p:txBody>
      </p:sp>
      <p:pic>
        <p:nvPicPr>
          <p:cNvPr id="6" name="Picture 2">
            <a:extLst>
              <a:ext uri="{FF2B5EF4-FFF2-40B4-BE49-F238E27FC236}">
                <a16:creationId xmlns:a16="http://schemas.microsoft.com/office/drawing/2014/main" id="{3003BB77-2329-CD40-8BA9-D9FC0097472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90" t="9987" r="4191" b="10041"/>
          <a:stretch/>
        </p:blipFill>
        <p:spPr bwMode="auto">
          <a:xfrm>
            <a:off x="6062137" y="1854486"/>
            <a:ext cx="6129863" cy="3719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6532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44D7E-C498-F3F7-D7DF-F65575269C4E}"/>
            </a:ext>
          </a:extLst>
        </p:cNvPr>
        <p:cNvGrpSpPr/>
        <p:nvPr/>
      </p:nvGrpSpPr>
      <p:grpSpPr>
        <a:xfrm>
          <a:off x="0" y="0"/>
          <a:ext cx="0" cy="0"/>
          <a:chOff x="0" y="0"/>
          <a:chExt cx="0" cy="0"/>
        </a:xfrm>
      </p:grpSpPr>
      <p:pic>
        <p:nvPicPr>
          <p:cNvPr id="5" name="Content Placeholder 3" descr="Diagram&#10;&#10;Description automatically generated">
            <a:extLst>
              <a:ext uri="{FF2B5EF4-FFF2-40B4-BE49-F238E27FC236}">
                <a16:creationId xmlns:a16="http://schemas.microsoft.com/office/drawing/2014/main" id="{C7A20334-B87D-6FB6-FAF2-4732B679D2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3288" y="1039092"/>
            <a:ext cx="5973112" cy="40732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EDA471FA-E2E0-8325-0338-B1A0DC1C7585}"/>
              </a:ext>
            </a:extLst>
          </p:cNvPr>
          <p:cNvSpPr>
            <a:spLocks noGrp="1"/>
          </p:cNvSpPr>
          <p:nvPr>
            <p:ph type="title"/>
          </p:nvPr>
        </p:nvSpPr>
        <p:spPr>
          <a:xfrm>
            <a:off x="609600" y="-4804"/>
            <a:ext cx="10048125" cy="1143000"/>
          </a:xfrm>
        </p:spPr>
        <p:txBody>
          <a:bodyPr anchor="ctr">
            <a:normAutofit/>
          </a:bodyPr>
          <a:lstStyle/>
          <a:p>
            <a:r>
              <a:rPr lang="en-US" altLang="zh-CN" dirty="0"/>
              <a:t>Primary Activities vs Support Functions</a:t>
            </a:r>
            <a:endParaRPr lang="zh-CN" altLang="en-US" dirty="0"/>
          </a:p>
        </p:txBody>
      </p:sp>
      <p:pic>
        <p:nvPicPr>
          <p:cNvPr id="3" name="Picture 4">
            <a:extLst>
              <a:ext uri="{FF2B5EF4-FFF2-40B4-BE49-F238E27FC236}">
                <a16:creationId xmlns:a16="http://schemas.microsoft.com/office/drawing/2014/main" id="{3B7A5264-1563-2C1C-06F0-45924121516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73113" y="2171701"/>
            <a:ext cx="6205599"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95866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53585-ADA9-A15A-5244-A41F045EC0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455D6D-9ECF-308A-D9A8-1BCCED862EF6}"/>
              </a:ext>
            </a:extLst>
          </p:cNvPr>
          <p:cNvSpPr>
            <a:spLocks noGrp="1"/>
          </p:cNvSpPr>
          <p:nvPr>
            <p:ph type="title"/>
          </p:nvPr>
        </p:nvSpPr>
        <p:spPr>
          <a:xfrm>
            <a:off x="609600" y="275167"/>
            <a:ext cx="10048125" cy="6143218"/>
          </a:xfrm>
        </p:spPr>
        <p:txBody>
          <a:bodyPr>
            <a:normAutofit/>
          </a:bodyPr>
          <a:lstStyle/>
          <a:p>
            <a:r>
              <a:rPr lang="en-US" dirty="0"/>
              <a:t>What should a company do if it cannot create sustainable competitive advantages from any single resource, capability, or value chain activity?</a:t>
            </a:r>
          </a:p>
        </p:txBody>
      </p:sp>
    </p:spTree>
    <p:extLst>
      <p:ext uri="{BB962C8B-B14F-4D97-AF65-F5344CB8AC3E}">
        <p14:creationId xmlns:p14="http://schemas.microsoft.com/office/powerpoint/2010/main" val="4209690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13319-1D4A-51DA-AD2A-EA99B4C759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2D7A58-0B23-877E-7434-D2D6CC2BA9BE}"/>
              </a:ext>
            </a:extLst>
          </p:cNvPr>
          <p:cNvSpPr>
            <a:spLocks noGrp="1"/>
          </p:cNvSpPr>
          <p:nvPr>
            <p:ph type="title"/>
          </p:nvPr>
        </p:nvSpPr>
        <p:spPr>
          <a:xfrm>
            <a:off x="609599" y="0"/>
            <a:ext cx="10048125" cy="1143000"/>
          </a:xfrm>
        </p:spPr>
        <p:txBody>
          <a:bodyPr/>
          <a:lstStyle/>
          <a:p>
            <a:r>
              <a:rPr lang="en-US" dirty="0"/>
              <a:t>From VRIN to VRIO</a:t>
            </a:r>
          </a:p>
        </p:txBody>
      </p:sp>
      <p:sp>
        <p:nvSpPr>
          <p:cNvPr id="3" name="Content Placeholder 2">
            <a:extLst>
              <a:ext uri="{FF2B5EF4-FFF2-40B4-BE49-F238E27FC236}">
                <a16:creationId xmlns:a16="http://schemas.microsoft.com/office/drawing/2014/main" id="{8E6217DE-BF55-0D86-75B4-20A2F765CB07}"/>
              </a:ext>
            </a:extLst>
          </p:cNvPr>
          <p:cNvSpPr>
            <a:spLocks noGrp="1"/>
          </p:cNvSpPr>
          <p:nvPr>
            <p:ph sz="quarter" idx="10"/>
          </p:nvPr>
        </p:nvSpPr>
        <p:spPr>
          <a:xfrm>
            <a:off x="609599" y="1143000"/>
            <a:ext cx="10048125" cy="4548716"/>
          </a:xfrm>
        </p:spPr>
        <p:txBody>
          <a:bodyPr/>
          <a:lstStyle/>
          <a:p>
            <a:r>
              <a:rPr lang="en-US" dirty="0"/>
              <a:t>O: Organization</a:t>
            </a:r>
            <a:r>
              <a:rPr lang="en-US" altLang="zh-CN" dirty="0"/>
              <a:t>/organized</a:t>
            </a:r>
            <a:endParaRPr lang="en-US" dirty="0"/>
          </a:p>
          <a:p>
            <a:pPr lvl="1"/>
            <a:r>
              <a:rPr lang="en-US" dirty="0"/>
              <a:t>The unique pattern or business model can become the source of sustained competitive advantages. </a:t>
            </a:r>
          </a:p>
          <a:p>
            <a:pPr lvl="1"/>
            <a:r>
              <a:rPr lang="en-US" dirty="0"/>
              <a:t>How firms organize their resources and capabilities is critical. </a:t>
            </a:r>
          </a:p>
          <a:p>
            <a:pPr lvl="1"/>
            <a:r>
              <a:rPr lang="en-US" dirty="0"/>
              <a:t>The entire value chain can be difficult to imitate or substitute.</a:t>
            </a:r>
          </a:p>
        </p:txBody>
      </p:sp>
      <p:grpSp>
        <p:nvGrpSpPr>
          <p:cNvPr id="4" name="Group 3">
            <a:extLst>
              <a:ext uri="{FF2B5EF4-FFF2-40B4-BE49-F238E27FC236}">
                <a16:creationId xmlns:a16="http://schemas.microsoft.com/office/drawing/2014/main" id="{512A6664-289D-3166-D8C2-10B7F59E3F84}"/>
              </a:ext>
            </a:extLst>
          </p:cNvPr>
          <p:cNvGrpSpPr/>
          <p:nvPr/>
        </p:nvGrpSpPr>
        <p:grpSpPr>
          <a:xfrm>
            <a:off x="2760784" y="3310499"/>
            <a:ext cx="6171712" cy="3431687"/>
            <a:chOff x="1012826" y="1677988"/>
            <a:chExt cx="7515224" cy="4110037"/>
          </a:xfrm>
        </p:grpSpPr>
        <p:sp>
          <p:nvSpPr>
            <p:cNvPr id="5" name="Line 3">
              <a:extLst>
                <a:ext uri="{FF2B5EF4-FFF2-40B4-BE49-F238E27FC236}">
                  <a16:creationId xmlns:a16="http://schemas.microsoft.com/office/drawing/2014/main" id="{73070B11-AE9B-4E86-4750-201325C3282D}"/>
                </a:ext>
              </a:extLst>
            </p:cNvPr>
            <p:cNvSpPr/>
            <p:nvPr/>
          </p:nvSpPr>
          <p:spPr>
            <a:xfrm>
              <a:off x="1670050" y="1774825"/>
              <a:ext cx="5562600" cy="0"/>
            </a:xfrm>
            <a:prstGeom prst="line">
              <a:avLst/>
            </a:prstGeom>
            <a:ln w="50800" cap="flat" cmpd="sng">
              <a:solidFill>
                <a:schemeClr val="tx1"/>
              </a:solidFill>
              <a:prstDash val="solid"/>
              <a:headEnd type="none" w="med" len="med"/>
              <a:tailEnd type="none" w="med" len="med"/>
            </a:ln>
          </p:spPr>
          <p:txBody>
            <a:bodyPr/>
            <a:lstStyle/>
            <a:p>
              <a:endParaRPr lang="en-US"/>
            </a:p>
          </p:txBody>
        </p:sp>
        <p:sp>
          <p:nvSpPr>
            <p:cNvPr id="6" name="Line 4">
              <a:extLst>
                <a:ext uri="{FF2B5EF4-FFF2-40B4-BE49-F238E27FC236}">
                  <a16:creationId xmlns:a16="http://schemas.microsoft.com/office/drawing/2014/main" id="{9F31ECD4-5FA1-8E6D-DDE4-408841DEF9F8}"/>
                </a:ext>
              </a:extLst>
            </p:cNvPr>
            <p:cNvSpPr/>
            <p:nvPr/>
          </p:nvSpPr>
          <p:spPr>
            <a:xfrm>
              <a:off x="1670050" y="5356225"/>
              <a:ext cx="5486400" cy="0"/>
            </a:xfrm>
            <a:prstGeom prst="line">
              <a:avLst/>
            </a:prstGeom>
            <a:ln w="50800" cap="flat" cmpd="sng">
              <a:solidFill>
                <a:schemeClr val="tx1"/>
              </a:solidFill>
              <a:prstDash val="solid"/>
              <a:headEnd type="none" w="med" len="med"/>
              <a:tailEnd type="none" w="med" len="med"/>
            </a:ln>
          </p:spPr>
          <p:txBody>
            <a:bodyPr/>
            <a:lstStyle/>
            <a:p>
              <a:endParaRPr lang="en-US"/>
            </a:p>
          </p:txBody>
        </p:sp>
        <p:sp>
          <p:nvSpPr>
            <p:cNvPr id="7" name="Line 5">
              <a:extLst>
                <a:ext uri="{FF2B5EF4-FFF2-40B4-BE49-F238E27FC236}">
                  <a16:creationId xmlns:a16="http://schemas.microsoft.com/office/drawing/2014/main" id="{D9E9C92D-1C09-BD03-D583-E62E165B1BA7}"/>
                </a:ext>
              </a:extLst>
            </p:cNvPr>
            <p:cNvSpPr/>
            <p:nvPr/>
          </p:nvSpPr>
          <p:spPr>
            <a:xfrm>
              <a:off x="1670050" y="1781175"/>
              <a:ext cx="0" cy="3568700"/>
            </a:xfrm>
            <a:prstGeom prst="line">
              <a:avLst/>
            </a:prstGeom>
            <a:ln w="50800" cap="flat" cmpd="sng">
              <a:solidFill>
                <a:schemeClr val="tx1"/>
              </a:solidFill>
              <a:prstDash val="solid"/>
              <a:headEnd type="none" w="med" len="med"/>
              <a:tailEnd type="none" w="med" len="med"/>
            </a:ln>
          </p:spPr>
          <p:txBody>
            <a:bodyPr/>
            <a:lstStyle/>
            <a:p>
              <a:endParaRPr lang="en-US"/>
            </a:p>
          </p:txBody>
        </p:sp>
        <p:sp>
          <p:nvSpPr>
            <p:cNvPr id="8" name="Line 6">
              <a:extLst>
                <a:ext uri="{FF2B5EF4-FFF2-40B4-BE49-F238E27FC236}">
                  <a16:creationId xmlns:a16="http://schemas.microsoft.com/office/drawing/2014/main" id="{647D0C16-04BD-AE6D-DD60-FAE4FD0B6EE1}"/>
                </a:ext>
              </a:extLst>
            </p:cNvPr>
            <p:cNvSpPr/>
            <p:nvPr/>
          </p:nvSpPr>
          <p:spPr>
            <a:xfrm>
              <a:off x="1676400" y="3527425"/>
              <a:ext cx="6394450" cy="0"/>
            </a:xfrm>
            <a:prstGeom prst="line">
              <a:avLst/>
            </a:prstGeom>
            <a:ln w="12700" cap="flat" cmpd="sng">
              <a:solidFill>
                <a:schemeClr val="tx1"/>
              </a:solidFill>
              <a:prstDash val="solid"/>
              <a:headEnd type="none" w="med" len="med"/>
              <a:tailEnd type="none" w="med" len="med"/>
            </a:ln>
          </p:spPr>
          <p:txBody>
            <a:bodyPr/>
            <a:lstStyle/>
            <a:p>
              <a:endParaRPr lang="en-US"/>
            </a:p>
          </p:txBody>
        </p:sp>
        <p:sp>
          <p:nvSpPr>
            <p:cNvPr id="9" name="Line 7">
              <a:extLst>
                <a:ext uri="{FF2B5EF4-FFF2-40B4-BE49-F238E27FC236}">
                  <a16:creationId xmlns:a16="http://schemas.microsoft.com/office/drawing/2014/main" id="{0E187D86-9716-44CF-934A-F831D9707933}"/>
                </a:ext>
              </a:extLst>
            </p:cNvPr>
            <p:cNvSpPr/>
            <p:nvPr/>
          </p:nvSpPr>
          <p:spPr>
            <a:xfrm flipV="1">
              <a:off x="7162800" y="3521075"/>
              <a:ext cx="1358900" cy="1841500"/>
            </a:xfrm>
            <a:prstGeom prst="line">
              <a:avLst/>
            </a:prstGeom>
            <a:ln w="50800" cap="flat" cmpd="sng">
              <a:solidFill>
                <a:schemeClr val="tx1"/>
              </a:solidFill>
              <a:prstDash val="solid"/>
              <a:headEnd type="none" w="med" len="med"/>
              <a:tailEnd type="none" w="med" len="med"/>
            </a:ln>
          </p:spPr>
          <p:txBody>
            <a:bodyPr/>
            <a:lstStyle/>
            <a:p>
              <a:endParaRPr lang="en-US"/>
            </a:p>
          </p:txBody>
        </p:sp>
        <p:sp>
          <p:nvSpPr>
            <p:cNvPr id="10" name="Line 8">
              <a:extLst>
                <a:ext uri="{FF2B5EF4-FFF2-40B4-BE49-F238E27FC236}">
                  <a16:creationId xmlns:a16="http://schemas.microsoft.com/office/drawing/2014/main" id="{5A5C2620-C697-C9F6-D2C5-80ABDBBD7D9E}"/>
                </a:ext>
              </a:extLst>
            </p:cNvPr>
            <p:cNvSpPr/>
            <p:nvPr/>
          </p:nvSpPr>
          <p:spPr>
            <a:xfrm>
              <a:off x="7194550" y="1757363"/>
              <a:ext cx="1333500" cy="1770062"/>
            </a:xfrm>
            <a:prstGeom prst="line">
              <a:avLst/>
            </a:prstGeom>
            <a:ln w="50800" cap="flat" cmpd="sng">
              <a:solidFill>
                <a:schemeClr val="tx1"/>
              </a:solidFill>
              <a:prstDash val="solid"/>
              <a:headEnd type="none" w="med" len="med"/>
              <a:tailEnd type="none" w="med" len="med"/>
            </a:ln>
          </p:spPr>
          <p:txBody>
            <a:bodyPr/>
            <a:lstStyle/>
            <a:p>
              <a:endParaRPr lang="en-US"/>
            </a:p>
          </p:txBody>
        </p:sp>
        <p:sp>
          <p:nvSpPr>
            <p:cNvPr id="11" name="Line 9">
              <a:extLst>
                <a:ext uri="{FF2B5EF4-FFF2-40B4-BE49-F238E27FC236}">
                  <a16:creationId xmlns:a16="http://schemas.microsoft.com/office/drawing/2014/main" id="{D0BD500B-5363-F1C2-D534-F622D8BF3FFD}"/>
                </a:ext>
              </a:extLst>
            </p:cNvPr>
            <p:cNvSpPr/>
            <p:nvPr/>
          </p:nvSpPr>
          <p:spPr>
            <a:xfrm>
              <a:off x="6705600" y="1781175"/>
              <a:ext cx="1358900" cy="1739900"/>
            </a:xfrm>
            <a:prstGeom prst="line">
              <a:avLst/>
            </a:prstGeom>
            <a:ln w="12700" cap="flat" cmpd="sng">
              <a:solidFill>
                <a:schemeClr val="tx1"/>
              </a:solidFill>
              <a:prstDash val="solid"/>
              <a:headEnd type="none" w="med" len="med"/>
              <a:tailEnd type="none" w="med" len="med"/>
            </a:ln>
          </p:spPr>
          <p:txBody>
            <a:bodyPr/>
            <a:lstStyle/>
            <a:p>
              <a:endParaRPr lang="en-US"/>
            </a:p>
          </p:txBody>
        </p:sp>
        <p:sp>
          <p:nvSpPr>
            <p:cNvPr id="12" name="Line 10">
              <a:extLst>
                <a:ext uri="{FF2B5EF4-FFF2-40B4-BE49-F238E27FC236}">
                  <a16:creationId xmlns:a16="http://schemas.microsoft.com/office/drawing/2014/main" id="{D3ED0B67-B536-7A51-E395-2708BBFB3B7E}"/>
                </a:ext>
              </a:extLst>
            </p:cNvPr>
            <p:cNvSpPr/>
            <p:nvPr/>
          </p:nvSpPr>
          <p:spPr>
            <a:xfrm flipV="1">
              <a:off x="6705600" y="3521075"/>
              <a:ext cx="1358900" cy="1841500"/>
            </a:xfrm>
            <a:prstGeom prst="line">
              <a:avLst/>
            </a:prstGeom>
            <a:ln w="12700" cap="flat" cmpd="sng">
              <a:solidFill>
                <a:schemeClr val="tx1"/>
              </a:solidFill>
              <a:prstDash val="solid"/>
              <a:headEnd type="none" w="med" len="med"/>
              <a:tailEnd type="none" w="med" len="med"/>
            </a:ln>
          </p:spPr>
          <p:txBody>
            <a:bodyPr/>
            <a:lstStyle/>
            <a:p>
              <a:endParaRPr lang="en-US"/>
            </a:p>
          </p:txBody>
        </p:sp>
        <p:sp>
          <p:nvSpPr>
            <p:cNvPr id="13" name="Line 11">
              <a:extLst>
                <a:ext uri="{FF2B5EF4-FFF2-40B4-BE49-F238E27FC236}">
                  <a16:creationId xmlns:a16="http://schemas.microsoft.com/office/drawing/2014/main" id="{F7A43906-A653-4B8A-D2AE-E7298AB97502}"/>
                </a:ext>
              </a:extLst>
            </p:cNvPr>
            <p:cNvSpPr/>
            <p:nvPr/>
          </p:nvSpPr>
          <p:spPr>
            <a:xfrm>
              <a:off x="2660650" y="3533775"/>
              <a:ext cx="0" cy="1816100"/>
            </a:xfrm>
            <a:prstGeom prst="line">
              <a:avLst/>
            </a:prstGeom>
            <a:ln w="12700" cap="flat" cmpd="sng">
              <a:solidFill>
                <a:schemeClr val="tx1"/>
              </a:solidFill>
              <a:prstDash val="solid"/>
              <a:headEnd type="none" w="med" len="med"/>
              <a:tailEnd type="none" w="med" len="med"/>
            </a:ln>
          </p:spPr>
          <p:txBody>
            <a:bodyPr/>
            <a:lstStyle/>
            <a:p>
              <a:endParaRPr lang="en-US"/>
            </a:p>
          </p:txBody>
        </p:sp>
        <p:sp>
          <p:nvSpPr>
            <p:cNvPr id="14" name="Line 12">
              <a:extLst>
                <a:ext uri="{FF2B5EF4-FFF2-40B4-BE49-F238E27FC236}">
                  <a16:creationId xmlns:a16="http://schemas.microsoft.com/office/drawing/2014/main" id="{7ABFCD3D-1ADD-E1EF-69C2-CB2F45C7A128}"/>
                </a:ext>
              </a:extLst>
            </p:cNvPr>
            <p:cNvSpPr/>
            <p:nvPr/>
          </p:nvSpPr>
          <p:spPr>
            <a:xfrm>
              <a:off x="3727450" y="3533775"/>
              <a:ext cx="0" cy="1816100"/>
            </a:xfrm>
            <a:prstGeom prst="line">
              <a:avLst/>
            </a:prstGeom>
            <a:ln w="12700" cap="flat" cmpd="sng">
              <a:solidFill>
                <a:schemeClr val="tx1"/>
              </a:solidFill>
              <a:prstDash val="solid"/>
              <a:headEnd type="none" w="med" len="med"/>
              <a:tailEnd type="none" w="med" len="med"/>
            </a:ln>
          </p:spPr>
          <p:txBody>
            <a:bodyPr/>
            <a:lstStyle/>
            <a:p>
              <a:endParaRPr lang="en-US"/>
            </a:p>
          </p:txBody>
        </p:sp>
        <p:sp>
          <p:nvSpPr>
            <p:cNvPr id="15" name="Line 13">
              <a:extLst>
                <a:ext uri="{FF2B5EF4-FFF2-40B4-BE49-F238E27FC236}">
                  <a16:creationId xmlns:a16="http://schemas.microsoft.com/office/drawing/2014/main" id="{42D1EDF3-A7A4-8D96-9458-8558D351FA39}"/>
                </a:ext>
              </a:extLst>
            </p:cNvPr>
            <p:cNvSpPr/>
            <p:nvPr/>
          </p:nvSpPr>
          <p:spPr>
            <a:xfrm>
              <a:off x="4794250" y="3533775"/>
              <a:ext cx="0" cy="1816100"/>
            </a:xfrm>
            <a:prstGeom prst="line">
              <a:avLst/>
            </a:prstGeom>
            <a:ln w="12700" cap="flat" cmpd="sng">
              <a:solidFill>
                <a:schemeClr val="tx1"/>
              </a:solidFill>
              <a:prstDash val="solid"/>
              <a:headEnd type="none" w="med" len="med"/>
              <a:tailEnd type="none" w="med" len="med"/>
            </a:ln>
          </p:spPr>
          <p:txBody>
            <a:bodyPr/>
            <a:lstStyle/>
            <a:p>
              <a:endParaRPr lang="en-US"/>
            </a:p>
          </p:txBody>
        </p:sp>
        <p:sp>
          <p:nvSpPr>
            <p:cNvPr id="16" name="Line 14">
              <a:extLst>
                <a:ext uri="{FF2B5EF4-FFF2-40B4-BE49-F238E27FC236}">
                  <a16:creationId xmlns:a16="http://schemas.microsoft.com/office/drawing/2014/main" id="{ED2014D5-524D-1BD6-606A-97CE157E248E}"/>
                </a:ext>
              </a:extLst>
            </p:cNvPr>
            <p:cNvSpPr/>
            <p:nvPr/>
          </p:nvSpPr>
          <p:spPr>
            <a:xfrm>
              <a:off x="5861050" y="3533775"/>
              <a:ext cx="0" cy="1816100"/>
            </a:xfrm>
            <a:prstGeom prst="line">
              <a:avLst/>
            </a:prstGeom>
            <a:ln w="12700" cap="flat" cmpd="sng">
              <a:solidFill>
                <a:schemeClr val="tx1"/>
              </a:solidFill>
              <a:prstDash val="solid"/>
              <a:headEnd type="none" w="med" len="med"/>
              <a:tailEnd type="none" w="med" len="med"/>
            </a:ln>
          </p:spPr>
          <p:txBody>
            <a:bodyPr/>
            <a:lstStyle/>
            <a:p>
              <a:endParaRPr lang="en-US"/>
            </a:p>
          </p:txBody>
        </p:sp>
        <p:sp>
          <p:nvSpPr>
            <p:cNvPr id="17" name="Line 15">
              <a:extLst>
                <a:ext uri="{FF2B5EF4-FFF2-40B4-BE49-F238E27FC236}">
                  <a16:creationId xmlns:a16="http://schemas.microsoft.com/office/drawing/2014/main" id="{4C4F9248-B2A7-C2AE-206D-7165EB276638}"/>
                </a:ext>
              </a:extLst>
            </p:cNvPr>
            <p:cNvSpPr/>
            <p:nvPr/>
          </p:nvSpPr>
          <p:spPr>
            <a:xfrm>
              <a:off x="1676400" y="2155825"/>
              <a:ext cx="5245100" cy="0"/>
            </a:xfrm>
            <a:prstGeom prst="line">
              <a:avLst/>
            </a:prstGeom>
            <a:ln w="12700" cap="flat" cmpd="sng">
              <a:solidFill>
                <a:schemeClr val="tx1"/>
              </a:solidFill>
              <a:prstDash val="solid"/>
              <a:headEnd type="none" w="med" len="med"/>
              <a:tailEnd type="none" w="med" len="med"/>
            </a:ln>
          </p:spPr>
          <p:txBody>
            <a:bodyPr/>
            <a:lstStyle/>
            <a:p>
              <a:endParaRPr lang="en-US"/>
            </a:p>
          </p:txBody>
        </p:sp>
        <p:sp>
          <p:nvSpPr>
            <p:cNvPr id="18" name="Line 16">
              <a:extLst>
                <a:ext uri="{FF2B5EF4-FFF2-40B4-BE49-F238E27FC236}">
                  <a16:creationId xmlns:a16="http://schemas.microsoft.com/office/drawing/2014/main" id="{936E033A-80CB-5589-076D-B042D41A00DE}"/>
                </a:ext>
              </a:extLst>
            </p:cNvPr>
            <p:cNvSpPr/>
            <p:nvPr/>
          </p:nvSpPr>
          <p:spPr>
            <a:xfrm>
              <a:off x="1676400" y="2613025"/>
              <a:ext cx="5626100" cy="0"/>
            </a:xfrm>
            <a:prstGeom prst="line">
              <a:avLst/>
            </a:prstGeom>
            <a:ln w="12700" cap="flat" cmpd="sng">
              <a:solidFill>
                <a:schemeClr val="tx1"/>
              </a:solidFill>
              <a:prstDash val="solid"/>
              <a:headEnd type="none" w="med" len="med"/>
              <a:tailEnd type="none" w="med" len="med"/>
            </a:ln>
          </p:spPr>
          <p:txBody>
            <a:bodyPr/>
            <a:lstStyle/>
            <a:p>
              <a:endParaRPr lang="en-US"/>
            </a:p>
          </p:txBody>
        </p:sp>
        <p:sp>
          <p:nvSpPr>
            <p:cNvPr id="19" name="Line 17">
              <a:extLst>
                <a:ext uri="{FF2B5EF4-FFF2-40B4-BE49-F238E27FC236}">
                  <a16:creationId xmlns:a16="http://schemas.microsoft.com/office/drawing/2014/main" id="{076F3CFE-FD7C-FB6D-41A5-74A0FD536336}"/>
                </a:ext>
              </a:extLst>
            </p:cNvPr>
            <p:cNvSpPr/>
            <p:nvPr/>
          </p:nvSpPr>
          <p:spPr>
            <a:xfrm>
              <a:off x="1676400" y="3070225"/>
              <a:ext cx="6007100" cy="0"/>
            </a:xfrm>
            <a:prstGeom prst="line">
              <a:avLst/>
            </a:prstGeom>
            <a:ln w="12700" cap="flat" cmpd="sng">
              <a:solidFill>
                <a:schemeClr val="tx1"/>
              </a:solidFill>
              <a:prstDash val="solid"/>
              <a:headEnd type="none" w="med" len="med"/>
              <a:tailEnd type="none" w="med" len="med"/>
            </a:ln>
          </p:spPr>
          <p:txBody>
            <a:bodyPr/>
            <a:lstStyle/>
            <a:p>
              <a:endParaRPr lang="en-US"/>
            </a:p>
          </p:txBody>
        </p:sp>
        <p:sp>
          <p:nvSpPr>
            <p:cNvPr id="20" name="Rectangle 18">
              <a:extLst>
                <a:ext uri="{FF2B5EF4-FFF2-40B4-BE49-F238E27FC236}">
                  <a16:creationId xmlns:a16="http://schemas.microsoft.com/office/drawing/2014/main" id="{9415DD0F-799B-261A-7C82-4E38FAA32E9F}"/>
                </a:ext>
              </a:extLst>
            </p:cNvPr>
            <p:cNvSpPr/>
            <p:nvPr/>
          </p:nvSpPr>
          <p:spPr>
            <a:xfrm>
              <a:off x="2740025" y="1852613"/>
              <a:ext cx="4035425" cy="301625"/>
            </a:xfrm>
            <a:prstGeom prst="rect">
              <a:avLst/>
            </a:prstGeom>
            <a:noFill/>
            <a:ln w="12700">
              <a:noFill/>
            </a:ln>
          </p:spPr>
          <p:txBody>
            <a:bodyPr lIns="90488" tIns="44450" rIns="90488" bIns="44450">
              <a:spAutoFit/>
            </a:bodyPr>
            <a:lstStyle/>
            <a:p>
              <a:pPr eaLnBrk="1" hangingPunct="1">
                <a:spcBef>
                  <a:spcPct val="50000"/>
                </a:spcBef>
              </a:pPr>
              <a:r>
                <a:rPr lang="en-US" altLang="en-US" sz="1400" b="1" dirty="0">
                  <a:latin typeface="Comic Sans MS" panose="030F0702030302020204" pitchFamily="66" charset="0"/>
                </a:rPr>
                <a:t> Firm Infrastructure (General Management)</a:t>
              </a:r>
            </a:p>
          </p:txBody>
        </p:sp>
        <p:sp>
          <p:nvSpPr>
            <p:cNvPr id="21" name="Rectangle 19">
              <a:extLst>
                <a:ext uri="{FF2B5EF4-FFF2-40B4-BE49-F238E27FC236}">
                  <a16:creationId xmlns:a16="http://schemas.microsoft.com/office/drawing/2014/main" id="{5019C3EC-BB84-A312-B7AB-BBECD409A4A3}"/>
                </a:ext>
              </a:extLst>
            </p:cNvPr>
            <p:cNvSpPr/>
            <p:nvPr/>
          </p:nvSpPr>
          <p:spPr>
            <a:xfrm>
              <a:off x="2816225" y="2309813"/>
              <a:ext cx="4035425" cy="301625"/>
            </a:xfrm>
            <a:prstGeom prst="rect">
              <a:avLst/>
            </a:prstGeom>
            <a:noFill/>
            <a:ln w="12700">
              <a:noFill/>
            </a:ln>
          </p:spPr>
          <p:txBody>
            <a:bodyPr lIns="90488" tIns="44450" rIns="90488" bIns="44450">
              <a:spAutoFit/>
            </a:bodyPr>
            <a:lstStyle/>
            <a:p>
              <a:pPr eaLnBrk="1" hangingPunct="1">
                <a:spcBef>
                  <a:spcPct val="50000"/>
                </a:spcBef>
              </a:pPr>
              <a:r>
                <a:rPr lang="en-US" altLang="en-US" sz="1400" b="1" dirty="0">
                  <a:latin typeface="Comic Sans MS" panose="030F0702030302020204" pitchFamily="66" charset="0"/>
                </a:rPr>
                <a:t>Human Resource Management</a:t>
              </a:r>
            </a:p>
          </p:txBody>
        </p:sp>
        <p:sp>
          <p:nvSpPr>
            <p:cNvPr id="22" name="Rectangle 20">
              <a:extLst>
                <a:ext uri="{FF2B5EF4-FFF2-40B4-BE49-F238E27FC236}">
                  <a16:creationId xmlns:a16="http://schemas.microsoft.com/office/drawing/2014/main" id="{A5236EE0-9F3C-7108-142B-A3812B5A7FF3}"/>
                </a:ext>
              </a:extLst>
            </p:cNvPr>
            <p:cNvSpPr/>
            <p:nvPr/>
          </p:nvSpPr>
          <p:spPr>
            <a:xfrm>
              <a:off x="2816225" y="2767013"/>
              <a:ext cx="3121025" cy="301625"/>
            </a:xfrm>
            <a:prstGeom prst="rect">
              <a:avLst/>
            </a:prstGeom>
            <a:noFill/>
            <a:ln w="12700">
              <a:noFill/>
            </a:ln>
          </p:spPr>
          <p:txBody>
            <a:bodyPr lIns="90488" tIns="44450" rIns="90488" bIns="44450">
              <a:spAutoFit/>
            </a:bodyPr>
            <a:lstStyle/>
            <a:p>
              <a:pPr eaLnBrk="1" hangingPunct="1">
                <a:spcBef>
                  <a:spcPct val="50000"/>
                </a:spcBef>
              </a:pPr>
              <a:r>
                <a:rPr lang="en-US" altLang="en-US" sz="1400" b="1" dirty="0">
                  <a:latin typeface="Comic Sans MS" panose="030F0702030302020204" pitchFamily="66" charset="0"/>
                </a:rPr>
                <a:t>Technology Development</a:t>
              </a:r>
            </a:p>
          </p:txBody>
        </p:sp>
        <p:sp>
          <p:nvSpPr>
            <p:cNvPr id="23" name="Rectangle 21">
              <a:extLst>
                <a:ext uri="{FF2B5EF4-FFF2-40B4-BE49-F238E27FC236}">
                  <a16:creationId xmlns:a16="http://schemas.microsoft.com/office/drawing/2014/main" id="{2F830578-56AB-A9F4-5C29-2669623EA1EB}"/>
                </a:ext>
              </a:extLst>
            </p:cNvPr>
            <p:cNvSpPr/>
            <p:nvPr/>
          </p:nvSpPr>
          <p:spPr>
            <a:xfrm>
              <a:off x="2816225" y="3148013"/>
              <a:ext cx="2587625" cy="301625"/>
            </a:xfrm>
            <a:prstGeom prst="rect">
              <a:avLst/>
            </a:prstGeom>
            <a:noFill/>
            <a:ln w="12700">
              <a:noFill/>
            </a:ln>
          </p:spPr>
          <p:txBody>
            <a:bodyPr lIns="90488" tIns="44450" rIns="90488" bIns="44450">
              <a:spAutoFit/>
            </a:bodyPr>
            <a:lstStyle/>
            <a:p>
              <a:pPr eaLnBrk="1" hangingPunct="1">
                <a:spcBef>
                  <a:spcPct val="50000"/>
                </a:spcBef>
              </a:pPr>
              <a:r>
                <a:rPr lang="en-US" altLang="en-US" sz="1400" b="1" dirty="0">
                  <a:latin typeface="Comic Sans MS" panose="030F0702030302020204" pitchFamily="66" charset="0"/>
                </a:rPr>
                <a:t>Procurement</a:t>
              </a:r>
            </a:p>
          </p:txBody>
        </p:sp>
        <p:sp>
          <p:nvSpPr>
            <p:cNvPr id="24" name="Rectangle 22">
              <a:extLst>
                <a:ext uri="{FF2B5EF4-FFF2-40B4-BE49-F238E27FC236}">
                  <a16:creationId xmlns:a16="http://schemas.microsoft.com/office/drawing/2014/main" id="{F647CFC7-8B5A-8522-C989-288BF66BA696}"/>
                </a:ext>
              </a:extLst>
            </p:cNvPr>
            <p:cNvSpPr/>
            <p:nvPr/>
          </p:nvSpPr>
          <p:spPr>
            <a:xfrm>
              <a:off x="1673225" y="3757613"/>
              <a:ext cx="1063625" cy="514350"/>
            </a:xfrm>
            <a:prstGeom prst="rect">
              <a:avLst/>
            </a:prstGeom>
            <a:noFill/>
            <a:ln w="12700">
              <a:noFill/>
            </a:ln>
          </p:spPr>
          <p:txBody>
            <a:bodyPr lIns="90488" tIns="44450" rIns="90488" bIns="44450">
              <a:spAutoFit/>
            </a:bodyPr>
            <a:lstStyle/>
            <a:p>
              <a:pPr eaLnBrk="1" hangingPunct="1">
                <a:spcBef>
                  <a:spcPct val="50000"/>
                </a:spcBef>
              </a:pPr>
              <a:r>
                <a:rPr lang="en-US" altLang="en-US" sz="1400" b="1" dirty="0">
                  <a:latin typeface="Comic Sans MS" panose="030F0702030302020204" pitchFamily="66" charset="0"/>
                </a:rPr>
                <a:t>Inbound Logistics</a:t>
              </a:r>
            </a:p>
          </p:txBody>
        </p:sp>
        <p:sp>
          <p:nvSpPr>
            <p:cNvPr id="25" name="Rectangle 23">
              <a:extLst>
                <a:ext uri="{FF2B5EF4-FFF2-40B4-BE49-F238E27FC236}">
                  <a16:creationId xmlns:a16="http://schemas.microsoft.com/office/drawing/2014/main" id="{58F5B687-22F9-ED53-3CCE-FDC280991E83}"/>
                </a:ext>
              </a:extLst>
            </p:cNvPr>
            <p:cNvSpPr/>
            <p:nvPr/>
          </p:nvSpPr>
          <p:spPr>
            <a:xfrm>
              <a:off x="2740025" y="3833813"/>
              <a:ext cx="911225" cy="301625"/>
            </a:xfrm>
            <a:prstGeom prst="rect">
              <a:avLst/>
            </a:prstGeom>
            <a:noFill/>
            <a:ln w="12700">
              <a:noFill/>
            </a:ln>
          </p:spPr>
          <p:txBody>
            <a:bodyPr lIns="90488" tIns="44450" rIns="90488" bIns="44450">
              <a:spAutoFit/>
            </a:bodyPr>
            <a:lstStyle/>
            <a:p>
              <a:pPr eaLnBrk="1" hangingPunct="1">
                <a:spcBef>
                  <a:spcPct val="50000"/>
                </a:spcBef>
              </a:pPr>
              <a:r>
                <a:rPr lang="en-US" altLang="en-US" sz="1400" b="1" dirty="0">
                  <a:latin typeface="Comic Sans MS" panose="030F0702030302020204" pitchFamily="66" charset="0"/>
                </a:rPr>
                <a:t>Ops.</a:t>
              </a:r>
            </a:p>
          </p:txBody>
        </p:sp>
        <p:sp>
          <p:nvSpPr>
            <p:cNvPr id="26" name="Rectangle 24">
              <a:extLst>
                <a:ext uri="{FF2B5EF4-FFF2-40B4-BE49-F238E27FC236}">
                  <a16:creationId xmlns:a16="http://schemas.microsoft.com/office/drawing/2014/main" id="{E2978974-E629-C74F-FD70-B9E4D7A20B65}"/>
                </a:ext>
              </a:extLst>
            </p:cNvPr>
            <p:cNvSpPr/>
            <p:nvPr/>
          </p:nvSpPr>
          <p:spPr>
            <a:xfrm>
              <a:off x="3730625" y="3757613"/>
              <a:ext cx="1139825" cy="514350"/>
            </a:xfrm>
            <a:prstGeom prst="rect">
              <a:avLst/>
            </a:prstGeom>
            <a:noFill/>
            <a:ln w="12700">
              <a:noFill/>
            </a:ln>
          </p:spPr>
          <p:txBody>
            <a:bodyPr lIns="90488" tIns="44450" rIns="90488" bIns="44450">
              <a:spAutoFit/>
            </a:bodyPr>
            <a:lstStyle/>
            <a:p>
              <a:pPr eaLnBrk="1" hangingPunct="1">
                <a:spcBef>
                  <a:spcPct val="50000"/>
                </a:spcBef>
              </a:pPr>
              <a:r>
                <a:rPr lang="en-US" altLang="en-US" sz="1400" b="1" dirty="0">
                  <a:latin typeface="Comic Sans MS" panose="030F0702030302020204" pitchFamily="66" charset="0"/>
                </a:rPr>
                <a:t>Outbound Logistics</a:t>
              </a:r>
            </a:p>
          </p:txBody>
        </p:sp>
        <p:sp>
          <p:nvSpPr>
            <p:cNvPr id="27" name="Rectangle 25">
              <a:extLst>
                <a:ext uri="{FF2B5EF4-FFF2-40B4-BE49-F238E27FC236}">
                  <a16:creationId xmlns:a16="http://schemas.microsoft.com/office/drawing/2014/main" id="{1558327F-8686-46AD-020A-CA8477AD6105}"/>
                </a:ext>
              </a:extLst>
            </p:cNvPr>
            <p:cNvSpPr/>
            <p:nvPr/>
          </p:nvSpPr>
          <p:spPr>
            <a:xfrm>
              <a:off x="4873625" y="3757613"/>
              <a:ext cx="1216025" cy="514350"/>
            </a:xfrm>
            <a:prstGeom prst="rect">
              <a:avLst/>
            </a:prstGeom>
            <a:noFill/>
            <a:ln w="12700">
              <a:noFill/>
            </a:ln>
          </p:spPr>
          <p:txBody>
            <a:bodyPr lIns="90488" tIns="44450" rIns="90488" bIns="44450">
              <a:spAutoFit/>
            </a:bodyPr>
            <a:lstStyle/>
            <a:p>
              <a:pPr eaLnBrk="1" hangingPunct="1">
                <a:spcBef>
                  <a:spcPct val="50000"/>
                </a:spcBef>
              </a:pPr>
              <a:r>
                <a:rPr lang="en-US" altLang="en-US" sz="1400" b="1" dirty="0">
                  <a:latin typeface="Comic Sans MS" panose="030F0702030302020204" pitchFamily="66" charset="0"/>
                </a:rPr>
                <a:t>Sales &amp; Marketing</a:t>
              </a:r>
            </a:p>
          </p:txBody>
        </p:sp>
        <p:sp>
          <p:nvSpPr>
            <p:cNvPr id="28" name="Rectangle 26">
              <a:extLst>
                <a:ext uri="{FF2B5EF4-FFF2-40B4-BE49-F238E27FC236}">
                  <a16:creationId xmlns:a16="http://schemas.microsoft.com/office/drawing/2014/main" id="{8DD53D0E-B18D-D3C4-AFC1-FEB0F4E14A51}"/>
                </a:ext>
              </a:extLst>
            </p:cNvPr>
            <p:cNvSpPr/>
            <p:nvPr/>
          </p:nvSpPr>
          <p:spPr>
            <a:xfrm>
              <a:off x="5940425" y="3757613"/>
              <a:ext cx="1444625" cy="514350"/>
            </a:xfrm>
            <a:prstGeom prst="rect">
              <a:avLst/>
            </a:prstGeom>
            <a:noFill/>
            <a:ln w="12700">
              <a:noFill/>
            </a:ln>
          </p:spPr>
          <p:txBody>
            <a:bodyPr lIns="90488" tIns="44450" rIns="90488" bIns="44450">
              <a:spAutoFit/>
            </a:bodyPr>
            <a:lstStyle/>
            <a:p>
              <a:pPr eaLnBrk="1" hangingPunct="1">
                <a:spcBef>
                  <a:spcPct val="50000"/>
                </a:spcBef>
              </a:pPr>
              <a:r>
                <a:rPr lang="en-US" altLang="en-US" sz="1400" b="1" dirty="0">
                  <a:latin typeface="Comic Sans MS" panose="030F0702030302020204" pitchFamily="66" charset="0"/>
                </a:rPr>
                <a:t>Service and Support</a:t>
              </a:r>
            </a:p>
          </p:txBody>
        </p:sp>
        <p:sp>
          <p:nvSpPr>
            <p:cNvPr id="29" name="Rectangle 27">
              <a:extLst>
                <a:ext uri="{FF2B5EF4-FFF2-40B4-BE49-F238E27FC236}">
                  <a16:creationId xmlns:a16="http://schemas.microsoft.com/office/drawing/2014/main" id="{3CF231E3-FD1F-B960-7D76-FCBF24FBE24D}"/>
                </a:ext>
              </a:extLst>
            </p:cNvPr>
            <p:cNvSpPr/>
            <p:nvPr/>
          </p:nvSpPr>
          <p:spPr>
            <a:xfrm>
              <a:off x="2362200" y="5486400"/>
              <a:ext cx="3273425" cy="301625"/>
            </a:xfrm>
            <a:prstGeom prst="rect">
              <a:avLst/>
            </a:prstGeom>
            <a:noFill/>
            <a:ln w="12700">
              <a:noFill/>
            </a:ln>
          </p:spPr>
          <p:txBody>
            <a:bodyPr lIns="90488" tIns="44450" rIns="90488" bIns="44450">
              <a:spAutoFit/>
            </a:bodyPr>
            <a:lstStyle/>
            <a:p>
              <a:pPr eaLnBrk="1" hangingPunct="1">
                <a:spcBef>
                  <a:spcPct val="50000"/>
                </a:spcBef>
              </a:pPr>
              <a:r>
                <a:rPr lang="en-US" altLang="en-US" sz="1400" b="1" dirty="0">
                  <a:latin typeface="Comic Sans MS" panose="030F0702030302020204" pitchFamily="66" charset="0"/>
                </a:rPr>
                <a:t>PRIMARY ACTIVITIES</a:t>
              </a:r>
            </a:p>
          </p:txBody>
        </p:sp>
        <p:sp>
          <p:nvSpPr>
            <p:cNvPr id="30" name="Rectangle 28">
              <a:extLst>
                <a:ext uri="{FF2B5EF4-FFF2-40B4-BE49-F238E27FC236}">
                  <a16:creationId xmlns:a16="http://schemas.microsoft.com/office/drawing/2014/main" id="{E2FA58F6-734E-FF14-21A3-0CD518513526}"/>
                </a:ext>
              </a:extLst>
            </p:cNvPr>
            <p:cNvSpPr/>
            <p:nvPr/>
          </p:nvSpPr>
          <p:spPr>
            <a:xfrm rot="-5400000">
              <a:off x="547688" y="2271713"/>
              <a:ext cx="1444625" cy="514350"/>
            </a:xfrm>
            <a:prstGeom prst="rect">
              <a:avLst/>
            </a:prstGeom>
            <a:noFill/>
            <a:ln w="12700">
              <a:noFill/>
            </a:ln>
          </p:spPr>
          <p:txBody>
            <a:bodyPr lIns="90488" tIns="44450" rIns="90488" bIns="44450">
              <a:spAutoFit/>
            </a:bodyPr>
            <a:lstStyle/>
            <a:p>
              <a:pPr eaLnBrk="1" hangingPunct="1">
                <a:spcBef>
                  <a:spcPct val="50000"/>
                </a:spcBef>
              </a:pPr>
              <a:r>
                <a:rPr lang="en-US" altLang="en-US" sz="1400" b="1" dirty="0">
                  <a:latin typeface="Comic Sans MS" panose="030F0702030302020204" pitchFamily="66" charset="0"/>
                </a:rPr>
                <a:t>SUPPORT ACTIVITIES</a:t>
              </a:r>
            </a:p>
          </p:txBody>
        </p:sp>
        <p:sp>
          <p:nvSpPr>
            <p:cNvPr id="31" name="Rectangle 29">
              <a:extLst>
                <a:ext uri="{FF2B5EF4-FFF2-40B4-BE49-F238E27FC236}">
                  <a16:creationId xmlns:a16="http://schemas.microsoft.com/office/drawing/2014/main" id="{FA4FD733-A604-1479-703D-AA28E1023B28}"/>
                </a:ext>
              </a:extLst>
            </p:cNvPr>
            <p:cNvSpPr/>
            <p:nvPr/>
          </p:nvSpPr>
          <p:spPr>
            <a:xfrm rot="3180000">
              <a:off x="7162800" y="2347913"/>
              <a:ext cx="1641475" cy="301625"/>
            </a:xfrm>
            <a:prstGeom prst="rect">
              <a:avLst/>
            </a:prstGeom>
            <a:noFill/>
            <a:ln w="12700">
              <a:noFill/>
            </a:ln>
          </p:spPr>
          <p:txBody>
            <a:bodyPr lIns="90488" tIns="44450" rIns="90488" bIns="44450">
              <a:spAutoFit/>
            </a:bodyPr>
            <a:lstStyle/>
            <a:p>
              <a:pPr eaLnBrk="1" hangingPunct="1">
                <a:spcBef>
                  <a:spcPct val="50000"/>
                </a:spcBef>
              </a:pPr>
              <a:r>
                <a:rPr lang="en-US" altLang="en-US" sz="1400" b="1" dirty="0">
                  <a:latin typeface="Comic Sans MS" panose="030F0702030302020204" pitchFamily="66" charset="0"/>
                </a:rPr>
                <a:t>Customer Value</a:t>
              </a:r>
            </a:p>
          </p:txBody>
        </p:sp>
        <p:sp>
          <p:nvSpPr>
            <p:cNvPr id="32" name="Rectangle 30">
              <a:extLst>
                <a:ext uri="{FF2B5EF4-FFF2-40B4-BE49-F238E27FC236}">
                  <a16:creationId xmlns:a16="http://schemas.microsoft.com/office/drawing/2014/main" id="{BDBCFA17-F40C-A71F-A953-C66824899F45}"/>
                </a:ext>
              </a:extLst>
            </p:cNvPr>
            <p:cNvSpPr/>
            <p:nvPr/>
          </p:nvSpPr>
          <p:spPr>
            <a:xfrm rot="-3120000">
              <a:off x="7318375" y="4325938"/>
              <a:ext cx="1641475" cy="301625"/>
            </a:xfrm>
            <a:prstGeom prst="rect">
              <a:avLst/>
            </a:prstGeom>
            <a:noFill/>
            <a:ln w="12700">
              <a:noFill/>
            </a:ln>
          </p:spPr>
          <p:txBody>
            <a:bodyPr lIns="90488" tIns="44450" rIns="90488" bIns="44450">
              <a:spAutoFit/>
            </a:bodyPr>
            <a:lstStyle/>
            <a:p>
              <a:pPr eaLnBrk="1" hangingPunct="1">
                <a:spcBef>
                  <a:spcPct val="50000"/>
                </a:spcBef>
              </a:pPr>
              <a:r>
                <a:rPr lang="en-US" altLang="en-US" sz="1400" b="1" dirty="0">
                  <a:latin typeface="Comic Sans MS" panose="030F0702030302020204" pitchFamily="66" charset="0"/>
                </a:rPr>
                <a:t>Customer Value</a:t>
              </a:r>
            </a:p>
          </p:txBody>
        </p:sp>
        <p:sp>
          <p:nvSpPr>
            <p:cNvPr id="33" name="Line 31">
              <a:extLst>
                <a:ext uri="{FF2B5EF4-FFF2-40B4-BE49-F238E27FC236}">
                  <a16:creationId xmlns:a16="http://schemas.microsoft.com/office/drawing/2014/main" id="{F4EB3BDB-C10F-F41B-903F-08A5C56772B2}"/>
                </a:ext>
              </a:extLst>
            </p:cNvPr>
            <p:cNvSpPr/>
            <p:nvPr/>
          </p:nvSpPr>
          <p:spPr>
            <a:xfrm flipV="1">
              <a:off x="2660650" y="2149475"/>
              <a:ext cx="0" cy="1384300"/>
            </a:xfrm>
            <a:prstGeom prst="line">
              <a:avLst/>
            </a:prstGeom>
            <a:ln w="12700" cap="flat" cmpd="sng">
              <a:solidFill>
                <a:schemeClr val="tx1"/>
              </a:solidFill>
              <a:prstDash val="dash"/>
              <a:headEnd type="none" w="med" len="med"/>
              <a:tailEnd type="none" w="med" len="med"/>
            </a:ln>
          </p:spPr>
          <p:txBody>
            <a:bodyPr/>
            <a:lstStyle/>
            <a:p>
              <a:endParaRPr lang="en-US"/>
            </a:p>
          </p:txBody>
        </p:sp>
        <p:sp>
          <p:nvSpPr>
            <p:cNvPr id="34" name="Line 32">
              <a:extLst>
                <a:ext uri="{FF2B5EF4-FFF2-40B4-BE49-F238E27FC236}">
                  <a16:creationId xmlns:a16="http://schemas.microsoft.com/office/drawing/2014/main" id="{A5A48B0A-D29C-B7A5-184E-95DF81E4B3DA}"/>
                </a:ext>
              </a:extLst>
            </p:cNvPr>
            <p:cNvSpPr/>
            <p:nvPr/>
          </p:nvSpPr>
          <p:spPr>
            <a:xfrm flipV="1">
              <a:off x="3727450" y="2149475"/>
              <a:ext cx="0" cy="1384300"/>
            </a:xfrm>
            <a:prstGeom prst="line">
              <a:avLst/>
            </a:prstGeom>
            <a:ln w="12700" cap="flat" cmpd="sng">
              <a:solidFill>
                <a:schemeClr val="tx1"/>
              </a:solidFill>
              <a:prstDash val="dash"/>
              <a:headEnd type="none" w="med" len="med"/>
              <a:tailEnd type="none" w="med" len="med"/>
            </a:ln>
          </p:spPr>
          <p:txBody>
            <a:bodyPr/>
            <a:lstStyle/>
            <a:p>
              <a:endParaRPr lang="en-US"/>
            </a:p>
          </p:txBody>
        </p:sp>
        <p:sp>
          <p:nvSpPr>
            <p:cNvPr id="35" name="Line 33">
              <a:extLst>
                <a:ext uri="{FF2B5EF4-FFF2-40B4-BE49-F238E27FC236}">
                  <a16:creationId xmlns:a16="http://schemas.microsoft.com/office/drawing/2014/main" id="{E72819D5-6B51-6CAC-67D8-2F3359368A25}"/>
                </a:ext>
              </a:extLst>
            </p:cNvPr>
            <p:cNvSpPr/>
            <p:nvPr/>
          </p:nvSpPr>
          <p:spPr>
            <a:xfrm flipV="1">
              <a:off x="4794250" y="2149475"/>
              <a:ext cx="0" cy="1384300"/>
            </a:xfrm>
            <a:prstGeom prst="line">
              <a:avLst/>
            </a:prstGeom>
            <a:ln w="12700" cap="flat" cmpd="sng">
              <a:solidFill>
                <a:schemeClr val="tx1"/>
              </a:solidFill>
              <a:prstDash val="dash"/>
              <a:headEnd type="none" w="med" len="med"/>
              <a:tailEnd type="none" w="med" len="med"/>
            </a:ln>
          </p:spPr>
          <p:txBody>
            <a:bodyPr/>
            <a:lstStyle/>
            <a:p>
              <a:endParaRPr lang="en-US"/>
            </a:p>
          </p:txBody>
        </p:sp>
        <p:sp>
          <p:nvSpPr>
            <p:cNvPr id="36" name="Line 34">
              <a:extLst>
                <a:ext uri="{FF2B5EF4-FFF2-40B4-BE49-F238E27FC236}">
                  <a16:creationId xmlns:a16="http://schemas.microsoft.com/office/drawing/2014/main" id="{49FE3857-29B0-AB4D-4BD8-5D7FEFDAB2EE}"/>
                </a:ext>
              </a:extLst>
            </p:cNvPr>
            <p:cNvSpPr/>
            <p:nvPr/>
          </p:nvSpPr>
          <p:spPr>
            <a:xfrm flipV="1">
              <a:off x="5861050" y="2149475"/>
              <a:ext cx="0" cy="1384300"/>
            </a:xfrm>
            <a:prstGeom prst="line">
              <a:avLst/>
            </a:prstGeom>
            <a:ln w="12700" cap="flat" cmpd="sng">
              <a:solidFill>
                <a:schemeClr val="tx1"/>
              </a:solidFill>
              <a:prstDash val="dash"/>
              <a:headEnd type="none" w="med" len="med"/>
              <a:tailEnd type="none" w="med" len="med"/>
            </a:ln>
          </p:spPr>
          <p:txBody>
            <a:bodyPr/>
            <a:lstStyle/>
            <a:p>
              <a:endParaRPr lang="en-US"/>
            </a:p>
          </p:txBody>
        </p:sp>
        <p:sp>
          <p:nvSpPr>
            <p:cNvPr id="37" name="Rectangle 35">
              <a:extLst>
                <a:ext uri="{FF2B5EF4-FFF2-40B4-BE49-F238E27FC236}">
                  <a16:creationId xmlns:a16="http://schemas.microsoft.com/office/drawing/2014/main" id="{47887781-90D5-A749-D198-440299C38612}"/>
                </a:ext>
              </a:extLst>
            </p:cNvPr>
            <p:cNvSpPr/>
            <p:nvPr/>
          </p:nvSpPr>
          <p:spPr>
            <a:xfrm rot="2940000">
              <a:off x="7131050" y="2757488"/>
              <a:ext cx="1314450" cy="301625"/>
            </a:xfrm>
            <a:prstGeom prst="rect">
              <a:avLst/>
            </a:prstGeom>
            <a:noFill/>
            <a:ln w="12700">
              <a:noFill/>
            </a:ln>
          </p:spPr>
          <p:txBody>
            <a:bodyPr lIns="90488" tIns="44450" rIns="90488" bIns="44450">
              <a:spAutoFit/>
            </a:bodyPr>
            <a:lstStyle/>
            <a:p>
              <a:pPr algn="ctr" eaLnBrk="1" hangingPunct="1">
                <a:spcBef>
                  <a:spcPct val="50000"/>
                </a:spcBef>
              </a:pPr>
              <a:r>
                <a:rPr lang="en-US" altLang="en-US" sz="1400" b="1" dirty="0">
                  <a:latin typeface="Comic Sans MS" panose="030F0702030302020204" pitchFamily="66" charset="0"/>
                </a:rPr>
                <a:t>Margin</a:t>
              </a:r>
            </a:p>
          </p:txBody>
        </p:sp>
        <p:sp>
          <p:nvSpPr>
            <p:cNvPr id="38" name="Rectangle 36">
              <a:extLst>
                <a:ext uri="{FF2B5EF4-FFF2-40B4-BE49-F238E27FC236}">
                  <a16:creationId xmlns:a16="http://schemas.microsoft.com/office/drawing/2014/main" id="{92F217E3-9947-4ED4-8208-DC752292AA68}"/>
                </a:ext>
              </a:extLst>
            </p:cNvPr>
            <p:cNvSpPr/>
            <p:nvPr/>
          </p:nvSpPr>
          <p:spPr>
            <a:xfrm rot="-3180000">
              <a:off x="7058025" y="4125913"/>
              <a:ext cx="1314450" cy="301625"/>
            </a:xfrm>
            <a:prstGeom prst="rect">
              <a:avLst/>
            </a:prstGeom>
            <a:noFill/>
            <a:ln w="12700">
              <a:noFill/>
            </a:ln>
          </p:spPr>
          <p:txBody>
            <a:bodyPr lIns="90488" tIns="44450" rIns="90488" bIns="44450">
              <a:spAutoFit/>
            </a:bodyPr>
            <a:lstStyle/>
            <a:p>
              <a:pPr algn="ctr" eaLnBrk="1" hangingPunct="1">
                <a:spcBef>
                  <a:spcPct val="50000"/>
                </a:spcBef>
              </a:pPr>
              <a:r>
                <a:rPr lang="en-US" altLang="en-US" sz="1400" b="1" dirty="0">
                  <a:latin typeface="Comic Sans MS" panose="030F0702030302020204" pitchFamily="66" charset="0"/>
                </a:rPr>
                <a:t>Margin</a:t>
              </a:r>
            </a:p>
          </p:txBody>
        </p:sp>
      </p:grpSp>
    </p:spTree>
    <p:extLst>
      <p:ext uri="{BB962C8B-B14F-4D97-AF65-F5344CB8AC3E}">
        <p14:creationId xmlns:p14="http://schemas.microsoft.com/office/powerpoint/2010/main" val="365056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D7041-17A8-38BC-1F6B-83615B907864}"/>
              </a:ext>
            </a:extLst>
          </p:cNvPr>
          <p:cNvSpPr>
            <a:spLocks noGrp="1"/>
          </p:cNvSpPr>
          <p:nvPr>
            <p:ph type="title"/>
          </p:nvPr>
        </p:nvSpPr>
        <p:spPr>
          <a:xfrm>
            <a:off x="609293" y="45943"/>
            <a:ext cx="10048125" cy="1143000"/>
          </a:xfrm>
        </p:spPr>
        <p:txBody>
          <a:bodyPr anchor="ctr">
            <a:normAutofit/>
          </a:bodyPr>
          <a:lstStyle/>
          <a:p>
            <a:r>
              <a:rPr lang="en-US" dirty="0"/>
              <a:t>Applying the Resource Based View</a:t>
            </a:r>
          </a:p>
        </p:txBody>
      </p:sp>
      <p:pic>
        <p:nvPicPr>
          <p:cNvPr id="5" name="Picture 4" descr="ftp://Rothaermel:rothaermel_strat@ftp.eppg.com/Art%20Files/Chapter_4/rot12737_ex0405.jpg">
            <a:extLst>
              <a:ext uri="{FF2B5EF4-FFF2-40B4-BE49-F238E27FC236}">
                <a16:creationId xmlns:a16="http://schemas.microsoft.com/office/drawing/2014/main" id="{C2F9BEEE-C49D-0A36-B371-2C87B587E01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3337" y="1443062"/>
            <a:ext cx="10053773" cy="369697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0328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3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90FCD-9CA4-CDD7-DBA8-9C86FBF2C3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943BB2-96A2-A214-0812-F63ADB6190C8}"/>
              </a:ext>
            </a:extLst>
          </p:cNvPr>
          <p:cNvSpPr>
            <a:spLocks noGrp="1"/>
          </p:cNvSpPr>
          <p:nvPr>
            <p:ph type="title"/>
          </p:nvPr>
        </p:nvSpPr>
        <p:spPr>
          <a:xfrm>
            <a:off x="284020" y="873517"/>
            <a:ext cx="3803072" cy="4502047"/>
          </a:xfrm>
        </p:spPr>
        <p:txBody>
          <a:bodyPr>
            <a:normAutofit/>
          </a:bodyPr>
          <a:lstStyle/>
          <a:p>
            <a:r>
              <a:rPr lang="en-US" dirty="0"/>
              <a:t>Applying the internal analysis to your life planning</a:t>
            </a:r>
          </a:p>
        </p:txBody>
      </p:sp>
      <p:sp>
        <p:nvSpPr>
          <p:cNvPr id="7" name="TextBox 6">
            <a:extLst>
              <a:ext uri="{FF2B5EF4-FFF2-40B4-BE49-F238E27FC236}">
                <a16:creationId xmlns:a16="http://schemas.microsoft.com/office/drawing/2014/main" id="{707E5A39-E04E-E406-8F19-303F529865E1}"/>
              </a:ext>
            </a:extLst>
          </p:cNvPr>
          <p:cNvSpPr txBox="1"/>
          <p:nvPr/>
        </p:nvSpPr>
        <p:spPr>
          <a:xfrm>
            <a:off x="4932218" y="2355273"/>
            <a:ext cx="184731" cy="461665"/>
          </a:xfrm>
          <a:prstGeom prst="rect">
            <a:avLst/>
          </a:prstGeom>
          <a:noFill/>
        </p:spPr>
        <p:txBody>
          <a:bodyPr wrap="none" rtlCol="0">
            <a:spAutoFit/>
          </a:bodyPr>
          <a:lstStyle/>
          <a:p>
            <a:endParaRPr lang="en-US" dirty="0"/>
          </a:p>
        </p:txBody>
      </p:sp>
      <p:pic>
        <p:nvPicPr>
          <p:cNvPr id="12" name="Picture 11">
            <a:extLst>
              <a:ext uri="{FF2B5EF4-FFF2-40B4-BE49-F238E27FC236}">
                <a16:creationId xmlns:a16="http://schemas.microsoft.com/office/drawing/2014/main" id="{629384D9-F80D-0EA7-AFCD-E26AFF2862D4}"/>
              </a:ext>
            </a:extLst>
          </p:cNvPr>
          <p:cNvPicPr>
            <a:picLocks noChangeAspect="1"/>
          </p:cNvPicPr>
          <p:nvPr/>
        </p:nvPicPr>
        <p:blipFill>
          <a:blip r:embed="rId2"/>
          <a:stretch>
            <a:fillRect/>
          </a:stretch>
        </p:blipFill>
        <p:spPr>
          <a:xfrm>
            <a:off x="3974903" y="0"/>
            <a:ext cx="8217097" cy="6858000"/>
          </a:xfrm>
          <a:prstGeom prst="rect">
            <a:avLst/>
          </a:prstGeom>
        </p:spPr>
      </p:pic>
    </p:spTree>
    <p:extLst>
      <p:ext uri="{BB962C8B-B14F-4D97-AF65-F5344CB8AC3E}">
        <p14:creationId xmlns:p14="http://schemas.microsoft.com/office/powerpoint/2010/main" val="2228607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A8ED7-9ABA-D24E-49F5-623704840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24A7CC-3098-C257-81AD-13BEEEADE95C}"/>
              </a:ext>
            </a:extLst>
          </p:cNvPr>
          <p:cNvSpPr>
            <a:spLocks noGrp="1"/>
          </p:cNvSpPr>
          <p:nvPr>
            <p:ph type="title"/>
          </p:nvPr>
        </p:nvSpPr>
        <p:spPr/>
        <p:txBody>
          <a:bodyPr>
            <a:normAutofit/>
          </a:bodyPr>
          <a:lstStyle/>
          <a:p>
            <a:r>
              <a:rPr lang="en-US" altLang="zh-CN" dirty="0"/>
              <a:t>Class Exercise: </a:t>
            </a:r>
            <a:r>
              <a:rPr lang="en-US" altLang="zh-CN" sz="4000" dirty="0"/>
              <a:t>Job Interviews</a:t>
            </a:r>
            <a:endParaRPr lang="en-US" dirty="0"/>
          </a:p>
        </p:txBody>
      </p:sp>
      <p:sp>
        <p:nvSpPr>
          <p:cNvPr id="3" name="Content Placeholder 2">
            <a:extLst>
              <a:ext uri="{FF2B5EF4-FFF2-40B4-BE49-F238E27FC236}">
                <a16:creationId xmlns:a16="http://schemas.microsoft.com/office/drawing/2014/main" id="{04776FDF-7916-800A-3EC9-9F56C149B832}"/>
              </a:ext>
            </a:extLst>
          </p:cNvPr>
          <p:cNvSpPr>
            <a:spLocks noGrp="1"/>
          </p:cNvSpPr>
          <p:nvPr>
            <p:ph sz="half" idx="1"/>
          </p:nvPr>
        </p:nvSpPr>
        <p:spPr>
          <a:xfrm>
            <a:off x="609599" y="1418167"/>
            <a:ext cx="11060625" cy="5323596"/>
          </a:xfrm>
        </p:spPr>
        <p:txBody>
          <a:bodyPr>
            <a:normAutofit/>
          </a:bodyPr>
          <a:lstStyle/>
          <a:p>
            <a:r>
              <a:rPr lang="en-US" dirty="0"/>
              <a:t>Context:</a:t>
            </a:r>
          </a:p>
          <a:p>
            <a:pPr lvl="1"/>
            <a:r>
              <a:rPr lang="en-US" dirty="0"/>
              <a:t>You are preparing an interview at a prominent management consulting company for the position of business analyst</a:t>
            </a:r>
          </a:p>
          <a:p>
            <a:r>
              <a:rPr lang="en-US" dirty="0"/>
              <a:t>Rules:</a:t>
            </a:r>
          </a:p>
          <a:p>
            <a:pPr lvl="1"/>
            <a:r>
              <a:rPr lang="en-US" dirty="0"/>
              <a:t>You will have 5 minutes to prepare a self-statement</a:t>
            </a:r>
          </a:p>
          <a:p>
            <a:pPr lvl="1"/>
            <a:r>
              <a:rPr lang="en-US" dirty="0"/>
              <a:t>You need to read the job description (next slides) carefully to identify the addressed attributes and capabilities</a:t>
            </a:r>
          </a:p>
          <a:p>
            <a:pPr lvl="1"/>
            <a:r>
              <a:rPr lang="en-US" dirty="0"/>
              <a:t>You need to emphasize the following points in your self-statement</a:t>
            </a:r>
          </a:p>
          <a:p>
            <a:pPr lvl="2"/>
            <a:r>
              <a:rPr lang="en-US" dirty="0"/>
              <a:t>What resources (i.e., training, experiences, etc.) do you have that can meet the company's requirements</a:t>
            </a:r>
          </a:p>
          <a:p>
            <a:pPr lvl="2"/>
            <a:r>
              <a:rPr lang="en-US" dirty="0"/>
              <a:t>How do these resources contribute to building you any capability that may be attractive to the company</a:t>
            </a:r>
          </a:p>
          <a:p>
            <a:pPr lvl="2"/>
            <a:r>
              <a:rPr lang="en-US" dirty="0"/>
              <a:t>How can you outperform others?</a:t>
            </a:r>
          </a:p>
        </p:txBody>
      </p:sp>
    </p:spTree>
    <p:extLst>
      <p:ext uri="{BB962C8B-B14F-4D97-AF65-F5344CB8AC3E}">
        <p14:creationId xmlns:p14="http://schemas.microsoft.com/office/powerpoint/2010/main" val="28818317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91239-C0CB-7BA7-5A91-387097470EC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1AB640-7CDD-C7AF-C16D-07F0B6DFD062}"/>
              </a:ext>
            </a:extLst>
          </p:cNvPr>
          <p:cNvSpPr>
            <a:spLocks noGrp="1"/>
          </p:cNvSpPr>
          <p:nvPr>
            <p:ph sz="half" idx="1"/>
          </p:nvPr>
        </p:nvSpPr>
        <p:spPr>
          <a:xfrm>
            <a:off x="154983" y="1022185"/>
            <a:ext cx="10755824" cy="5440607"/>
          </a:xfrm>
        </p:spPr>
        <p:txBody>
          <a:bodyPr>
            <a:noAutofit/>
          </a:bodyPr>
          <a:lstStyle/>
          <a:p>
            <a:r>
              <a:rPr lang="en-US" sz="1800" dirty="0"/>
              <a:t>Job description</a:t>
            </a:r>
          </a:p>
          <a:p>
            <a:pPr lvl="1"/>
            <a:r>
              <a:rPr lang="en-US" sz="1533" dirty="0"/>
              <a:t>Work in teams to identify and implement potential solutions for a specific client problem or challenge. Help clients make lasting improvements to their performance and realize their most important goals</a:t>
            </a:r>
            <a:r>
              <a:rPr lang="en-US" altLang="zh-CN" sz="1533" dirty="0"/>
              <a:t>.</a:t>
            </a:r>
            <a:endParaRPr lang="en-US" sz="1533" dirty="0"/>
          </a:p>
          <a:p>
            <a:pPr lvl="1"/>
            <a:r>
              <a:rPr lang="en-US" sz="1533" dirty="0"/>
              <a:t>Gather and analyze information, formulate, and test hypotheses, and develop and communicate recommendations. </a:t>
            </a:r>
          </a:p>
          <a:p>
            <a:pPr lvl="1"/>
            <a:r>
              <a:rPr lang="en-US" sz="1533" dirty="0"/>
              <a:t>Present results to client management and implement recommendations in collaboration with client team members. Travel to your client site.</a:t>
            </a:r>
          </a:p>
          <a:p>
            <a:pPr lvl="1"/>
            <a:r>
              <a:rPr lang="en-US" sz="1533" dirty="0"/>
              <a:t>Receive training and coaching on:</a:t>
            </a:r>
          </a:p>
          <a:p>
            <a:pPr lvl="2"/>
            <a:r>
              <a:rPr lang="en-US" sz="1534" dirty="0"/>
              <a:t>Structure ambiguous problems and take action to solve them</a:t>
            </a:r>
          </a:p>
          <a:p>
            <a:pPr lvl="2"/>
            <a:r>
              <a:rPr lang="en-US" sz="1534" dirty="0"/>
              <a:t>Synthesize clear takeaways from complex information into clear takeaways and recommendations using both qualitative and quantitative methods</a:t>
            </a:r>
          </a:p>
          <a:p>
            <a:pPr lvl="2"/>
            <a:r>
              <a:rPr lang="en-US" sz="1534" dirty="0"/>
              <a:t>Work effectively with diverse teams to identify the best solution and move people and organizations to act</a:t>
            </a:r>
          </a:p>
          <a:p>
            <a:pPr lvl="2"/>
            <a:r>
              <a:rPr lang="en-US" sz="1534" dirty="0"/>
              <a:t>Establish trust-based relationships with clients to better serve their organizations.</a:t>
            </a:r>
          </a:p>
          <a:p>
            <a:pPr lvl="2"/>
            <a:r>
              <a:rPr lang="en-US" sz="1534" dirty="0"/>
              <a:t>Communicate effectively with all audiences, including senior leaders, in a structured manner</a:t>
            </a:r>
          </a:p>
          <a:p>
            <a:r>
              <a:rPr lang="en-US" sz="1800" dirty="0"/>
              <a:t>Serve on multiple client engagements and work with a number of colleagues and clients in a range of industry and functional areas.  </a:t>
            </a:r>
          </a:p>
          <a:p>
            <a:r>
              <a:rPr lang="en-US" sz="1800" dirty="0"/>
              <a:t>Rotation with one of our practices (e.g., corporate finance, social sector, healthcare, operations) or global offices. Intersect with many elements of work including digital, implementation, and tech and analytics capabilities –by collaborating on teams or working with colleagues from these group.</a:t>
            </a:r>
          </a:p>
        </p:txBody>
      </p:sp>
      <p:sp>
        <p:nvSpPr>
          <p:cNvPr id="5" name="Title 1">
            <a:extLst>
              <a:ext uri="{FF2B5EF4-FFF2-40B4-BE49-F238E27FC236}">
                <a16:creationId xmlns:a16="http://schemas.microsoft.com/office/drawing/2014/main" id="{91DC51B1-8A82-E218-C3A7-12630D4C4D83}"/>
              </a:ext>
            </a:extLst>
          </p:cNvPr>
          <p:cNvSpPr>
            <a:spLocks noGrp="1"/>
          </p:cNvSpPr>
          <p:nvPr>
            <p:ph type="title"/>
          </p:nvPr>
        </p:nvSpPr>
        <p:spPr>
          <a:xfrm>
            <a:off x="294467" y="46495"/>
            <a:ext cx="9993331" cy="1143000"/>
          </a:xfrm>
        </p:spPr>
        <p:txBody>
          <a:bodyPr>
            <a:normAutofit/>
          </a:bodyPr>
          <a:lstStyle/>
          <a:p>
            <a:r>
              <a:rPr lang="en-US" altLang="zh-CN" sz="3600" dirty="0"/>
              <a:t>Class</a:t>
            </a:r>
            <a:r>
              <a:rPr lang="zh-CN" altLang="en-US" sz="3600" dirty="0"/>
              <a:t> </a:t>
            </a:r>
            <a:r>
              <a:rPr lang="en-US" altLang="zh-CN" sz="3600" dirty="0"/>
              <a:t>Exercise: Job interview</a:t>
            </a:r>
            <a:endParaRPr lang="zh-CN" altLang="en-US" sz="3600" dirty="0"/>
          </a:p>
        </p:txBody>
      </p:sp>
      <p:sp>
        <p:nvSpPr>
          <p:cNvPr id="6" name="TextBox 5">
            <a:extLst>
              <a:ext uri="{FF2B5EF4-FFF2-40B4-BE49-F238E27FC236}">
                <a16:creationId xmlns:a16="http://schemas.microsoft.com/office/drawing/2014/main" id="{0E7A2F08-B35D-35FC-FF8E-859AADA8565F}"/>
              </a:ext>
            </a:extLst>
          </p:cNvPr>
          <p:cNvSpPr txBox="1"/>
          <p:nvPr/>
        </p:nvSpPr>
        <p:spPr>
          <a:xfrm>
            <a:off x="10608097" y="6602278"/>
            <a:ext cx="1583903" cy="307777"/>
          </a:xfrm>
          <a:prstGeom prst="rect">
            <a:avLst/>
          </a:prstGeom>
          <a:noFill/>
        </p:spPr>
        <p:txBody>
          <a:bodyPr wrap="square" rtlCol="0">
            <a:spAutoFit/>
          </a:bodyPr>
          <a:lstStyle/>
          <a:p>
            <a:r>
              <a:rPr lang="en-US" sz="1400" dirty="0">
                <a:solidFill>
                  <a:schemeClr val="bg2"/>
                </a:solidFill>
              </a:rPr>
              <a:t>Source:</a:t>
            </a:r>
            <a:r>
              <a:rPr lang="en-US" sz="1400" b="0" i="0" dirty="0">
                <a:solidFill>
                  <a:schemeClr val="bg2"/>
                </a:solidFill>
                <a:effectLst/>
                <a:latin typeface="McKinsey Sans"/>
              </a:rPr>
              <a:t> McKinsey</a:t>
            </a:r>
            <a:endParaRPr lang="en-US" sz="1400" dirty="0">
              <a:solidFill>
                <a:schemeClr val="bg2"/>
              </a:solidFill>
            </a:endParaRPr>
          </a:p>
        </p:txBody>
      </p:sp>
    </p:spTree>
    <p:extLst>
      <p:ext uri="{BB962C8B-B14F-4D97-AF65-F5344CB8AC3E}">
        <p14:creationId xmlns:p14="http://schemas.microsoft.com/office/powerpoint/2010/main" val="170036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AF82D-DAA5-B752-4AEC-5D78F01E94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E6FA06-3576-E5D8-3118-3F416B4C89F0}"/>
              </a:ext>
            </a:extLst>
          </p:cNvPr>
          <p:cNvSpPr>
            <a:spLocks noGrp="1"/>
          </p:cNvSpPr>
          <p:nvPr>
            <p:ph type="title"/>
          </p:nvPr>
        </p:nvSpPr>
        <p:spPr>
          <a:xfrm>
            <a:off x="289304" y="17435"/>
            <a:ext cx="9993331" cy="1143000"/>
          </a:xfrm>
        </p:spPr>
        <p:txBody>
          <a:bodyPr anchor="ctr">
            <a:normAutofit/>
          </a:bodyPr>
          <a:lstStyle/>
          <a:p>
            <a:r>
              <a:rPr lang="en-US" altLang="zh-CN" dirty="0"/>
              <a:t>Class</a:t>
            </a:r>
            <a:r>
              <a:rPr lang="zh-CN" altLang="en-US" dirty="0"/>
              <a:t> </a:t>
            </a:r>
            <a:r>
              <a:rPr lang="en-US" altLang="zh-CN" dirty="0"/>
              <a:t>Exercise: Job interview</a:t>
            </a:r>
            <a:endParaRPr lang="en-US" dirty="0"/>
          </a:p>
        </p:txBody>
      </p:sp>
      <p:sp>
        <p:nvSpPr>
          <p:cNvPr id="3" name="Content Placeholder 2">
            <a:extLst>
              <a:ext uri="{FF2B5EF4-FFF2-40B4-BE49-F238E27FC236}">
                <a16:creationId xmlns:a16="http://schemas.microsoft.com/office/drawing/2014/main" id="{DFD018DD-3279-B139-0DFF-2EE284BD9AF3}"/>
              </a:ext>
            </a:extLst>
          </p:cNvPr>
          <p:cNvSpPr>
            <a:spLocks noGrp="1"/>
          </p:cNvSpPr>
          <p:nvPr>
            <p:ph sz="half" idx="1"/>
          </p:nvPr>
        </p:nvSpPr>
        <p:spPr>
          <a:xfrm>
            <a:off x="289304" y="1160435"/>
            <a:ext cx="10320889" cy="5534831"/>
          </a:xfrm>
        </p:spPr>
        <p:txBody>
          <a:bodyPr>
            <a:normAutofit/>
          </a:bodyPr>
          <a:lstStyle/>
          <a:p>
            <a:pPr>
              <a:lnSpc>
                <a:spcPct val="90000"/>
              </a:lnSpc>
              <a:spcBef>
                <a:spcPts val="0"/>
              </a:spcBef>
              <a:spcAft>
                <a:spcPts val="0"/>
              </a:spcAft>
            </a:pPr>
            <a:r>
              <a:rPr lang="en-US" dirty="0">
                <a:effectLst/>
              </a:rPr>
              <a:t>Presentation</a:t>
            </a:r>
          </a:p>
          <a:p>
            <a:pPr>
              <a:lnSpc>
                <a:spcPct val="90000"/>
              </a:lnSpc>
              <a:spcBef>
                <a:spcPts val="0"/>
              </a:spcBef>
              <a:spcAft>
                <a:spcPts val="0"/>
              </a:spcAft>
            </a:pPr>
            <a:endParaRPr lang="en-US" dirty="0">
              <a:effectLst/>
            </a:endParaRPr>
          </a:p>
          <a:p>
            <a:pPr lvl="1">
              <a:lnSpc>
                <a:spcPct val="90000"/>
              </a:lnSpc>
              <a:spcBef>
                <a:spcPts val="0"/>
              </a:spcBef>
            </a:pPr>
            <a:r>
              <a:rPr lang="en-US" sz="2400" dirty="0">
                <a:effectLst/>
              </a:rPr>
              <a:t>Five volunteers or </a:t>
            </a:r>
            <a:r>
              <a:rPr lang="en-US" sz="2400" strike="sngStrike" dirty="0">
                <a:effectLst/>
              </a:rPr>
              <a:t>victims</a:t>
            </a:r>
            <a:r>
              <a:rPr lang="en-US" sz="2400" dirty="0">
                <a:effectLst/>
              </a:rPr>
              <a:t> lucky students will be selected as the shortlisted candidates</a:t>
            </a:r>
          </a:p>
          <a:p>
            <a:pPr lvl="1">
              <a:lnSpc>
                <a:spcPct val="90000"/>
              </a:lnSpc>
              <a:spcBef>
                <a:spcPts val="0"/>
              </a:spcBef>
            </a:pPr>
            <a:r>
              <a:rPr lang="en-US" sz="2400" dirty="0">
                <a:effectLst/>
              </a:rPr>
              <a:t>Each </a:t>
            </a:r>
            <a:r>
              <a:rPr lang="en-US" sz="2400" dirty="0"/>
              <a:t>student</a:t>
            </a:r>
            <a:r>
              <a:rPr lang="en-US" sz="2400" dirty="0">
                <a:effectLst/>
              </a:rPr>
              <a:t> needs to present his/her statement to the whole class</a:t>
            </a:r>
          </a:p>
          <a:p>
            <a:pPr lvl="1">
              <a:lnSpc>
                <a:spcPct val="90000"/>
              </a:lnSpc>
              <a:spcBef>
                <a:spcPts val="0"/>
              </a:spcBef>
            </a:pPr>
            <a:r>
              <a:rPr lang="en-US" sz="2400" dirty="0">
                <a:effectLst/>
              </a:rPr>
              <a:t>Each presentation is limited to 3 minutes</a:t>
            </a:r>
          </a:p>
          <a:p>
            <a:pPr lvl="1">
              <a:lnSpc>
                <a:spcPct val="90000"/>
              </a:lnSpc>
              <a:spcBef>
                <a:spcPts val="0"/>
              </a:spcBef>
            </a:pPr>
            <a:r>
              <a:rPr lang="en-US" sz="2400" dirty="0">
                <a:effectLst/>
              </a:rPr>
              <a:t>The goal of this presentation is to get the job</a:t>
            </a:r>
          </a:p>
          <a:p>
            <a:pPr lvl="1">
              <a:lnSpc>
                <a:spcPct val="90000"/>
              </a:lnSpc>
              <a:spcBef>
                <a:spcPts val="0"/>
              </a:spcBef>
            </a:pPr>
            <a:endParaRPr lang="en-US" sz="2400" dirty="0">
              <a:effectLst/>
            </a:endParaRPr>
          </a:p>
          <a:p>
            <a:pPr lvl="1">
              <a:lnSpc>
                <a:spcPct val="90000"/>
              </a:lnSpc>
              <a:spcBef>
                <a:spcPts val="0"/>
              </a:spcBef>
            </a:pPr>
            <a:r>
              <a:rPr lang="en-US" sz="2400" dirty="0">
                <a:effectLst/>
              </a:rPr>
              <a:t>The remaining students are the interviewers who need to vote for their preferred candidate</a:t>
            </a:r>
          </a:p>
          <a:p>
            <a:pPr lvl="1">
              <a:lnSpc>
                <a:spcPct val="90000"/>
              </a:lnSpc>
              <a:spcBef>
                <a:spcPts val="0"/>
              </a:spcBef>
            </a:pPr>
            <a:r>
              <a:rPr lang="en-US" sz="2400" dirty="0"/>
              <a:t>Interviewers can ask questions</a:t>
            </a:r>
          </a:p>
          <a:p>
            <a:pPr marL="609585" lvl="1" indent="0">
              <a:lnSpc>
                <a:spcPct val="90000"/>
              </a:lnSpc>
              <a:spcBef>
                <a:spcPts val="0"/>
              </a:spcBef>
              <a:buNone/>
            </a:pPr>
            <a:endParaRPr lang="en-US" sz="2400" dirty="0">
              <a:effectLst/>
            </a:endParaRPr>
          </a:p>
          <a:p>
            <a:pPr lvl="1">
              <a:lnSpc>
                <a:spcPct val="90000"/>
              </a:lnSpc>
              <a:spcBef>
                <a:spcPts val="0"/>
              </a:spcBef>
            </a:pPr>
            <a:r>
              <a:rPr lang="en-US" sz="2400" dirty="0" err="1">
                <a:effectLst/>
              </a:rPr>
              <a:t>Sissi</a:t>
            </a:r>
            <a:r>
              <a:rPr lang="en-US" sz="2400" dirty="0">
                <a:effectLst/>
              </a:rPr>
              <a:t> is the head of the HR department who can make the final decision</a:t>
            </a:r>
          </a:p>
          <a:p>
            <a:pPr lvl="1">
              <a:lnSpc>
                <a:spcPct val="90000"/>
              </a:lnSpc>
              <a:spcBef>
                <a:spcPts val="0"/>
              </a:spcBef>
            </a:pPr>
            <a:endParaRPr lang="en-US" sz="2400" dirty="0">
              <a:effectLst/>
            </a:endParaRPr>
          </a:p>
          <a:p>
            <a:pPr>
              <a:lnSpc>
                <a:spcPct val="90000"/>
              </a:lnSpc>
              <a:spcBef>
                <a:spcPts val="0"/>
              </a:spcBef>
            </a:pPr>
            <a:r>
              <a:rPr lang="en-US" dirty="0"/>
              <a:t>Who will be the final winner?</a:t>
            </a:r>
            <a:endParaRPr lang="en-US" dirty="0">
              <a:effectLst/>
            </a:endParaRPr>
          </a:p>
          <a:p>
            <a:pPr>
              <a:lnSpc>
                <a:spcPct val="90000"/>
              </a:lnSpc>
            </a:pPr>
            <a:endParaRPr lang="en-US" dirty="0"/>
          </a:p>
        </p:txBody>
      </p:sp>
    </p:spTree>
    <p:extLst>
      <p:ext uri="{BB962C8B-B14F-4D97-AF65-F5344CB8AC3E}">
        <p14:creationId xmlns:p14="http://schemas.microsoft.com/office/powerpoint/2010/main" val="861615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248A05-4115-4B8D-ACE5-8208468BB6AB}"/>
              </a:ext>
            </a:extLst>
          </p:cNvPr>
          <p:cNvSpPr>
            <a:spLocks noGrp="1"/>
          </p:cNvSpPr>
          <p:nvPr>
            <p:ph sz="half" idx="1"/>
          </p:nvPr>
        </p:nvSpPr>
        <p:spPr>
          <a:xfrm>
            <a:off x="617220" y="1813561"/>
            <a:ext cx="10167620" cy="4805679"/>
          </a:xfrm>
        </p:spPr>
        <p:txBody>
          <a:bodyPr/>
          <a:lstStyle/>
          <a:p>
            <a:r>
              <a:rPr lang="en-US" altLang="zh-CN" dirty="0"/>
              <a:t>To gain competitive advantage, firms must build distinctive competencies in the form of Resources and Capabilities</a:t>
            </a:r>
          </a:p>
          <a:p>
            <a:r>
              <a:rPr lang="en-US" altLang="zh-CN" dirty="0"/>
              <a:t>Competitive advantage can be sustained through strategies linked to unique resources (VRIN framework)</a:t>
            </a:r>
          </a:p>
          <a:p>
            <a:r>
              <a:rPr lang="en-US" altLang="zh-CN" dirty="0"/>
              <a:t>Successful management of value chain can help firms gain sustained competitive advantages</a:t>
            </a:r>
          </a:p>
          <a:p>
            <a:r>
              <a:rPr lang="en-US" altLang="zh-CN" dirty="0"/>
              <a:t>Outsourcing is an effective tool, if pursued with the correct conditions and reasons</a:t>
            </a:r>
            <a:endParaRPr lang="en-US" altLang="zh-CN" sz="2400" dirty="0"/>
          </a:p>
          <a:p>
            <a:pPr marL="0" indent="0">
              <a:buNone/>
            </a:pPr>
            <a:endParaRPr lang="en-US" altLang="zh-CN" sz="2400" b="1" dirty="0">
              <a:solidFill>
                <a:srgbClr val="006666"/>
              </a:solidFill>
              <a:latin typeface="Arial" charset="0"/>
            </a:endParaRPr>
          </a:p>
          <a:p>
            <a:endParaRPr lang="zh-CN" altLang="en-US" dirty="0"/>
          </a:p>
        </p:txBody>
      </p:sp>
      <p:pic>
        <p:nvPicPr>
          <p:cNvPr id="6" name="Picture 5">
            <a:extLst>
              <a:ext uri="{FF2B5EF4-FFF2-40B4-BE49-F238E27FC236}">
                <a16:creationId xmlns:a16="http://schemas.microsoft.com/office/drawing/2014/main" id="{AA57EBE7-4F65-4196-B47D-497D0ACD15AA}"/>
              </a:ext>
            </a:extLst>
          </p:cNvPr>
          <p:cNvPicPr>
            <a:picLocks noChangeAspect="1" noChangeArrowheads="1"/>
          </p:cNvPicPr>
          <p:nvPr/>
        </p:nvPicPr>
        <p:blipFill>
          <a:blip r:embed="rId2" cstate="print"/>
          <a:srcRect/>
          <a:stretch>
            <a:fillRect/>
          </a:stretch>
        </p:blipFill>
        <p:spPr bwMode="auto">
          <a:xfrm>
            <a:off x="0" y="1"/>
            <a:ext cx="10784840" cy="1468119"/>
          </a:xfrm>
          <a:prstGeom prst="rect">
            <a:avLst/>
          </a:prstGeom>
          <a:noFill/>
          <a:ln w="9525">
            <a:noFill/>
            <a:miter lim="800000"/>
            <a:headEnd/>
            <a:tailEnd/>
          </a:ln>
        </p:spPr>
      </p:pic>
    </p:spTree>
    <p:extLst>
      <p:ext uri="{BB962C8B-B14F-4D97-AF65-F5344CB8AC3E}">
        <p14:creationId xmlns:p14="http://schemas.microsoft.com/office/powerpoint/2010/main" val="23952229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BDF49-2157-4F94-B11D-57D958997D0F}"/>
              </a:ext>
            </a:extLst>
          </p:cNvPr>
          <p:cNvSpPr>
            <a:spLocks noGrp="1"/>
          </p:cNvSpPr>
          <p:nvPr>
            <p:ph type="title"/>
          </p:nvPr>
        </p:nvSpPr>
        <p:spPr>
          <a:xfrm>
            <a:off x="301376" y="333"/>
            <a:ext cx="9993331" cy="1143000"/>
          </a:xfrm>
        </p:spPr>
        <p:txBody>
          <a:bodyPr/>
          <a:lstStyle/>
          <a:p>
            <a:r>
              <a:rPr lang="en-US" altLang="zh-CN" dirty="0"/>
              <a:t>Why does Aldi Succeed</a:t>
            </a:r>
            <a:endParaRPr lang="zh-CN" altLang="en-US" dirty="0"/>
          </a:p>
        </p:txBody>
      </p:sp>
      <p:pic>
        <p:nvPicPr>
          <p:cNvPr id="5" name="Online Media 4" title="ALDI - Why They're Successful">
            <a:hlinkClick r:id="" action="ppaction://media"/>
            <a:extLst>
              <a:ext uri="{FF2B5EF4-FFF2-40B4-BE49-F238E27FC236}">
                <a16:creationId xmlns:a16="http://schemas.microsoft.com/office/drawing/2014/main" id="{1F653C79-846E-4637-9A67-4DFE019E6A04}"/>
              </a:ext>
            </a:extLst>
          </p:cNvPr>
          <p:cNvPicPr>
            <a:picLocks noRot="1" noChangeAspect="1"/>
          </p:cNvPicPr>
          <p:nvPr>
            <a:videoFile r:link="rId1"/>
          </p:nvPr>
        </p:nvPicPr>
        <p:blipFill>
          <a:blip r:embed="rId3"/>
          <a:stretch>
            <a:fillRect/>
          </a:stretch>
        </p:blipFill>
        <p:spPr>
          <a:xfrm>
            <a:off x="0" y="0"/>
            <a:ext cx="12192000" cy="6888479"/>
          </a:xfrm>
          <a:prstGeom prst="rect">
            <a:avLst/>
          </a:prstGeom>
        </p:spPr>
      </p:pic>
    </p:spTree>
    <p:extLst>
      <p:ext uri="{BB962C8B-B14F-4D97-AF65-F5344CB8AC3E}">
        <p14:creationId xmlns:p14="http://schemas.microsoft.com/office/powerpoint/2010/main" val="463099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77E4F-84B4-E639-AB4B-7270A186DA33}"/>
              </a:ext>
            </a:extLst>
          </p:cNvPr>
          <p:cNvSpPr>
            <a:spLocks noGrp="1"/>
          </p:cNvSpPr>
          <p:nvPr>
            <p:ph type="title"/>
          </p:nvPr>
        </p:nvSpPr>
        <p:spPr>
          <a:xfrm>
            <a:off x="639507" y="39415"/>
            <a:ext cx="9993331" cy="1143000"/>
          </a:xfrm>
        </p:spPr>
        <p:txBody>
          <a:bodyPr/>
          <a:lstStyle/>
          <a:p>
            <a:r>
              <a:rPr lang="en-US" dirty="0"/>
              <a:t>Case Analysis: Aldi</a:t>
            </a:r>
          </a:p>
        </p:txBody>
      </p:sp>
      <p:sp>
        <p:nvSpPr>
          <p:cNvPr id="3" name="Content Placeholder 2">
            <a:extLst>
              <a:ext uri="{FF2B5EF4-FFF2-40B4-BE49-F238E27FC236}">
                <a16:creationId xmlns:a16="http://schemas.microsoft.com/office/drawing/2014/main" id="{235C8983-21F8-692F-095F-049D6F5FDE0F}"/>
              </a:ext>
            </a:extLst>
          </p:cNvPr>
          <p:cNvSpPr>
            <a:spLocks noGrp="1"/>
          </p:cNvSpPr>
          <p:nvPr>
            <p:ph sz="half" idx="1"/>
          </p:nvPr>
        </p:nvSpPr>
        <p:spPr>
          <a:xfrm>
            <a:off x="394138" y="1040524"/>
            <a:ext cx="11288110" cy="5628290"/>
          </a:xfrm>
        </p:spPr>
        <p:txBody>
          <a:bodyPr>
            <a:normAutofit fontScale="25000" lnSpcReduction="20000"/>
          </a:bodyPr>
          <a:lstStyle/>
          <a:p>
            <a:pPr marL="0" indent="0">
              <a:lnSpc>
                <a:spcPct val="120000"/>
              </a:lnSpc>
              <a:buSzPct val="100000"/>
              <a:buNone/>
            </a:pPr>
            <a:r>
              <a:rPr lang="en-US" sz="9600" b="1" dirty="0">
                <a:solidFill>
                  <a:schemeClr val="tx1"/>
                </a:solidFill>
              </a:rPr>
              <a:t>What makes Aldi so low cost?</a:t>
            </a:r>
          </a:p>
          <a:p>
            <a:pPr>
              <a:lnSpc>
                <a:spcPct val="120000"/>
              </a:lnSpc>
              <a:spcBef>
                <a:spcPts val="0"/>
              </a:spcBef>
            </a:pPr>
            <a:r>
              <a:rPr lang="en-US" sz="9600" dirty="0"/>
              <a:t>Limited assortment:</a:t>
            </a:r>
          </a:p>
          <a:p>
            <a:pPr lvl="1">
              <a:lnSpc>
                <a:spcPct val="120000"/>
              </a:lnSpc>
              <a:spcBef>
                <a:spcPts val="0"/>
              </a:spcBef>
            </a:pPr>
            <a:r>
              <a:rPr lang="en-US" sz="9600" dirty="0"/>
              <a:t>Economies of scales:</a:t>
            </a:r>
          </a:p>
          <a:p>
            <a:pPr lvl="2">
              <a:lnSpc>
                <a:spcPct val="120000"/>
              </a:lnSpc>
              <a:spcBef>
                <a:spcPts val="0"/>
              </a:spcBef>
            </a:pPr>
            <a:r>
              <a:rPr lang="en-US" sz="8800" dirty="0"/>
              <a:t>Reduced averaging fix costs</a:t>
            </a:r>
          </a:p>
          <a:p>
            <a:pPr lvl="2">
              <a:lnSpc>
                <a:spcPct val="120000"/>
              </a:lnSpc>
              <a:spcBef>
                <a:spcPts val="0"/>
              </a:spcBef>
            </a:pPr>
            <a:r>
              <a:rPr lang="en-US" sz="8800" dirty="0"/>
              <a:t>Stable logistics</a:t>
            </a:r>
          </a:p>
          <a:p>
            <a:pPr lvl="2">
              <a:lnSpc>
                <a:spcPct val="120000"/>
              </a:lnSpc>
              <a:spcBef>
                <a:spcPts val="0"/>
              </a:spcBef>
            </a:pPr>
            <a:r>
              <a:rPr lang="en-US" sz="8800" dirty="0"/>
              <a:t>Increase bargaining power with certain </a:t>
            </a:r>
            <a:r>
              <a:rPr lang="en-US" sz="8800" dirty="0" err="1"/>
              <a:t>suppliers:More</a:t>
            </a:r>
            <a:r>
              <a:rPr lang="en-US" sz="8800" dirty="0"/>
              <a:t> committed suppliers</a:t>
            </a:r>
          </a:p>
          <a:p>
            <a:pPr lvl="2">
              <a:lnSpc>
                <a:spcPct val="120000"/>
              </a:lnSpc>
              <a:spcBef>
                <a:spcPts val="0"/>
              </a:spcBef>
            </a:pPr>
            <a:r>
              <a:rPr lang="en-US" sz="8800" dirty="0"/>
              <a:t>Stable products: </a:t>
            </a:r>
          </a:p>
          <a:p>
            <a:pPr>
              <a:lnSpc>
                <a:spcPct val="120000"/>
              </a:lnSpc>
            </a:pPr>
            <a:r>
              <a:rPr lang="en-US" sz="9867" dirty="0"/>
              <a:t>Limited selection for each product</a:t>
            </a:r>
          </a:p>
          <a:p>
            <a:pPr lvl="1">
              <a:lnSpc>
                <a:spcPct val="120000"/>
              </a:lnSpc>
              <a:spcBef>
                <a:spcPts val="0"/>
              </a:spcBef>
            </a:pPr>
            <a:r>
              <a:rPr lang="en-US" sz="9600" dirty="0"/>
              <a:t>Economies of scales</a:t>
            </a:r>
          </a:p>
          <a:p>
            <a:pPr lvl="1">
              <a:lnSpc>
                <a:spcPct val="120000"/>
              </a:lnSpc>
              <a:spcBef>
                <a:spcPts val="0"/>
              </a:spcBef>
            </a:pPr>
            <a:r>
              <a:rPr lang="en-US" sz="9600" dirty="0"/>
              <a:t>Easier for customers to choose: saving time</a:t>
            </a:r>
          </a:p>
          <a:p>
            <a:pPr marL="457189" lvl="2" indent="-457189">
              <a:lnSpc>
                <a:spcPct val="120000"/>
              </a:lnSpc>
              <a:buBlip>
                <a:blip r:embed="rId2"/>
              </a:buBlip>
            </a:pPr>
            <a:r>
              <a:rPr lang="en-US" sz="10000" dirty="0"/>
              <a:t>Private label</a:t>
            </a:r>
          </a:p>
          <a:p>
            <a:pPr lvl="1">
              <a:lnSpc>
                <a:spcPct val="120000"/>
              </a:lnSpc>
              <a:spcBef>
                <a:spcPts val="0"/>
              </a:spcBef>
            </a:pPr>
            <a:r>
              <a:rPr lang="en-US" sz="8000" dirty="0"/>
              <a:t>Cheaper: low packaging and ads fees</a:t>
            </a:r>
          </a:p>
          <a:p>
            <a:pPr lvl="1">
              <a:lnSpc>
                <a:spcPct val="120000"/>
              </a:lnSpc>
              <a:spcBef>
                <a:spcPts val="0"/>
              </a:spcBef>
            </a:pPr>
            <a:r>
              <a:rPr lang="en-US" sz="8000" dirty="0"/>
              <a:t>Own brand: High power in selecting suppliers</a:t>
            </a:r>
          </a:p>
          <a:p>
            <a:pPr lvl="1">
              <a:lnSpc>
                <a:spcPct val="120000"/>
              </a:lnSpc>
              <a:spcBef>
                <a:spcPts val="0"/>
              </a:spcBef>
            </a:pPr>
            <a:r>
              <a:rPr lang="en-US" sz="8000" dirty="0"/>
              <a:t>Good reputation for quality: Fix investment to lock people in </a:t>
            </a:r>
          </a:p>
          <a:p>
            <a:pPr lvl="1">
              <a:lnSpc>
                <a:spcPct val="120000"/>
              </a:lnSpc>
              <a:spcBef>
                <a:spcPts val="0"/>
              </a:spcBef>
            </a:pPr>
            <a:r>
              <a:rPr lang="en-US" sz="8000" dirty="0"/>
              <a:t>Barcode on the side: Aldi’s design, easy to find, Not fancy</a:t>
            </a:r>
          </a:p>
          <a:p>
            <a:pPr marL="0" indent="0">
              <a:buNone/>
            </a:pPr>
            <a:endParaRPr lang="en-US" dirty="0"/>
          </a:p>
        </p:txBody>
      </p:sp>
    </p:spTree>
    <p:extLst>
      <p:ext uri="{BB962C8B-B14F-4D97-AF65-F5344CB8AC3E}">
        <p14:creationId xmlns:p14="http://schemas.microsoft.com/office/powerpoint/2010/main" val="2408584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45C59-684C-827C-B639-5D5AEAE486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A4D515-D037-C062-7B20-2125AA045AF2}"/>
              </a:ext>
            </a:extLst>
          </p:cNvPr>
          <p:cNvSpPr>
            <a:spLocks noGrp="1"/>
          </p:cNvSpPr>
          <p:nvPr>
            <p:ph type="title"/>
          </p:nvPr>
        </p:nvSpPr>
        <p:spPr>
          <a:xfrm>
            <a:off x="639507" y="30801"/>
            <a:ext cx="9993331" cy="1143000"/>
          </a:xfrm>
        </p:spPr>
        <p:txBody>
          <a:bodyPr/>
          <a:lstStyle/>
          <a:p>
            <a:r>
              <a:rPr lang="en-US" dirty="0"/>
              <a:t>Case Analysis: Aldi</a:t>
            </a:r>
          </a:p>
        </p:txBody>
      </p:sp>
      <p:sp>
        <p:nvSpPr>
          <p:cNvPr id="3" name="Content Placeholder 2">
            <a:extLst>
              <a:ext uri="{FF2B5EF4-FFF2-40B4-BE49-F238E27FC236}">
                <a16:creationId xmlns:a16="http://schemas.microsoft.com/office/drawing/2014/main" id="{61C7A552-7BAE-B0C3-FBCB-3C5D5C25C4F3}"/>
              </a:ext>
            </a:extLst>
          </p:cNvPr>
          <p:cNvSpPr>
            <a:spLocks noGrp="1"/>
          </p:cNvSpPr>
          <p:nvPr>
            <p:ph sz="half" idx="1"/>
          </p:nvPr>
        </p:nvSpPr>
        <p:spPr>
          <a:xfrm>
            <a:off x="141890" y="854914"/>
            <a:ext cx="11634951" cy="5148172"/>
          </a:xfrm>
        </p:spPr>
        <p:txBody>
          <a:bodyPr>
            <a:normAutofit fontScale="25000" lnSpcReduction="20000"/>
          </a:bodyPr>
          <a:lstStyle/>
          <a:p>
            <a:pPr marL="0" indent="0">
              <a:lnSpc>
                <a:spcPct val="120000"/>
              </a:lnSpc>
              <a:buSzPct val="100000"/>
              <a:buNone/>
            </a:pPr>
            <a:r>
              <a:rPr lang="en-US" sz="9600" b="1" dirty="0">
                <a:solidFill>
                  <a:schemeClr val="tx1"/>
                </a:solidFill>
              </a:rPr>
              <a:t>What makes Aldi so low cost?</a:t>
            </a:r>
          </a:p>
          <a:p>
            <a:pPr marL="457189" lvl="2" indent="-457189">
              <a:lnSpc>
                <a:spcPct val="110000"/>
              </a:lnSpc>
              <a:spcBef>
                <a:spcPts val="0"/>
              </a:spcBef>
              <a:buBlip>
                <a:blip r:embed="rId2"/>
              </a:buBlip>
            </a:pPr>
            <a:r>
              <a:rPr lang="en-US" sz="9600" dirty="0"/>
              <a:t>Special buys</a:t>
            </a:r>
          </a:p>
          <a:p>
            <a:pPr lvl="1">
              <a:lnSpc>
                <a:spcPct val="120000"/>
              </a:lnSpc>
              <a:spcBef>
                <a:spcPts val="0"/>
              </a:spcBef>
            </a:pPr>
            <a:r>
              <a:rPr lang="en-US" sz="9600" dirty="0"/>
              <a:t>Sells out quickly</a:t>
            </a:r>
          </a:p>
          <a:p>
            <a:pPr lvl="1">
              <a:lnSpc>
                <a:spcPct val="120000"/>
              </a:lnSpc>
              <a:spcBef>
                <a:spcPts val="0"/>
              </a:spcBef>
            </a:pPr>
            <a:r>
              <a:rPr lang="en-US" sz="9600" dirty="0"/>
              <a:t>Self-promotion items</a:t>
            </a:r>
          </a:p>
          <a:p>
            <a:pPr lvl="1">
              <a:lnSpc>
                <a:spcPct val="120000"/>
              </a:lnSpc>
              <a:spcBef>
                <a:spcPts val="0"/>
              </a:spcBef>
            </a:pPr>
            <a:r>
              <a:rPr lang="en-US" sz="9600" dirty="0"/>
              <a:t>Lower inventory and inventory management costs</a:t>
            </a:r>
          </a:p>
          <a:p>
            <a:pPr lvl="1">
              <a:lnSpc>
                <a:spcPct val="120000"/>
              </a:lnSpc>
              <a:spcBef>
                <a:spcPts val="0"/>
              </a:spcBef>
            </a:pPr>
            <a:r>
              <a:rPr lang="en-US" sz="9600" dirty="0"/>
              <a:t>Only takes the shelve space when on sale</a:t>
            </a:r>
          </a:p>
          <a:p>
            <a:pPr lvl="1">
              <a:lnSpc>
                <a:spcPct val="120000"/>
              </a:lnSpc>
              <a:spcBef>
                <a:spcPts val="0"/>
              </a:spcBef>
            </a:pPr>
            <a:r>
              <a:rPr lang="en-US" sz="9600" dirty="0"/>
              <a:t>Builds up traffics for other stuff</a:t>
            </a:r>
          </a:p>
          <a:p>
            <a:pPr lvl="1">
              <a:lnSpc>
                <a:spcPct val="120000"/>
              </a:lnSpc>
              <a:spcBef>
                <a:spcPts val="0"/>
              </a:spcBef>
            </a:pPr>
            <a:r>
              <a:rPr lang="en-US" sz="9600" dirty="0"/>
              <a:t>Win Aldi powerful position against the suppliers of those special buys</a:t>
            </a:r>
          </a:p>
          <a:p>
            <a:pPr lvl="2">
              <a:lnSpc>
                <a:spcPct val="120000"/>
              </a:lnSpc>
              <a:spcBef>
                <a:spcPts val="0"/>
              </a:spcBef>
            </a:pPr>
            <a:r>
              <a:rPr lang="en-US" sz="9334" dirty="0"/>
              <a:t>Aldi can decide when and whether to do the special buy</a:t>
            </a:r>
          </a:p>
          <a:p>
            <a:pPr lvl="2">
              <a:lnSpc>
                <a:spcPct val="120000"/>
              </a:lnSpc>
              <a:spcBef>
                <a:spcPts val="0"/>
              </a:spcBef>
            </a:pPr>
            <a:r>
              <a:rPr lang="en-US" sz="9600" dirty="0"/>
              <a:t>Lower negotiation cost: suppliers will know Aldi can only accept low price</a:t>
            </a:r>
          </a:p>
          <a:p>
            <a:pPr lvl="2">
              <a:lnSpc>
                <a:spcPct val="120000"/>
              </a:lnSpc>
              <a:spcBef>
                <a:spcPts val="0"/>
              </a:spcBef>
            </a:pPr>
            <a:r>
              <a:rPr lang="en-US" sz="9600" dirty="0"/>
              <a:t>Suppliers can plan in ahead to fit unused capacity</a:t>
            </a:r>
          </a:p>
          <a:p>
            <a:r>
              <a:rPr lang="en-US" sz="9867" dirty="0"/>
              <a:t>Bare bones store:</a:t>
            </a:r>
          </a:p>
          <a:p>
            <a:pPr lvl="1"/>
            <a:r>
              <a:rPr lang="en-US" sz="9866" dirty="0"/>
              <a:t>No music, little decoration, cheap light</a:t>
            </a:r>
          </a:p>
          <a:p>
            <a:pPr lvl="1"/>
            <a:r>
              <a:rPr lang="en-US" sz="9600" dirty="0"/>
              <a:t>Save costs and labor</a:t>
            </a:r>
          </a:p>
          <a:p>
            <a:pPr lvl="1"/>
            <a:r>
              <a:rPr lang="en-US" sz="9600" dirty="0"/>
              <a:t>Attract the right customers</a:t>
            </a:r>
          </a:p>
          <a:p>
            <a:pPr lvl="1"/>
            <a:r>
              <a:rPr lang="en-US" sz="9600" dirty="0"/>
              <a:t>Reduce shopping time: smaller space with smaller parking lot</a:t>
            </a:r>
          </a:p>
          <a:p>
            <a:endParaRPr lang="en-US" dirty="0"/>
          </a:p>
        </p:txBody>
      </p:sp>
    </p:spTree>
    <p:extLst>
      <p:ext uri="{BB962C8B-B14F-4D97-AF65-F5344CB8AC3E}">
        <p14:creationId xmlns:p14="http://schemas.microsoft.com/office/powerpoint/2010/main" val="2174812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CD280-F04C-1450-8E10-D5144D044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EDD009-958E-D80C-A241-4FF19E38401E}"/>
              </a:ext>
            </a:extLst>
          </p:cNvPr>
          <p:cNvSpPr>
            <a:spLocks noGrp="1"/>
          </p:cNvSpPr>
          <p:nvPr>
            <p:ph type="title"/>
          </p:nvPr>
        </p:nvSpPr>
        <p:spPr>
          <a:xfrm>
            <a:off x="639507" y="30801"/>
            <a:ext cx="9993331" cy="1143000"/>
          </a:xfrm>
        </p:spPr>
        <p:txBody>
          <a:bodyPr/>
          <a:lstStyle/>
          <a:p>
            <a:r>
              <a:rPr lang="en-US" dirty="0"/>
              <a:t>Case Analysis: Aldi</a:t>
            </a:r>
          </a:p>
        </p:txBody>
      </p:sp>
      <p:sp>
        <p:nvSpPr>
          <p:cNvPr id="3" name="Content Placeholder 2">
            <a:extLst>
              <a:ext uri="{FF2B5EF4-FFF2-40B4-BE49-F238E27FC236}">
                <a16:creationId xmlns:a16="http://schemas.microsoft.com/office/drawing/2014/main" id="{C7D69577-541C-1B4F-271E-DD4C729AB3ED}"/>
              </a:ext>
            </a:extLst>
          </p:cNvPr>
          <p:cNvSpPr>
            <a:spLocks noGrp="1"/>
          </p:cNvSpPr>
          <p:nvPr>
            <p:ph sz="half" idx="1"/>
          </p:nvPr>
        </p:nvSpPr>
        <p:spPr>
          <a:xfrm>
            <a:off x="278524" y="1016146"/>
            <a:ext cx="11634951" cy="5699964"/>
          </a:xfrm>
        </p:spPr>
        <p:txBody>
          <a:bodyPr>
            <a:normAutofit fontScale="25000" lnSpcReduction="20000"/>
          </a:bodyPr>
          <a:lstStyle/>
          <a:p>
            <a:pPr marL="0" indent="0">
              <a:lnSpc>
                <a:spcPct val="120000"/>
              </a:lnSpc>
              <a:buSzPct val="100000"/>
              <a:buNone/>
            </a:pPr>
            <a:r>
              <a:rPr lang="en-US" sz="9600" b="1" dirty="0">
                <a:solidFill>
                  <a:schemeClr val="tx1"/>
                </a:solidFill>
              </a:rPr>
              <a:t>What makes Aldi so low cost?</a:t>
            </a:r>
          </a:p>
          <a:p>
            <a:r>
              <a:rPr lang="en-US" sz="9867" dirty="0"/>
              <a:t>Coin deposit for carts</a:t>
            </a:r>
          </a:p>
          <a:p>
            <a:pPr lvl="1"/>
            <a:r>
              <a:rPr lang="en-US" sz="9600" dirty="0"/>
              <a:t>Saves labor costs</a:t>
            </a:r>
          </a:p>
          <a:p>
            <a:pPr lvl="1"/>
            <a:r>
              <a:rPr lang="en-US" sz="9600" dirty="0"/>
              <a:t>Reduce the likelihood of damaging carts or carts damaging cars</a:t>
            </a:r>
          </a:p>
          <a:p>
            <a:pPr lvl="1"/>
            <a:r>
              <a:rPr lang="en-US" sz="9600" dirty="0"/>
              <a:t>Save parking space</a:t>
            </a:r>
          </a:p>
          <a:p>
            <a:r>
              <a:rPr lang="en-US" sz="9867" dirty="0"/>
              <a:t>Customer DIY</a:t>
            </a:r>
          </a:p>
          <a:p>
            <a:pPr lvl="1"/>
            <a:r>
              <a:rPr lang="en-US" sz="9600" dirty="0"/>
              <a:t>Return carts; open boxes when run out; do you own bagging</a:t>
            </a:r>
          </a:p>
          <a:p>
            <a:pPr lvl="1"/>
            <a:r>
              <a:rPr lang="en-US" sz="9600" dirty="0"/>
              <a:t>Customer education</a:t>
            </a:r>
          </a:p>
          <a:p>
            <a:pPr marL="457189" lvl="1" indent="-457189">
              <a:buBlip>
                <a:blip r:embed="rId2"/>
              </a:buBlip>
            </a:pPr>
            <a:r>
              <a:rPr lang="en-US" sz="10000" dirty="0"/>
              <a:t>Fast through the stores:</a:t>
            </a:r>
          </a:p>
          <a:p>
            <a:pPr lvl="1"/>
            <a:r>
              <a:rPr lang="en-US" sz="9600" dirty="0"/>
              <a:t>Special design: No entertainment &amp; No decoration</a:t>
            </a:r>
          </a:p>
          <a:p>
            <a:pPr lvl="1"/>
            <a:r>
              <a:rPr lang="en-US" sz="9600" dirty="0"/>
              <a:t>Can serve more people within limited space</a:t>
            </a:r>
          </a:p>
          <a:p>
            <a:pPr marL="457189" lvl="1" indent="-457189">
              <a:buBlip>
                <a:blip r:embed="rId2"/>
              </a:buBlip>
            </a:pPr>
            <a:r>
              <a:rPr lang="en-US" sz="10000" dirty="0"/>
              <a:t>Late introduction of Techs: Credit card &amp; scanner </a:t>
            </a:r>
            <a:r>
              <a:rPr lang="en-US" sz="10000" dirty="0" err="1"/>
              <a:t>etc</a:t>
            </a:r>
            <a:r>
              <a:rPr lang="en-US" sz="10000" dirty="0"/>
              <a:t>…</a:t>
            </a:r>
          </a:p>
          <a:p>
            <a:pPr lvl="1"/>
            <a:r>
              <a:rPr lang="en-US" sz="9600" dirty="0"/>
              <a:t>Save money for equipment and labels</a:t>
            </a:r>
          </a:p>
          <a:p>
            <a:pPr lvl="1"/>
            <a:r>
              <a:rPr lang="en-US" sz="9600" dirty="0"/>
              <a:t>Can do so because it is more efficient than other stores</a:t>
            </a:r>
          </a:p>
          <a:p>
            <a:endParaRPr lang="en-US" dirty="0"/>
          </a:p>
        </p:txBody>
      </p:sp>
    </p:spTree>
    <p:extLst>
      <p:ext uri="{BB962C8B-B14F-4D97-AF65-F5344CB8AC3E}">
        <p14:creationId xmlns:p14="http://schemas.microsoft.com/office/powerpoint/2010/main" val="2926924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A3407-D02C-7B14-D19A-DB475C6018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A1E873-7CE9-DAD4-6F7E-30B73DDE6974}"/>
              </a:ext>
            </a:extLst>
          </p:cNvPr>
          <p:cNvSpPr>
            <a:spLocks noGrp="1"/>
          </p:cNvSpPr>
          <p:nvPr>
            <p:ph type="title"/>
          </p:nvPr>
        </p:nvSpPr>
        <p:spPr>
          <a:xfrm>
            <a:off x="639507" y="30801"/>
            <a:ext cx="9993331" cy="1143000"/>
          </a:xfrm>
        </p:spPr>
        <p:txBody>
          <a:bodyPr/>
          <a:lstStyle/>
          <a:p>
            <a:r>
              <a:rPr lang="en-US" dirty="0"/>
              <a:t>Case Analysis: Aldi</a:t>
            </a:r>
          </a:p>
        </p:txBody>
      </p:sp>
      <p:sp>
        <p:nvSpPr>
          <p:cNvPr id="3" name="Content Placeholder 2">
            <a:extLst>
              <a:ext uri="{FF2B5EF4-FFF2-40B4-BE49-F238E27FC236}">
                <a16:creationId xmlns:a16="http://schemas.microsoft.com/office/drawing/2014/main" id="{82336C2C-2630-F621-3A07-64DB2631227C}"/>
              </a:ext>
            </a:extLst>
          </p:cNvPr>
          <p:cNvSpPr>
            <a:spLocks noGrp="1"/>
          </p:cNvSpPr>
          <p:nvPr>
            <p:ph sz="half" idx="1"/>
          </p:nvPr>
        </p:nvSpPr>
        <p:spPr>
          <a:xfrm>
            <a:off x="278524" y="1016146"/>
            <a:ext cx="10883462" cy="5463482"/>
          </a:xfrm>
        </p:spPr>
        <p:txBody>
          <a:bodyPr>
            <a:normAutofit fontScale="92500" lnSpcReduction="20000"/>
          </a:bodyPr>
          <a:lstStyle/>
          <a:p>
            <a:pPr marL="0" indent="0">
              <a:lnSpc>
                <a:spcPct val="120000"/>
              </a:lnSpc>
              <a:buSzPct val="100000"/>
              <a:buNone/>
            </a:pPr>
            <a:r>
              <a:rPr lang="en-US" sz="2600" b="1" dirty="0">
                <a:solidFill>
                  <a:schemeClr val="tx1"/>
                </a:solidFill>
              </a:rPr>
              <a:t>What makes Aldi so low cost?</a:t>
            </a:r>
          </a:p>
          <a:p>
            <a:r>
              <a:rPr lang="en-US" dirty="0"/>
              <a:t>Store itself is the storage: save costs and labor</a:t>
            </a:r>
          </a:p>
          <a:p>
            <a:r>
              <a:rPr lang="en-US" dirty="0"/>
              <a:t>Saved labor costs:</a:t>
            </a:r>
          </a:p>
          <a:p>
            <a:pPr lvl="1"/>
            <a:r>
              <a:rPr lang="en-US" sz="2400" dirty="0"/>
              <a:t>Fewer employee per store</a:t>
            </a:r>
          </a:p>
          <a:p>
            <a:pPr lvl="1"/>
            <a:r>
              <a:rPr lang="en-US" sz="2400" dirty="0"/>
              <a:t>Centralized pricing and assortment decision</a:t>
            </a:r>
          </a:p>
          <a:p>
            <a:pPr lvl="1"/>
            <a:r>
              <a:rPr lang="en-US" sz="2400" dirty="0"/>
              <a:t>One employee per store is barely enough</a:t>
            </a:r>
          </a:p>
          <a:p>
            <a:r>
              <a:rPr lang="en-US" dirty="0"/>
              <a:t>Organizational culture</a:t>
            </a:r>
          </a:p>
          <a:p>
            <a:pPr lvl="1"/>
            <a:r>
              <a:rPr lang="en-US" sz="2400" dirty="0"/>
              <a:t>Low cost</a:t>
            </a:r>
          </a:p>
          <a:p>
            <a:pPr lvl="1"/>
            <a:r>
              <a:rPr lang="en-US" sz="2400" dirty="0"/>
              <a:t>Efficiency</a:t>
            </a:r>
          </a:p>
          <a:p>
            <a:pPr lvl="1"/>
            <a:r>
              <a:rPr lang="en-US" sz="2400" dirty="0"/>
              <a:t>Everyone knows the goal: lower the price through maximal simplicity</a:t>
            </a:r>
          </a:p>
          <a:p>
            <a:pPr lvl="1"/>
            <a:endParaRPr lang="en-US" sz="2600" dirty="0"/>
          </a:p>
          <a:p>
            <a:r>
              <a:rPr lang="en-US" sz="2600" dirty="0"/>
              <a:t>What is Aldi’s Value proposition?</a:t>
            </a:r>
          </a:p>
          <a:p>
            <a:pPr lvl="1"/>
            <a:r>
              <a:rPr lang="en-US" sz="2400" dirty="0"/>
              <a:t>They will sell you the cheapest products if You are willing to buy private brand products in a bare bone store where you need to do lots of the work by yourself.</a:t>
            </a:r>
          </a:p>
        </p:txBody>
      </p:sp>
    </p:spTree>
    <p:extLst>
      <p:ext uri="{BB962C8B-B14F-4D97-AF65-F5344CB8AC3E}">
        <p14:creationId xmlns:p14="http://schemas.microsoft.com/office/powerpoint/2010/main" val="2813168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FCCBC-0D8F-9B87-D9BA-8B3945E091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882EF9-2062-9643-CC6E-1365F8E4CDF4}"/>
              </a:ext>
            </a:extLst>
          </p:cNvPr>
          <p:cNvSpPr>
            <a:spLocks noGrp="1"/>
          </p:cNvSpPr>
          <p:nvPr>
            <p:ph type="title"/>
          </p:nvPr>
        </p:nvSpPr>
        <p:spPr>
          <a:xfrm>
            <a:off x="609600" y="0"/>
            <a:ext cx="9993331" cy="1143000"/>
          </a:xfrm>
        </p:spPr>
        <p:txBody>
          <a:bodyPr/>
          <a:lstStyle/>
          <a:p>
            <a:r>
              <a:rPr lang="en-US" dirty="0"/>
              <a:t>Case Analysis: Aldi</a:t>
            </a:r>
          </a:p>
        </p:txBody>
      </p:sp>
      <p:sp>
        <p:nvSpPr>
          <p:cNvPr id="3" name="Content Placeholder 2">
            <a:extLst>
              <a:ext uri="{FF2B5EF4-FFF2-40B4-BE49-F238E27FC236}">
                <a16:creationId xmlns:a16="http://schemas.microsoft.com/office/drawing/2014/main" id="{40CF4507-9FEC-FEAF-416E-1F2DEABA8A9E}"/>
              </a:ext>
            </a:extLst>
          </p:cNvPr>
          <p:cNvSpPr>
            <a:spLocks noGrp="1"/>
          </p:cNvSpPr>
          <p:nvPr>
            <p:ph sz="half" idx="1"/>
          </p:nvPr>
        </p:nvSpPr>
        <p:spPr>
          <a:xfrm>
            <a:off x="337624" y="977462"/>
            <a:ext cx="10825675" cy="5453264"/>
          </a:xfrm>
        </p:spPr>
        <p:txBody>
          <a:bodyPr>
            <a:normAutofit fontScale="25000" lnSpcReduction="20000"/>
          </a:bodyPr>
          <a:lstStyle/>
          <a:p>
            <a:pPr marL="0" indent="0">
              <a:lnSpc>
                <a:spcPct val="120000"/>
              </a:lnSpc>
              <a:buSzPct val="100000"/>
              <a:buNone/>
            </a:pPr>
            <a:r>
              <a:rPr lang="en-US" sz="9600" b="1" dirty="0">
                <a:solidFill>
                  <a:schemeClr val="tx1"/>
                </a:solidFill>
              </a:rPr>
              <a:t>How does Aldi manage its industry stakeholders? </a:t>
            </a:r>
          </a:p>
          <a:p>
            <a:r>
              <a:rPr lang="en-US" sz="9600" dirty="0"/>
              <a:t>Aldi’s customers:</a:t>
            </a:r>
          </a:p>
          <a:p>
            <a:pPr lvl="1"/>
            <a:r>
              <a:rPr lang="en-US" sz="9600" dirty="0"/>
              <a:t>Lower incomed people</a:t>
            </a:r>
          </a:p>
          <a:p>
            <a:pPr lvl="1"/>
            <a:r>
              <a:rPr lang="en-US" sz="9600" dirty="0"/>
              <a:t>People who are used to or like Aldi’s way of shopping</a:t>
            </a:r>
          </a:p>
          <a:p>
            <a:pPr lvl="1"/>
            <a:r>
              <a:rPr lang="en-US" sz="9600" dirty="0"/>
              <a:t>People who like Aldi’s private brands</a:t>
            </a:r>
          </a:p>
          <a:p>
            <a:r>
              <a:rPr lang="en-US" sz="9600" dirty="0"/>
              <a:t>Bargaining power of Aldi’s customers: Relatively low</a:t>
            </a:r>
          </a:p>
          <a:p>
            <a:pPr lvl="1"/>
            <a:r>
              <a:rPr lang="en-US" sz="9600" dirty="0"/>
              <a:t>Cannot get the price and private brand elsewhere</a:t>
            </a:r>
          </a:p>
          <a:p>
            <a:pPr lvl="1"/>
            <a:r>
              <a:rPr lang="en-US" sz="9600" dirty="0"/>
              <a:t>High switching costs</a:t>
            </a:r>
          </a:p>
          <a:p>
            <a:r>
              <a:rPr lang="en-US" sz="9600" dirty="0"/>
              <a:t>Who are Aldi’s suppliers?</a:t>
            </a:r>
          </a:p>
          <a:p>
            <a:pPr lvl="1"/>
            <a:r>
              <a:rPr lang="en-US" sz="9600" dirty="0"/>
              <a:t>Private brand product producers &amp; Special buy producers</a:t>
            </a:r>
          </a:p>
          <a:p>
            <a:r>
              <a:rPr lang="en-US" sz="9600" dirty="0"/>
              <a:t>Bargaining power of Aldi’s suppliers: Relatively low</a:t>
            </a:r>
          </a:p>
          <a:p>
            <a:pPr lvl="1"/>
            <a:r>
              <a:rPr lang="en-US" sz="9600" dirty="0"/>
              <a:t>Aldi buys in a bulk</a:t>
            </a:r>
          </a:p>
          <a:p>
            <a:pPr lvl="1"/>
            <a:r>
              <a:rPr lang="en-US" sz="9600" dirty="0"/>
              <a:t>Aldi owns its own brand name</a:t>
            </a:r>
          </a:p>
          <a:p>
            <a:pPr lvl="1"/>
            <a:r>
              <a:rPr lang="en-US" sz="9600" dirty="0"/>
              <a:t>Aldi can offer stable orders</a:t>
            </a:r>
          </a:p>
          <a:p>
            <a:pPr lvl="1"/>
            <a:r>
              <a:rPr lang="en-US" sz="9600" dirty="0"/>
              <a:t>Win Aldi powerful position against the suppliers of those special buys</a:t>
            </a:r>
          </a:p>
          <a:p>
            <a:endParaRPr lang="en-US" dirty="0"/>
          </a:p>
        </p:txBody>
      </p:sp>
    </p:spTree>
    <p:extLst>
      <p:ext uri="{BB962C8B-B14F-4D97-AF65-F5344CB8AC3E}">
        <p14:creationId xmlns:p14="http://schemas.microsoft.com/office/powerpoint/2010/main" val="2688736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8B753-675F-1326-7F43-C31B80E74C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E7CE9-C6A4-1804-68EC-DDF8EF426867}"/>
              </a:ext>
            </a:extLst>
          </p:cNvPr>
          <p:cNvSpPr>
            <a:spLocks noGrp="1"/>
          </p:cNvSpPr>
          <p:nvPr>
            <p:ph type="title"/>
          </p:nvPr>
        </p:nvSpPr>
        <p:spPr>
          <a:xfrm>
            <a:off x="609598" y="0"/>
            <a:ext cx="9993331" cy="1143000"/>
          </a:xfrm>
        </p:spPr>
        <p:txBody>
          <a:bodyPr/>
          <a:lstStyle/>
          <a:p>
            <a:r>
              <a:rPr lang="en-US" dirty="0"/>
              <a:t>Case Analysis: Aldi</a:t>
            </a:r>
          </a:p>
        </p:txBody>
      </p:sp>
      <p:sp>
        <p:nvSpPr>
          <p:cNvPr id="3" name="Content Placeholder 2">
            <a:extLst>
              <a:ext uri="{FF2B5EF4-FFF2-40B4-BE49-F238E27FC236}">
                <a16:creationId xmlns:a16="http://schemas.microsoft.com/office/drawing/2014/main" id="{58CB900A-E063-0B2B-759A-C3040EC877BE}"/>
              </a:ext>
            </a:extLst>
          </p:cNvPr>
          <p:cNvSpPr>
            <a:spLocks noGrp="1"/>
          </p:cNvSpPr>
          <p:nvPr>
            <p:ph sz="half" idx="1"/>
          </p:nvPr>
        </p:nvSpPr>
        <p:spPr>
          <a:xfrm>
            <a:off x="484170" y="832907"/>
            <a:ext cx="10183830" cy="5682193"/>
          </a:xfrm>
        </p:spPr>
        <p:txBody>
          <a:bodyPr>
            <a:normAutofit fontScale="25000" lnSpcReduction="20000"/>
          </a:bodyPr>
          <a:lstStyle/>
          <a:p>
            <a:pPr marL="0" indent="0">
              <a:buNone/>
            </a:pPr>
            <a:r>
              <a:rPr lang="en-US" dirty="0"/>
              <a:t> </a:t>
            </a:r>
          </a:p>
          <a:p>
            <a:r>
              <a:rPr lang="en-US" sz="9600" dirty="0"/>
              <a:t>Aldi’s substitute: </a:t>
            </a:r>
          </a:p>
          <a:p>
            <a:pPr lvl="1"/>
            <a:r>
              <a:rPr lang="en-US" sz="9600" dirty="0"/>
              <a:t>General brands </a:t>
            </a:r>
          </a:p>
          <a:p>
            <a:pPr lvl="2"/>
            <a:r>
              <a:rPr lang="en-US" sz="9334" dirty="0"/>
              <a:t>Much more costly </a:t>
            </a:r>
          </a:p>
          <a:p>
            <a:pPr lvl="2"/>
            <a:r>
              <a:rPr lang="en-US" sz="9600" dirty="0"/>
              <a:t>No close substitution for private brand products </a:t>
            </a:r>
          </a:p>
          <a:p>
            <a:pPr marL="0" indent="0">
              <a:lnSpc>
                <a:spcPct val="120000"/>
              </a:lnSpc>
              <a:buSzPct val="100000"/>
              <a:buNone/>
            </a:pPr>
            <a:r>
              <a:rPr lang="en-US" sz="9600" b="1" dirty="0">
                <a:solidFill>
                  <a:schemeClr val="tx1"/>
                </a:solidFill>
              </a:rPr>
              <a:t>Competitive analysis</a:t>
            </a:r>
          </a:p>
          <a:p>
            <a:pPr lvl="0"/>
            <a:r>
              <a:rPr lang="en-US" sz="9600" dirty="0"/>
              <a:t>Should Walmart be worried about Aldi in the U.S.?</a:t>
            </a:r>
          </a:p>
          <a:p>
            <a:pPr lvl="1">
              <a:lnSpc>
                <a:spcPct val="120000"/>
              </a:lnSpc>
              <a:spcBef>
                <a:spcPts val="0"/>
              </a:spcBef>
            </a:pPr>
            <a:r>
              <a:rPr lang="en-US" sz="9200" dirty="0"/>
              <a:t>Yes?</a:t>
            </a:r>
          </a:p>
          <a:p>
            <a:pPr lvl="2">
              <a:lnSpc>
                <a:spcPct val="120000"/>
              </a:lnSpc>
              <a:spcBef>
                <a:spcPts val="0"/>
              </a:spcBef>
            </a:pPr>
            <a:r>
              <a:rPr lang="en-US" sz="8934" dirty="0"/>
              <a:t>Both company share similar core value: Low cost</a:t>
            </a:r>
          </a:p>
          <a:p>
            <a:pPr lvl="2">
              <a:lnSpc>
                <a:spcPct val="120000"/>
              </a:lnSpc>
              <a:spcBef>
                <a:spcPts val="0"/>
              </a:spcBef>
            </a:pPr>
            <a:r>
              <a:rPr lang="en-US" sz="9200" dirty="0"/>
              <a:t>May compete for customers; </a:t>
            </a:r>
          </a:p>
          <a:p>
            <a:pPr lvl="3">
              <a:lnSpc>
                <a:spcPct val="120000"/>
              </a:lnSpc>
              <a:spcBef>
                <a:spcPts val="0"/>
              </a:spcBef>
              <a:buFont typeface="Wingdings" pitchFamily="2" charset="2"/>
              <a:buChar char="Ø"/>
            </a:pPr>
            <a:r>
              <a:rPr lang="en-US" sz="8933" dirty="0"/>
              <a:t>Aldi can Hurt Wal-Mart’s brand image</a:t>
            </a:r>
          </a:p>
          <a:p>
            <a:pPr lvl="3">
              <a:lnSpc>
                <a:spcPct val="120000"/>
              </a:lnSpc>
              <a:spcBef>
                <a:spcPts val="0"/>
              </a:spcBef>
              <a:buFont typeface="Wingdings" pitchFamily="2" charset="2"/>
              <a:buChar char="Ø"/>
            </a:pPr>
            <a:r>
              <a:rPr lang="en-US" sz="9200" dirty="0"/>
              <a:t>Aldi is expanding in the U.S.</a:t>
            </a:r>
          </a:p>
          <a:p>
            <a:pPr lvl="2"/>
            <a:r>
              <a:rPr lang="en-US" sz="8934" dirty="0"/>
              <a:t>Aldi’s Special buys: direct competition with Wal-Mart.</a:t>
            </a:r>
          </a:p>
          <a:p>
            <a:pPr lvl="2"/>
            <a:r>
              <a:rPr lang="en-US" sz="9200" dirty="0"/>
              <a:t>Aldi has beaten Wal-Mart in German</a:t>
            </a:r>
          </a:p>
          <a:p>
            <a:pPr lvl="2"/>
            <a:r>
              <a:rPr lang="en-US" sz="9200" dirty="0"/>
              <a:t>Aldi is more suitable for smaller towns and crowded cities</a:t>
            </a:r>
          </a:p>
          <a:p>
            <a:pPr lvl="2"/>
            <a:r>
              <a:rPr lang="en-US" sz="9600" dirty="0"/>
              <a:t>Aldi’s private brand products are exclusive</a:t>
            </a:r>
          </a:p>
          <a:p>
            <a:endParaRPr lang="en-US" dirty="0"/>
          </a:p>
        </p:txBody>
      </p:sp>
    </p:spTree>
    <p:extLst>
      <p:ext uri="{BB962C8B-B14F-4D97-AF65-F5344CB8AC3E}">
        <p14:creationId xmlns:p14="http://schemas.microsoft.com/office/powerpoint/2010/main" val="160670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2ED4D-E457-0DAC-E36A-C09D2D5C0D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95ED77-7FB1-325E-EED2-41EA32478148}"/>
              </a:ext>
            </a:extLst>
          </p:cNvPr>
          <p:cNvSpPr>
            <a:spLocks noGrp="1"/>
          </p:cNvSpPr>
          <p:nvPr>
            <p:ph type="title"/>
          </p:nvPr>
        </p:nvSpPr>
        <p:spPr>
          <a:xfrm>
            <a:off x="609598" y="0"/>
            <a:ext cx="9993331" cy="1143000"/>
          </a:xfrm>
        </p:spPr>
        <p:txBody>
          <a:bodyPr/>
          <a:lstStyle/>
          <a:p>
            <a:r>
              <a:rPr lang="en-US" dirty="0"/>
              <a:t>Case Analysis: Aldi</a:t>
            </a:r>
          </a:p>
        </p:txBody>
      </p:sp>
      <p:sp>
        <p:nvSpPr>
          <p:cNvPr id="3" name="Content Placeholder 2">
            <a:extLst>
              <a:ext uri="{FF2B5EF4-FFF2-40B4-BE49-F238E27FC236}">
                <a16:creationId xmlns:a16="http://schemas.microsoft.com/office/drawing/2014/main" id="{E600264B-3A7F-A28C-CF0A-B187B1036780}"/>
              </a:ext>
            </a:extLst>
          </p:cNvPr>
          <p:cNvSpPr>
            <a:spLocks noGrp="1"/>
          </p:cNvSpPr>
          <p:nvPr>
            <p:ph sz="half" idx="1"/>
          </p:nvPr>
        </p:nvSpPr>
        <p:spPr>
          <a:xfrm>
            <a:off x="484170" y="832907"/>
            <a:ext cx="10183830" cy="5192185"/>
          </a:xfrm>
        </p:spPr>
        <p:txBody>
          <a:bodyPr>
            <a:normAutofit fontScale="25000" lnSpcReduction="20000"/>
          </a:bodyPr>
          <a:lstStyle/>
          <a:p>
            <a:pPr marL="0" indent="0">
              <a:buNone/>
            </a:pPr>
            <a:r>
              <a:rPr lang="en-US" dirty="0"/>
              <a:t> </a:t>
            </a:r>
          </a:p>
          <a:p>
            <a:r>
              <a:rPr lang="en-US" sz="9600" dirty="0"/>
              <a:t>Should Walmart be worried about Aldi in the U.S.?</a:t>
            </a:r>
          </a:p>
          <a:p>
            <a:pPr lvl="1"/>
            <a:r>
              <a:rPr lang="en-US" sz="8800" dirty="0"/>
              <a:t>No?</a:t>
            </a:r>
          </a:p>
          <a:p>
            <a:pPr lvl="2"/>
            <a:r>
              <a:rPr lang="en-US" sz="8800" dirty="0"/>
              <a:t>Different market segments: private brand vs. general brand</a:t>
            </a:r>
          </a:p>
          <a:p>
            <a:pPr lvl="2"/>
            <a:r>
              <a:rPr lang="en-US" sz="8800" dirty="0"/>
              <a:t>Walmart offer much more things: grocery is only a small portion of its business</a:t>
            </a:r>
          </a:p>
          <a:p>
            <a:pPr lvl="2"/>
            <a:r>
              <a:rPr lang="en-US" sz="8800" dirty="0"/>
              <a:t>Walmart can fight back easily</a:t>
            </a:r>
          </a:p>
          <a:p>
            <a:pPr lvl="0"/>
            <a:r>
              <a:rPr lang="en-US" sz="9600" dirty="0"/>
              <a:t>Should Aldi be worried about Walmart in the U.S.?</a:t>
            </a:r>
          </a:p>
          <a:p>
            <a:pPr lvl="1"/>
            <a:r>
              <a:rPr lang="en-US" sz="8800" dirty="0"/>
              <a:t>Yes?</a:t>
            </a:r>
          </a:p>
          <a:p>
            <a:pPr lvl="2"/>
            <a:r>
              <a:rPr lang="en-US" sz="8800" dirty="0"/>
              <a:t>Aldi attacks Walmart’s core value proposition: Walmart will react</a:t>
            </a:r>
          </a:p>
          <a:p>
            <a:pPr lvl="2"/>
            <a:r>
              <a:rPr lang="en-US" sz="8800" dirty="0"/>
              <a:t>Walmart can use its massive scale to crush Aldi </a:t>
            </a:r>
          </a:p>
          <a:p>
            <a:pPr lvl="2"/>
            <a:r>
              <a:rPr lang="en-US" sz="8800" dirty="0"/>
              <a:t>Walmart will react sooner to prevent Aldi from growing too big</a:t>
            </a:r>
          </a:p>
          <a:p>
            <a:pPr lvl="2"/>
            <a:r>
              <a:rPr lang="en-US" sz="8800" dirty="0"/>
              <a:t>Home country advantage (generally and politically)</a:t>
            </a:r>
          </a:p>
          <a:p>
            <a:pPr lvl="1"/>
            <a:r>
              <a:rPr lang="en-US" sz="8800" dirty="0"/>
              <a:t>No</a:t>
            </a:r>
          </a:p>
          <a:p>
            <a:pPr lvl="2"/>
            <a:r>
              <a:rPr lang="en-US" sz="8800" dirty="0"/>
              <a:t>Aldi has lower price</a:t>
            </a:r>
          </a:p>
          <a:p>
            <a:pPr lvl="2"/>
            <a:r>
              <a:rPr lang="en-US" sz="8800" dirty="0"/>
              <a:t>Per SKU basis, Aldi has 10 times the scale of Walmart</a:t>
            </a:r>
          </a:p>
          <a:p>
            <a:pPr lvl="2"/>
            <a:r>
              <a:rPr lang="en-US" sz="8800" dirty="0"/>
              <a:t>Once customers are get used to Aldi format, they will stay</a:t>
            </a:r>
          </a:p>
          <a:p>
            <a:pPr lvl="2"/>
            <a:r>
              <a:rPr lang="en-US" sz="8800" dirty="0"/>
              <a:t>A price war is more costly to Walmart</a:t>
            </a:r>
          </a:p>
          <a:p>
            <a:pPr marL="0" indent="0">
              <a:buNone/>
            </a:pPr>
            <a:r>
              <a:rPr lang="en-US" sz="8800" dirty="0"/>
              <a:t> </a:t>
            </a:r>
            <a:endParaRPr lang="en-US" dirty="0"/>
          </a:p>
        </p:txBody>
      </p:sp>
    </p:spTree>
    <p:extLst>
      <p:ext uri="{BB962C8B-B14F-4D97-AF65-F5344CB8AC3E}">
        <p14:creationId xmlns:p14="http://schemas.microsoft.com/office/powerpoint/2010/main" val="422363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5" end="1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4B236-80F5-5C67-0E0A-A46CFF744E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578CFE-3929-BD1C-0385-E6434A5AFE4E}"/>
              </a:ext>
            </a:extLst>
          </p:cNvPr>
          <p:cNvSpPr>
            <a:spLocks noGrp="1"/>
          </p:cNvSpPr>
          <p:nvPr>
            <p:ph type="title"/>
          </p:nvPr>
        </p:nvSpPr>
        <p:spPr>
          <a:xfrm>
            <a:off x="609598" y="0"/>
            <a:ext cx="9993331" cy="1143000"/>
          </a:xfrm>
        </p:spPr>
        <p:txBody>
          <a:bodyPr/>
          <a:lstStyle/>
          <a:p>
            <a:r>
              <a:rPr lang="en-US" dirty="0"/>
              <a:t>Case Analysis: Aldi</a:t>
            </a:r>
          </a:p>
        </p:txBody>
      </p:sp>
      <p:sp>
        <p:nvSpPr>
          <p:cNvPr id="3" name="Content Placeholder 2">
            <a:extLst>
              <a:ext uri="{FF2B5EF4-FFF2-40B4-BE49-F238E27FC236}">
                <a16:creationId xmlns:a16="http://schemas.microsoft.com/office/drawing/2014/main" id="{A295EF9C-D67C-0D3F-CD11-BFC5C8BA1215}"/>
              </a:ext>
            </a:extLst>
          </p:cNvPr>
          <p:cNvSpPr>
            <a:spLocks noGrp="1"/>
          </p:cNvSpPr>
          <p:nvPr>
            <p:ph sz="half" idx="1"/>
          </p:nvPr>
        </p:nvSpPr>
        <p:spPr>
          <a:xfrm>
            <a:off x="484170" y="832907"/>
            <a:ext cx="10183830" cy="5192185"/>
          </a:xfrm>
        </p:spPr>
        <p:txBody>
          <a:bodyPr>
            <a:normAutofit/>
          </a:bodyPr>
          <a:lstStyle/>
          <a:p>
            <a:pPr marL="0" indent="0">
              <a:buNone/>
            </a:pPr>
            <a:r>
              <a:rPr lang="en-US" dirty="0"/>
              <a:t> </a:t>
            </a:r>
            <a:endParaRPr lang="en-US" sz="9600" b="1" dirty="0">
              <a:solidFill>
                <a:schemeClr val="tx1"/>
              </a:solidFill>
            </a:endParaRPr>
          </a:p>
          <a:p>
            <a:r>
              <a:rPr lang="en-US" dirty="0"/>
              <a:t>Should Aldi come to Hong Kong? Why?</a:t>
            </a:r>
          </a:p>
          <a:p>
            <a:r>
              <a:rPr lang="en-US" dirty="0"/>
              <a:t>Should </a:t>
            </a:r>
            <a:r>
              <a:rPr lang="en-US" dirty="0" err="1"/>
              <a:t>ParknShop</a:t>
            </a:r>
            <a:r>
              <a:rPr lang="en-US" dirty="0"/>
              <a:t> be worried about Aldi if Aldi comes to Hong Kong?</a:t>
            </a:r>
          </a:p>
          <a:p>
            <a:endParaRPr lang="en-US" dirty="0"/>
          </a:p>
        </p:txBody>
      </p:sp>
    </p:spTree>
    <p:extLst>
      <p:ext uri="{BB962C8B-B14F-4D97-AF65-F5344CB8AC3E}">
        <p14:creationId xmlns:p14="http://schemas.microsoft.com/office/powerpoint/2010/main" val="1801084356"/>
      </p:ext>
    </p:extLst>
  </p:cSld>
  <p:clrMapOvr>
    <a:masterClrMapping/>
  </p:clrMapOvr>
</p:sld>
</file>

<file path=ppt/theme/theme1.xml><?xml version="1.0" encoding="utf-8"?>
<a:theme xmlns:a="http://schemas.openxmlformats.org/drawingml/2006/main" name="Purple Version (Single Colour Logo)">
  <a:themeElements>
    <a:clrScheme name="CUHKBSchool">
      <a:dk1>
        <a:srgbClr val="331C58"/>
      </a:dk1>
      <a:lt1>
        <a:srgbClr val="FFFFFF"/>
      </a:lt1>
      <a:dk2>
        <a:srgbClr val="646569"/>
      </a:dk2>
      <a:lt2>
        <a:srgbClr val="9FA0A0"/>
      </a:lt2>
      <a:accent1>
        <a:srgbClr val="4F2D7F"/>
      </a:accent1>
      <a:accent2>
        <a:srgbClr val="931163"/>
      </a:accent2>
      <a:accent3>
        <a:srgbClr val="ED6D0F"/>
      </a:accent3>
      <a:accent4>
        <a:srgbClr val="F0AB00"/>
      </a:accent4>
      <a:accent5>
        <a:srgbClr val="00693C"/>
      </a:accent5>
      <a:accent6>
        <a:srgbClr val="0095D8"/>
      </a:accent6>
      <a:hlink>
        <a:srgbClr val="9D7D93"/>
      </a:hlink>
      <a:folHlink>
        <a:srgbClr val="9FA0A0"/>
      </a:folHlink>
    </a:clrScheme>
    <a:fontScheme name="CUHKBSchool">
      <a:majorFont>
        <a:latin typeface="Arial"/>
        <a:ea typeface="Microsoft JhengHei"/>
        <a:cs typeface=""/>
      </a:majorFont>
      <a:minorFont>
        <a:latin typeface="Arial"/>
        <a:ea typeface="Microsoft Jheng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5935C4AE7BFA14D9FEA47E9D4F5D914" ma:contentTypeVersion="10" ma:contentTypeDescription="Create a new document." ma:contentTypeScope="" ma:versionID="9580cd91a103e7459dc0cd956d2ee7ed">
  <xsd:schema xmlns:xsd="http://www.w3.org/2001/XMLSchema" xmlns:xs="http://www.w3.org/2001/XMLSchema" xmlns:p="http://schemas.microsoft.com/office/2006/metadata/properties" xmlns:ns2="df2ba4ab-9b85-44d4-9782-eedd67c2414d" xmlns:ns3="8bc8151f-f9eb-4fd4-a284-b18c458832d3" targetNamespace="http://schemas.microsoft.com/office/2006/metadata/properties" ma:root="true" ma:fieldsID="f723c48471fdd26c66ea758e11aa05f4" ns2:_="" ns3:_="">
    <xsd:import namespace="df2ba4ab-9b85-44d4-9782-eedd67c2414d"/>
    <xsd:import namespace="8bc8151f-f9eb-4fd4-a284-b18c458832d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3:SharedWithUsers" minOccurs="0"/>
                <xsd:element ref="ns3:SharedWithDetails" minOccurs="0"/>
                <xsd:element ref="ns2:MediaServiceGenerationTime" minOccurs="0"/>
                <xsd:element ref="ns2:MediaServiceEventHashCod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2ba4ab-9b85-44d4-9782-eedd67c241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bc8151f-f9eb-4fd4-a284-b18c458832d3"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415A20D-BD7A-48AF-9D7F-A22FF5259DA9}">
  <ds:schemaRefs>
    <ds:schemaRef ds:uri="http://schemas.microsoft.com/sharepoint/v3/contenttype/forms"/>
  </ds:schemaRefs>
</ds:datastoreItem>
</file>

<file path=customXml/itemProps2.xml><?xml version="1.0" encoding="utf-8"?>
<ds:datastoreItem xmlns:ds="http://schemas.openxmlformats.org/officeDocument/2006/customXml" ds:itemID="{892FDE0E-C15B-457A-BC2A-2FA68C6B1F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f2ba4ab-9b85-44d4-9782-eedd67c2414d"/>
    <ds:schemaRef ds:uri="8bc8151f-f9eb-4fd4-a284-b18c458832d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12DADE-8814-407B-95B5-C1B21089B28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2301</TotalTime>
  <Words>2873</Words>
  <Application>Microsoft Macintosh PowerPoint</Application>
  <PresentationFormat>Widescreen</PresentationFormat>
  <Paragraphs>367</Paragraphs>
  <Slides>39</Slides>
  <Notes>0</Notes>
  <HiddenSlides>0</HiddenSlides>
  <MMClips>2</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46" baseType="lpstr">
      <vt:lpstr>McKinsey Sans</vt:lpstr>
      <vt:lpstr>Arial</vt:lpstr>
      <vt:lpstr>Calibri</vt:lpstr>
      <vt:lpstr>Comic Sans MS</vt:lpstr>
      <vt:lpstr>Wingdings</vt:lpstr>
      <vt:lpstr>Purple Version (Single Colour Logo)</vt:lpstr>
      <vt:lpstr>Chart</vt:lpstr>
      <vt:lpstr>MGNT 5506GA f Strategic Management for Competitive Advantage</vt:lpstr>
      <vt:lpstr>Objectives for Today</vt:lpstr>
      <vt:lpstr>PowerPoint Presentation</vt:lpstr>
      <vt:lpstr>Why Internal Analysis</vt:lpstr>
      <vt:lpstr> Competitive Advantage</vt:lpstr>
      <vt:lpstr>The Resource Based Model</vt:lpstr>
      <vt:lpstr>The Four Criteria of Sustainable Advantage</vt:lpstr>
      <vt:lpstr>PowerPoint Presentation</vt:lpstr>
      <vt:lpstr>PowerPoint Presentation</vt:lpstr>
      <vt:lpstr>In-class exercise: Build to Win</vt:lpstr>
      <vt:lpstr>In-class exercise: Build to Win</vt:lpstr>
      <vt:lpstr>In-class exercise: Build to Win</vt:lpstr>
      <vt:lpstr>In-class exercise: Build to Win</vt:lpstr>
      <vt:lpstr>Build to Win: Summary</vt:lpstr>
      <vt:lpstr>In-class exercise: Build to Win</vt:lpstr>
      <vt:lpstr>In-class exercise: Build to Win</vt:lpstr>
      <vt:lpstr>In-class exercise: Build to Win</vt:lpstr>
      <vt:lpstr>In-class exercise: Build to Win</vt:lpstr>
      <vt:lpstr>In-class exercise: Build to Win</vt:lpstr>
      <vt:lpstr>Value Chain Analysis</vt:lpstr>
      <vt:lpstr>Value Chain Activities</vt:lpstr>
      <vt:lpstr>Primary Activities vs Support Functions</vt:lpstr>
      <vt:lpstr>What should a company do if it cannot create sustainable competitive advantages from any single resource, capability, or value chain activity?</vt:lpstr>
      <vt:lpstr>From VRIN to VRIO</vt:lpstr>
      <vt:lpstr>Applying the Resource Based View</vt:lpstr>
      <vt:lpstr>Applying the internal analysis to your life planning</vt:lpstr>
      <vt:lpstr>Class Exercise: Job Interviews</vt:lpstr>
      <vt:lpstr>Class Exercise: Job interview</vt:lpstr>
      <vt:lpstr>Class Exercise: Job interview</vt:lpstr>
      <vt:lpstr>PowerPoint Presentation</vt:lpstr>
      <vt:lpstr>Why does Aldi Succeed</vt:lpstr>
      <vt:lpstr>Case Analysis: Aldi</vt:lpstr>
      <vt:lpstr>Case Analysis: Aldi</vt:lpstr>
      <vt:lpstr>Case Analysis: Aldi</vt:lpstr>
      <vt:lpstr>Case Analysis: Aldi</vt:lpstr>
      <vt:lpstr>Case Analysis: Aldi</vt:lpstr>
      <vt:lpstr>Case Analysis: Aldi</vt:lpstr>
      <vt:lpstr>Case Analysis: Aldi</vt:lpstr>
      <vt:lpstr>Case Analysis: Aldi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MGNT 4010 Strategic Management</dc:title>
  <dc:creator>Jingyu Li (MGT)</dc:creator>
  <cp:lastModifiedBy>Jingyu Li (MGT)</cp:lastModifiedBy>
  <cp:revision>36</cp:revision>
  <dcterms:created xsi:type="dcterms:W3CDTF">2021-02-02T03:34:30Z</dcterms:created>
  <dcterms:modified xsi:type="dcterms:W3CDTF">2026-03-27T04:44:36Z</dcterms:modified>
</cp:coreProperties>
</file>