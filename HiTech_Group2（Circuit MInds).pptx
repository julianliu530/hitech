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 showGuides="1">
      <p:cViewPr varScale="1">
        <p:scale>
          <a:sx n="121" d="100"/>
          <a:sy n="121" d="100"/>
        </p:scale>
        <p:origin x="744" y="176"/>
      </p:cViewPr>
      <p:guideLst>
        <p:guide orient="horz" pos="217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845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MGNT 5506GA  ·  Strategic Management  ·  CUHK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1D1F"/>
                </a:solidFill>
              </a:rPr>
              <a:t>Digital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1D1F"/>
                </a:solidFill>
              </a:rPr>
              <a:t>Blind Spots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</a:rPr>
              <a:t>A Strategic Analysis of HiTech Techno Limited —
Navigating the Digital Transformation Imperative</a:t>
            </a:r>
            <a:endParaRPr sz="1400" b="0" i="0">
              <a:solidFill>
                <a:srgbClr val="6E6E7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D1D1F"/>
                </a:solidFill>
              </a:rPr>
              <a:t>Group:  Group 2 — Circuit Minds     Date: April 17, 2026</a:t>
            </a:r>
            <a:endParaRPr sz="1100" b="0" i="0" dirty="0">
              <a:solidFill>
                <a:srgbClr val="1D1D1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" y="4663440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0584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</a:rPr>
              <a:t>TEAM</a:t>
            </a:r>
            <a:r>
              <a:rPr lang="en-US" sz="1000" b="0" i="0">
                <a:solidFill>
                  <a:srgbClr val="6E6E73"/>
                </a:solidFill>
              </a:rPr>
              <a:t> Member</a:t>
            </a:r>
            <a:r>
              <a:rPr lang="zh-CN" altLang="en-US" sz="1000" b="0" i="0">
                <a:solidFill>
                  <a:srgbClr val="6E6E73"/>
                </a:solidFill>
              </a:rPr>
              <a:t>：</a:t>
            </a:r>
            <a:r>
              <a:rPr sz="1000" b="0" i="0">
                <a:solidFill>
                  <a:srgbClr val="6E6E73"/>
                </a:solidFill>
              </a:rPr>
              <a:t>   Daria Iudicheva  ·  Zhi Niu  ·  Qiaochu Huang  ·  Bhavya Jain  ·  Junqi Pu  ·  Zhilang Liu</a:t>
            </a:r>
            <a:endParaRPr sz="1000" b="0" i="0">
              <a:solidFill>
                <a:srgbClr val="6E6E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325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</a:rPr>
              <a:t>HiTech Techno
Limited</a:t>
            </a:r>
            <a:endParaRPr sz="1800" b="1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20" y="2743200"/>
            <a:ext cx="24688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868B"/>
                </a:solidFill>
              </a:rPr>
              <a:t>B2B IT Component Distributor
Est. 201</a:t>
            </a:r>
            <a:r>
              <a:rPr lang="en-US" sz="900" b="0" i="0">
                <a:solidFill>
                  <a:srgbClr val="86868B"/>
                </a:solidFill>
              </a:rPr>
              <a:t>4</a:t>
            </a:r>
            <a:r>
              <a:rPr sz="900" b="0" i="0">
                <a:solidFill>
                  <a:srgbClr val="86868B"/>
                </a:solidFill>
              </a:rPr>
              <a:t>  ·  TST, Hong Kong</a:t>
            </a:r>
            <a:endParaRPr sz="900" b="0" i="0">
              <a:solidFill>
                <a:srgbClr val="86868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05850" y="1242060"/>
            <a:ext cx="24955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01 — Business Introduction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Getting Inside HiTech Techno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9164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COMPANY PROFILE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7548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B2B IT component distributor, est. 201</a:t>
            </a:r>
            <a:r>
              <a:rPr lang="en-US" sz="1000" b="0" i="0">
                <a:solidFill>
                  <a:srgbClr val="1D1D1F"/>
                </a:solidFill>
              </a:rPr>
              <a:t>4</a:t>
            </a:r>
            <a:endParaRPr lang="en-US" sz="1000" b="0" i="0">
              <a:solidFill>
                <a:srgbClr val="1D1D1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Headquartered in Tsim Sha Tsui, Kowloon, HK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27066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Sources from tier-1 global manufacturers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Serves corporate IT buyers, system integrators &amp; resellers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310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~40 active accounts via personal referral networks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5840" y="4114800"/>
            <a:ext cx="5029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PRODUCT PORTFOLIO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SSDs &amp; NVMe Drives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RAM Modules (DDR3/4/5)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51755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Flash Memory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6616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CPUs &amp; Motherboards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Storage Devices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6160" y="51755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GPUs (Gaming / AI / HPC)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1691640"/>
            <a:ext cx="4754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HOW WE GOT ACCESS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Bhavya Jain (group member) has direct family ties to
HiTech Techno's ownership — a family business.
This enabled privileged access to management, operations
staff, and internal documents, allowing us to observe actual
workflows rather than relying on reported practices.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936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2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On-site Visits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9808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4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8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Staff Interviews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8680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3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Docs Reviewed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87552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5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7552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Competitors</a:t>
            </a:r>
            <a:endParaRPr sz="800" b="0" i="0">
              <a:solidFill>
                <a:srgbClr val="6E6E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02 — Field Observations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What We Saw On the Ground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91640"/>
            <a:ext cx="502920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VISIT 1 — March 18, 2026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Full office walkthrough &amp; workflow observation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532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Orders managed via Microsoft Excel — no CRM or ERP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Client comms via WhatsApp &amp; email only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300984"/>
            <a:ext cx="47548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Interviewed Mr. </a:t>
            </a:r>
            <a:r>
              <a:rPr lang="en-US" sz="1000" b="0" i="0">
                <a:solidFill>
                  <a:srgbClr val="1D1D1F"/>
                </a:solidFill>
              </a:rPr>
              <a:t>Nick</a:t>
            </a:r>
            <a:r>
              <a:rPr sz="1000" b="0" i="0">
                <a:solidFill>
                  <a:srgbClr val="1D1D1F"/>
                </a:solidFill>
              </a:rPr>
              <a:t> (Ops Manager) &amp; Sales Lead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685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No digital marketing assets or brand presence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475488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VISIT 2 — April 2, 2026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Observed a live client negotiation call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Catalog distributed as static PDFs — no live pricing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9169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Zero live inventory system — tracked on paper &amp; Excel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3009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Interviewed Procurement Officer &amp; Admin Assistant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685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Reviewed 3 internal docs: sales log, supplier list, templates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5840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120–150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Orders/Month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93592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80%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93592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Repeat Revenue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344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1344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Social Media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769096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&lt;200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69096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Website Visits/Mo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FIELDWORK TIMELINE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Mar 18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Site Visit 1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0040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Mar 25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Analysis &amp; Benchmarking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9496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2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Site Visit 2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8952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10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8952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Digital Audit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8408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17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8408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Group Sharing</a:t>
            </a:r>
            <a:endParaRPr sz="900" b="0" i="0">
              <a:solidFill>
                <a:srgbClr val="1D1D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03 — CORE PROBLEM IDENTIFIED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71323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Digital Invisibility</a:t>
            </a:r>
            <a:endParaRPr sz="3600" b="1" i="0">
              <a:solidFill>
                <a:srgbClr val="C0392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1D1F"/>
                </a:solidFill>
              </a:rPr>
              <a:t>in a Digitally-Driven B2B Market</a:t>
            </a:r>
            <a:endParaRPr sz="3200" b="1" i="0">
              <a:solidFill>
                <a:srgbClr val="1D1D1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48463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△  KEY DEFICIENCIES</a:t>
            </a:r>
            <a:endParaRPr sz="800" b="1" i="0">
              <a:solidFill>
                <a:srgbClr val="C0392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2532888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50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No social media presence</a:t>
            </a:r>
            <a:r>
              <a:rPr sz="1050" b="0">
                <a:solidFill>
                  <a:srgbClr val="1D1D1F"/>
                </a:solidFill>
              </a:rPr>
              <a:t> whatsoever — LinkedIn, Facebook, Instagram: all absent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3000" y="3282696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2004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Static brochure-only website</a:t>
            </a:r>
            <a:r>
              <a:rPr sz="1050" b="0">
                <a:solidFill>
                  <a:srgbClr val="1D1D1F"/>
                </a:solidFill>
              </a:rPr>
              <a:t> — no pricing, no search, no live inventory, no contact form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43000" y="4032504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95020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100% word-of-mouth acquisition</a:t>
            </a:r>
            <a:r>
              <a:rPr sz="1050" b="0">
                <a:solidFill>
                  <a:srgbClr val="1D1D1F"/>
                </a:solidFill>
              </a:rPr>
              <a:t> — zero inbound digital leads ever recorded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3000" y="4782312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7000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Zero digital marketing spend</a:t>
            </a:r>
            <a:r>
              <a:rPr sz="1050" b="0">
                <a:solidFill>
                  <a:srgbClr val="1D1D1F"/>
                </a:solidFill>
              </a:rPr>
              <a:t> — no Google Ads, no SEO, no content strategy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43000" y="5532120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4498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Invisible to new B2B buyers</a:t>
            </a:r>
            <a:r>
              <a:rPr sz="1050" b="0">
                <a:solidFill>
                  <a:srgbClr val="1D1D1F"/>
                </a:solidFill>
              </a:rPr>
              <a:t> — &lt;200 website visits/month vs. thousands for competitors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56235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0116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DIMENSION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98664" y="201168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</a:rPr>
              <a:t>HITECH</a:t>
            </a:r>
            <a:endParaRPr sz="750" b="1" i="0">
              <a:solidFill>
                <a:srgbClr val="C0392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67344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TECHDATA
HK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17736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INGRAM
MICRO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8128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ARROW
ELEC.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72784" y="2432304"/>
            <a:ext cx="551383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2560320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LinkedIn
Presence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90104" y="2578608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0104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549640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400032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250424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72784" y="3200400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3328416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E-Commerce
Portal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690104" y="3346704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0104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3346704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Full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400032" y="3346704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Full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250424" y="3346704"/>
            <a:ext cx="685800" cy="548640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0424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●
Partial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72784" y="3968496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4096512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Live Inventory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690104" y="4114800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0104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400032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0032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50424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50424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72784" y="4736592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2784" y="4864608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Digital
Marketing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690104" y="4882896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90104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Zero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549640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9640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400032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0032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250424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50424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272784" y="5504688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72784" y="5632704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Discoverability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690104" y="5650992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90104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&lt;5%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549640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9640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High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400032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00032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Very
High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250424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50424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High</a:t>
            </a:r>
            <a:endParaRPr sz="900" b="1" i="0">
              <a:solidFill>
                <a:srgbClr val="1A87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04 — Strategic Framing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1D1F"/>
                </a:solidFill>
              </a:rPr>
              <a:t>Why This Is Not Just a Marketing Problem</a:t>
            </a:r>
            <a:endParaRPr sz="30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PORTER'S FIVE FORCES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Competitive Rivalry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HIGH RISK ▲▲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New Entrants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 ↑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Threat of Substitutes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HIGH ▲▲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Supplier Power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3657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Buyer Power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4206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Medium-High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05840" y="4983480"/>
            <a:ext cx="5029200" cy="777240"/>
          </a:xfrm>
          <a:prstGeom prst="rect">
            <a:avLst/>
          </a:prstGeom>
          <a:solidFill>
            <a:srgbClr val="E8F2FF"/>
          </a:solidFill>
          <a:ln w="635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D1D1F"/>
                </a:solidFill>
              </a:rPr>
              <a:t>"80% of B2B sales interactions will occur through digital
channels by 2025"  — Gartner, 2020 Future of Sales</a:t>
            </a:r>
            <a:endParaRPr sz="1000" b="0" i="1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RESOURCE-BASED VIEW (RBV)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733"/>
                </a:solidFill>
              </a:rPr>
              <a:t>Strengths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4754880" cy="530352"/>
          </a:xfrm>
          <a:prstGeom prst="rect">
            <a:avLst/>
          </a:prstGeom>
          <a:solidFill>
            <a:srgbClr val="EAF7EE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048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733"/>
                </a:solidFill>
              </a:rPr>
              <a:t>✓ Relationships</a:t>
            </a:r>
            <a:endParaRPr sz="1000" b="1" i="0">
              <a:solidFill>
                <a:srgbClr val="1A873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2633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Deep trust-based network; 40+ clients; 80% repeat revenue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4754880" cy="530352"/>
          </a:xfrm>
          <a:prstGeom prst="rect">
            <a:avLst/>
          </a:prstGeom>
          <a:solidFill>
            <a:srgbClr val="EAF7EE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992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733"/>
                </a:solidFill>
              </a:rPr>
              <a:t>✓ Sourcing</a:t>
            </a:r>
            <a:endParaRPr sz="1000" b="1" i="0">
              <a:solidFill>
                <a:srgbClr val="1A873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32278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Established tier-1 manufacturer relationships; competitive pricing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Gaps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0" y="3913632"/>
            <a:ext cx="4754880" cy="530352"/>
          </a:xfrm>
          <a:prstGeom prst="rect">
            <a:avLst/>
          </a:prstGeom>
          <a:solidFill>
            <a:srgbClr val="FFEEE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410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Digital Assets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41696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Advantages invisible online. New buyers cannot discover HiTech.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0" y="4507992"/>
            <a:ext cx="4754880" cy="530352"/>
          </a:xfrm>
          <a:prstGeom prst="rect">
            <a:avLst/>
          </a:prstGeom>
          <a:solidFill>
            <a:srgbClr val="FFEEE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35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Scalability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47640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Non-digital resources cap growth at ~40 accounts.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STRATEGIC RISKS</a:t>
            </a:r>
            <a:endParaRPr sz="800" b="1" i="0">
              <a:solidFill>
                <a:srgbClr val="C0392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5394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Market share erosion to digital-native rivals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5669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Revenue plateau — capped at ~40 accounts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5943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Relationship attrition with no digital backup</a:t>
            </a:r>
            <a:endParaRPr sz="1000" b="0" i="0">
              <a:solidFill>
                <a:srgbClr val="1D1D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" y="56515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05 — Research Progress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What We Have Done So Far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8733"/>
                </a:solidFill>
              </a:rPr>
              <a:t>5/8</a:t>
            </a:r>
            <a:endParaRPr sz="2400" b="1" i="0">
              <a:solidFill>
                <a:srgbClr val="1A873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Tasks Done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36200"/>
                </a:solidFill>
              </a:rPr>
              <a:t>2</a:t>
            </a:r>
            <a:endParaRPr sz="2400" b="1" i="0">
              <a:solidFill>
                <a:srgbClr val="B362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In Progress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E6E73"/>
                </a:solidFill>
              </a:rPr>
              <a:t>1</a:t>
            </a:r>
            <a:endParaRPr sz="2400" b="1" i="0">
              <a:solidFill>
                <a:srgbClr val="6E6E7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Pending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TASK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PROGRESS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STATUS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5840" y="28346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898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Site Visits (2/2)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29855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855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05840" y="32918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355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Staff Interviews (4/4)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17920" y="34427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427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05840" y="37490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813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Competitor Benchmarking (5 firms)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17920" y="38999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999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05840" y="42062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270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Website Traffic Analysis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17920" y="43571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3571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05840" y="46634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727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Digital Audit (SEO &amp; Social)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17920" y="48143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8143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05840" y="51206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184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Financial Impact Modeling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17920" y="52715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271516"/>
            <a:ext cx="731520" cy="109728"/>
          </a:xfrm>
          <a:prstGeom prst="rect">
            <a:avLst/>
          </a:prstGeom>
          <a:solidFill>
            <a:srgbClr val="B3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40%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05840" y="55778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641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Client Survey (10 clients)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0" y="57287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728716"/>
            <a:ext cx="548640" cy="109728"/>
          </a:xfrm>
          <a:prstGeom prst="rect">
            <a:avLst/>
          </a:prstGeom>
          <a:solidFill>
            <a:srgbClr val="B3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30%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05840" y="60350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6099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Final Report &amp; Recommendations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217920" y="61859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6E73"/>
                </a:solidFill>
              </a:rPr>
              <a:t>0%</a:t>
            </a:r>
            <a:endParaRPr sz="900" b="1" i="0">
              <a:solidFill>
                <a:srgbClr val="6E6E73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749790" y="2514600"/>
            <a:ext cx="210312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Date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875520" y="28803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2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875520" y="33375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2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75520" y="37947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10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875520" y="42519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10</a:t>
            </a:r>
            <a:endParaRPr lang="en-US" sz="800" b="1" i="0">
              <a:solidFill>
                <a:srgbClr val="0071E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1D1F"/>
                </a:solidFill>
              </a:rPr>
              <a:t>Thank You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6E73"/>
                </a:solidFill>
              </a:rPr>
              <a:t>We welcome your questions &amp; feedback</a:t>
            </a:r>
            <a:endParaRPr sz="1800" b="0" i="0">
              <a:solidFill>
                <a:srgbClr val="6E6E7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3931920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1E3"/>
                </a:solidFill>
              </a:rPr>
              <a:t>Circuit Minds  ·  Group 2  ·  MGNT 5506GA  ·  CUHK</a:t>
            </a:r>
            <a:endParaRPr sz="11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6E73"/>
                </a:solidFill>
              </a:rPr>
              <a:t>hitechtechnoltd@gmail.com   |   TST, Kowloon, Hong Kong   |   April 17, 2026</a:t>
            </a:r>
            <a:endParaRPr sz="1000" b="0" i="0">
              <a:solidFill>
                <a:srgbClr val="6E6E7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4055</Words>
  <Application>WPS 文字</Application>
  <PresentationFormat>Custom</PresentationFormat>
  <Paragraphs>340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Ll、</cp:lastModifiedBy>
  <cp:revision>6</cp:revision>
  <dcterms:created xsi:type="dcterms:W3CDTF">2026-04-17T03:00:40Z</dcterms:created>
  <dcterms:modified xsi:type="dcterms:W3CDTF">2026-04-17T03:00:40Z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117E8AE34D01D98658A2E1691B5F5EE2_43</vt:lpwstr>
  </property>
  <property fmtid="{D5CDD505-2E9C-101B-9397-08002B2CF9AE}" pid="3" name="KSOProductBuildVer">
    <vt:lpwstr>2052-6.8.2.8850</vt:lpwstr>
  </property>
</Properties>
</file>